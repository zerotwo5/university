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37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3113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862940" cy="51435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Shape 1"/>
          <p:cNvSpPr/>
          <p:nvPr/>
        </p:nvSpPr>
        <p:spPr>
          <a:xfrm>
            <a:off x="171450" y="971550"/>
            <a:ext cx="4520040" cy="3200400"/>
          </a:xfrm>
          <a:prstGeom prst="rect">
            <a:avLst/>
          </a:prstGeom>
          <a:solidFill>
            <a:srgbClr val="FFFFFF"/>
          </a:solidFill>
          <a:ln w="27432">
            <a:solidFill>
              <a:srgbClr val="B45309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" y="1000125"/>
            <a:ext cx="4520040" cy="31432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862940" y="0"/>
            <a:ext cx="4281060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4862940" y="0"/>
            <a:ext cx="57150" cy="51435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8" name="Text 4"/>
          <p:cNvSpPr/>
          <p:nvPr/>
        </p:nvSpPr>
        <p:spPr>
          <a:xfrm>
            <a:off x="5122711" y="1448507"/>
            <a:ext cx="3792689" cy="1268685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1E3A8A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দণ্ডবিধি ১৮৬০:
ধারা ৩২৫</a:t>
            </a:r>
            <a:endParaRPr lang="en-US" sz="3300" dirty="0"/>
          </a:p>
        </p:txBody>
      </p:sp>
      <p:sp>
        <p:nvSpPr>
          <p:cNvPr id="9" name="Text 5"/>
          <p:cNvSpPr/>
          <p:nvPr/>
        </p:nvSpPr>
        <p:spPr>
          <a:xfrm>
            <a:off x="5122711" y="3002942"/>
            <a:ext cx="3792689" cy="301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B45309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স্বেচ্ছায় গুরুতর আঘাত ও আইনি বিধান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5122711" y="3669097"/>
            <a:ext cx="3792689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আইনি কাঠামো ও বিচারিক প্রক্রিয়া বিশ্লেষণ | বাংলাদেশ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285750"/>
            <a:ext cx="8572500" cy="45362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FFFF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অপরাধের সংজ্ঞা ও শাস্তি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478631" y="1285875"/>
            <a:ext cx="1066205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45309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আইনি বিধান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85750" y="1637705"/>
            <a:ext cx="4068366" cy="63434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4"/>
          <p:cNvSpPr/>
          <p:nvPr/>
        </p:nvSpPr>
        <p:spPr>
          <a:xfrm>
            <a:off x="285750" y="1637705"/>
            <a:ext cx="35719" cy="634343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8" name="Text 5"/>
          <p:cNvSpPr/>
          <p:nvPr/>
        </p:nvSpPr>
        <p:spPr>
          <a:xfrm>
            <a:off x="285750" y="1637705"/>
            <a:ext cx="4068366" cy="634343"/>
          </a:xfrm>
          <a:prstGeom prst="rect">
            <a:avLst/>
          </a:prstGeom>
          <a:noFill/>
          <a:ln/>
        </p:spPr>
        <p:txBody>
          <a:bodyPr wrap="square" lIns="102108" tIns="102108" rIns="102108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i="1" dirty="0">
                <a:solidFill>
                  <a:srgbClr val="3341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"যে ব্যক্তি ধারা ৩৩৫-এর ব্যতিক্রম ছাড়া স্বেচ্ছায় কাউকে গুরুতর আঘাত (grievous hurt) করে..."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85750" y="2357772"/>
            <a:ext cx="4068366" cy="251817"/>
          </a:xfrm>
          <a:prstGeom prst="rect">
            <a:avLst/>
          </a:prstGeom>
          <a:solidFill>
            <a:srgbClr val="FEF3C7"/>
          </a:solidFill>
          <a:ln w="9144">
            <a:solidFill>
              <a:srgbClr val="B4530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5750" y="2357772"/>
            <a:ext cx="4068366" cy="251817"/>
          </a:xfrm>
          <a:prstGeom prst="rect">
            <a:avLst/>
          </a:prstGeom>
          <a:noFill/>
          <a:ln/>
        </p:spPr>
        <p:txBody>
          <a:bodyPr wrap="square" lIns="102108" tIns="102108" rIns="102108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34155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শাস্তি:</a:t>
            </a:r>
            <a:r>
              <a:rPr lang="en-US" sz="850" dirty="0">
                <a:solidFill>
                  <a:srgbClr val="3341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 ৭ বছর পর্যন্ত কারাদণ্ড ও জরিমানা।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982766" y="1285875"/>
            <a:ext cx="1995884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45309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মূল উপাদানসমূহ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47047" y="1637705"/>
            <a:ext cx="307359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আঘাত:</a:t>
            </a:r>
            <a:r>
              <a:rPr lang="en-US" sz="1150" dirty="0">
                <a:solidFill>
                  <a:srgbClr val="3341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 অন্য ব্যক্তিকে শারীরিকভাবে আঘাত করা।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47047" y="1930598"/>
            <a:ext cx="298430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শ্রেণিবিভাগ:</a:t>
            </a:r>
            <a:r>
              <a:rPr lang="en-US" sz="1150" dirty="0">
                <a:solidFill>
                  <a:srgbClr val="3341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 ধারা ৩২০ অনুযায়ী গুরুতর আঘাত।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47047" y="2223492"/>
            <a:ext cx="330041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স্বেচ্ছায়:</a:t>
            </a:r>
            <a:r>
              <a:rPr lang="en-US" sz="1150" dirty="0">
                <a:solidFill>
                  <a:srgbClr val="3341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 কাজটি উদ্দেশ্যমূলক বা ফলাফল জেনে করা।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30859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570356"/>
            <a:ext cx="8572500" cy="45362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FFFF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গুরুতর আঘাত: শ্রেণিবিভাগ (১-৫)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00063" y="1451465"/>
            <a:ext cx="3496866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45309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ধারা ৩২০ অনুযায়ী প্রথম ৫টি ক্যাটাগরি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64344" y="1803295"/>
            <a:ext cx="120015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১. পুরুষত্বহীন করা।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64344" y="2124763"/>
            <a:ext cx="297358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২. যেকোনো চোখের দৃষ্টিশক্তি স্থায়ীভাবে নষ্ট করা।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64344" y="2446232"/>
            <a:ext cx="305038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৩. যেকোনো কানের শ্রবণশক্তি স্থায়ীভাবে নষ্ট করা।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64344" y="2767701"/>
            <a:ext cx="284678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৪. শরীরের যেকোনো অঙ্গ বা গ্রন্থি বিচ্ছিন্ন করা।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64344" y="3089170"/>
            <a:ext cx="349686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৫. যেকোনো অঙ্গ বা গ্রন্থির কার্যক্ষমতা স্থায়ীভাবে নষ্ট করা।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43488" y="1451465"/>
            <a:ext cx="3486150" cy="2486025"/>
          </a:xfrm>
          <a:prstGeom prst="rect">
            <a:avLst/>
          </a:prstGeom>
          <a:solidFill>
            <a:srgbClr val="FFFFFF"/>
          </a:solidFill>
          <a:ln w="27432">
            <a:solidFill>
              <a:srgbClr val="1E3A8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522902"/>
            <a:ext cx="3286125" cy="2286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30859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570356"/>
            <a:ext cx="8286750" cy="45362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FFFF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গুরুতর আঘাত: শ্রেণিবিভাগ (৬-৮)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642938" y="1594340"/>
            <a:ext cx="4500562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45309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ধারা ৩২০ অনুযায়ী পরবর্তী ক্যাটাগরিসমূহ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07219" y="2260495"/>
            <a:ext cx="2652117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৬. মাথা বা মুখমণ্ডলের স্থায়ী বিকৃতি ঘটানো।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07219" y="2619105"/>
            <a:ext cx="2514600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৭. হাড় বা দাঁত ভাঙা অথবা স্থানচ্যুত করা।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893469" y="2260495"/>
            <a:ext cx="2752130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৮. এমন কোনো আঘাত যা জীবন বিপন্ন করে।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893469" y="2619105"/>
            <a:ext cx="2437805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৮.১. ২০ দিন পর্যন্ত তীব্র শারীরিক যন্ত্রণা।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893469" y="2977716"/>
            <a:ext cx="3127177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৮.২. ২০ দিন পর্যন্ত স্বাভাবিক কাজ করতে অক্ষমতা।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8625" y="3372045"/>
            <a:ext cx="8286750" cy="8072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9"/>
          <p:cNvSpPr/>
          <p:nvPr/>
        </p:nvSpPr>
        <p:spPr>
          <a:xfrm>
            <a:off x="428625" y="3372045"/>
            <a:ext cx="35719" cy="80724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3657795"/>
            <a:ext cx="80010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334155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বিশেষ দ্রষ্টব্য:</a:t>
            </a:r>
            <a:r>
              <a:rPr lang="en-US" sz="1050" i="1" dirty="0">
                <a:solidFill>
                  <a:srgbClr val="3341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 ২০ দিনের নিয়মটি অত্যন্ত গুরুত্বপূর্ণ কারণ এটি স্থায়ী ক্ষতি না হলেও আঘাতের তীব্রতার ভিত্তিতে তাকে "গুরুতর" হিসেবে গণ্য করে।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30859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570356"/>
            <a:ext cx="8286750" cy="45362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FFFF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স্বেচ্ছায় আঘাত ও অপরাধীর উদ্দেশ্য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2838748" y="1594340"/>
            <a:ext cx="3702248" cy="301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45309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মানসিক অবস্থা (Mens Rea): ধারা ৩২২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64419" y="2181913"/>
            <a:ext cx="7015163" cy="1334095"/>
          </a:xfrm>
          <a:prstGeom prst="rect">
            <a:avLst/>
          </a:prstGeom>
          <a:solidFill>
            <a:srgbClr val="FFFFFF"/>
          </a:solidFill>
          <a:ln w="9144">
            <a:solidFill>
              <a:srgbClr val="94A3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57313" y="2710551"/>
            <a:ext cx="307181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8A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১. অপরাধের ইচ্ছা (Intent)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57313" y="3044521"/>
            <a:ext cx="30718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অপরাধী যখন অন্য ব্যক্তিকে আঘাত করার সময় স্পষ্টভাবে "গুরুতর আঘাত" করার ইচ্ছা পোষণ করেন।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714875" y="2710551"/>
            <a:ext cx="307181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8A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২. সম্ভাব্য জ্ঞান (Knowledge)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14875" y="3044521"/>
            <a:ext cx="30718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অপরাধী জানেন যে তার কাজের ফলে অন্য ব্যক্তির গুরুতর আঘাত হওয়ার প্রবল সম্ভাবনা রয়েছে।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339453" y="3787471"/>
            <a:ext cx="6465094" cy="87510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9"/>
          <p:cNvSpPr/>
          <p:nvPr/>
        </p:nvSpPr>
        <p:spPr>
          <a:xfrm>
            <a:off x="1339453" y="3787471"/>
            <a:ext cx="35719" cy="875109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" name="Text 10"/>
          <p:cNvSpPr/>
          <p:nvPr/>
        </p:nvSpPr>
        <p:spPr>
          <a:xfrm>
            <a:off x="1500188" y="4087509"/>
            <a:ext cx="6143625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334155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মূল কথা:</a:t>
            </a:r>
            <a:r>
              <a:rPr lang="en-US" sz="1150" i="1" dirty="0">
                <a:solidFill>
                  <a:srgbClr val="3341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 অপরাধীর উদ্দেশ্য যাই হোক না কেন, ধারা ৩২৫ প্রয়োগের জন্য আঘাতটি বাস্তবে ধারা ৩২০ অনুযায়ী "গুরুতর" হতে হবে।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30859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570356"/>
            <a:ext cx="8572500" cy="45362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FFFF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ব্যতিক্রম ও উস্কানির ভূমিকা (ধারা ৩৩৫)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00063" y="1451465"/>
            <a:ext cx="1852017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45309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সাজা লাঘবের শর্তাবলী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85750" y="1824726"/>
            <a:ext cx="4143375" cy="64578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4"/>
          <p:cNvSpPr/>
          <p:nvPr/>
        </p:nvSpPr>
        <p:spPr>
          <a:xfrm>
            <a:off x="285750" y="1824726"/>
            <a:ext cx="35719" cy="64578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8" name="Text 5"/>
          <p:cNvSpPr/>
          <p:nvPr/>
        </p:nvSpPr>
        <p:spPr>
          <a:xfrm>
            <a:off x="285750" y="1824726"/>
            <a:ext cx="4143375" cy="645784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ধারা ৩২৫-এর বিধানসমূহ ধারা ৩৩৫-এর ক্ষেত্রে প্রযোজ্য হবে না যদি অপরাধটি বিশেষ পরিস্থিতিতে ঘটে।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64344" y="2577666"/>
            <a:ext cx="39647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3A8A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চরম ও আকস্মিক উস্কানি:</a:t>
            </a:r>
            <a:r>
              <a:rPr lang="en-US" sz="1050" dirty="0">
                <a:solidFill>
                  <a:srgbClr val="3341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 যদি আঘাতটি কোনো গুরুতর এবং তাৎক্ষণিক উত্তেজনার ফলে হয়।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64344" y="3113447"/>
            <a:ext cx="39647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3A8A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উদ্দেশ্যের অভাব:</a:t>
            </a:r>
            <a:r>
              <a:rPr lang="en-US" sz="1050" dirty="0">
                <a:solidFill>
                  <a:srgbClr val="3341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 অপরাধীর পূর্বপরিকল্পিতভাবে গুরুতর আঘাত করার ইচ্ছা ছিল না।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929188" y="1451465"/>
            <a:ext cx="1092994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45309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হ্রাসকৃত শাস্তি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14875" y="1860445"/>
            <a:ext cx="4143375" cy="1028700"/>
          </a:xfrm>
          <a:prstGeom prst="rect">
            <a:avLst/>
          </a:prstGeom>
          <a:solidFill>
            <a:srgbClr val="FEF3C7"/>
          </a:solidFill>
          <a:ln w="18288">
            <a:solidFill>
              <a:srgbClr val="B45309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5036344" y="2003320"/>
            <a:ext cx="235029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৪ বছর পর্যন্ত যেকোনো মেয়াদের কারাদণ্ড।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036344" y="2324788"/>
            <a:ext cx="189488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অথবা ২,০০০ টাকা পর্যন্ত অর্থদণ্ড।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036344" y="2646257"/>
            <a:ext cx="9501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অথবা উভয় দণ্ড।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14875" y="2932007"/>
            <a:ext cx="4143375" cy="55431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4"/>
          <p:cNvSpPr/>
          <p:nvPr/>
        </p:nvSpPr>
        <p:spPr>
          <a:xfrm>
            <a:off x="4714875" y="2932007"/>
            <a:ext cx="35719" cy="55431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8" name="Text 15"/>
          <p:cNvSpPr/>
          <p:nvPr/>
        </p:nvSpPr>
        <p:spPr>
          <a:xfrm>
            <a:off x="4714875" y="2932007"/>
            <a:ext cx="4143375" cy="554310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আইনি যুক্তি:</a:t>
            </a:r>
            <a:r>
              <a:rPr lang="en-US" sz="950" dirty="0">
                <a:solidFill>
                  <a:srgbClr val="3341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 আইন মানুষের তাৎক্ষণিক মানসিক ভারসাম্যহীনতাকে বিবেচনা করে অপরাধের মাত্রা ও দায়বদ্ধতা কিছুটা শিথিল করে।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30859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570356"/>
            <a:ext cx="8286750" cy="45362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FFFF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আইনি প্রক্রিয়া ও বিচার ব্যবস্থা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428625" y="1737215"/>
            <a:ext cx="4036219" cy="1471613"/>
          </a:xfrm>
          <a:prstGeom prst="rect">
            <a:avLst/>
          </a:prstGeom>
          <a:solidFill>
            <a:srgbClr val="FFFFFF"/>
          </a:solidFill>
          <a:ln w="9144">
            <a:solidFill>
              <a:srgbClr val="94A3B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1525" y="1908665"/>
            <a:ext cx="2100263" cy="244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আমলযোগ্য (Cognizable)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0075" y="2260495"/>
            <a:ext cx="369331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পুলিশ কোনো ওয়ারেন্ট ছাড়াই অভিযুক্ত ব্যক্তিকে গ্রেপ্তার করতে পারে।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679156" y="1737215"/>
            <a:ext cx="4036219" cy="1471613"/>
          </a:xfrm>
          <a:prstGeom prst="rect">
            <a:avLst/>
          </a:prstGeom>
          <a:solidFill>
            <a:srgbClr val="FFFFFF"/>
          </a:solidFill>
          <a:ln w="9144">
            <a:solidFill>
              <a:srgbClr val="94A3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2056" y="1908665"/>
            <a:ext cx="1848445" cy="244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জামিনযোগ্য (Bailable)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50606" y="2260495"/>
            <a:ext cx="369331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অভিযুক্ত ব্যক্তি আইনি প্রক্রিয়ায় আদালত থেকে জামিন পাওয়ার অধিকার রাখেন।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8625" y="3408852"/>
            <a:ext cx="4036219" cy="1471613"/>
          </a:xfrm>
          <a:prstGeom prst="rect">
            <a:avLst/>
          </a:prstGeom>
          <a:solidFill>
            <a:srgbClr val="FFFFFF"/>
          </a:solidFill>
          <a:ln w="9144">
            <a:solidFill>
              <a:srgbClr val="94A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1525" y="3580302"/>
            <a:ext cx="2487811" cy="244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আপসযোগ্য (Compoundable)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00075" y="3932132"/>
            <a:ext cx="369331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আদালতের অনুমতি সাপেক্ষে মামলার পক্ষদ্বয় নিজেদের মধ্যে আপস-মীমাংসা করতে পারে।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79156" y="3408852"/>
            <a:ext cx="4036219" cy="1471613"/>
          </a:xfrm>
          <a:prstGeom prst="rect">
            <a:avLst/>
          </a:prstGeom>
          <a:solidFill>
            <a:srgbClr val="FFFFFF"/>
          </a:solidFill>
          <a:ln w="9144">
            <a:solidFill>
              <a:srgbClr val="94A3B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2056" y="3580302"/>
            <a:ext cx="1893094" cy="244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আদালত (Jurisdiction)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50606" y="3932132"/>
            <a:ext cx="369331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যেকোনো ম্যাজিস্ট্রেট আদালতে এই ধারার অধীনে বিচারকার্য সম্পন্ন করা যায়।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30859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570356"/>
            <a:ext cx="8286750" cy="45362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FFFF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উপসংহার ও মূল বক্তব্য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678656" y="1451465"/>
            <a:ext cx="2700338" cy="3629025"/>
          </a:xfrm>
          <a:prstGeom prst="rect">
            <a:avLst/>
          </a:prstGeom>
          <a:solidFill>
            <a:srgbClr val="FFFFFF"/>
          </a:solidFill>
          <a:ln w="27432">
            <a:solidFill>
              <a:srgbClr val="B45309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669" y="1522902"/>
            <a:ext cx="2500313" cy="3429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9088" y="1451465"/>
            <a:ext cx="921544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45309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সারসংক্ষেপ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093369" y="1860445"/>
            <a:ext cx="4622006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জননিরাপত্তা:</a:t>
            </a:r>
            <a:r>
              <a:rPr lang="en-US" sz="1150" dirty="0">
                <a:solidFill>
                  <a:srgbClr val="3341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 ধারা ৩২৫ সমাজে শারীরিক সহিংসতা রোধে একটি শক্তিশালী প্রতিরোধক হিসেবে কাজ করে।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093369" y="2506228"/>
            <a:ext cx="4622006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ভারসাম্য:</a:t>
            </a:r>
            <a:r>
              <a:rPr lang="en-US" sz="1150" dirty="0">
                <a:solidFill>
                  <a:srgbClr val="3341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 এটি আঘাতের ভয়াবহতা এবং অপরাধীর উদ্দেশ্য—উভয়কেই সমান গুরুত্ব দেয়।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093369" y="3152012"/>
            <a:ext cx="4622006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প্রমাণ:</a:t>
            </a:r>
            <a:r>
              <a:rPr lang="en-US" sz="1150" dirty="0">
                <a:solidFill>
                  <a:srgbClr val="3341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 সফল বিচারের জন্য চিকিৎসকের প্রতিবেদনের সাথে আইনি সংজ্ঞার মিল থাকা অপরিহার্য।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914775" y="3940671"/>
            <a:ext cx="4800600" cy="502909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2" name="Text 8"/>
          <p:cNvSpPr/>
          <p:nvPr/>
        </p:nvSpPr>
        <p:spPr>
          <a:xfrm>
            <a:off x="3914775" y="3940671"/>
            <a:ext cx="4800600" cy="369689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Bengali Bold" pitchFamily="34" charset="0"/>
                <a:ea typeface="Noto Sans Bengali Bold" pitchFamily="34" charset="-122"/>
                <a:cs typeface="Noto Sans Bengali Bold" pitchFamily="34" charset="-120"/>
              </a:rPr>
              <a:t>ধন্যবাদ। ন্যায়বিচারই আইনের মূল লক্ষ্য।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522</Words>
  <Application>Microsoft Office PowerPoint</Application>
  <PresentationFormat>On-screen Show (16:9)</PresentationFormat>
  <Paragraphs>66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Noto Sans Bengali</vt:lpstr>
      <vt:lpstr>Noto Sans Bengali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MD Tanvir Rahman</cp:lastModifiedBy>
  <cp:revision>3</cp:revision>
  <dcterms:created xsi:type="dcterms:W3CDTF">2026-04-28T17:28:27Z</dcterms:created>
  <dcterms:modified xsi:type="dcterms:W3CDTF">2026-04-28T17:32:16Z</dcterms:modified>
</cp:coreProperties>
</file>