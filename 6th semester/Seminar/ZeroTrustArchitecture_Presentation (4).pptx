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4"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6"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857"/>
    <a:srgbClr val="00B4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7456" autoAdjust="0"/>
  </p:normalViewPr>
  <p:slideViewPr>
    <p:cSldViewPr snapToGrid="0" snapToObjects="1">
      <p:cViewPr varScale="1">
        <p:scale>
          <a:sx n="81" d="100"/>
          <a:sy n="81" d="100"/>
        </p:scale>
        <p:origin x="149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2120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a:t>
            </a:r>
          </a:p>
          <a:p>
            <a:r>
              <a:rPr lang="en-US" dirty="0"/>
              <a:t>
Welcome the audience and introduce the topic. Begin by acknowledging the evolving cybersecurity landscape. State that this presentation reviews Zero Trust Architecture (ZTA) — a paradigm shift in how organizations approach security. Mention the paper covers foundational frameworks (NIST, CISA, DoD), the five core ZTA pillars, implementation challenges, and future trends.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22686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Introduction</a:t>
            </a:r>
          </a:p>
          <a:p>
            <a:r>
              <a:rPr lang="en-US" dirty="0"/>
              <a:t>
Use this slide to introduce yourself to the examination panel and audience. Fill in all fields with your personal and academic information before the presentation. Briefly state your name, your student identification number, the academic programme you are enrolled in, and the institution. Acknowledge your supervisor and thank them for their guidance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&amp; Overview</a:t>
            </a:r>
          </a:p>
          <a:p>
            <a:r>
              <a:rPr lang="en-US" dirty="0"/>
              <a:t>
Briefly summarize the paper's purpose. Explain that traditional perimeter-based security — the "castle and moat" model — is no longer adequate in today's distributed, cloud-first world. This review paper takes a structured look at Zero Trust Architecture: what it means, how leading organizations have formalized it, and what challenges practitioners face when implementing it. The three columns on this slide encapsulate the paper's focus, scope, and expected contribution. Emphasize the central philosophy: "Never Trust, Always Verify" — ZTA does not assume that anything inside or outside the network is safe by default.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a:t>
            </a:r>
          </a:p>
          <a:p>
            <a:r>
              <a:rPr lang="en-US" dirty="0"/>
              <a:t>This slide addresses the motivation behind Zero Trust Architecture. Explain that the traditional security model assumed that everything inside the network boundary was safe — a fundamental assumption that has been systematically invalidated. Four major forces have driven this collapse: the migration to cloud platforms, the normalization of remote and hybrid work, the sophistication of advanced persistent threats, and the inherent danger of implicit internal trust. The shift ZTA proposes is not merely technical — it is philosophical: from trusting a location (the internal network) to verifying every identity and request individually, regardless of where it originates.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a:t>
            </a:r>
          </a:p>
          <a:p>
            <a:r>
              <a:rPr lang="en-US" dirty="0"/>
              <a:t>
Walk through each objective clearly and concisely. Objective 1 establishes the theoretical foundation by examining the three major frameworks that define ZTA. Objective 2 provides a deep dive into the five pillars that structure a mature Zero Trust environment. Objective 3 acknowledges practical reality — ZTA adoption is non-trivial, and identifying its friction points is essential. Objective 4 grounds this review in existing peer-reviewed literature from IEEE, Springer, and SAGE. Objective 5 ensures the review is forward-looking, addressing AI/ML integration and the emerging need for post-quantum cryptography. These five objectives together constitute a comprehensive and methodologically sound scope for the review paper.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Review</a:t>
            </a:r>
          </a:p>
          <a:p>
            <a:r>
              <a:rPr lang="en-US" dirty="0"/>
              <a:t>
Introduce the three authoritative frameworks that form the structural backbone of this review. NIST SP 800-207, published in 2020, is the universally recognized baseline — vendor-neutral and broadly applicable to any enterprise. CISA's Zero Trust Maturity Model Version 2.0 operationalizes ZTA for U.S. federal agencies by defining graduated maturity levels that agencies can self-assess against. The DoD Reference Architecture is the most prescriptive of the three, tailored to mission-critical defence environments with over 90 distinct ZT activities. In addition to these standards documents, three academic sources — from IEEE, Springer, and SAGE — provide empirical validation and identify real-world gaps that the formal frameworks do not always address. Together, these six references offer both theoretical rigour and practical grounding.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Seven Tenets</a:t>
            </a:r>
          </a:p>
          <a:p>
            <a:r>
              <a:rPr lang="en-US" dirty="0"/>
              <a:t>
Walk through each tenet methodically, emphasizing that these are not rigid rules but architectural principles. Tenet 1 expands the definition of "resource" beyond servers to include cloud services and IoT devices. Tenet 2 eliminates the concept of a trusted internal network — all communication must be secured. Tenet 3 replaces persistent sessions with per-request authorization. Tenet 4 introduces dynamic policy — access decisions are not static but depend on real-time signals. Tenet 5 mandates continuous asset monitoring, not periodic audits. Tenet 6 enforces strict authentication and authorization with no exceptions. Tenet 7 closes the loop with continuous telemetry collection to inform improving security posture. Emphasize that NIST's value is its vendor-neutrality — it tells you what to achieve, not which product to buy.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Pillars</a:t>
            </a:r>
          </a:p>
          <a:p>
            <a:r>
              <a:rPr lang="en-US" dirty="0"/>
              <a:t>
This slide provides an overview of the CISA Zero Trust Maturity Model's five foundational pillars. Each pillar represents a distinct security domain, and maturity in each is assessed independently. Pillar 1, Identity, is foundational — in a world without a trusted perimeter, identity verification becomes the primary gatekeeper. Pillar 2, Device, ensures that the trustworthiness of the endpoint is verified alongside user identity. Pillar 3, Network, replaces the flat open internal network with granular micro-segmentation. Pillar 4, Application and Workload, embeds security into the application layer rather than bolting it on after deployment. Pillar 5, Data, is the ultimate objective — all other pillars exist to protect data. At the base of the architecture sit three cross-cutting capabilities: Visibility and Analytics, Automation and Orchestration, and Governance — each of which spans all five pillars.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&amp; Device Pillars</a:t>
            </a:r>
          </a:p>
          <a:p>
            <a:r>
              <a:rPr lang="en-US" dirty="0"/>
              <a:t>
This slide zooms into the first two pillars. For Identity: stress that in a Zero Trust model, there is no longer a trusted location — identity becomes the primary control boundary. MFA is non-negotiable; password-only authentication is insufficient. IGA systems help organizations enforce least-privilege by ensuring users have exactly the access they need and nothing more. Continuous authentication goes beyond the login event — it monitors ongoing behavior for anomalies that might indicate a stolen session. For Device: a trusted user on an untrusted device is still a risk. Organizations must verify not just who is connecting but what they are connecting from. EDR and MDM tools are the operational mechanisms for this pillar. The key insight here is that identity and device health must be evaluated together — neither alone is sufficient.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Application, Data Pillars</a:t>
            </a:r>
          </a:p>
          <a:p>
            <a:r>
              <a:rPr lang="en-US" dirty="0"/>
              <a:t>
Cover the remaining three pillars. For Network: the traditional flat network architecture is a Zero Trust anti-pattern. Micro-segmentation — implemented through SDN and VLANs — ensures that compromising one segment does not grant access to the rest. The blast radius of a breach is dramatically reduced. For Application and Workload: security cannot be an afterthought. APIs must be secured, container workloads must be hardened, and each application must operate with only the minimum privileges it requires. For Data: this is the ultimate objective of the entire ZTA framework. Everything else is a means to protect data. Mature data security involves classification, encryption at rest and in transit, and continuous monitoring through DLP tools. Emphasize that all five pillars must be pursued concurrently — they are interdependent, not sequential.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Challenges</a:t>
            </a:r>
          </a:p>
          <a:p>
            <a:r>
              <a:rPr lang="en-US" dirty="0"/>
              <a:t>
This slide addresses three of the most commonly encountered barriers to Zero Trust adoption, paired with mitigation strategies. Legacy Systems: many organizations depend on applications that predate modern authentication standards. These cannot simply be replaced overnight. The practical solution is to interpose an API gateway or identity proxy that wraps the legacy system in Zero Trust controls without touching the underlying application code. Operational Complexity: Zero Trust requires granular, continuously maintained access policies. At enterprise scale, this becomes unmanageable without automation. Policy-as-Code and AI-driven orchestration provide the path forward. Cultural Resistance: this is the most underappreciated challenge. When people experience more friction — more authentication prompts, stricter access controls — they push back. Sustained education and transparent communication about the reasons behind these controls are as important as the technical implementation. Stress that none of these challenges is insurmountable — all three have established mitigation pathways.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Comparative Analysis</a:t>
            </a:r>
          </a:p>
          <a:p>
            <a:r>
              <a:rPr lang="en-US" dirty="0"/>
              <a:t>
Walk through the six reference works briefly, grouping them into standards documents (NIST, CISA, DoD) and academic literature (IEEE, Springer, SAGE). Standards documents provide the architectural and conceptual foundation. They define what ZTA is, what it requires, and how to assess it. Academic literature stress-tests those foundations against empirical evidence. The IEEE paper evaluates ZTA's measurable impact on enterprise security. The Springer paper explores how ZTA principles defend against emerging zero-click attack vectors — a growing threat category. The SAGE paper conducts a comparative analysis of ZTA frameworks and highlights definitional inconsistencies, proposing a unified evaluation approach. Emphasize that a complete understanding of ZTA requires engaging with both the formal standards and the critical academic literature.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Trends</a:t>
            </a:r>
          </a:p>
          <a:p>
            <a:r>
              <a:rPr lang="en-US" dirty="0"/>
              <a:t>
Two developments are poised to reshape Zero Trust in the years ahead. First, AI and Machine Learning integration. Mature ZTA environments generate enormous volumes of telemetry — authentication requests, network connections, API calls — far exceeding human analytical capacity. AI and ML address this by detecting behavioral anomalies in real time, predicting threats before they fully materialize, and autonomously adjusting access policies based on shifting risk signals. The result is a security posture that is proactive rather than merely reactive. Second, Quantum-Resistant Cryptography. Today's widely deployed cryptographic standards — RSA and Elliptic Curve Cryptography — are mathematically vulnerable to sufficiently powerful quantum computers. Since ZTA's identity verification and data-in-transit protection depend on strong cryptography, this represents a critical long-term risk. Organizations should begin transitioning to NIST-standardized post-quantum algorithms now, and should prioritize building crypto-agility into their systems — the ability to swap cryptographic algorithms quickly without rebuilding the entire architecture.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a:t>
            </a:r>
          </a:p>
          <a:p>
            <a:r>
              <a:rPr lang="en-US" dirty="0"/>
              <a:t>
Present each finding succinctly and be ready to elaborate on any that the panel questions. Finding 1 highlights that despite their shared philosophy, NIST, CISA, and DoD frameworks serve different audiences and cannot be applied interchangeably. Finding 2 is perhaps the most consistently supported insight across all literature reviewed — identity is the single most critical control. Finding 3 has empirical support from the IEEE paper, which measured reduced breach impact in micro-segmented environments. Finding 4 is a practical observation: the aspiration of ZTA significantly outpaces actual implementation, particularly in legacy-heavy environments. Finding 5 reflects the emerging role of AI/ML in making continuous verification operationally feasible at enterprise scale. Finding 6 is a forward-looking warning: organizations that delay the post-quantum cryptography transition are building ZTA on foundations that may be broken before they complete the journey.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a:t>
            </a:r>
          </a:p>
          <a:p>
            <a:r>
              <a:rPr lang="en-US" dirty="0"/>
              <a:t>
Acknowledging limitations is a sign of academic rigour, not weakness. Present these transparently. The primary limitation is the nature of a literature review itself — it synthesizes existing research rather than generating new empirical data. The quality of the review is therefore bounded by the quality of its sources. Framework currency is a limitation inherent to any document in a fast-moving field: cybersecurity standards are updated regularly, and some details may have been superseded. Context-specific applicability reminds the panel that ZTA is not a one-size-fits-all solution — what works for a federal agency may not be directly transferable to a small enterprise. Finally, both AI/ML integration and post-quantum cryptography are rapidly evolving fields, and any assessment of their maturity should be understood as a snapshot in time rather than a definitive conclusion.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a:t>
            </a:r>
          </a:p>
          <a:p>
            <a:r>
              <a:rPr lang="en-US" dirty="0"/>
              <a:t>
Bring the presentation to a confident, decisive close. Summarize the key takeaways: Zero Trust Architecture is no longer a theoretical concept — it is a mature, actively deployed framework. The three major standards bodies have provided a solid, if non-interchangeable, foundation for adoption. Implementation challenges exist but are addressable with the right combination of technology and organizational commitment. Looking ahead, AI/ML is transforming ZTA from a policy-heavy manual process into an automated, proactive security posture. And the quantum threat to current cryptographic standards means organizations must begin the post-quantum transition now, not when quantum computers arrive. Close with the essential message of the paper: in an era where the network boundary has dissolved, the only coherent response is to verify everything, every time. After concluding, invite questions from the panel and present the QR code as a convenient link to the full reference list.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r>
              <a:rPr lang="en-US" dirty="0"/>
              <a:t>
This slide lists all six reference works that underpin the review paper. Three are formal standards documents from authoritative government and standards bodies: NIST (2020), CISA (2023), and the DoD (2022). Three are peer-reviewed academic publications from IEEE (2025), SAGE (2025), and Springer (2026). Together they provide both the normative foundation and the empirical critique necessary for a balanced and rigorous literature review. If panellists wish to access any of these sources directly, the QR code on the conclusion slide links to all six references. All citations follow APA 7th edition formatting.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47636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367921A-5169-45AC-9AC9-DBE806A40055}"/>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a14:imgEffect>
                  </a14:imgLayer>
                </a14:imgProps>
              </a:ext>
            </a:extLst>
          </a:blip>
          <a:srcRect l="17328" r="30442"/>
          <a:stretch/>
        </p:blipFill>
        <p:spPr>
          <a:xfrm>
            <a:off x="-2" y="0"/>
            <a:ext cx="3176913" cy="5143500"/>
          </a:xfrm>
          <a:prstGeom prst="rect">
            <a:avLst/>
          </a:prstGeom>
        </p:spPr>
      </p:pic>
      <p:sp>
        <p:nvSpPr>
          <p:cNvPr id="5" name="Shape 3"/>
          <p:cNvSpPr/>
          <p:nvPr/>
        </p:nvSpPr>
        <p:spPr>
          <a:xfrm>
            <a:off x="3176912" y="0"/>
            <a:ext cx="45719" cy="5143500"/>
          </a:xfrm>
          <a:prstGeom prst="rect">
            <a:avLst/>
          </a:prstGeom>
          <a:solidFill>
            <a:srgbClr val="00B4D8"/>
          </a:solidFill>
          <a:ln w="12700">
            <a:solidFill>
              <a:srgbClr val="00B4D8"/>
            </a:solidFill>
            <a:prstDash val="solid"/>
          </a:ln>
        </p:spPr>
      </p:sp>
      <p:sp>
        <p:nvSpPr>
          <p:cNvPr id="12" name="Text 9"/>
          <p:cNvSpPr/>
          <p:nvPr/>
        </p:nvSpPr>
        <p:spPr>
          <a:xfrm>
            <a:off x="7977479" y="4514735"/>
            <a:ext cx="834228" cy="274320"/>
          </a:xfrm>
          <a:prstGeom prst="rect">
            <a:avLst/>
          </a:prstGeom>
          <a:noFill/>
          <a:ln/>
        </p:spPr>
        <p:txBody>
          <a:bodyPr wrap="square" lIns="0" tIns="0" rIns="0" bIns="0" rtlCol="0" anchor="ctr"/>
          <a:lstStyle/>
          <a:p>
            <a:pPr marL="0" indent="0">
              <a:buNone/>
            </a:pPr>
            <a:r>
              <a:rPr lang="en-US" sz="1000" dirty="0">
                <a:solidFill>
                  <a:srgbClr val="FFFFFF"/>
                </a:solidFill>
              </a:rPr>
              <a:t>04 May 2026</a:t>
            </a:r>
            <a:endParaRPr lang="en-US" sz="1000" dirty="0"/>
          </a:p>
        </p:txBody>
      </p:sp>
      <p:sp>
        <p:nvSpPr>
          <p:cNvPr id="9" name="Text 6"/>
          <p:cNvSpPr/>
          <p:nvPr/>
        </p:nvSpPr>
        <p:spPr>
          <a:xfrm>
            <a:off x="3442023" y="1849850"/>
            <a:ext cx="5577840" cy="986038"/>
          </a:xfrm>
          <a:prstGeom prst="rect">
            <a:avLst/>
          </a:prstGeom>
          <a:noFill/>
          <a:ln/>
        </p:spPr>
        <p:txBody>
          <a:bodyPr wrap="square" rtlCol="0" anchor="ctr"/>
          <a:lstStyle/>
          <a:p>
            <a:pPr marL="0" indent="0">
              <a:lnSpc>
                <a:spcPct val="120000"/>
              </a:lnSpc>
              <a:buNone/>
            </a:pPr>
            <a:r>
              <a:rPr lang="en-US" sz="2800" b="1" dirty="0">
                <a:solidFill>
                  <a:srgbClr val="FFFFFF"/>
                </a:solidFill>
                <a:latin typeface="Trebuchet MS" pitchFamily="34" charset="0"/>
                <a:ea typeface="Trebuchet MS" pitchFamily="34" charset="-122"/>
                <a:cs typeface="Trebuchet MS" pitchFamily="34" charset="-120"/>
              </a:rPr>
              <a:t>A Comprehensive Review of</a:t>
            </a:r>
            <a:endParaRPr lang="en-US" sz="2800" dirty="0"/>
          </a:p>
          <a:p>
            <a:pPr marL="0" indent="0">
              <a:lnSpc>
                <a:spcPct val="120000"/>
              </a:lnSpc>
              <a:buNone/>
            </a:pPr>
            <a:r>
              <a:rPr lang="en-US" sz="3600" b="1" i="1" dirty="0">
                <a:solidFill>
                  <a:srgbClr val="FFFFFF"/>
                </a:solidFill>
                <a:latin typeface="Trebuchet MS" pitchFamily="34" charset="0"/>
                <a:ea typeface="Trebuchet MS" pitchFamily="34" charset="-122"/>
                <a:cs typeface="Trebuchet MS" pitchFamily="34" charset="-120"/>
              </a:rPr>
              <a:t>Zero Trust Architecture</a:t>
            </a:r>
            <a:endParaRPr lang="en-US" sz="3600" i="1" dirty="0"/>
          </a:p>
        </p:txBody>
      </p:sp>
      <p:sp>
        <p:nvSpPr>
          <p:cNvPr id="10" name="Text 7"/>
          <p:cNvSpPr/>
          <p:nvPr/>
        </p:nvSpPr>
        <p:spPr>
          <a:xfrm>
            <a:off x="3391619" y="2940949"/>
            <a:ext cx="5486400" cy="352702"/>
          </a:xfrm>
          <a:prstGeom prst="rect">
            <a:avLst/>
          </a:prstGeom>
          <a:noFill/>
          <a:ln/>
        </p:spPr>
        <p:txBody>
          <a:bodyPr wrap="square" rtlCol="0" anchor="ctr"/>
          <a:lstStyle/>
          <a:p>
            <a:pPr marL="0" indent="0">
              <a:buNone/>
            </a:pPr>
            <a:endParaRPr lang="en-US" sz="1600" dirty="0"/>
          </a:p>
        </p:txBody>
      </p:sp>
      <p:cxnSp>
        <p:nvCxnSpPr>
          <p:cNvPr id="13" name="Straight Connector 12"/>
          <p:cNvCxnSpPr/>
          <p:nvPr/>
        </p:nvCxnSpPr>
        <p:spPr>
          <a:xfrm>
            <a:off x="3494313" y="2923160"/>
            <a:ext cx="5075778"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01710F7E-10F5-40A5-86C5-551B32D376E4}"/>
              </a:ext>
            </a:extLst>
          </p:cNvPr>
          <p:cNvPicPr>
            <a:picLocks noChangeAspect="1"/>
          </p:cNvPicPr>
          <p:nvPr/>
        </p:nvPicPr>
        <p:blipFill rotWithShape="1">
          <a:blip r:embed="rId5"/>
          <a:srcRect l="17328" r="30442"/>
          <a:stretch/>
        </p:blipFill>
        <p:spPr>
          <a:xfrm>
            <a:off x="-7435" y="627047"/>
            <a:ext cx="3176913" cy="4024848"/>
          </a:xfrm>
          <a:prstGeom prst="rect">
            <a:avLst/>
          </a:prstGeom>
        </p:spPr>
      </p:pic>
      <p:grpSp>
        <p:nvGrpSpPr>
          <p:cNvPr id="6" name="Group 5">
            <a:extLst>
              <a:ext uri="{FF2B5EF4-FFF2-40B4-BE49-F238E27FC236}">
                <a16:creationId xmlns:a16="http://schemas.microsoft.com/office/drawing/2014/main" id="{58787928-D2EB-4697-ADD6-339CF2EE8B57}"/>
              </a:ext>
            </a:extLst>
          </p:cNvPr>
          <p:cNvGrpSpPr/>
          <p:nvPr/>
        </p:nvGrpSpPr>
        <p:grpSpPr>
          <a:xfrm>
            <a:off x="3513847" y="3007087"/>
            <a:ext cx="2407524" cy="347472"/>
            <a:chOff x="3513847" y="3007087"/>
            <a:chExt cx="2165344" cy="347472"/>
          </a:xfrm>
        </p:grpSpPr>
        <p:sp>
          <p:nvSpPr>
            <p:cNvPr id="14" name="Shape 12">
              <a:extLst>
                <a:ext uri="{FF2B5EF4-FFF2-40B4-BE49-F238E27FC236}">
                  <a16:creationId xmlns:a16="http://schemas.microsoft.com/office/drawing/2014/main" id="{9012C3C1-CC27-42BC-9FA3-BEBD880A059A}"/>
                </a:ext>
              </a:extLst>
            </p:cNvPr>
            <p:cNvSpPr/>
            <p:nvPr/>
          </p:nvSpPr>
          <p:spPr>
            <a:xfrm>
              <a:off x="3513847" y="3007087"/>
              <a:ext cx="2165344" cy="347472"/>
            </a:xfrm>
            <a:prstGeom prst="rect">
              <a:avLst/>
            </a:prstGeom>
            <a:solidFill>
              <a:srgbClr val="00B4D8">
                <a:alpha val="15000"/>
              </a:srgbClr>
            </a:solidFill>
            <a:ln w="12700">
              <a:noFill/>
              <a:prstDash val="solid"/>
            </a:ln>
          </p:spPr>
          <p:txBody>
            <a:bodyPr/>
            <a:lstStyle/>
            <a:p>
              <a:endParaRPr lang="en-US" dirty="0"/>
            </a:p>
          </p:txBody>
        </p:sp>
        <p:sp>
          <p:nvSpPr>
            <p:cNvPr id="15" name="Text 13">
              <a:extLst>
                <a:ext uri="{FF2B5EF4-FFF2-40B4-BE49-F238E27FC236}">
                  <a16:creationId xmlns:a16="http://schemas.microsoft.com/office/drawing/2014/main" id="{33DCC633-7443-4708-A6C2-5050F7EAC024}"/>
                </a:ext>
              </a:extLst>
            </p:cNvPr>
            <p:cNvSpPr/>
            <p:nvPr/>
          </p:nvSpPr>
          <p:spPr>
            <a:xfrm>
              <a:off x="3611011" y="3012860"/>
              <a:ext cx="2068180" cy="329184"/>
            </a:xfrm>
            <a:prstGeom prst="rect">
              <a:avLst/>
            </a:prstGeom>
            <a:noFill/>
            <a:ln/>
          </p:spPr>
          <p:txBody>
            <a:bodyPr wrap="square" rtlCol="0" anchor="ctr"/>
            <a:lstStyle/>
            <a:p>
              <a:pPr marL="0" indent="0">
                <a:buNone/>
              </a:pPr>
              <a:r>
                <a:rPr lang="en-US" sz="1400" i="1" dirty="0">
                  <a:solidFill>
                    <a:schemeClr val="accent2">
                      <a:lumMod val="60000"/>
                      <a:lumOff val="40000"/>
                    </a:schemeClr>
                  </a:solidFill>
                </a:rPr>
                <a:t>"Never Trust, Always Verify"</a:t>
              </a:r>
              <a:endParaRPr lang="en-US" sz="1400" dirty="0">
                <a:solidFill>
                  <a:schemeClr val="accent2">
                    <a:lumMod val="60000"/>
                    <a:lumOff val="40000"/>
                  </a:schemeClr>
                </a:solidFill>
              </a:endParaRPr>
            </a:p>
          </p:txBody>
        </p:sp>
      </p:grpSp>
    </p:spTree>
    <p:extLst>
      <p:ext uri="{BB962C8B-B14F-4D97-AF65-F5344CB8AC3E}">
        <p14:creationId xmlns:p14="http://schemas.microsoft.com/office/powerpoint/2010/main" val="244664740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E4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33CE487-8FB6-4960-91E0-FF7AC19E0116}"/>
              </a:ext>
            </a:extLst>
          </p:cNvPr>
          <p:cNvGrpSpPr/>
          <p:nvPr/>
        </p:nvGrpSpPr>
        <p:grpSpPr>
          <a:xfrm>
            <a:off x="3315111" y="356163"/>
            <a:ext cx="2429744" cy="347471"/>
            <a:chOff x="3315111" y="356163"/>
            <a:chExt cx="2429744" cy="347471"/>
          </a:xfrm>
        </p:grpSpPr>
        <p:sp>
          <p:nvSpPr>
            <p:cNvPr id="5" name="Shape 2"/>
            <p:cNvSpPr/>
            <p:nvPr/>
          </p:nvSpPr>
          <p:spPr>
            <a:xfrm>
              <a:off x="3315111" y="356163"/>
              <a:ext cx="2429744" cy="347471"/>
            </a:xfrm>
            <a:prstGeom prst="roundRect">
              <a:avLst>
                <a:gd name="adj" fmla="val 20000"/>
              </a:avLst>
            </a:prstGeom>
            <a:solidFill>
              <a:srgbClr val="00B4D8">
                <a:alpha val="80000"/>
              </a:srgbClr>
            </a:solidFill>
            <a:ln w="12700">
              <a:solidFill>
                <a:srgbClr val="00B4D8"/>
              </a:solidFill>
              <a:prstDash val="solid"/>
            </a:ln>
          </p:spPr>
        </p:sp>
        <p:sp>
          <p:nvSpPr>
            <p:cNvPr id="6" name="Text 3"/>
            <p:cNvSpPr/>
            <p:nvPr/>
          </p:nvSpPr>
          <p:spPr>
            <a:xfrm>
              <a:off x="3541014" y="401883"/>
              <a:ext cx="2061972" cy="256032"/>
            </a:xfrm>
            <a:prstGeom prst="rect">
              <a:avLst/>
            </a:prstGeom>
            <a:noFill/>
            <a:ln/>
          </p:spPr>
          <p:txBody>
            <a:bodyPr wrap="square" rtlCol="0" anchor="ctr"/>
            <a:lstStyle/>
            <a:p>
              <a:pPr marL="0" indent="0" algn="ctr">
                <a:buNone/>
              </a:pPr>
              <a:r>
                <a:rPr lang="en-US" sz="1400" b="1" kern="0" spc="200" dirty="0">
                  <a:solidFill>
                    <a:srgbClr val="FFFFFF"/>
                  </a:solidFill>
                </a:rPr>
                <a:t>Team Introduction</a:t>
              </a:r>
              <a:endParaRPr lang="en-US" sz="1400" dirty="0"/>
            </a:p>
          </p:txBody>
        </p:sp>
      </p:grpSp>
      <p:sp>
        <p:nvSpPr>
          <p:cNvPr id="8" name="Text 5"/>
          <p:cNvSpPr/>
          <p:nvPr/>
        </p:nvSpPr>
        <p:spPr>
          <a:xfrm>
            <a:off x="1271171" y="2117477"/>
            <a:ext cx="1124839" cy="403917"/>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Team Name:</a:t>
            </a:r>
            <a:endParaRPr lang="en-US" sz="1400" dirty="0"/>
          </a:p>
        </p:txBody>
      </p:sp>
      <p:sp>
        <p:nvSpPr>
          <p:cNvPr id="9" name="Text 6"/>
          <p:cNvSpPr/>
          <p:nvPr/>
        </p:nvSpPr>
        <p:spPr>
          <a:xfrm>
            <a:off x="2545821" y="2117477"/>
            <a:ext cx="1757258" cy="403917"/>
          </a:xfrm>
          <a:prstGeom prst="rect">
            <a:avLst/>
          </a:prstGeom>
          <a:noFill/>
          <a:ln/>
        </p:spPr>
        <p:txBody>
          <a:bodyPr wrap="square" lIns="0" tIns="0" rIns="0" bIns="0" rtlCol="0" anchor="ctr"/>
          <a:lstStyle/>
          <a:p>
            <a:pPr marL="0" indent="0">
              <a:buNone/>
            </a:pPr>
            <a:r>
              <a:rPr lang="en-US" sz="1600" b="1" i="1" dirty="0">
                <a:solidFill>
                  <a:srgbClr val="5E7A96"/>
                </a:solidFill>
                <a:latin typeface="Calibri" pitchFamily="34" charset="0"/>
                <a:ea typeface="Calibri" pitchFamily="34" charset="-122"/>
                <a:cs typeface="Calibri" pitchFamily="34" charset="-120"/>
              </a:rPr>
              <a:t> Zero Trust</a:t>
            </a:r>
            <a:endParaRPr lang="en-US" sz="1600" b="1" i="1" dirty="0"/>
          </a:p>
        </p:txBody>
      </p:sp>
      <p:sp>
        <p:nvSpPr>
          <p:cNvPr id="11" name="Text 8"/>
          <p:cNvSpPr/>
          <p:nvPr/>
        </p:nvSpPr>
        <p:spPr>
          <a:xfrm>
            <a:off x="1271171" y="2455323"/>
            <a:ext cx="1124839" cy="403917"/>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Members:</a:t>
            </a:r>
            <a:endParaRPr lang="en-US" sz="1400" dirty="0"/>
          </a:p>
        </p:txBody>
      </p:sp>
      <p:sp>
        <p:nvSpPr>
          <p:cNvPr id="12" name="Text 9"/>
          <p:cNvSpPr/>
          <p:nvPr/>
        </p:nvSpPr>
        <p:spPr>
          <a:xfrm>
            <a:off x="2545821" y="2602886"/>
            <a:ext cx="2045161" cy="403917"/>
          </a:xfrm>
          <a:prstGeom prst="rect">
            <a:avLst/>
          </a:prstGeom>
          <a:noFill/>
          <a:ln/>
        </p:spPr>
        <p:txBody>
          <a:bodyPr wrap="square" lIns="0" tIns="0" rIns="0" bIns="0" rtlCol="0" anchor="ctr"/>
          <a:lstStyle/>
          <a:p>
            <a:pPr marL="0" indent="0">
              <a:buNone/>
            </a:pPr>
            <a:r>
              <a:rPr lang="en-US" sz="1400" dirty="0">
                <a:solidFill>
                  <a:srgbClr val="5E7A96"/>
                </a:solidFill>
                <a:latin typeface="Calibri" pitchFamily="34" charset="0"/>
                <a:ea typeface="Calibri" pitchFamily="34" charset="-122"/>
                <a:cs typeface="Calibri" pitchFamily="34" charset="-120"/>
              </a:rPr>
              <a:t>Md. Tanvir Rahman Pranto</a:t>
            </a:r>
          </a:p>
          <a:p>
            <a:pPr marL="0" indent="0">
              <a:buNone/>
            </a:pPr>
            <a:r>
              <a:rPr lang="en-US" sz="1400" dirty="0">
                <a:solidFill>
                  <a:srgbClr val="5E7A96"/>
                </a:solidFill>
                <a:latin typeface="Calibri" pitchFamily="34" charset="0"/>
                <a:cs typeface="Calibri" pitchFamily="34" charset="-120"/>
              </a:rPr>
              <a:t>Md. Razab Ali</a:t>
            </a:r>
            <a:endParaRPr lang="en-US" sz="1400" dirty="0"/>
          </a:p>
        </p:txBody>
      </p:sp>
      <p:sp>
        <p:nvSpPr>
          <p:cNvPr id="17" name="Text 14"/>
          <p:cNvSpPr/>
          <p:nvPr/>
        </p:nvSpPr>
        <p:spPr>
          <a:xfrm>
            <a:off x="1271171" y="2999354"/>
            <a:ext cx="1124839" cy="403917"/>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Institution:</a:t>
            </a:r>
            <a:endParaRPr lang="en-US" sz="1400" dirty="0"/>
          </a:p>
        </p:txBody>
      </p:sp>
      <p:sp>
        <p:nvSpPr>
          <p:cNvPr id="18" name="Text 15"/>
          <p:cNvSpPr/>
          <p:nvPr/>
        </p:nvSpPr>
        <p:spPr>
          <a:xfrm>
            <a:off x="2545821" y="3189090"/>
            <a:ext cx="2045161" cy="333815"/>
          </a:xfrm>
          <a:prstGeom prst="rect">
            <a:avLst/>
          </a:prstGeom>
          <a:noFill/>
          <a:ln/>
        </p:spPr>
        <p:txBody>
          <a:bodyPr wrap="square" lIns="0" tIns="0" rIns="0" bIns="0" rtlCol="0" anchor="ctr"/>
          <a:lstStyle/>
          <a:p>
            <a:pPr marL="0" indent="0">
              <a:buNone/>
            </a:pPr>
            <a:r>
              <a:rPr lang="en-US" sz="1400" dirty="0">
                <a:solidFill>
                  <a:srgbClr val="5E7A96"/>
                </a:solidFill>
                <a:latin typeface="Calibri" pitchFamily="34" charset="0"/>
                <a:ea typeface="Calibri" pitchFamily="34" charset="-122"/>
                <a:cs typeface="Calibri" pitchFamily="34" charset="-120"/>
              </a:rPr>
              <a:t>North Bengal International University, Rajshahi</a:t>
            </a:r>
            <a:endParaRPr lang="en-US" sz="1400" dirty="0"/>
          </a:p>
        </p:txBody>
      </p:sp>
      <p:sp>
        <p:nvSpPr>
          <p:cNvPr id="21" name="Text 18"/>
          <p:cNvSpPr/>
          <p:nvPr/>
        </p:nvSpPr>
        <p:spPr>
          <a:xfrm>
            <a:off x="6246242" y="2117477"/>
            <a:ext cx="1752733" cy="760001"/>
          </a:xfrm>
          <a:prstGeom prst="rect">
            <a:avLst/>
          </a:prstGeom>
          <a:noFill/>
          <a:ln/>
        </p:spPr>
        <p:txBody>
          <a:bodyPr wrap="square" lIns="0" tIns="0" rIns="0" bIns="0" rtlCol="0" anchor="ctr"/>
          <a:lstStyle/>
          <a:p>
            <a:pPr marL="0" indent="0">
              <a:buNone/>
            </a:pPr>
            <a:r>
              <a:rPr lang="en-US" sz="1400" dirty="0">
                <a:solidFill>
                  <a:srgbClr val="5E7A96"/>
                </a:solidFill>
                <a:latin typeface="Calibri" pitchFamily="34" charset="0"/>
                <a:ea typeface="Calibri" pitchFamily="34" charset="-122"/>
                <a:cs typeface="Calibri" pitchFamily="34" charset="-120"/>
              </a:rPr>
              <a:t>Sakurah Ismail</a:t>
            </a:r>
          </a:p>
          <a:p>
            <a:pPr marL="0" indent="0">
              <a:buNone/>
            </a:pPr>
            <a:r>
              <a:rPr lang="en-US" sz="1400" dirty="0">
                <a:solidFill>
                  <a:srgbClr val="5E7A96"/>
                </a:solidFill>
                <a:latin typeface="Calibri" pitchFamily="34" charset="0"/>
                <a:cs typeface="Calibri" pitchFamily="34" charset="-120"/>
              </a:rPr>
              <a:t>Lecturer</a:t>
            </a:r>
          </a:p>
          <a:p>
            <a:pPr marL="0" indent="0">
              <a:buNone/>
            </a:pPr>
            <a:r>
              <a:rPr lang="en-US" sz="1400" dirty="0">
                <a:solidFill>
                  <a:srgbClr val="5E7A96"/>
                </a:solidFill>
                <a:latin typeface="Calibri" pitchFamily="34" charset="0"/>
                <a:cs typeface="Calibri" pitchFamily="34" charset="-120"/>
              </a:rPr>
              <a:t>NBIU, Rajshahi</a:t>
            </a:r>
            <a:endParaRPr lang="en-US" sz="1400" dirty="0"/>
          </a:p>
        </p:txBody>
      </p:sp>
      <p:sp>
        <p:nvSpPr>
          <p:cNvPr id="23" name="Text 20"/>
          <p:cNvSpPr/>
          <p:nvPr/>
        </p:nvSpPr>
        <p:spPr>
          <a:xfrm>
            <a:off x="6246242" y="3183355"/>
            <a:ext cx="2162250" cy="403917"/>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Date: 04 May 2026</a:t>
            </a:r>
            <a:endParaRPr lang="en-US" sz="1400" dirty="0"/>
          </a:p>
        </p:txBody>
      </p:sp>
      <p:sp>
        <p:nvSpPr>
          <p:cNvPr id="26" name="Text 14"/>
          <p:cNvSpPr/>
          <p:nvPr/>
        </p:nvSpPr>
        <p:spPr>
          <a:xfrm>
            <a:off x="5429384" y="1713560"/>
            <a:ext cx="2162250" cy="403917"/>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Present To:</a:t>
            </a:r>
            <a:endParaRPr lang="en-US" sz="1400" dirty="0"/>
          </a:p>
        </p:txBody>
      </p:sp>
      <p:sp>
        <p:nvSpPr>
          <p:cNvPr id="30" name="Text 14"/>
          <p:cNvSpPr/>
          <p:nvPr/>
        </p:nvSpPr>
        <p:spPr>
          <a:xfrm>
            <a:off x="735508" y="1713560"/>
            <a:ext cx="2162250" cy="403917"/>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Present By:</a:t>
            </a:r>
            <a:endParaRPr lang="en-US" sz="1400" dirty="0"/>
          </a:p>
        </p:txBody>
      </p:sp>
      <p:cxnSp>
        <p:nvCxnSpPr>
          <p:cNvPr id="10" name="Straight Connector 9">
            <a:extLst>
              <a:ext uri="{FF2B5EF4-FFF2-40B4-BE49-F238E27FC236}">
                <a16:creationId xmlns:a16="http://schemas.microsoft.com/office/drawing/2014/main" id="{FD934374-05C2-403D-8000-FBB0F322174E}"/>
              </a:ext>
            </a:extLst>
          </p:cNvPr>
          <p:cNvCxnSpPr/>
          <p:nvPr/>
        </p:nvCxnSpPr>
        <p:spPr>
          <a:xfrm>
            <a:off x="4988312" y="1509130"/>
            <a:ext cx="0" cy="2512741"/>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457200" y="566928"/>
            <a:ext cx="64008" cy="438912"/>
          </a:xfrm>
          <a:prstGeom prst="rect">
            <a:avLst/>
          </a:prstGeom>
          <a:solidFill>
            <a:srgbClr val="00B4D8"/>
          </a:solidFill>
          <a:ln w="12700">
            <a:solidFill>
              <a:srgbClr val="00B4D8"/>
            </a:solidFill>
            <a:prstDash val="solid"/>
          </a:ln>
        </p:spPr>
      </p:sp>
      <p:sp>
        <p:nvSpPr>
          <p:cNvPr id="3" name="Text 1"/>
          <p:cNvSpPr/>
          <p:nvPr/>
        </p:nvSpPr>
        <p:spPr>
          <a:xfrm>
            <a:off x="594360" y="502920"/>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Abstract &amp; Overview</a:t>
            </a:r>
            <a:endParaRPr lang="en-US" sz="2600" dirty="0"/>
          </a:p>
        </p:txBody>
      </p:sp>
      <p:sp>
        <p:nvSpPr>
          <p:cNvPr id="4" name="Text 2"/>
          <p:cNvSpPr/>
          <p:nvPr/>
        </p:nvSpPr>
        <p:spPr>
          <a:xfrm>
            <a:off x="594360" y="1005840"/>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What this paper covers and why it matters</a:t>
            </a:r>
            <a:endParaRPr lang="en-US" sz="1300" dirty="0"/>
          </a:p>
        </p:txBody>
      </p:sp>
      <p:sp>
        <p:nvSpPr>
          <p:cNvPr id="5" name="Shape 3"/>
          <p:cNvSpPr/>
          <p:nvPr/>
        </p:nvSpPr>
        <p:spPr>
          <a:xfrm>
            <a:off x="457200" y="1463040"/>
            <a:ext cx="2697480" cy="31089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6" name="Image 0" descr="preencoded.png"/>
          <p:cNvPicPr>
            <a:picLocks noChangeAspect="1"/>
          </p:cNvPicPr>
          <p:nvPr/>
        </p:nvPicPr>
        <p:blipFill>
          <a:blip r:embed="rId3"/>
          <a:stretch>
            <a:fillRect/>
          </a:stretch>
        </p:blipFill>
        <p:spPr>
          <a:xfrm>
            <a:off x="1508760" y="2077097"/>
            <a:ext cx="594360" cy="594360"/>
          </a:xfrm>
          <a:prstGeom prst="rect">
            <a:avLst/>
          </a:prstGeom>
        </p:spPr>
      </p:pic>
      <p:sp>
        <p:nvSpPr>
          <p:cNvPr id="7" name="Text 4"/>
          <p:cNvSpPr/>
          <p:nvPr/>
        </p:nvSpPr>
        <p:spPr>
          <a:xfrm>
            <a:off x="594360" y="2762897"/>
            <a:ext cx="2423160" cy="347472"/>
          </a:xfrm>
          <a:prstGeom prst="rect">
            <a:avLst/>
          </a:prstGeom>
          <a:noFill/>
          <a:ln/>
        </p:spPr>
        <p:txBody>
          <a:bodyPr wrap="square" rtlCol="0" anchor="ctr"/>
          <a:lstStyle/>
          <a:p>
            <a:pPr marL="0" indent="0" algn="ctr">
              <a:buNone/>
            </a:pPr>
            <a:r>
              <a:rPr lang="en-US" sz="1600" b="1" dirty="0">
                <a:solidFill>
                  <a:srgbClr val="1A2E44"/>
                </a:solidFill>
                <a:latin typeface="Trebuchet MS" pitchFamily="34" charset="0"/>
                <a:ea typeface="Trebuchet MS" pitchFamily="34" charset="-122"/>
                <a:cs typeface="Trebuchet MS" pitchFamily="34" charset="-120"/>
              </a:rPr>
              <a:t>Focus</a:t>
            </a:r>
            <a:endParaRPr lang="en-US" sz="1600" dirty="0"/>
          </a:p>
        </p:txBody>
      </p:sp>
      <p:sp>
        <p:nvSpPr>
          <p:cNvPr id="8" name="Text 5"/>
          <p:cNvSpPr/>
          <p:nvPr/>
        </p:nvSpPr>
        <p:spPr>
          <a:xfrm>
            <a:off x="594360" y="2697480"/>
            <a:ext cx="2423160" cy="164592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Critically reviews ZTA frameworks, pillars, and real-world deployment challenges</a:t>
            </a:r>
            <a:endParaRPr lang="en-US" sz="1200" dirty="0"/>
          </a:p>
        </p:txBody>
      </p:sp>
      <p:sp>
        <p:nvSpPr>
          <p:cNvPr id="9" name="Shape 6"/>
          <p:cNvSpPr/>
          <p:nvPr/>
        </p:nvSpPr>
        <p:spPr>
          <a:xfrm>
            <a:off x="3337560" y="1463040"/>
            <a:ext cx="2697480" cy="31089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10" name="Image 1" descr="preencoded.png"/>
          <p:cNvPicPr>
            <a:picLocks noChangeAspect="1"/>
          </p:cNvPicPr>
          <p:nvPr/>
        </p:nvPicPr>
        <p:blipFill>
          <a:blip r:embed="rId4"/>
          <a:stretch>
            <a:fillRect/>
          </a:stretch>
        </p:blipFill>
        <p:spPr>
          <a:xfrm>
            <a:off x="4389120" y="2077097"/>
            <a:ext cx="594360" cy="594360"/>
          </a:xfrm>
          <a:prstGeom prst="rect">
            <a:avLst/>
          </a:prstGeom>
        </p:spPr>
      </p:pic>
      <p:sp>
        <p:nvSpPr>
          <p:cNvPr id="11" name="Text 7"/>
          <p:cNvSpPr/>
          <p:nvPr/>
        </p:nvSpPr>
        <p:spPr>
          <a:xfrm>
            <a:off x="3474720" y="2762897"/>
            <a:ext cx="2423160" cy="347472"/>
          </a:xfrm>
          <a:prstGeom prst="rect">
            <a:avLst/>
          </a:prstGeom>
          <a:noFill/>
          <a:ln/>
        </p:spPr>
        <p:txBody>
          <a:bodyPr wrap="square" rtlCol="0" anchor="ctr"/>
          <a:lstStyle/>
          <a:p>
            <a:pPr marL="0" indent="0" algn="ctr">
              <a:buNone/>
            </a:pPr>
            <a:r>
              <a:rPr lang="en-US" sz="1600" b="1" dirty="0">
                <a:solidFill>
                  <a:srgbClr val="1A2E44"/>
                </a:solidFill>
                <a:latin typeface="Trebuchet MS" pitchFamily="34" charset="0"/>
                <a:ea typeface="Trebuchet MS" pitchFamily="34" charset="-122"/>
                <a:cs typeface="Trebuchet MS" pitchFamily="34" charset="-120"/>
              </a:rPr>
              <a:t>Scope</a:t>
            </a:r>
            <a:endParaRPr lang="en-US" sz="1600" dirty="0"/>
          </a:p>
        </p:txBody>
      </p:sp>
      <p:sp>
        <p:nvSpPr>
          <p:cNvPr id="12" name="Text 8"/>
          <p:cNvSpPr/>
          <p:nvPr/>
        </p:nvSpPr>
        <p:spPr>
          <a:xfrm>
            <a:off x="3474720" y="2697480"/>
            <a:ext cx="2423160" cy="164592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Covers NIST SP 800-207, CISA Maturity Model, and DoD Reference Architecture</a:t>
            </a:r>
            <a:endParaRPr lang="en-US" sz="1200" dirty="0"/>
          </a:p>
        </p:txBody>
      </p:sp>
      <p:sp>
        <p:nvSpPr>
          <p:cNvPr id="13" name="Shape 9"/>
          <p:cNvSpPr/>
          <p:nvPr/>
        </p:nvSpPr>
        <p:spPr>
          <a:xfrm>
            <a:off x="6217920" y="1463040"/>
            <a:ext cx="2697480" cy="31089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14" name="Image 2" descr="preencoded.png"/>
          <p:cNvPicPr>
            <a:picLocks noChangeAspect="1"/>
          </p:cNvPicPr>
          <p:nvPr/>
        </p:nvPicPr>
        <p:blipFill>
          <a:blip r:embed="rId5"/>
          <a:stretch>
            <a:fillRect/>
          </a:stretch>
        </p:blipFill>
        <p:spPr>
          <a:xfrm>
            <a:off x="7269480" y="2077097"/>
            <a:ext cx="594360" cy="594360"/>
          </a:xfrm>
          <a:prstGeom prst="rect">
            <a:avLst/>
          </a:prstGeom>
        </p:spPr>
      </p:pic>
      <p:sp>
        <p:nvSpPr>
          <p:cNvPr id="15" name="Text 10"/>
          <p:cNvSpPr/>
          <p:nvPr/>
        </p:nvSpPr>
        <p:spPr>
          <a:xfrm>
            <a:off x="6355080" y="2762897"/>
            <a:ext cx="2423160" cy="347472"/>
          </a:xfrm>
          <a:prstGeom prst="rect">
            <a:avLst/>
          </a:prstGeom>
          <a:noFill/>
          <a:ln/>
        </p:spPr>
        <p:txBody>
          <a:bodyPr wrap="square" rtlCol="0" anchor="ctr"/>
          <a:lstStyle/>
          <a:p>
            <a:pPr marL="0" indent="0" algn="ctr">
              <a:buNone/>
            </a:pPr>
            <a:r>
              <a:rPr lang="en-US" sz="1600" b="1" dirty="0">
                <a:solidFill>
                  <a:srgbClr val="1A2E44"/>
                </a:solidFill>
                <a:latin typeface="Trebuchet MS" pitchFamily="34" charset="0"/>
                <a:ea typeface="Trebuchet MS" pitchFamily="34" charset="-122"/>
                <a:cs typeface="Trebuchet MS" pitchFamily="34" charset="-120"/>
              </a:rPr>
              <a:t>Outcome</a:t>
            </a:r>
            <a:endParaRPr lang="en-US" sz="1600" dirty="0"/>
          </a:p>
        </p:txBody>
      </p:sp>
      <p:sp>
        <p:nvSpPr>
          <p:cNvPr id="16" name="Text 11"/>
          <p:cNvSpPr/>
          <p:nvPr/>
        </p:nvSpPr>
        <p:spPr>
          <a:xfrm>
            <a:off x="6355080" y="2697480"/>
            <a:ext cx="2423160" cy="164592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Provides actionable roadmap and identifies AI &amp; quantum-era future directions</a:t>
            </a:r>
            <a:endParaRPr lang="en-US" sz="1200" dirty="0"/>
          </a:p>
        </p:txBody>
      </p:sp>
      <p:sp>
        <p:nvSpPr>
          <p:cNvPr id="17" name="Shape 12"/>
          <p:cNvSpPr/>
          <p:nvPr/>
        </p:nvSpPr>
        <p:spPr>
          <a:xfrm>
            <a:off x="457200" y="4663440"/>
            <a:ext cx="8229600" cy="347472"/>
          </a:xfrm>
          <a:prstGeom prst="rect">
            <a:avLst/>
          </a:prstGeom>
          <a:solidFill>
            <a:srgbClr val="00B4D8">
              <a:alpha val="15000"/>
            </a:srgbClr>
          </a:solidFill>
          <a:ln w="12700">
            <a:noFill/>
            <a:prstDash val="solid"/>
          </a:ln>
        </p:spPr>
      </p:sp>
      <p:sp>
        <p:nvSpPr>
          <p:cNvPr id="18" name="Text 13"/>
          <p:cNvSpPr/>
          <p:nvPr/>
        </p:nvSpPr>
        <p:spPr>
          <a:xfrm>
            <a:off x="548640" y="4672584"/>
            <a:ext cx="8046720" cy="329184"/>
          </a:xfrm>
          <a:prstGeom prst="rect">
            <a:avLst/>
          </a:prstGeom>
          <a:noFill/>
          <a:ln/>
        </p:spPr>
        <p:txBody>
          <a:bodyPr wrap="square" rtlCol="0" anchor="ctr"/>
          <a:lstStyle/>
          <a:p>
            <a:pPr marL="0" indent="0">
              <a:buNone/>
            </a:pPr>
            <a:r>
              <a:rPr lang="en-US" sz="1200" i="1" dirty="0">
                <a:solidFill>
                  <a:srgbClr val="0077A8"/>
                </a:solidFill>
              </a:rPr>
              <a:t>Core Philosophy: "Never Trust, Always Verify" — every access request is treated as potentially suspicious</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2153412" cy="274320"/>
          </a:xfrm>
          <a:prstGeom prst="roundRect">
            <a:avLst>
              <a:gd name="adj" fmla="val 20000"/>
            </a:avLst>
          </a:prstGeom>
          <a:solidFill>
            <a:srgbClr val="00B4D8">
              <a:alpha val="80000"/>
            </a:srgbClr>
          </a:solidFill>
          <a:ln w="12700">
            <a:solidFill>
              <a:srgbClr val="00B4D8"/>
            </a:solidFill>
            <a:prstDash val="solid"/>
          </a:ln>
        </p:spPr>
      </p:sp>
      <p:sp>
        <p:nvSpPr>
          <p:cNvPr id="3" name="Text 1"/>
          <p:cNvSpPr/>
          <p:nvPr/>
        </p:nvSpPr>
        <p:spPr>
          <a:xfrm>
            <a:off x="502920" y="265176"/>
            <a:ext cx="2061972" cy="256032"/>
          </a:xfrm>
          <a:prstGeom prst="rect">
            <a:avLst/>
          </a:prstGeom>
          <a:noFill/>
          <a:ln/>
        </p:spPr>
        <p:txBody>
          <a:bodyPr wrap="square" rtlCol="0" anchor="ctr"/>
          <a:lstStyle/>
          <a:p>
            <a:pPr marL="0" indent="0">
              <a:buNone/>
            </a:pPr>
            <a:r>
              <a:rPr lang="en-US" sz="900" b="1" kern="0" spc="200" dirty="0">
                <a:solidFill>
                  <a:srgbClr val="FFFFFF"/>
                </a:solidFill>
              </a:rPr>
              <a:t>PROBLEM STATEMENT</a:t>
            </a:r>
            <a:endParaRPr lang="en-US" sz="900" dirty="0"/>
          </a:p>
        </p:txBody>
      </p:sp>
      <p:sp>
        <p:nvSpPr>
          <p:cNvPr id="4" name="Text 2"/>
          <p:cNvSpPr/>
          <p:nvPr/>
        </p:nvSpPr>
        <p:spPr>
          <a:xfrm>
            <a:off x="457200" y="640080"/>
            <a:ext cx="8229600" cy="64008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Why Perimeter Security Has Failed</a:t>
            </a:r>
            <a:endParaRPr lang="en-US" sz="2800" dirty="0"/>
          </a:p>
        </p:txBody>
      </p:sp>
      <p:grpSp>
        <p:nvGrpSpPr>
          <p:cNvPr id="22" name="Group 21"/>
          <p:cNvGrpSpPr/>
          <p:nvPr/>
        </p:nvGrpSpPr>
        <p:grpSpPr>
          <a:xfrm>
            <a:off x="457200" y="1463040"/>
            <a:ext cx="4572000" cy="740664"/>
            <a:chOff x="457200" y="1463040"/>
            <a:chExt cx="4572000" cy="740664"/>
          </a:xfrm>
        </p:grpSpPr>
        <p:pic>
          <p:nvPicPr>
            <p:cNvPr id="5" name="Image 0" descr="preencoded.png"/>
            <p:cNvPicPr>
              <a:picLocks noChangeAspect="1"/>
            </p:cNvPicPr>
            <p:nvPr/>
          </p:nvPicPr>
          <p:blipFill>
            <a:blip r:embed="rId3"/>
            <a:stretch>
              <a:fillRect/>
            </a:stretch>
          </p:blipFill>
          <p:spPr>
            <a:xfrm>
              <a:off x="457200" y="1508760"/>
              <a:ext cx="347472" cy="347472"/>
            </a:xfrm>
            <a:prstGeom prst="rect">
              <a:avLst/>
            </a:prstGeom>
          </p:spPr>
        </p:pic>
        <p:sp>
          <p:nvSpPr>
            <p:cNvPr id="6" name="Text 3"/>
            <p:cNvSpPr/>
            <p:nvPr/>
          </p:nvSpPr>
          <p:spPr>
            <a:xfrm>
              <a:off x="914400" y="1463040"/>
              <a:ext cx="3657600" cy="320040"/>
            </a:xfrm>
            <a:prstGeom prst="rect">
              <a:avLst/>
            </a:prstGeom>
            <a:noFill/>
            <a:ln/>
          </p:spPr>
          <p:txBody>
            <a:bodyPr wrap="square" lIns="0" tIns="0" rIns="0" bIns="0" rtlCol="0" anchor="ctr"/>
            <a:lstStyle/>
            <a:p>
              <a:pPr marL="0" indent="0">
                <a:buNone/>
              </a:pPr>
              <a:r>
                <a:rPr lang="en-US" sz="1400" b="1" dirty="0">
                  <a:solidFill>
                    <a:srgbClr val="FFC857"/>
                  </a:solidFill>
                  <a:latin typeface="Trebuchet MS" pitchFamily="34" charset="0"/>
                  <a:ea typeface="Trebuchet MS" pitchFamily="34" charset="-122"/>
                  <a:cs typeface="Trebuchet MS" pitchFamily="34" charset="-120"/>
                </a:rPr>
                <a:t>Cloud Computing</a:t>
              </a:r>
              <a:endParaRPr lang="en-US" sz="1400" dirty="0"/>
            </a:p>
          </p:txBody>
        </p:sp>
        <p:sp>
          <p:nvSpPr>
            <p:cNvPr id="7" name="Text 4"/>
            <p:cNvSpPr/>
            <p:nvPr/>
          </p:nvSpPr>
          <p:spPr>
            <a:xfrm>
              <a:off x="914400" y="1792224"/>
              <a:ext cx="4114800" cy="41148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Data and services now live outside traditional network boundaries</a:t>
              </a:r>
              <a:endParaRPr lang="en-US" sz="1200" dirty="0"/>
            </a:p>
          </p:txBody>
        </p:sp>
      </p:grpSp>
      <p:grpSp>
        <p:nvGrpSpPr>
          <p:cNvPr id="23" name="Group 22"/>
          <p:cNvGrpSpPr/>
          <p:nvPr/>
        </p:nvGrpSpPr>
        <p:grpSpPr>
          <a:xfrm>
            <a:off x="457200" y="2304288"/>
            <a:ext cx="4572000" cy="740664"/>
            <a:chOff x="457200" y="2304288"/>
            <a:chExt cx="4572000" cy="740664"/>
          </a:xfrm>
        </p:grpSpPr>
        <p:pic>
          <p:nvPicPr>
            <p:cNvPr id="8" name="Image 1" descr="preencoded.png"/>
            <p:cNvPicPr>
              <a:picLocks noChangeAspect="1"/>
            </p:cNvPicPr>
            <p:nvPr/>
          </p:nvPicPr>
          <p:blipFill>
            <a:blip r:embed="rId3"/>
            <a:stretch>
              <a:fillRect/>
            </a:stretch>
          </p:blipFill>
          <p:spPr>
            <a:xfrm>
              <a:off x="457200" y="2350008"/>
              <a:ext cx="347472" cy="347472"/>
            </a:xfrm>
            <a:prstGeom prst="rect">
              <a:avLst/>
            </a:prstGeom>
          </p:spPr>
        </p:pic>
        <p:sp>
          <p:nvSpPr>
            <p:cNvPr id="9" name="Text 5"/>
            <p:cNvSpPr/>
            <p:nvPr/>
          </p:nvSpPr>
          <p:spPr>
            <a:xfrm>
              <a:off x="914400" y="2304288"/>
              <a:ext cx="3657600" cy="320040"/>
            </a:xfrm>
            <a:prstGeom prst="rect">
              <a:avLst/>
            </a:prstGeom>
            <a:noFill/>
            <a:ln/>
          </p:spPr>
          <p:txBody>
            <a:bodyPr wrap="square" lIns="0" tIns="0" rIns="0" bIns="0" rtlCol="0" anchor="ctr"/>
            <a:lstStyle/>
            <a:p>
              <a:pPr marL="0" indent="0">
                <a:buNone/>
              </a:pPr>
              <a:r>
                <a:rPr lang="en-US" sz="1400" b="1" dirty="0">
                  <a:solidFill>
                    <a:srgbClr val="FFC857"/>
                  </a:solidFill>
                  <a:latin typeface="Trebuchet MS" pitchFamily="34" charset="0"/>
                  <a:ea typeface="Trebuchet MS" pitchFamily="34" charset="-122"/>
                  <a:cs typeface="Trebuchet MS" pitchFamily="34" charset="-120"/>
                </a:rPr>
                <a:t>Remote Work</a:t>
              </a:r>
              <a:endParaRPr lang="en-US" sz="1400" dirty="0"/>
            </a:p>
          </p:txBody>
        </p:sp>
        <p:sp>
          <p:nvSpPr>
            <p:cNvPr id="10" name="Text 6"/>
            <p:cNvSpPr/>
            <p:nvPr/>
          </p:nvSpPr>
          <p:spPr>
            <a:xfrm>
              <a:off x="914400" y="2633472"/>
              <a:ext cx="4114800" cy="41148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Users connect from home networks, cafés, and personal devices</a:t>
              </a:r>
              <a:endParaRPr lang="en-US" sz="1200" dirty="0"/>
            </a:p>
          </p:txBody>
        </p:sp>
      </p:grpSp>
      <p:grpSp>
        <p:nvGrpSpPr>
          <p:cNvPr id="24" name="Group 23"/>
          <p:cNvGrpSpPr/>
          <p:nvPr/>
        </p:nvGrpSpPr>
        <p:grpSpPr>
          <a:xfrm>
            <a:off x="457200" y="3145536"/>
            <a:ext cx="4572000" cy="740664"/>
            <a:chOff x="457200" y="3145536"/>
            <a:chExt cx="4572000" cy="740664"/>
          </a:xfrm>
        </p:grpSpPr>
        <p:pic>
          <p:nvPicPr>
            <p:cNvPr id="11" name="Image 2" descr="preencoded.png"/>
            <p:cNvPicPr>
              <a:picLocks noChangeAspect="1"/>
            </p:cNvPicPr>
            <p:nvPr/>
          </p:nvPicPr>
          <p:blipFill>
            <a:blip r:embed="rId3"/>
            <a:stretch>
              <a:fillRect/>
            </a:stretch>
          </p:blipFill>
          <p:spPr>
            <a:xfrm>
              <a:off x="457200" y="3191256"/>
              <a:ext cx="347472" cy="347472"/>
            </a:xfrm>
            <a:prstGeom prst="rect">
              <a:avLst/>
            </a:prstGeom>
          </p:spPr>
        </p:pic>
        <p:sp>
          <p:nvSpPr>
            <p:cNvPr id="12" name="Text 7"/>
            <p:cNvSpPr/>
            <p:nvPr/>
          </p:nvSpPr>
          <p:spPr>
            <a:xfrm>
              <a:off x="914400" y="3145536"/>
              <a:ext cx="3657600" cy="320040"/>
            </a:xfrm>
            <a:prstGeom prst="rect">
              <a:avLst/>
            </a:prstGeom>
            <a:noFill/>
            <a:ln/>
          </p:spPr>
          <p:txBody>
            <a:bodyPr wrap="square" lIns="0" tIns="0" rIns="0" bIns="0" rtlCol="0" anchor="ctr"/>
            <a:lstStyle/>
            <a:p>
              <a:pPr marL="0" indent="0">
                <a:buNone/>
              </a:pPr>
              <a:r>
                <a:rPr lang="en-US" sz="1400" b="1" dirty="0">
                  <a:solidFill>
                    <a:srgbClr val="FFC857"/>
                  </a:solidFill>
                  <a:latin typeface="Trebuchet MS" pitchFamily="34" charset="0"/>
                  <a:ea typeface="Trebuchet MS" pitchFamily="34" charset="-122"/>
                  <a:cs typeface="Trebuchet MS" pitchFamily="34" charset="-120"/>
                </a:rPr>
                <a:t>Advanced Threats</a:t>
              </a:r>
              <a:endParaRPr lang="en-US" sz="1400" dirty="0"/>
            </a:p>
          </p:txBody>
        </p:sp>
        <p:sp>
          <p:nvSpPr>
            <p:cNvPr id="13" name="Text 8"/>
            <p:cNvSpPr/>
            <p:nvPr/>
          </p:nvSpPr>
          <p:spPr>
            <a:xfrm>
              <a:off x="914400" y="3474720"/>
              <a:ext cx="4114800" cy="41148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Attackers are patient, methodical — and often already inside</a:t>
              </a:r>
              <a:endParaRPr lang="en-US" sz="1200" dirty="0"/>
            </a:p>
          </p:txBody>
        </p:sp>
      </p:grpSp>
      <p:grpSp>
        <p:nvGrpSpPr>
          <p:cNvPr id="25" name="Group 24"/>
          <p:cNvGrpSpPr/>
          <p:nvPr/>
        </p:nvGrpSpPr>
        <p:grpSpPr>
          <a:xfrm>
            <a:off x="457200" y="3986784"/>
            <a:ext cx="4572000" cy="740664"/>
            <a:chOff x="457200" y="3986784"/>
            <a:chExt cx="4572000" cy="740664"/>
          </a:xfrm>
        </p:grpSpPr>
        <p:pic>
          <p:nvPicPr>
            <p:cNvPr id="14" name="Image 3" descr="preencoded.png"/>
            <p:cNvPicPr>
              <a:picLocks noChangeAspect="1"/>
            </p:cNvPicPr>
            <p:nvPr/>
          </p:nvPicPr>
          <p:blipFill>
            <a:blip r:embed="rId3"/>
            <a:stretch>
              <a:fillRect/>
            </a:stretch>
          </p:blipFill>
          <p:spPr>
            <a:xfrm>
              <a:off x="457200" y="4032504"/>
              <a:ext cx="347472" cy="347472"/>
            </a:xfrm>
            <a:prstGeom prst="rect">
              <a:avLst/>
            </a:prstGeom>
          </p:spPr>
        </p:pic>
        <p:sp>
          <p:nvSpPr>
            <p:cNvPr id="15" name="Text 9"/>
            <p:cNvSpPr/>
            <p:nvPr/>
          </p:nvSpPr>
          <p:spPr>
            <a:xfrm>
              <a:off x="914400" y="3986784"/>
              <a:ext cx="3657600" cy="320040"/>
            </a:xfrm>
            <a:prstGeom prst="rect">
              <a:avLst/>
            </a:prstGeom>
            <a:noFill/>
            <a:ln/>
          </p:spPr>
          <p:txBody>
            <a:bodyPr wrap="square" lIns="0" tIns="0" rIns="0" bIns="0" rtlCol="0" anchor="ctr"/>
            <a:lstStyle/>
            <a:p>
              <a:pPr marL="0" indent="0">
                <a:buNone/>
              </a:pPr>
              <a:r>
                <a:rPr lang="en-US" sz="1400" b="1" dirty="0">
                  <a:solidFill>
                    <a:srgbClr val="FFC857"/>
                  </a:solidFill>
                  <a:latin typeface="Trebuchet MS" pitchFamily="34" charset="0"/>
                  <a:ea typeface="Trebuchet MS" pitchFamily="34" charset="-122"/>
                  <a:cs typeface="Trebuchet MS" pitchFamily="34" charset="-120"/>
                </a:rPr>
                <a:t>Implicit Trust</a:t>
              </a:r>
              <a:endParaRPr lang="en-US" sz="1400" dirty="0"/>
            </a:p>
          </p:txBody>
        </p:sp>
        <p:sp>
          <p:nvSpPr>
            <p:cNvPr id="16" name="Text 10"/>
            <p:cNvSpPr/>
            <p:nvPr/>
          </p:nvSpPr>
          <p:spPr>
            <a:xfrm>
              <a:off x="914400" y="4315968"/>
              <a:ext cx="4114800" cy="41148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Once inside the perimeter, users were trusted unconditionally</a:t>
              </a:r>
              <a:endParaRPr lang="en-US" sz="1200" dirty="0"/>
            </a:p>
          </p:txBody>
        </p:sp>
      </p:grpSp>
      <p:grpSp>
        <p:nvGrpSpPr>
          <p:cNvPr id="26" name="Group 25"/>
          <p:cNvGrpSpPr/>
          <p:nvPr/>
        </p:nvGrpSpPr>
        <p:grpSpPr>
          <a:xfrm>
            <a:off x="5212080" y="1280160"/>
            <a:ext cx="3657600" cy="2331720"/>
            <a:chOff x="5212080" y="1280160"/>
            <a:chExt cx="3657600" cy="2331720"/>
          </a:xfrm>
        </p:grpSpPr>
        <p:sp>
          <p:nvSpPr>
            <p:cNvPr id="17" name="Shape 11"/>
            <p:cNvSpPr/>
            <p:nvPr/>
          </p:nvSpPr>
          <p:spPr>
            <a:xfrm>
              <a:off x="5212080" y="1280160"/>
              <a:ext cx="3657600" cy="2331720"/>
            </a:xfrm>
            <a:prstGeom prst="rect">
              <a:avLst/>
            </a:prstGeom>
            <a:solidFill>
              <a:srgbClr val="0A1628"/>
            </a:solidFill>
            <a:ln w="12700">
              <a:solidFill>
                <a:srgbClr val="00B4D8"/>
              </a:solidFill>
              <a:prstDash val="solid"/>
            </a:ln>
          </p:spPr>
        </p:sp>
        <p:sp>
          <p:nvSpPr>
            <p:cNvPr id="18" name="Text 12"/>
            <p:cNvSpPr/>
            <p:nvPr/>
          </p:nvSpPr>
          <p:spPr>
            <a:xfrm>
              <a:off x="5303520" y="1371600"/>
              <a:ext cx="3474720" cy="320040"/>
            </a:xfrm>
            <a:prstGeom prst="rect">
              <a:avLst/>
            </a:prstGeom>
            <a:noFill/>
            <a:ln/>
          </p:spPr>
          <p:txBody>
            <a:bodyPr wrap="square" rtlCol="0" anchor="ctr"/>
            <a:lstStyle/>
            <a:p>
              <a:pPr marL="0" indent="0" algn="ctr">
                <a:buNone/>
              </a:pPr>
              <a:r>
                <a:rPr lang="en-US" sz="1200" b="1" dirty="0">
                  <a:solidFill>
                    <a:srgbClr val="FFC857"/>
                  </a:solidFill>
                </a:rPr>
                <a:t>OLD MODEL</a:t>
              </a:r>
              <a:endParaRPr lang="en-US" sz="1200" dirty="0"/>
            </a:p>
          </p:txBody>
        </p:sp>
        <p:sp>
          <p:nvSpPr>
            <p:cNvPr id="19" name="Text 13"/>
            <p:cNvSpPr/>
            <p:nvPr/>
          </p:nvSpPr>
          <p:spPr>
            <a:xfrm>
              <a:off x="5394960" y="1783080"/>
              <a:ext cx="3383280" cy="18288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Trust the perimeter</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Implicit trust inside network</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VPN = secure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Lateral movement unchecked</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Insider threats ignored</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Cloud blind spots</a:t>
              </a:r>
              <a:endParaRPr lang="en-US" sz="1200" dirty="0"/>
            </a:p>
          </p:txBody>
        </p:sp>
      </p:grpSp>
      <p:sp>
        <p:nvSpPr>
          <p:cNvPr id="20" name="Shape 14"/>
          <p:cNvSpPr/>
          <p:nvPr/>
        </p:nvSpPr>
        <p:spPr>
          <a:xfrm>
            <a:off x="5257800" y="4330196"/>
            <a:ext cx="3657600" cy="54864"/>
          </a:xfrm>
          <a:prstGeom prst="rect">
            <a:avLst/>
          </a:prstGeom>
          <a:solidFill>
            <a:srgbClr val="00B4D8"/>
          </a:solidFill>
          <a:ln w="12700">
            <a:solidFill>
              <a:srgbClr val="00B4D8"/>
            </a:solidFill>
            <a:prstDash val="solid"/>
          </a:ln>
        </p:spPr>
      </p:sp>
      <p:sp>
        <p:nvSpPr>
          <p:cNvPr id="21" name="Text 15"/>
          <p:cNvSpPr/>
          <p:nvPr/>
        </p:nvSpPr>
        <p:spPr>
          <a:xfrm>
            <a:off x="5212080" y="3748396"/>
            <a:ext cx="3657600" cy="502920"/>
          </a:xfrm>
          <a:prstGeom prst="rect">
            <a:avLst/>
          </a:prstGeom>
          <a:noFill/>
          <a:ln/>
        </p:spPr>
        <p:txBody>
          <a:bodyPr wrap="square" rtlCol="0" anchor="ctr"/>
          <a:lstStyle/>
          <a:p>
            <a:pPr marL="0" indent="0">
              <a:buNone/>
            </a:pPr>
            <a:r>
              <a:rPr lang="en-US" sz="1100" i="1" dirty="0">
                <a:solidFill>
                  <a:srgbClr val="CAF0F8"/>
                </a:solidFill>
                <a:latin typeface="Calibri" pitchFamily="34" charset="0"/>
                <a:ea typeface="Calibri" pitchFamily="34" charset="-122"/>
                <a:cs typeface="Calibri" pitchFamily="34" charset="-120"/>
              </a:rPr>
              <a:t>The core question shifts: not WHERE is the user, but WHO are they and do they need access NOW?</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239222" y="336474"/>
            <a:ext cx="64008" cy="438912"/>
          </a:xfrm>
          <a:prstGeom prst="rect">
            <a:avLst/>
          </a:prstGeom>
          <a:solidFill>
            <a:srgbClr val="00B4D8"/>
          </a:solidFill>
          <a:ln w="12700">
            <a:solidFill>
              <a:srgbClr val="00B4D8"/>
            </a:solidFill>
            <a:prstDash val="solid"/>
          </a:ln>
        </p:spPr>
      </p:sp>
      <p:sp>
        <p:nvSpPr>
          <p:cNvPr id="3" name="Text 1"/>
          <p:cNvSpPr/>
          <p:nvPr/>
        </p:nvSpPr>
        <p:spPr>
          <a:xfrm>
            <a:off x="376382" y="272466"/>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Research Objectives</a:t>
            </a:r>
            <a:endParaRPr lang="en-US" sz="2600" dirty="0"/>
          </a:p>
        </p:txBody>
      </p:sp>
      <p:sp>
        <p:nvSpPr>
          <p:cNvPr id="4" name="Text 2"/>
          <p:cNvSpPr/>
          <p:nvPr/>
        </p:nvSpPr>
        <p:spPr>
          <a:xfrm>
            <a:off x="430812" y="731842"/>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What this review sets out to achieve</a:t>
            </a:r>
            <a:endParaRPr lang="en-US" sz="1300" dirty="0"/>
          </a:p>
        </p:txBody>
      </p:sp>
      <p:grpSp>
        <p:nvGrpSpPr>
          <p:cNvPr id="32" name="Group 31"/>
          <p:cNvGrpSpPr/>
          <p:nvPr/>
        </p:nvGrpSpPr>
        <p:grpSpPr>
          <a:xfrm>
            <a:off x="271880" y="1186866"/>
            <a:ext cx="2743200" cy="1737360"/>
            <a:chOff x="457200" y="1417320"/>
            <a:chExt cx="2743200" cy="1737360"/>
          </a:xfrm>
        </p:grpSpPr>
        <p:sp>
          <p:nvSpPr>
            <p:cNvPr id="5" name="Shape 3"/>
            <p:cNvSpPr/>
            <p:nvPr/>
          </p:nvSpPr>
          <p:spPr>
            <a:xfrm>
              <a:off x="457200" y="1417320"/>
              <a:ext cx="2743200" cy="17373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6" name="Shape 4"/>
            <p:cNvSpPr/>
            <p:nvPr/>
          </p:nvSpPr>
          <p:spPr>
            <a:xfrm>
              <a:off x="594360" y="1600200"/>
              <a:ext cx="411480" cy="411480"/>
            </a:xfrm>
            <a:prstGeom prst="ellipse">
              <a:avLst/>
            </a:prstGeom>
            <a:solidFill>
              <a:srgbClr val="00B4D8"/>
            </a:solidFill>
            <a:ln w="12700">
              <a:solidFill>
                <a:srgbClr val="00B4D8"/>
              </a:solidFill>
              <a:prstDash val="solid"/>
            </a:ln>
          </p:spPr>
        </p:sp>
        <p:sp>
          <p:nvSpPr>
            <p:cNvPr id="7" name="Text 5"/>
            <p:cNvSpPr/>
            <p:nvPr/>
          </p:nvSpPr>
          <p:spPr>
            <a:xfrm>
              <a:off x="594360" y="1600200"/>
              <a:ext cx="411480" cy="411480"/>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1097280" y="1600200"/>
              <a:ext cx="2011680" cy="411480"/>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Examine Foundational Frameworks</a:t>
              </a:r>
              <a:endParaRPr lang="en-US" sz="1200" dirty="0"/>
            </a:p>
          </p:txBody>
        </p:sp>
        <p:sp>
          <p:nvSpPr>
            <p:cNvPr id="9" name="Text 7"/>
            <p:cNvSpPr/>
            <p:nvPr/>
          </p:nvSpPr>
          <p:spPr>
            <a:xfrm>
              <a:off x="594360" y="1943100"/>
              <a:ext cx="2514600" cy="96012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Analyse NIST SP 800-207, CISA ZT Maturity Model v2.0, and DoD ZT Reference Architecture</a:t>
              </a:r>
              <a:endParaRPr lang="en-US" sz="1100" dirty="0"/>
            </a:p>
          </p:txBody>
        </p:sp>
      </p:grpSp>
      <p:grpSp>
        <p:nvGrpSpPr>
          <p:cNvPr id="33" name="Group 32"/>
          <p:cNvGrpSpPr/>
          <p:nvPr/>
        </p:nvGrpSpPr>
        <p:grpSpPr>
          <a:xfrm>
            <a:off x="3201444" y="1186866"/>
            <a:ext cx="2743200" cy="1737360"/>
            <a:chOff x="3364992" y="1417320"/>
            <a:chExt cx="2743200" cy="1737360"/>
          </a:xfrm>
        </p:grpSpPr>
        <p:sp>
          <p:nvSpPr>
            <p:cNvPr id="10" name="Shape 8"/>
            <p:cNvSpPr/>
            <p:nvPr/>
          </p:nvSpPr>
          <p:spPr>
            <a:xfrm>
              <a:off x="3364992" y="1417320"/>
              <a:ext cx="2743200" cy="17373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1" name="Shape 9"/>
            <p:cNvSpPr/>
            <p:nvPr/>
          </p:nvSpPr>
          <p:spPr>
            <a:xfrm>
              <a:off x="3502152" y="1600200"/>
              <a:ext cx="411480" cy="411480"/>
            </a:xfrm>
            <a:prstGeom prst="ellipse">
              <a:avLst/>
            </a:prstGeom>
            <a:solidFill>
              <a:srgbClr val="00B4D8"/>
            </a:solidFill>
            <a:ln w="12700">
              <a:solidFill>
                <a:srgbClr val="00B4D8"/>
              </a:solidFill>
              <a:prstDash val="solid"/>
            </a:ln>
          </p:spPr>
        </p:sp>
        <p:sp>
          <p:nvSpPr>
            <p:cNvPr id="12" name="Text 10"/>
            <p:cNvSpPr/>
            <p:nvPr/>
          </p:nvSpPr>
          <p:spPr>
            <a:xfrm>
              <a:off x="3502152" y="1600200"/>
              <a:ext cx="411480" cy="411480"/>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13" name="Text 11"/>
            <p:cNvSpPr/>
            <p:nvPr/>
          </p:nvSpPr>
          <p:spPr>
            <a:xfrm>
              <a:off x="4005072" y="1600200"/>
              <a:ext cx="2011680" cy="411480"/>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Define the Five ZTA Pillars</a:t>
              </a:r>
              <a:endParaRPr lang="en-US" sz="1200" dirty="0"/>
            </a:p>
          </p:txBody>
        </p:sp>
        <p:sp>
          <p:nvSpPr>
            <p:cNvPr id="14" name="Text 12"/>
            <p:cNvSpPr/>
            <p:nvPr/>
          </p:nvSpPr>
          <p:spPr>
            <a:xfrm>
              <a:off x="3502152" y="1943100"/>
              <a:ext cx="2514600" cy="96012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Break down Identity, Device, Network, Application/Workload, and Data security domains</a:t>
              </a:r>
              <a:endParaRPr lang="en-US" sz="1100" dirty="0"/>
            </a:p>
          </p:txBody>
        </p:sp>
      </p:grpSp>
      <p:grpSp>
        <p:nvGrpSpPr>
          <p:cNvPr id="34" name="Group 33"/>
          <p:cNvGrpSpPr/>
          <p:nvPr/>
        </p:nvGrpSpPr>
        <p:grpSpPr>
          <a:xfrm>
            <a:off x="6131008" y="1186866"/>
            <a:ext cx="2743200" cy="1737360"/>
            <a:chOff x="6272784" y="1417320"/>
            <a:chExt cx="2743200" cy="1737360"/>
          </a:xfrm>
        </p:grpSpPr>
        <p:sp>
          <p:nvSpPr>
            <p:cNvPr id="15" name="Shape 13"/>
            <p:cNvSpPr/>
            <p:nvPr/>
          </p:nvSpPr>
          <p:spPr>
            <a:xfrm>
              <a:off x="6272784" y="1417320"/>
              <a:ext cx="2743200" cy="17373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6" name="Shape 14"/>
            <p:cNvSpPr/>
            <p:nvPr/>
          </p:nvSpPr>
          <p:spPr>
            <a:xfrm>
              <a:off x="6409944" y="1600200"/>
              <a:ext cx="411480" cy="411480"/>
            </a:xfrm>
            <a:prstGeom prst="ellipse">
              <a:avLst/>
            </a:prstGeom>
            <a:solidFill>
              <a:srgbClr val="00B4D8"/>
            </a:solidFill>
            <a:ln w="12700">
              <a:solidFill>
                <a:srgbClr val="00B4D8"/>
              </a:solidFill>
              <a:prstDash val="solid"/>
            </a:ln>
          </p:spPr>
        </p:sp>
        <p:sp>
          <p:nvSpPr>
            <p:cNvPr id="17" name="Text 15"/>
            <p:cNvSpPr/>
            <p:nvPr/>
          </p:nvSpPr>
          <p:spPr>
            <a:xfrm>
              <a:off x="6409944" y="1600200"/>
              <a:ext cx="411480" cy="411480"/>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18" name="Text 16"/>
            <p:cNvSpPr/>
            <p:nvPr/>
          </p:nvSpPr>
          <p:spPr>
            <a:xfrm>
              <a:off x="6912864" y="1600200"/>
              <a:ext cx="2011680" cy="411480"/>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Identify Implementation Challenges</a:t>
              </a:r>
              <a:endParaRPr lang="en-US" sz="1200" dirty="0"/>
            </a:p>
          </p:txBody>
        </p:sp>
        <p:sp>
          <p:nvSpPr>
            <p:cNvPr id="19" name="Text 17"/>
            <p:cNvSpPr/>
            <p:nvPr/>
          </p:nvSpPr>
          <p:spPr>
            <a:xfrm>
              <a:off x="6387084" y="1943100"/>
              <a:ext cx="2514600" cy="96012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Explore real-world barriers including legacy systems, policy complexity, and cultural resistance</a:t>
              </a:r>
              <a:endParaRPr lang="en-US" sz="1100" dirty="0"/>
            </a:p>
          </p:txBody>
        </p:sp>
      </p:grpSp>
      <p:grpSp>
        <p:nvGrpSpPr>
          <p:cNvPr id="37" name="Group 36">
            <a:extLst>
              <a:ext uri="{FF2B5EF4-FFF2-40B4-BE49-F238E27FC236}">
                <a16:creationId xmlns:a16="http://schemas.microsoft.com/office/drawing/2014/main" id="{48BC8E30-FF26-4CB9-A259-0CF286E1D52A}"/>
              </a:ext>
            </a:extLst>
          </p:cNvPr>
          <p:cNvGrpSpPr/>
          <p:nvPr/>
        </p:nvGrpSpPr>
        <p:grpSpPr>
          <a:xfrm>
            <a:off x="911960" y="3121363"/>
            <a:ext cx="6994671" cy="1737971"/>
            <a:chOff x="911960" y="3121363"/>
            <a:chExt cx="6994671" cy="1737971"/>
          </a:xfrm>
        </p:grpSpPr>
        <p:grpSp>
          <p:nvGrpSpPr>
            <p:cNvPr id="30" name="Group 29"/>
            <p:cNvGrpSpPr/>
            <p:nvPr/>
          </p:nvGrpSpPr>
          <p:grpSpPr>
            <a:xfrm>
              <a:off x="911960" y="3121363"/>
              <a:ext cx="3442062" cy="1737360"/>
              <a:chOff x="1453896" y="3344949"/>
              <a:chExt cx="2777149" cy="1737360"/>
            </a:xfrm>
          </p:grpSpPr>
          <p:sp>
            <p:nvSpPr>
              <p:cNvPr id="20" name="Shape 18"/>
              <p:cNvSpPr/>
              <p:nvPr/>
            </p:nvSpPr>
            <p:spPr>
              <a:xfrm>
                <a:off x="1453896" y="3344949"/>
                <a:ext cx="2743200" cy="17373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21" name="Shape 19"/>
              <p:cNvSpPr/>
              <p:nvPr/>
            </p:nvSpPr>
            <p:spPr>
              <a:xfrm>
                <a:off x="1591056" y="3555537"/>
                <a:ext cx="339085" cy="411480"/>
              </a:xfrm>
              <a:prstGeom prst="ellipse">
                <a:avLst/>
              </a:prstGeom>
              <a:solidFill>
                <a:srgbClr val="00B4D8"/>
              </a:solidFill>
              <a:ln w="12700">
                <a:solidFill>
                  <a:srgbClr val="00B4D8"/>
                </a:solidFill>
                <a:prstDash val="solid"/>
              </a:ln>
            </p:spPr>
          </p:sp>
          <p:sp>
            <p:nvSpPr>
              <p:cNvPr id="22" name="Text 20"/>
              <p:cNvSpPr/>
              <p:nvPr/>
            </p:nvSpPr>
            <p:spPr>
              <a:xfrm>
                <a:off x="1591056" y="3549601"/>
                <a:ext cx="345385" cy="411480"/>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23" name="Text 21"/>
              <p:cNvSpPr/>
              <p:nvPr/>
            </p:nvSpPr>
            <p:spPr>
              <a:xfrm>
                <a:off x="2093976" y="3527829"/>
                <a:ext cx="2011680" cy="411480"/>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Analyse Comparative Literature</a:t>
                </a:r>
                <a:endParaRPr lang="en-US" sz="1200" dirty="0"/>
              </a:p>
            </p:txBody>
          </p:sp>
          <p:sp>
            <p:nvSpPr>
              <p:cNvPr id="24" name="Text 22"/>
              <p:cNvSpPr/>
              <p:nvPr/>
            </p:nvSpPr>
            <p:spPr>
              <a:xfrm>
                <a:off x="1716445" y="3939309"/>
                <a:ext cx="2514600" cy="896112"/>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Situate the review within academic literature from IEEE, Springer, and SAGE publications</a:t>
                </a:r>
                <a:endParaRPr lang="en-US" sz="1100" dirty="0"/>
              </a:p>
            </p:txBody>
          </p:sp>
        </p:grpSp>
        <p:sp>
          <p:nvSpPr>
            <p:cNvPr id="25" name="Shape 23"/>
            <p:cNvSpPr/>
            <p:nvPr/>
          </p:nvSpPr>
          <p:spPr>
            <a:xfrm>
              <a:off x="4572000" y="3121974"/>
              <a:ext cx="3334631" cy="17373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26" name="Shape 24"/>
            <p:cNvSpPr/>
            <p:nvPr/>
          </p:nvSpPr>
          <p:spPr>
            <a:xfrm>
              <a:off x="4822150" y="3304243"/>
              <a:ext cx="396795" cy="411480"/>
            </a:xfrm>
            <a:prstGeom prst="ellipse">
              <a:avLst/>
            </a:prstGeom>
            <a:solidFill>
              <a:srgbClr val="00B4D8"/>
            </a:solidFill>
            <a:ln w="12700">
              <a:solidFill>
                <a:srgbClr val="00B4D8"/>
              </a:solidFill>
              <a:prstDash val="solid"/>
            </a:ln>
          </p:spPr>
        </p:sp>
        <p:sp>
          <p:nvSpPr>
            <p:cNvPr id="27" name="Text 25"/>
            <p:cNvSpPr/>
            <p:nvPr/>
          </p:nvSpPr>
          <p:spPr>
            <a:xfrm>
              <a:off x="4885041" y="3404406"/>
              <a:ext cx="271015" cy="211154"/>
            </a:xfrm>
            <a:prstGeom prst="rect">
              <a:avLst/>
            </a:prstGeom>
            <a:noFill/>
            <a:ln/>
          </p:spPr>
          <p:txBody>
            <a:bodyPr wrap="square" rtlCol="0" anchor="ctr"/>
            <a:lstStyle/>
            <a:p>
              <a:pPr marL="0" indent="0" algn="ctr">
                <a:buNone/>
              </a:pPr>
              <a:r>
                <a:rPr lang="en-US" sz="1100" b="1" dirty="0">
                  <a:solidFill>
                    <a:srgbClr val="FFFFFF"/>
                  </a:solidFill>
                </a:rPr>
                <a:t>5</a:t>
              </a:r>
              <a:endParaRPr lang="en-US" sz="1100" dirty="0"/>
            </a:p>
          </p:txBody>
        </p:sp>
        <p:sp>
          <p:nvSpPr>
            <p:cNvPr id="28" name="Text 26"/>
            <p:cNvSpPr/>
            <p:nvPr/>
          </p:nvSpPr>
          <p:spPr>
            <a:xfrm>
              <a:off x="5416111" y="3339532"/>
              <a:ext cx="2042728" cy="311317"/>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Propose Future Directions</a:t>
              </a:r>
              <a:endParaRPr lang="en-US" sz="1200" dirty="0"/>
            </a:p>
          </p:txBody>
        </p:sp>
        <p:sp>
          <p:nvSpPr>
            <p:cNvPr id="29" name="Text 27"/>
            <p:cNvSpPr/>
            <p:nvPr/>
          </p:nvSpPr>
          <p:spPr>
            <a:xfrm>
              <a:off x="4742242" y="3639846"/>
              <a:ext cx="3056745" cy="96012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Evaluate the role of AI/ML and quantum-resistant cryptography in next-generation ZTA</a:t>
              </a:r>
              <a:endParaRPr lang="en-US" sz="1100" dirty="0"/>
            </a:p>
          </p:txBody>
        </p:sp>
      </p:grpSp>
      <p:sp>
        <p:nvSpPr>
          <p:cNvPr id="35" name="Shape 0">
            <a:extLst>
              <a:ext uri="{FF2B5EF4-FFF2-40B4-BE49-F238E27FC236}">
                <a16:creationId xmlns:a16="http://schemas.microsoft.com/office/drawing/2014/main" id="{32FCAB33-474C-475B-BAAD-94C7E3A1B02F}"/>
              </a:ext>
            </a:extLst>
          </p:cNvPr>
          <p:cNvSpPr/>
          <p:nvPr/>
        </p:nvSpPr>
        <p:spPr>
          <a:xfrm>
            <a:off x="8810200" y="4423161"/>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221160" y="281088"/>
            <a:ext cx="64008" cy="438912"/>
          </a:xfrm>
          <a:prstGeom prst="rect">
            <a:avLst/>
          </a:prstGeom>
          <a:solidFill>
            <a:srgbClr val="00B4D8"/>
          </a:solidFill>
          <a:ln w="12700">
            <a:solidFill>
              <a:srgbClr val="00B4D8"/>
            </a:solidFill>
            <a:prstDash val="solid"/>
          </a:ln>
        </p:spPr>
      </p:sp>
      <p:sp>
        <p:nvSpPr>
          <p:cNvPr id="3" name="Text 1"/>
          <p:cNvSpPr/>
          <p:nvPr/>
        </p:nvSpPr>
        <p:spPr>
          <a:xfrm>
            <a:off x="358320" y="217080"/>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Literature Review: Major Frameworks</a:t>
            </a:r>
            <a:endParaRPr lang="en-US" sz="2600" dirty="0"/>
          </a:p>
        </p:txBody>
      </p:sp>
      <p:sp>
        <p:nvSpPr>
          <p:cNvPr id="4" name="Text 2"/>
          <p:cNvSpPr/>
          <p:nvPr/>
        </p:nvSpPr>
        <p:spPr>
          <a:xfrm>
            <a:off x="586926" y="651420"/>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Three organizations have most concretely defined Zero Trust in practice</a:t>
            </a:r>
            <a:endParaRPr lang="en-US" sz="1300" dirty="0"/>
          </a:p>
        </p:txBody>
      </p:sp>
      <p:grpSp>
        <p:nvGrpSpPr>
          <p:cNvPr id="26" name="Group 25"/>
          <p:cNvGrpSpPr/>
          <p:nvPr/>
        </p:nvGrpSpPr>
        <p:grpSpPr>
          <a:xfrm>
            <a:off x="449766" y="1007376"/>
            <a:ext cx="8229600" cy="384048"/>
            <a:chOff x="449766" y="1007376"/>
            <a:chExt cx="8229600" cy="384048"/>
          </a:xfrm>
        </p:grpSpPr>
        <p:sp>
          <p:nvSpPr>
            <p:cNvPr id="5" name="Shape 3"/>
            <p:cNvSpPr/>
            <p:nvPr/>
          </p:nvSpPr>
          <p:spPr>
            <a:xfrm>
              <a:off x="449766" y="1007376"/>
              <a:ext cx="8229600" cy="384048"/>
            </a:xfrm>
            <a:prstGeom prst="rect">
              <a:avLst/>
            </a:prstGeom>
            <a:solidFill>
              <a:srgbClr val="0D1B2A"/>
            </a:solidFill>
            <a:ln w="12700">
              <a:solidFill>
                <a:srgbClr val="0D1B2A"/>
              </a:solidFill>
              <a:prstDash val="solid"/>
            </a:ln>
          </p:spPr>
        </p:sp>
        <p:sp>
          <p:nvSpPr>
            <p:cNvPr id="6" name="Text 4"/>
            <p:cNvSpPr/>
            <p:nvPr/>
          </p:nvSpPr>
          <p:spPr>
            <a:xfrm>
              <a:off x="541206" y="1016520"/>
              <a:ext cx="2560320" cy="365760"/>
            </a:xfrm>
            <a:prstGeom prst="rect">
              <a:avLst/>
            </a:prstGeom>
            <a:noFill/>
            <a:ln/>
          </p:spPr>
          <p:txBody>
            <a:bodyPr wrap="square" lIns="0" tIns="0" rIns="0" bIns="0" rtlCol="0" anchor="ctr"/>
            <a:lstStyle/>
            <a:p>
              <a:pPr marL="0" indent="0">
                <a:buNone/>
              </a:pPr>
              <a:r>
                <a:rPr lang="en-US" sz="1200" b="1" dirty="0">
                  <a:solidFill>
                    <a:srgbClr val="FFFFFF"/>
                  </a:solidFill>
                </a:rPr>
                <a:t>Framework</a:t>
              </a:r>
              <a:endParaRPr lang="en-US" sz="1200" dirty="0"/>
            </a:p>
          </p:txBody>
        </p:sp>
        <p:sp>
          <p:nvSpPr>
            <p:cNvPr id="7" name="Text 5"/>
            <p:cNvSpPr/>
            <p:nvPr/>
          </p:nvSpPr>
          <p:spPr>
            <a:xfrm>
              <a:off x="3192966" y="1016520"/>
              <a:ext cx="2560320" cy="365760"/>
            </a:xfrm>
            <a:prstGeom prst="rect">
              <a:avLst/>
            </a:prstGeom>
            <a:noFill/>
            <a:ln/>
          </p:spPr>
          <p:txBody>
            <a:bodyPr wrap="square" lIns="0" tIns="0" rIns="0" bIns="0" rtlCol="0" anchor="ctr"/>
            <a:lstStyle/>
            <a:p>
              <a:pPr marL="0" indent="0">
                <a:buNone/>
              </a:pPr>
              <a:r>
                <a:rPr lang="en-US" sz="1200" b="1" dirty="0">
                  <a:solidFill>
                    <a:srgbClr val="FFFFFF"/>
                  </a:solidFill>
                </a:rPr>
                <a:t>Audience</a:t>
              </a:r>
              <a:endParaRPr lang="en-US" sz="1200" dirty="0"/>
            </a:p>
          </p:txBody>
        </p:sp>
        <p:sp>
          <p:nvSpPr>
            <p:cNvPr id="8" name="Text 6"/>
            <p:cNvSpPr/>
            <p:nvPr/>
          </p:nvSpPr>
          <p:spPr>
            <a:xfrm>
              <a:off x="5844726" y="1016520"/>
              <a:ext cx="2560320" cy="365760"/>
            </a:xfrm>
            <a:prstGeom prst="rect">
              <a:avLst/>
            </a:prstGeom>
            <a:noFill/>
            <a:ln/>
          </p:spPr>
          <p:txBody>
            <a:bodyPr wrap="square" lIns="0" tIns="0" rIns="0" bIns="0" rtlCol="0" anchor="ctr"/>
            <a:lstStyle/>
            <a:p>
              <a:pPr marL="0" indent="0">
                <a:buNone/>
              </a:pPr>
              <a:r>
                <a:rPr lang="en-US" sz="1200" b="1" dirty="0">
                  <a:solidFill>
                    <a:srgbClr val="FFFFFF"/>
                  </a:solidFill>
                </a:rPr>
                <a:t>Key Characteristics</a:t>
              </a:r>
              <a:endParaRPr lang="en-US" sz="1200" dirty="0"/>
            </a:p>
          </p:txBody>
        </p:sp>
      </p:grpSp>
      <p:grpSp>
        <p:nvGrpSpPr>
          <p:cNvPr id="27" name="Group 26"/>
          <p:cNvGrpSpPr/>
          <p:nvPr/>
        </p:nvGrpSpPr>
        <p:grpSpPr>
          <a:xfrm>
            <a:off x="449766" y="1538602"/>
            <a:ext cx="8229600" cy="822960"/>
            <a:chOff x="449766" y="1451514"/>
            <a:chExt cx="8229600" cy="822960"/>
          </a:xfrm>
        </p:grpSpPr>
        <p:sp>
          <p:nvSpPr>
            <p:cNvPr id="9" name="Shape 7"/>
            <p:cNvSpPr/>
            <p:nvPr/>
          </p:nvSpPr>
          <p:spPr>
            <a:xfrm>
              <a:off x="449766" y="1451514"/>
              <a:ext cx="8229600" cy="822960"/>
            </a:xfrm>
            <a:prstGeom prst="rect">
              <a:avLst/>
            </a:prstGeom>
            <a:solidFill>
              <a:srgbClr val="FFFFFF"/>
            </a:solidFill>
            <a:ln w="6350">
              <a:solidFill>
                <a:srgbClr val="E2EBF4"/>
              </a:solidFill>
              <a:prstDash val="solid"/>
            </a:ln>
          </p:spPr>
        </p:sp>
        <p:sp>
          <p:nvSpPr>
            <p:cNvPr id="10" name="Shape 8"/>
            <p:cNvSpPr/>
            <p:nvPr/>
          </p:nvSpPr>
          <p:spPr>
            <a:xfrm>
              <a:off x="449766" y="1451514"/>
              <a:ext cx="54864" cy="822960"/>
            </a:xfrm>
            <a:prstGeom prst="rect">
              <a:avLst/>
            </a:prstGeom>
            <a:solidFill>
              <a:srgbClr val="00B4D8"/>
            </a:solidFill>
            <a:ln w="12700">
              <a:solidFill>
                <a:srgbClr val="00B4D8"/>
              </a:solidFill>
              <a:prstDash val="solid"/>
            </a:ln>
          </p:spPr>
        </p:sp>
        <p:sp>
          <p:nvSpPr>
            <p:cNvPr id="11" name="Text 9"/>
            <p:cNvSpPr/>
            <p:nvPr/>
          </p:nvSpPr>
          <p:spPr>
            <a:xfrm>
              <a:off x="586926" y="1497234"/>
              <a:ext cx="2468880" cy="731520"/>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NIST SP 800-207</a:t>
              </a:r>
              <a:endParaRPr lang="en-US" sz="1200" dirty="0"/>
            </a:p>
          </p:txBody>
        </p:sp>
        <p:sp>
          <p:nvSpPr>
            <p:cNvPr id="12" name="Text 10"/>
            <p:cNvSpPr/>
            <p:nvPr/>
          </p:nvSpPr>
          <p:spPr>
            <a:xfrm>
              <a:off x="3238686" y="1497234"/>
              <a:ext cx="2468880" cy="73152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All Enterprises</a:t>
              </a:r>
              <a:endParaRPr lang="en-US" sz="1200" dirty="0"/>
            </a:p>
          </p:txBody>
        </p:sp>
        <p:sp>
          <p:nvSpPr>
            <p:cNvPr id="13" name="Text 11"/>
            <p:cNvSpPr/>
            <p:nvPr/>
          </p:nvSpPr>
          <p:spPr>
            <a:xfrm>
              <a:off x="5890446" y="1497234"/>
              <a:ext cx="2697480" cy="731520"/>
            </a:xfrm>
            <a:prstGeom prst="rect">
              <a:avLst/>
            </a:prstGeom>
            <a:noFill/>
            <a:ln/>
          </p:spPr>
          <p:txBody>
            <a:bodyPr wrap="square" lIns="0" tIns="0" rIns="0" bIns="0" rtlCol="0" anchor="ctr"/>
            <a:lstStyle/>
            <a:p>
              <a:pPr marL="0" indent="0">
                <a:buNone/>
              </a:pPr>
              <a:r>
                <a:rPr lang="en-US" sz="1100" dirty="0">
                  <a:solidFill>
                    <a:srgbClr val="1A2E44"/>
                  </a:solidFill>
                  <a:latin typeface="Calibri" pitchFamily="34" charset="0"/>
                  <a:ea typeface="Calibri" pitchFamily="34" charset="-122"/>
                  <a:cs typeface="Calibri" pitchFamily="34" charset="-120"/>
                </a:rPr>
                <a:t>Vendor-neutral • 7 core tenets • PDP/PEP model</a:t>
              </a:r>
              <a:endParaRPr lang="en-US" sz="1100" dirty="0"/>
            </a:p>
          </p:txBody>
        </p:sp>
      </p:grpSp>
      <p:grpSp>
        <p:nvGrpSpPr>
          <p:cNvPr id="28" name="Group 27"/>
          <p:cNvGrpSpPr/>
          <p:nvPr/>
        </p:nvGrpSpPr>
        <p:grpSpPr>
          <a:xfrm>
            <a:off x="449766" y="2434714"/>
            <a:ext cx="8229600" cy="822960"/>
            <a:chOff x="449766" y="2347626"/>
            <a:chExt cx="8229600" cy="822960"/>
          </a:xfrm>
        </p:grpSpPr>
        <p:sp>
          <p:nvSpPr>
            <p:cNvPr id="14" name="Shape 12"/>
            <p:cNvSpPr/>
            <p:nvPr/>
          </p:nvSpPr>
          <p:spPr>
            <a:xfrm>
              <a:off x="449766" y="2347626"/>
              <a:ext cx="8229600" cy="822960"/>
            </a:xfrm>
            <a:prstGeom prst="rect">
              <a:avLst/>
            </a:prstGeom>
            <a:solidFill>
              <a:srgbClr val="F0F5FA"/>
            </a:solidFill>
            <a:ln w="6350">
              <a:solidFill>
                <a:srgbClr val="E2EBF4"/>
              </a:solidFill>
              <a:prstDash val="solid"/>
            </a:ln>
          </p:spPr>
        </p:sp>
        <p:sp>
          <p:nvSpPr>
            <p:cNvPr id="15" name="Shape 13"/>
            <p:cNvSpPr/>
            <p:nvPr/>
          </p:nvSpPr>
          <p:spPr>
            <a:xfrm>
              <a:off x="449766" y="2347626"/>
              <a:ext cx="54864" cy="822960"/>
            </a:xfrm>
            <a:prstGeom prst="rect">
              <a:avLst/>
            </a:prstGeom>
            <a:solidFill>
              <a:srgbClr val="6C63FF"/>
            </a:solidFill>
            <a:ln w="12700">
              <a:solidFill>
                <a:srgbClr val="6C63FF"/>
              </a:solidFill>
              <a:prstDash val="solid"/>
            </a:ln>
          </p:spPr>
        </p:sp>
        <p:sp>
          <p:nvSpPr>
            <p:cNvPr id="16" name="Text 14"/>
            <p:cNvSpPr/>
            <p:nvPr/>
          </p:nvSpPr>
          <p:spPr>
            <a:xfrm>
              <a:off x="586926" y="2393346"/>
              <a:ext cx="2468880" cy="731520"/>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CISA ZT Maturity Model v2.0</a:t>
              </a:r>
              <a:endParaRPr lang="en-US" sz="1200" dirty="0"/>
            </a:p>
          </p:txBody>
        </p:sp>
        <p:sp>
          <p:nvSpPr>
            <p:cNvPr id="17" name="Text 15"/>
            <p:cNvSpPr/>
            <p:nvPr/>
          </p:nvSpPr>
          <p:spPr>
            <a:xfrm>
              <a:off x="3238686" y="2393346"/>
              <a:ext cx="2468880" cy="73152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U.S. Federal Agencies</a:t>
              </a:r>
              <a:endParaRPr lang="en-US" sz="1200" dirty="0"/>
            </a:p>
          </p:txBody>
        </p:sp>
        <p:sp>
          <p:nvSpPr>
            <p:cNvPr id="18" name="Text 16"/>
            <p:cNvSpPr/>
            <p:nvPr/>
          </p:nvSpPr>
          <p:spPr>
            <a:xfrm>
              <a:off x="5890446" y="2393346"/>
              <a:ext cx="2697480" cy="731520"/>
            </a:xfrm>
            <a:prstGeom prst="rect">
              <a:avLst/>
            </a:prstGeom>
            <a:noFill/>
            <a:ln/>
          </p:spPr>
          <p:txBody>
            <a:bodyPr wrap="square" lIns="0" tIns="0" rIns="0" bIns="0" rtlCol="0" anchor="ctr"/>
            <a:lstStyle/>
            <a:p>
              <a:pPr marL="0" indent="0">
                <a:buNone/>
              </a:pPr>
              <a:r>
                <a:rPr lang="en-US" sz="1100" dirty="0">
                  <a:solidFill>
                    <a:srgbClr val="1A2E44"/>
                  </a:solidFill>
                  <a:latin typeface="Calibri" pitchFamily="34" charset="0"/>
                  <a:ea typeface="Calibri" pitchFamily="34" charset="-122"/>
                  <a:cs typeface="Calibri" pitchFamily="34" charset="-120"/>
                </a:rPr>
                <a:t>5 pillars • Graduated maturity levels • Self-assessment roadmap</a:t>
              </a:r>
              <a:endParaRPr lang="en-US" sz="1100" dirty="0"/>
            </a:p>
          </p:txBody>
        </p:sp>
      </p:grpSp>
      <p:grpSp>
        <p:nvGrpSpPr>
          <p:cNvPr id="30" name="Group 29"/>
          <p:cNvGrpSpPr/>
          <p:nvPr/>
        </p:nvGrpSpPr>
        <p:grpSpPr>
          <a:xfrm>
            <a:off x="449766" y="4529997"/>
            <a:ext cx="8229600" cy="411480"/>
            <a:chOff x="449766" y="4529997"/>
            <a:chExt cx="8229600" cy="411480"/>
          </a:xfrm>
        </p:grpSpPr>
        <p:sp>
          <p:nvSpPr>
            <p:cNvPr id="24" name="Shape 22"/>
            <p:cNvSpPr/>
            <p:nvPr/>
          </p:nvSpPr>
          <p:spPr>
            <a:xfrm>
              <a:off x="449766" y="4529997"/>
              <a:ext cx="8229600" cy="411480"/>
            </a:xfrm>
            <a:prstGeom prst="rect">
              <a:avLst/>
            </a:prstGeom>
            <a:solidFill>
              <a:srgbClr val="00B4D8">
                <a:alpha val="10000"/>
              </a:srgbClr>
            </a:solidFill>
            <a:ln w="12700">
              <a:noFill/>
              <a:prstDash val="solid"/>
            </a:ln>
          </p:spPr>
        </p:sp>
        <p:sp>
          <p:nvSpPr>
            <p:cNvPr id="25" name="Text 23"/>
            <p:cNvSpPr/>
            <p:nvPr/>
          </p:nvSpPr>
          <p:spPr>
            <a:xfrm>
              <a:off x="586926" y="4539141"/>
              <a:ext cx="7955280" cy="393192"/>
            </a:xfrm>
            <a:prstGeom prst="rect">
              <a:avLst/>
            </a:prstGeom>
            <a:noFill/>
            <a:ln/>
          </p:spPr>
          <p:txBody>
            <a:bodyPr wrap="square" rtlCol="0" anchor="ctr"/>
            <a:lstStyle/>
            <a:p>
              <a:pPr marL="0" indent="0">
                <a:buNone/>
              </a:pPr>
              <a:r>
                <a:rPr lang="en-US" sz="1100" i="1" dirty="0">
                  <a:solidFill>
                    <a:srgbClr val="0077A8"/>
                  </a:solidFill>
                </a:rPr>
                <a:t>Academic literature: IEEE (2025) • Springer (2026) • SAGE (2025) — stress-test frameworks against empirical evidence</a:t>
              </a:r>
              <a:endParaRPr lang="en-US" sz="1100" dirty="0"/>
            </a:p>
          </p:txBody>
        </p:sp>
      </p:grpSp>
      <p:grpSp>
        <p:nvGrpSpPr>
          <p:cNvPr id="32" name="Group 31"/>
          <p:cNvGrpSpPr/>
          <p:nvPr/>
        </p:nvGrpSpPr>
        <p:grpSpPr>
          <a:xfrm>
            <a:off x="449766" y="3330826"/>
            <a:ext cx="8229600" cy="833849"/>
            <a:chOff x="449766" y="3330826"/>
            <a:chExt cx="8229600" cy="833849"/>
          </a:xfrm>
        </p:grpSpPr>
        <p:grpSp>
          <p:nvGrpSpPr>
            <p:cNvPr id="29" name="Group 28"/>
            <p:cNvGrpSpPr/>
            <p:nvPr/>
          </p:nvGrpSpPr>
          <p:grpSpPr>
            <a:xfrm>
              <a:off x="449766" y="3330826"/>
              <a:ext cx="8229600" cy="822960"/>
              <a:chOff x="449766" y="3243738"/>
              <a:chExt cx="8229600" cy="822960"/>
            </a:xfrm>
          </p:grpSpPr>
          <p:sp>
            <p:nvSpPr>
              <p:cNvPr id="19" name="Shape 17"/>
              <p:cNvSpPr/>
              <p:nvPr/>
            </p:nvSpPr>
            <p:spPr>
              <a:xfrm>
                <a:off x="449766" y="3243738"/>
                <a:ext cx="8229600" cy="822960"/>
              </a:xfrm>
              <a:prstGeom prst="rect">
                <a:avLst/>
              </a:prstGeom>
              <a:solidFill>
                <a:srgbClr val="FFFFFF"/>
              </a:solidFill>
              <a:ln w="6350">
                <a:solidFill>
                  <a:srgbClr val="E2EBF4"/>
                </a:solidFill>
                <a:prstDash val="solid"/>
              </a:ln>
            </p:spPr>
          </p:sp>
          <p:sp>
            <p:nvSpPr>
              <p:cNvPr id="21" name="Text 19"/>
              <p:cNvSpPr/>
              <p:nvPr/>
            </p:nvSpPr>
            <p:spPr>
              <a:xfrm>
                <a:off x="586926" y="3289458"/>
                <a:ext cx="2468880" cy="731520"/>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DoD ZT Reference Architecture</a:t>
                </a:r>
                <a:endParaRPr lang="en-US" sz="1200" dirty="0"/>
              </a:p>
            </p:txBody>
          </p:sp>
          <p:sp>
            <p:nvSpPr>
              <p:cNvPr id="22" name="Text 20"/>
              <p:cNvSpPr/>
              <p:nvPr/>
            </p:nvSpPr>
            <p:spPr>
              <a:xfrm>
                <a:off x="3238686" y="3289458"/>
                <a:ext cx="2468880" cy="73152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Military &amp; Defense</a:t>
                </a:r>
                <a:endParaRPr lang="en-US" sz="1200" dirty="0"/>
              </a:p>
            </p:txBody>
          </p:sp>
          <p:sp>
            <p:nvSpPr>
              <p:cNvPr id="23" name="Text 21"/>
              <p:cNvSpPr/>
              <p:nvPr/>
            </p:nvSpPr>
            <p:spPr>
              <a:xfrm>
                <a:off x="5890446" y="3289458"/>
                <a:ext cx="2697480" cy="731520"/>
              </a:xfrm>
              <a:prstGeom prst="rect">
                <a:avLst/>
              </a:prstGeom>
              <a:noFill/>
              <a:ln/>
            </p:spPr>
            <p:txBody>
              <a:bodyPr wrap="square" lIns="0" tIns="0" rIns="0" bIns="0" rtlCol="0" anchor="ctr"/>
              <a:lstStyle/>
              <a:p>
                <a:pPr marL="0" indent="0">
                  <a:buNone/>
                </a:pPr>
                <a:r>
                  <a:rPr lang="en-US" sz="1100" dirty="0">
                    <a:solidFill>
                      <a:srgbClr val="1A2E44"/>
                    </a:solidFill>
                    <a:latin typeface="Calibri" pitchFamily="34" charset="0"/>
                    <a:ea typeface="Calibri" pitchFamily="34" charset="-122"/>
                    <a:cs typeface="Calibri" pitchFamily="34" charset="-120"/>
                  </a:rPr>
                  <a:t>Highly prescriptive • Data-centric • 7 pillars • 90+ ZT activities</a:t>
                </a:r>
                <a:endParaRPr lang="en-US" sz="1100" dirty="0"/>
              </a:p>
            </p:txBody>
          </p:sp>
        </p:grpSp>
        <p:sp>
          <p:nvSpPr>
            <p:cNvPr id="20" name="Shape 18"/>
            <p:cNvSpPr/>
            <p:nvPr/>
          </p:nvSpPr>
          <p:spPr>
            <a:xfrm>
              <a:off x="449766" y="3341715"/>
              <a:ext cx="54864" cy="822960"/>
            </a:xfrm>
            <a:prstGeom prst="rect">
              <a:avLst/>
            </a:prstGeom>
            <a:solidFill>
              <a:srgbClr val="00B074"/>
            </a:solidFill>
            <a:ln w="12700">
              <a:solidFill>
                <a:srgbClr val="00B074"/>
              </a:solidFill>
              <a:prstDash val="solid"/>
            </a:ln>
          </p:spPr>
        </p:sp>
      </p:grpSp>
      <p:sp>
        <p:nvSpPr>
          <p:cNvPr id="33" name="Shape 0">
            <a:extLst>
              <a:ext uri="{FF2B5EF4-FFF2-40B4-BE49-F238E27FC236}">
                <a16:creationId xmlns:a16="http://schemas.microsoft.com/office/drawing/2014/main" id="{7E8739D3-E3D3-4892-B454-3D4AD0922D65}"/>
              </a:ext>
            </a:extLst>
          </p:cNvPr>
          <p:cNvSpPr/>
          <p:nvPr/>
        </p:nvSpPr>
        <p:spPr>
          <a:xfrm>
            <a:off x="387010" y="4522566"/>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1943100" cy="274320"/>
          </a:xfrm>
          <a:prstGeom prst="roundRect">
            <a:avLst>
              <a:gd name="adj" fmla="val 20000"/>
            </a:avLst>
          </a:prstGeom>
          <a:solidFill>
            <a:srgbClr val="00B4D8">
              <a:alpha val="80000"/>
            </a:srgbClr>
          </a:solidFill>
          <a:ln w="12700">
            <a:solidFill>
              <a:srgbClr val="00B4D8"/>
            </a:solidFill>
            <a:prstDash val="solid"/>
          </a:ln>
        </p:spPr>
      </p:sp>
      <p:sp>
        <p:nvSpPr>
          <p:cNvPr id="3" name="Text 1"/>
          <p:cNvSpPr/>
          <p:nvPr/>
        </p:nvSpPr>
        <p:spPr>
          <a:xfrm>
            <a:off x="502920" y="265176"/>
            <a:ext cx="1851660" cy="256032"/>
          </a:xfrm>
          <a:prstGeom prst="rect">
            <a:avLst/>
          </a:prstGeom>
          <a:noFill/>
          <a:ln/>
        </p:spPr>
        <p:txBody>
          <a:bodyPr wrap="square" rtlCol="0" anchor="ctr"/>
          <a:lstStyle/>
          <a:p>
            <a:pPr marL="0" indent="0" algn="ctr">
              <a:buNone/>
            </a:pPr>
            <a:r>
              <a:rPr lang="en-US" sz="900" b="1" kern="0" spc="200" dirty="0">
                <a:solidFill>
                  <a:srgbClr val="FFFFFF"/>
                </a:solidFill>
              </a:rPr>
              <a:t>NIST SP 800-207</a:t>
            </a:r>
            <a:endParaRPr lang="en-US" sz="900" dirty="0"/>
          </a:p>
        </p:txBody>
      </p:sp>
      <p:sp>
        <p:nvSpPr>
          <p:cNvPr id="4" name="Text 2"/>
          <p:cNvSpPr/>
          <p:nvPr/>
        </p:nvSpPr>
        <p:spPr>
          <a:xfrm>
            <a:off x="457200" y="640080"/>
            <a:ext cx="8229600" cy="54864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The Seven Core Tenets of Zero Trust</a:t>
            </a:r>
            <a:endParaRPr lang="en-US" sz="2600" dirty="0"/>
          </a:p>
        </p:txBody>
      </p:sp>
      <p:grpSp>
        <p:nvGrpSpPr>
          <p:cNvPr id="28" name="Group 27"/>
          <p:cNvGrpSpPr/>
          <p:nvPr/>
        </p:nvGrpSpPr>
        <p:grpSpPr>
          <a:xfrm>
            <a:off x="500744" y="1186538"/>
            <a:ext cx="4526280" cy="640080"/>
            <a:chOff x="500744" y="1186538"/>
            <a:chExt cx="4526280" cy="640080"/>
          </a:xfrm>
        </p:grpSpPr>
        <p:sp>
          <p:nvSpPr>
            <p:cNvPr id="5" name="Shape 3"/>
            <p:cNvSpPr/>
            <p:nvPr/>
          </p:nvSpPr>
          <p:spPr>
            <a:xfrm>
              <a:off x="500744" y="1296266"/>
              <a:ext cx="365760" cy="365760"/>
            </a:xfrm>
            <a:prstGeom prst="ellipse">
              <a:avLst/>
            </a:prstGeom>
            <a:solidFill>
              <a:srgbClr val="00B4D8"/>
            </a:solidFill>
            <a:ln w="12700">
              <a:solidFill>
                <a:srgbClr val="00B4D8"/>
              </a:solidFill>
              <a:prstDash val="solid"/>
            </a:ln>
          </p:spPr>
        </p:sp>
        <p:sp>
          <p:nvSpPr>
            <p:cNvPr id="6" name="Text 4"/>
            <p:cNvSpPr/>
            <p:nvPr/>
          </p:nvSpPr>
          <p:spPr>
            <a:xfrm>
              <a:off x="500744" y="1296266"/>
              <a:ext cx="365760" cy="365760"/>
            </a:xfrm>
            <a:prstGeom prst="rect">
              <a:avLst/>
            </a:prstGeom>
            <a:noFill/>
            <a:ln/>
          </p:spPr>
          <p:txBody>
            <a:bodyPr wrap="square" rtlCol="0" anchor="ctr"/>
            <a:lstStyle/>
            <a:p>
              <a:pPr marL="0" indent="0" algn="ctr">
                <a:buNone/>
              </a:pPr>
              <a:r>
                <a:rPr lang="en-US" sz="1200" b="1" dirty="0">
                  <a:solidFill>
                    <a:srgbClr val="0D1B2A"/>
                  </a:solidFill>
                </a:rPr>
                <a:t>1</a:t>
              </a:r>
              <a:endParaRPr lang="en-US" sz="1200" dirty="0"/>
            </a:p>
          </p:txBody>
        </p:sp>
        <p:sp>
          <p:nvSpPr>
            <p:cNvPr id="7" name="Text 5"/>
            <p:cNvSpPr/>
            <p:nvPr/>
          </p:nvSpPr>
          <p:spPr>
            <a:xfrm>
              <a:off x="957944" y="1186538"/>
              <a:ext cx="406908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All data sources and computing services are treated as</a:t>
              </a:r>
            </a:p>
            <a:p>
              <a:pPr marL="0" indent="0">
                <a:buNone/>
              </a:pPr>
              <a:r>
                <a:rPr lang="en-US" sz="1150" dirty="0">
                  <a:solidFill>
                    <a:srgbClr val="FFFFFF"/>
                  </a:solidFill>
                  <a:latin typeface="Calibri" pitchFamily="34" charset="0"/>
                  <a:ea typeface="Calibri" pitchFamily="34" charset="-122"/>
                  <a:cs typeface="Calibri" pitchFamily="34" charset="-120"/>
                </a:rPr>
                <a:t>resources requiring protection</a:t>
              </a:r>
              <a:endParaRPr lang="en-US" sz="1150" dirty="0"/>
            </a:p>
          </p:txBody>
        </p:sp>
      </p:grpSp>
      <p:grpSp>
        <p:nvGrpSpPr>
          <p:cNvPr id="29" name="Group 28"/>
          <p:cNvGrpSpPr/>
          <p:nvPr/>
        </p:nvGrpSpPr>
        <p:grpSpPr>
          <a:xfrm>
            <a:off x="500744" y="2082650"/>
            <a:ext cx="4526280" cy="640080"/>
            <a:chOff x="500744" y="2082650"/>
            <a:chExt cx="4526280" cy="640080"/>
          </a:xfrm>
        </p:grpSpPr>
        <p:sp>
          <p:nvSpPr>
            <p:cNvPr id="8" name="Shape 6"/>
            <p:cNvSpPr/>
            <p:nvPr/>
          </p:nvSpPr>
          <p:spPr>
            <a:xfrm>
              <a:off x="500744" y="2192378"/>
              <a:ext cx="365760" cy="365760"/>
            </a:xfrm>
            <a:prstGeom prst="ellipse">
              <a:avLst/>
            </a:prstGeom>
            <a:solidFill>
              <a:srgbClr val="00B4D8"/>
            </a:solidFill>
            <a:ln w="12700">
              <a:solidFill>
                <a:srgbClr val="00B4D8"/>
              </a:solidFill>
              <a:prstDash val="solid"/>
            </a:ln>
          </p:spPr>
        </p:sp>
        <p:sp>
          <p:nvSpPr>
            <p:cNvPr id="9" name="Text 7"/>
            <p:cNvSpPr/>
            <p:nvPr/>
          </p:nvSpPr>
          <p:spPr>
            <a:xfrm>
              <a:off x="500744" y="2192378"/>
              <a:ext cx="365760" cy="365760"/>
            </a:xfrm>
            <a:prstGeom prst="rect">
              <a:avLst/>
            </a:prstGeom>
            <a:noFill/>
            <a:ln/>
          </p:spPr>
          <p:txBody>
            <a:bodyPr wrap="square" rtlCol="0" anchor="ctr"/>
            <a:lstStyle/>
            <a:p>
              <a:pPr marL="0" indent="0" algn="ctr">
                <a:buNone/>
              </a:pPr>
              <a:r>
                <a:rPr lang="en-US" sz="1200" b="1" dirty="0">
                  <a:solidFill>
                    <a:srgbClr val="0D1B2A"/>
                  </a:solidFill>
                </a:rPr>
                <a:t>2</a:t>
              </a:r>
              <a:endParaRPr lang="en-US" sz="1200" dirty="0"/>
            </a:p>
          </p:txBody>
        </p:sp>
        <p:sp>
          <p:nvSpPr>
            <p:cNvPr id="10" name="Text 8"/>
            <p:cNvSpPr/>
            <p:nvPr/>
          </p:nvSpPr>
          <p:spPr>
            <a:xfrm>
              <a:off x="957944" y="2082650"/>
              <a:ext cx="406908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All communication is secured regardless of network</a:t>
              </a:r>
            </a:p>
            <a:p>
              <a:pPr marL="0" indent="0">
                <a:buNone/>
              </a:pPr>
              <a:r>
                <a:rPr lang="en-US" sz="1150" dirty="0">
                  <a:solidFill>
                    <a:srgbClr val="FFFFFF"/>
                  </a:solidFill>
                  <a:latin typeface="Calibri" pitchFamily="34" charset="0"/>
                  <a:ea typeface="Calibri" pitchFamily="34" charset="-122"/>
                  <a:cs typeface="Calibri" pitchFamily="34" charset="-120"/>
                </a:rPr>
                <a:t>location — no trusted network</a:t>
              </a:r>
              <a:endParaRPr lang="en-US" sz="1150" dirty="0"/>
            </a:p>
          </p:txBody>
        </p:sp>
      </p:grpSp>
      <p:grpSp>
        <p:nvGrpSpPr>
          <p:cNvPr id="30" name="Group 29"/>
          <p:cNvGrpSpPr/>
          <p:nvPr/>
        </p:nvGrpSpPr>
        <p:grpSpPr>
          <a:xfrm>
            <a:off x="500744" y="2978762"/>
            <a:ext cx="4526280" cy="640080"/>
            <a:chOff x="500744" y="2978762"/>
            <a:chExt cx="4526280" cy="640080"/>
          </a:xfrm>
        </p:grpSpPr>
        <p:sp>
          <p:nvSpPr>
            <p:cNvPr id="11" name="Shape 9"/>
            <p:cNvSpPr/>
            <p:nvPr/>
          </p:nvSpPr>
          <p:spPr>
            <a:xfrm>
              <a:off x="500744" y="3088490"/>
              <a:ext cx="365760" cy="365760"/>
            </a:xfrm>
            <a:prstGeom prst="ellipse">
              <a:avLst/>
            </a:prstGeom>
            <a:solidFill>
              <a:srgbClr val="00B4D8"/>
            </a:solidFill>
            <a:ln w="12700">
              <a:solidFill>
                <a:srgbClr val="00B4D8"/>
              </a:solidFill>
              <a:prstDash val="solid"/>
            </a:ln>
          </p:spPr>
        </p:sp>
        <p:sp>
          <p:nvSpPr>
            <p:cNvPr id="12" name="Text 10"/>
            <p:cNvSpPr/>
            <p:nvPr/>
          </p:nvSpPr>
          <p:spPr>
            <a:xfrm>
              <a:off x="500744" y="3088490"/>
              <a:ext cx="365760" cy="365760"/>
            </a:xfrm>
            <a:prstGeom prst="rect">
              <a:avLst/>
            </a:prstGeom>
            <a:noFill/>
            <a:ln/>
          </p:spPr>
          <p:txBody>
            <a:bodyPr wrap="square" rtlCol="0" anchor="ctr"/>
            <a:lstStyle/>
            <a:p>
              <a:pPr marL="0" indent="0" algn="ctr">
                <a:buNone/>
              </a:pPr>
              <a:r>
                <a:rPr lang="en-US" sz="1200" b="1" dirty="0">
                  <a:solidFill>
                    <a:srgbClr val="0D1B2A"/>
                  </a:solidFill>
                </a:rPr>
                <a:t>3</a:t>
              </a:r>
              <a:endParaRPr lang="en-US" sz="1200" dirty="0"/>
            </a:p>
          </p:txBody>
        </p:sp>
        <p:sp>
          <p:nvSpPr>
            <p:cNvPr id="13" name="Text 11"/>
            <p:cNvSpPr/>
            <p:nvPr/>
          </p:nvSpPr>
          <p:spPr>
            <a:xfrm>
              <a:off x="957944" y="2978762"/>
              <a:ext cx="406908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Access to resources is granted per session only; each</a:t>
              </a:r>
            </a:p>
            <a:p>
              <a:pPr marL="0" indent="0">
                <a:buNone/>
              </a:pPr>
              <a:r>
                <a:rPr lang="en-US" sz="1150" dirty="0">
                  <a:solidFill>
                    <a:srgbClr val="FFFFFF"/>
                  </a:solidFill>
                  <a:latin typeface="Calibri" pitchFamily="34" charset="0"/>
                  <a:ea typeface="Calibri" pitchFamily="34" charset="-122"/>
                  <a:cs typeface="Calibri" pitchFamily="34" charset="-120"/>
                </a:rPr>
                <a:t>request evaluated independently</a:t>
              </a:r>
              <a:endParaRPr lang="en-US" sz="1150" dirty="0"/>
            </a:p>
          </p:txBody>
        </p:sp>
      </p:grpSp>
      <p:grpSp>
        <p:nvGrpSpPr>
          <p:cNvPr id="31" name="Group 30"/>
          <p:cNvGrpSpPr/>
          <p:nvPr/>
        </p:nvGrpSpPr>
        <p:grpSpPr>
          <a:xfrm>
            <a:off x="500744" y="3874874"/>
            <a:ext cx="4526280" cy="640080"/>
            <a:chOff x="500744" y="3874874"/>
            <a:chExt cx="4526280" cy="640080"/>
          </a:xfrm>
        </p:grpSpPr>
        <p:sp>
          <p:nvSpPr>
            <p:cNvPr id="14" name="Shape 12"/>
            <p:cNvSpPr/>
            <p:nvPr/>
          </p:nvSpPr>
          <p:spPr>
            <a:xfrm>
              <a:off x="500744" y="3984602"/>
              <a:ext cx="365760" cy="365760"/>
            </a:xfrm>
            <a:prstGeom prst="ellipse">
              <a:avLst/>
            </a:prstGeom>
            <a:solidFill>
              <a:srgbClr val="00B4D8"/>
            </a:solidFill>
            <a:ln w="12700">
              <a:solidFill>
                <a:srgbClr val="00B4D8"/>
              </a:solidFill>
              <a:prstDash val="solid"/>
            </a:ln>
          </p:spPr>
        </p:sp>
        <p:sp>
          <p:nvSpPr>
            <p:cNvPr id="15" name="Text 13"/>
            <p:cNvSpPr/>
            <p:nvPr/>
          </p:nvSpPr>
          <p:spPr>
            <a:xfrm>
              <a:off x="500744" y="3984602"/>
              <a:ext cx="365760" cy="365760"/>
            </a:xfrm>
            <a:prstGeom prst="rect">
              <a:avLst/>
            </a:prstGeom>
            <a:noFill/>
            <a:ln/>
          </p:spPr>
          <p:txBody>
            <a:bodyPr wrap="square" rtlCol="0" anchor="ctr"/>
            <a:lstStyle/>
            <a:p>
              <a:pPr marL="0" indent="0" algn="ctr">
                <a:buNone/>
              </a:pPr>
              <a:r>
                <a:rPr lang="en-US" sz="1200" b="1" dirty="0">
                  <a:solidFill>
                    <a:srgbClr val="0D1B2A"/>
                  </a:solidFill>
                </a:rPr>
                <a:t>4</a:t>
              </a:r>
              <a:endParaRPr lang="en-US" sz="1200" dirty="0"/>
            </a:p>
          </p:txBody>
        </p:sp>
        <p:sp>
          <p:nvSpPr>
            <p:cNvPr id="16" name="Text 14"/>
            <p:cNvSpPr/>
            <p:nvPr/>
          </p:nvSpPr>
          <p:spPr>
            <a:xfrm>
              <a:off x="957944" y="3874874"/>
              <a:ext cx="406908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Access decisions use dynamic policy: identity, device</a:t>
              </a:r>
            </a:p>
            <a:p>
              <a:pPr marL="0" indent="0">
                <a:buNone/>
              </a:pPr>
              <a:r>
                <a:rPr lang="en-US" sz="1150" dirty="0">
                  <a:solidFill>
                    <a:srgbClr val="FFFFFF"/>
                  </a:solidFill>
                  <a:latin typeface="Calibri" pitchFamily="34" charset="0"/>
                  <a:ea typeface="Calibri" pitchFamily="34" charset="-122"/>
                  <a:cs typeface="Calibri" pitchFamily="34" charset="-120"/>
                </a:rPr>
                <a:t>health, and real-time context</a:t>
              </a:r>
              <a:endParaRPr lang="en-US" sz="1150" dirty="0"/>
            </a:p>
          </p:txBody>
        </p:sp>
      </p:grpSp>
      <p:grpSp>
        <p:nvGrpSpPr>
          <p:cNvPr id="32" name="Group 31"/>
          <p:cNvGrpSpPr/>
          <p:nvPr/>
        </p:nvGrpSpPr>
        <p:grpSpPr>
          <a:xfrm>
            <a:off x="4569827" y="1600202"/>
            <a:ext cx="4526280" cy="640080"/>
            <a:chOff x="4569827" y="1600202"/>
            <a:chExt cx="4526280" cy="640080"/>
          </a:xfrm>
        </p:grpSpPr>
        <p:sp>
          <p:nvSpPr>
            <p:cNvPr id="17" name="Shape 15"/>
            <p:cNvSpPr/>
            <p:nvPr/>
          </p:nvSpPr>
          <p:spPr>
            <a:xfrm>
              <a:off x="4569827" y="1709930"/>
              <a:ext cx="365760" cy="365760"/>
            </a:xfrm>
            <a:prstGeom prst="ellipse">
              <a:avLst/>
            </a:prstGeom>
            <a:solidFill>
              <a:srgbClr val="00B4D8"/>
            </a:solidFill>
            <a:ln w="12700">
              <a:solidFill>
                <a:srgbClr val="00B4D8"/>
              </a:solidFill>
              <a:prstDash val="solid"/>
            </a:ln>
          </p:spPr>
        </p:sp>
        <p:sp>
          <p:nvSpPr>
            <p:cNvPr id="18" name="Text 16"/>
            <p:cNvSpPr/>
            <p:nvPr/>
          </p:nvSpPr>
          <p:spPr>
            <a:xfrm>
              <a:off x="4569827" y="1709930"/>
              <a:ext cx="365760" cy="365760"/>
            </a:xfrm>
            <a:prstGeom prst="rect">
              <a:avLst/>
            </a:prstGeom>
            <a:noFill/>
            <a:ln/>
          </p:spPr>
          <p:txBody>
            <a:bodyPr wrap="square" rtlCol="0" anchor="ctr"/>
            <a:lstStyle/>
            <a:p>
              <a:pPr marL="0" indent="0" algn="ctr">
                <a:buNone/>
              </a:pPr>
              <a:r>
                <a:rPr lang="en-US" sz="1200" b="1" dirty="0">
                  <a:solidFill>
                    <a:srgbClr val="0D1B2A"/>
                  </a:solidFill>
                </a:rPr>
                <a:t>5</a:t>
              </a:r>
              <a:endParaRPr lang="en-US" sz="1200" dirty="0"/>
            </a:p>
          </p:txBody>
        </p:sp>
        <p:sp>
          <p:nvSpPr>
            <p:cNvPr id="19" name="Text 17"/>
            <p:cNvSpPr/>
            <p:nvPr/>
          </p:nvSpPr>
          <p:spPr>
            <a:xfrm>
              <a:off x="5027027" y="1600202"/>
              <a:ext cx="406908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Continuous monitoring and measurement of</a:t>
              </a:r>
            </a:p>
            <a:p>
              <a:pPr marL="0" indent="0">
                <a:buNone/>
              </a:pPr>
              <a:r>
                <a:rPr lang="en-US" sz="1150" dirty="0">
                  <a:solidFill>
                    <a:srgbClr val="FFFFFF"/>
                  </a:solidFill>
                  <a:latin typeface="Calibri" pitchFamily="34" charset="0"/>
                  <a:ea typeface="Calibri" pitchFamily="34" charset="-122"/>
                  <a:cs typeface="Calibri" pitchFamily="34" charset="-120"/>
                </a:rPr>
                <a:t>integrity and security posture for all assets</a:t>
              </a:r>
              <a:endParaRPr lang="en-US" sz="1150" dirty="0"/>
            </a:p>
          </p:txBody>
        </p:sp>
      </p:grpSp>
      <p:grpSp>
        <p:nvGrpSpPr>
          <p:cNvPr id="33" name="Group 32"/>
          <p:cNvGrpSpPr/>
          <p:nvPr/>
        </p:nvGrpSpPr>
        <p:grpSpPr>
          <a:xfrm>
            <a:off x="4569827" y="2496314"/>
            <a:ext cx="4526280" cy="640080"/>
            <a:chOff x="4569827" y="2496314"/>
            <a:chExt cx="4526280" cy="640080"/>
          </a:xfrm>
        </p:grpSpPr>
        <p:sp>
          <p:nvSpPr>
            <p:cNvPr id="20" name="Shape 18"/>
            <p:cNvSpPr/>
            <p:nvPr/>
          </p:nvSpPr>
          <p:spPr>
            <a:xfrm>
              <a:off x="4569827" y="2606042"/>
              <a:ext cx="365760" cy="365760"/>
            </a:xfrm>
            <a:prstGeom prst="ellipse">
              <a:avLst/>
            </a:prstGeom>
            <a:solidFill>
              <a:srgbClr val="00B4D8"/>
            </a:solidFill>
            <a:ln w="12700">
              <a:solidFill>
                <a:srgbClr val="00B4D8"/>
              </a:solidFill>
              <a:prstDash val="solid"/>
            </a:ln>
          </p:spPr>
        </p:sp>
        <p:sp>
          <p:nvSpPr>
            <p:cNvPr id="21" name="Text 19"/>
            <p:cNvSpPr/>
            <p:nvPr/>
          </p:nvSpPr>
          <p:spPr>
            <a:xfrm>
              <a:off x="4569827" y="2606042"/>
              <a:ext cx="365760" cy="365760"/>
            </a:xfrm>
            <a:prstGeom prst="rect">
              <a:avLst/>
            </a:prstGeom>
            <a:noFill/>
            <a:ln/>
          </p:spPr>
          <p:txBody>
            <a:bodyPr wrap="square" rtlCol="0" anchor="ctr"/>
            <a:lstStyle/>
            <a:p>
              <a:pPr marL="0" indent="0" algn="ctr">
                <a:buNone/>
              </a:pPr>
              <a:r>
                <a:rPr lang="en-US" sz="1200" b="1" dirty="0">
                  <a:solidFill>
                    <a:srgbClr val="0D1B2A"/>
                  </a:solidFill>
                </a:rPr>
                <a:t>6</a:t>
              </a:r>
              <a:endParaRPr lang="en-US" sz="1200" dirty="0"/>
            </a:p>
          </p:txBody>
        </p:sp>
        <p:sp>
          <p:nvSpPr>
            <p:cNvPr id="22" name="Text 20"/>
            <p:cNvSpPr/>
            <p:nvPr/>
          </p:nvSpPr>
          <p:spPr>
            <a:xfrm>
              <a:off x="5027027" y="2496314"/>
              <a:ext cx="406908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Authentication and authorization are strictly</a:t>
              </a:r>
            </a:p>
            <a:p>
              <a:pPr marL="0" indent="0">
                <a:buNone/>
              </a:pPr>
              <a:r>
                <a:rPr lang="en-US" sz="1150" dirty="0">
                  <a:solidFill>
                    <a:srgbClr val="FFFFFF"/>
                  </a:solidFill>
                  <a:latin typeface="Calibri" pitchFamily="34" charset="0"/>
                  <a:ea typeface="Calibri" pitchFamily="34" charset="-122"/>
                  <a:cs typeface="Calibri" pitchFamily="34" charset="-120"/>
                </a:rPr>
                <a:t>enforced before any access is granted</a:t>
              </a:r>
              <a:endParaRPr lang="en-US" sz="1150" dirty="0"/>
            </a:p>
          </p:txBody>
        </p:sp>
      </p:grpSp>
      <p:grpSp>
        <p:nvGrpSpPr>
          <p:cNvPr id="34" name="Group 33"/>
          <p:cNvGrpSpPr/>
          <p:nvPr/>
        </p:nvGrpSpPr>
        <p:grpSpPr>
          <a:xfrm>
            <a:off x="4569827" y="3392426"/>
            <a:ext cx="4526280" cy="640080"/>
            <a:chOff x="4569827" y="3392426"/>
            <a:chExt cx="4526280" cy="640080"/>
          </a:xfrm>
        </p:grpSpPr>
        <p:sp>
          <p:nvSpPr>
            <p:cNvPr id="23" name="Shape 21"/>
            <p:cNvSpPr/>
            <p:nvPr/>
          </p:nvSpPr>
          <p:spPr>
            <a:xfrm>
              <a:off x="4569827" y="3502154"/>
              <a:ext cx="365760" cy="365760"/>
            </a:xfrm>
            <a:prstGeom prst="ellipse">
              <a:avLst/>
            </a:prstGeom>
            <a:solidFill>
              <a:srgbClr val="00B4D8"/>
            </a:solidFill>
            <a:ln w="12700">
              <a:solidFill>
                <a:srgbClr val="00B4D8"/>
              </a:solidFill>
              <a:prstDash val="solid"/>
            </a:ln>
          </p:spPr>
        </p:sp>
        <p:sp>
          <p:nvSpPr>
            <p:cNvPr id="24" name="Text 22"/>
            <p:cNvSpPr/>
            <p:nvPr/>
          </p:nvSpPr>
          <p:spPr>
            <a:xfrm>
              <a:off x="4569827" y="3502154"/>
              <a:ext cx="365760" cy="365760"/>
            </a:xfrm>
            <a:prstGeom prst="rect">
              <a:avLst/>
            </a:prstGeom>
            <a:noFill/>
            <a:ln/>
          </p:spPr>
          <p:txBody>
            <a:bodyPr wrap="square" rtlCol="0" anchor="ctr"/>
            <a:lstStyle/>
            <a:p>
              <a:pPr marL="0" indent="0" algn="ctr">
                <a:buNone/>
              </a:pPr>
              <a:r>
                <a:rPr lang="en-US" sz="1200" b="1" dirty="0">
                  <a:solidFill>
                    <a:srgbClr val="0D1B2A"/>
                  </a:solidFill>
                </a:rPr>
                <a:t>7</a:t>
              </a:r>
              <a:endParaRPr lang="en-US" sz="1200" dirty="0"/>
            </a:p>
          </p:txBody>
        </p:sp>
        <p:sp>
          <p:nvSpPr>
            <p:cNvPr id="25" name="Text 23"/>
            <p:cNvSpPr/>
            <p:nvPr/>
          </p:nvSpPr>
          <p:spPr>
            <a:xfrm>
              <a:off x="5027027" y="3392426"/>
              <a:ext cx="406908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Continuous collection of telemetry to improve</a:t>
              </a:r>
            </a:p>
            <a:p>
              <a:pPr marL="0" indent="0">
                <a:buNone/>
              </a:pPr>
              <a:r>
                <a:rPr lang="en-US" sz="1150" dirty="0">
                  <a:solidFill>
                    <a:srgbClr val="FFFFFF"/>
                  </a:solidFill>
                  <a:latin typeface="Calibri" pitchFamily="34" charset="0"/>
                  <a:ea typeface="Calibri" pitchFamily="34" charset="-122"/>
                  <a:cs typeface="Calibri" pitchFamily="34" charset="-120"/>
                </a:rPr>
                <a:t>security posture over time</a:t>
              </a:r>
              <a:endParaRPr lang="en-US" sz="1150" dirty="0"/>
            </a:p>
          </p:txBody>
        </p:sp>
      </p:grpSp>
      <p:sp>
        <p:nvSpPr>
          <p:cNvPr id="26" name="Shape 24"/>
          <p:cNvSpPr/>
          <p:nvPr/>
        </p:nvSpPr>
        <p:spPr>
          <a:xfrm>
            <a:off x="1219200" y="4663476"/>
            <a:ext cx="6705600" cy="246888"/>
          </a:xfrm>
          <a:prstGeom prst="rect">
            <a:avLst/>
          </a:prstGeom>
          <a:solidFill>
            <a:srgbClr val="00B4D8">
              <a:alpha val="15000"/>
            </a:srgbClr>
          </a:solidFill>
          <a:ln w="6350">
            <a:solidFill>
              <a:srgbClr val="00B4D8"/>
            </a:solidFill>
            <a:prstDash val="solid"/>
          </a:ln>
        </p:spPr>
      </p:sp>
      <p:sp>
        <p:nvSpPr>
          <p:cNvPr id="27" name="Text 25"/>
          <p:cNvSpPr/>
          <p:nvPr/>
        </p:nvSpPr>
        <p:spPr>
          <a:xfrm>
            <a:off x="0" y="4653501"/>
            <a:ext cx="9144000" cy="266839"/>
          </a:xfrm>
          <a:prstGeom prst="rect">
            <a:avLst/>
          </a:prstGeom>
          <a:noFill/>
          <a:ln/>
        </p:spPr>
        <p:txBody>
          <a:bodyPr wrap="square" rtlCol="0" anchor="ctr"/>
          <a:lstStyle/>
          <a:p>
            <a:pPr marL="0" indent="0" algn="ctr">
              <a:buNone/>
            </a:pPr>
            <a:r>
              <a:rPr lang="en-US" sz="1100" i="1" dirty="0">
                <a:solidFill>
                  <a:srgbClr val="CAF0F8"/>
                </a:solidFill>
              </a:rPr>
              <a:t>Together, these tenets shift security from a location-based to an identity- and context-driven model</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163282" y="283895"/>
            <a:ext cx="64008" cy="438912"/>
          </a:xfrm>
          <a:prstGeom prst="rect">
            <a:avLst/>
          </a:prstGeom>
          <a:solidFill>
            <a:srgbClr val="00B4D8"/>
          </a:solidFill>
          <a:ln w="12700">
            <a:solidFill>
              <a:srgbClr val="00B4D8"/>
            </a:solidFill>
            <a:prstDash val="solid"/>
          </a:ln>
        </p:spPr>
      </p:sp>
      <p:sp>
        <p:nvSpPr>
          <p:cNvPr id="3" name="Text 1"/>
          <p:cNvSpPr/>
          <p:nvPr/>
        </p:nvSpPr>
        <p:spPr>
          <a:xfrm>
            <a:off x="300442" y="219887"/>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The Five Pillars of Zero Trust (CISA)</a:t>
            </a:r>
            <a:endParaRPr lang="en-US" sz="2600" dirty="0"/>
          </a:p>
        </p:txBody>
      </p:sp>
      <p:sp>
        <p:nvSpPr>
          <p:cNvPr id="4" name="Text 2"/>
          <p:cNvSpPr/>
          <p:nvPr/>
        </p:nvSpPr>
        <p:spPr>
          <a:xfrm>
            <a:off x="562356" y="657493"/>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Each pillar represents a critical security domain</a:t>
            </a:r>
            <a:endParaRPr lang="en-US" sz="1300" dirty="0"/>
          </a:p>
        </p:txBody>
      </p:sp>
      <p:grpSp>
        <p:nvGrpSpPr>
          <p:cNvPr id="37" name="Group 36"/>
          <p:cNvGrpSpPr/>
          <p:nvPr/>
        </p:nvGrpSpPr>
        <p:grpSpPr>
          <a:xfrm>
            <a:off x="341812" y="1166942"/>
            <a:ext cx="1600200" cy="3383280"/>
            <a:chOff x="341812" y="1166942"/>
            <a:chExt cx="1600200" cy="3383280"/>
          </a:xfrm>
        </p:grpSpPr>
        <p:sp>
          <p:nvSpPr>
            <p:cNvPr id="5" name="Shape 3"/>
            <p:cNvSpPr/>
            <p:nvPr/>
          </p:nvSpPr>
          <p:spPr>
            <a:xfrm>
              <a:off x="341812" y="1166942"/>
              <a:ext cx="1600200" cy="338328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6" name="Shape 4"/>
            <p:cNvSpPr/>
            <p:nvPr/>
          </p:nvSpPr>
          <p:spPr>
            <a:xfrm>
              <a:off x="341812" y="1166942"/>
              <a:ext cx="1600200" cy="502920"/>
            </a:xfrm>
            <a:prstGeom prst="rect">
              <a:avLst/>
            </a:prstGeom>
            <a:solidFill>
              <a:srgbClr val="5E60CE"/>
            </a:solidFill>
            <a:ln w="12700">
              <a:solidFill>
                <a:srgbClr val="5E60CE"/>
              </a:solidFill>
              <a:prstDash val="solid"/>
            </a:ln>
          </p:spPr>
        </p:sp>
        <p:sp>
          <p:nvSpPr>
            <p:cNvPr id="7" name="Text 5"/>
            <p:cNvSpPr/>
            <p:nvPr/>
          </p:nvSpPr>
          <p:spPr>
            <a:xfrm>
              <a:off x="341812" y="1166942"/>
              <a:ext cx="1600200" cy="50292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pic>
          <p:nvPicPr>
            <p:cNvPr id="8" name="Image 0" descr="preencoded.png"/>
            <p:cNvPicPr>
              <a:picLocks noChangeAspect="1"/>
            </p:cNvPicPr>
            <p:nvPr/>
          </p:nvPicPr>
          <p:blipFill>
            <a:blip r:embed="rId3"/>
            <a:stretch>
              <a:fillRect/>
            </a:stretch>
          </p:blipFill>
          <p:spPr>
            <a:xfrm>
              <a:off x="867592" y="2033452"/>
              <a:ext cx="548640" cy="548640"/>
            </a:xfrm>
            <a:prstGeom prst="rect">
              <a:avLst/>
            </a:prstGeom>
          </p:spPr>
        </p:pic>
        <p:sp>
          <p:nvSpPr>
            <p:cNvPr id="9" name="Text 6"/>
            <p:cNvSpPr/>
            <p:nvPr/>
          </p:nvSpPr>
          <p:spPr>
            <a:xfrm>
              <a:off x="387532" y="2627812"/>
              <a:ext cx="1508760" cy="347472"/>
            </a:xfrm>
            <a:prstGeom prst="rect">
              <a:avLst/>
            </a:prstGeom>
            <a:noFill/>
            <a:ln/>
          </p:spPr>
          <p:txBody>
            <a:bodyPr wrap="square" rtlCol="0" anchor="ctr"/>
            <a:lstStyle/>
            <a:p>
              <a:pPr marL="0" indent="0" algn="ctr">
                <a:buNone/>
              </a:pPr>
              <a:r>
                <a:rPr lang="en-US" sz="1300" b="1" dirty="0">
                  <a:solidFill>
                    <a:srgbClr val="1A2E44"/>
                  </a:solidFill>
                  <a:latin typeface="Trebuchet MS" pitchFamily="34" charset="0"/>
                  <a:ea typeface="Trebuchet MS" pitchFamily="34" charset="-122"/>
                  <a:cs typeface="Trebuchet MS" pitchFamily="34" charset="-120"/>
                </a:rPr>
                <a:t>Identity</a:t>
              </a:r>
              <a:endParaRPr lang="en-US" sz="1300" dirty="0"/>
            </a:p>
          </p:txBody>
        </p:sp>
        <p:sp>
          <p:nvSpPr>
            <p:cNvPr id="10" name="Text 7"/>
            <p:cNvSpPr/>
            <p:nvPr/>
          </p:nvSpPr>
          <p:spPr>
            <a:xfrm>
              <a:off x="405820" y="2748854"/>
              <a:ext cx="1481328" cy="169164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MFA, IGA, continuous authentication — identity is the new perimeter</a:t>
              </a:r>
              <a:endParaRPr lang="en-US" sz="1200" dirty="0"/>
            </a:p>
          </p:txBody>
        </p:sp>
      </p:grpSp>
      <p:grpSp>
        <p:nvGrpSpPr>
          <p:cNvPr id="38" name="Group 37"/>
          <p:cNvGrpSpPr/>
          <p:nvPr/>
        </p:nvGrpSpPr>
        <p:grpSpPr>
          <a:xfrm>
            <a:off x="2051740" y="1166942"/>
            <a:ext cx="1600200" cy="3383280"/>
            <a:chOff x="2051740" y="1166942"/>
            <a:chExt cx="1600200" cy="3383280"/>
          </a:xfrm>
        </p:grpSpPr>
        <p:sp>
          <p:nvSpPr>
            <p:cNvPr id="11" name="Shape 8"/>
            <p:cNvSpPr/>
            <p:nvPr/>
          </p:nvSpPr>
          <p:spPr>
            <a:xfrm>
              <a:off x="2051740" y="1166942"/>
              <a:ext cx="1600200" cy="338328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2" name="Shape 9"/>
            <p:cNvSpPr/>
            <p:nvPr/>
          </p:nvSpPr>
          <p:spPr>
            <a:xfrm>
              <a:off x="2051740" y="1166942"/>
              <a:ext cx="1600200" cy="502920"/>
            </a:xfrm>
            <a:prstGeom prst="rect">
              <a:avLst/>
            </a:prstGeom>
            <a:solidFill>
              <a:srgbClr val="00B4D8"/>
            </a:solidFill>
            <a:ln w="12700">
              <a:solidFill>
                <a:srgbClr val="00B4D8"/>
              </a:solidFill>
              <a:prstDash val="solid"/>
            </a:ln>
          </p:spPr>
        </p:sp>
        <p:sp>
          <p:nvSpPr>
            <p:cNvPr id="13" name="Text 10"/>
            <p:cNvSpPr/>
            <p:nvPr/>
          </p:nvSpPr>
          <p:spPr>
            <a:xfrm>
              <a:off x="2051740" y="1166942"/>
              <a:ext cx="1600200" cy="50292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pic>
          <p:nvPicPr>
            <p:cNvPr id="14" name="Image 1" descr="preencoded.png"/>
            <p:cNvPicPr>
              <a:picLocks noChangeAspect="1"/>
            </p:cNvPicPr>
            <p:nvPr/>
          </p:nvPicPr>
          <p:blipFill>
            <a:blip r:embed="rId4"/>
            <a:stretch>
              <a:fillRect/>
            </a:stretch>
          </p:blipFill>
          <p:spPr>
            <a:xfrm>
              <a:off x="2595808" y="2035622"/>
              <a:ext cx="548640" cy="548640"/>
            </a:xfrm>
            <a:prstGeom prst="rect">
              <a:avLst/>
            </a:prstGeom>
          </p:spPr>
        </p:pic>
        <p:sp>
          <p:nvSpPr>
            <p:cNvPr id="15" name="Text 11"/>
            <p:cNvSpPr/>
            <p:nvPr/>
          </p:nvSpPr>
          <p:spPr>
            <a:xfrm>
              <a:off x="2115748" y="2629982"/>
              <a:ext cx="1508760" cy="347472"/>
            </a:xfrm>
            <a:prstGeom prst="rect">
              <a:avLst/>
            </a:prstGeom>
            <a:noFill/>
            <a:ln/>
          </p:spPr>
          <p:txBody>
            <a:bodyPr wrap="square" rtlCol="0" anchor="ctr"/>
            <a:lstStyle/>
            <a:p>
              <a:pPr marL="0" indent="0" algn="ctr">
                <a:buNone/>
              </a:pPr>
              <a:r>
                <a:rPr lang="en-US" sz="1300" b="1" dirty="0">
                  <a:solidFill>
                    <a:srgbClr val="1A2E44"/>
                  </a:solidFill>
                  <a:latin typeface="Trebuchet MS" pitchFamily="34" charset="0"/>
                  <a:ea typeface="Trebuchet MS" pitchFamily="34" charset="-122"/>
                  <a:cs typeface="Trebuchet MS" pitchFamily="34" charset="-120"/>
                </a:rPr>
                <a:t>Device</a:t>
              </a:r>
              <a:endParaRPr lang="en-US" sz="1300" dirty="0"/>
            </a:p>
          </p:txBody>
        </p:sp>
        <p:sp>
          <p:nvSpPr>
            <p:cNvPr id="16" name="Text 12"/>
            <p:cNvSpPr/>
            <p:nvPr/>
          </p:nvSpPr>
          <p:spPr>
            <a:xfrm>
              <a:off x="2115748" y="2748854"/>
              <a:ext cx="1481328" cy="169164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EDR, MDM — only healthy, compliant devices gain access</a:t>
              </a:r>
              <a:endParaRPr lang="en-US" sz="1200" dirty="0"/>
            </a:p>
          </p:txBody>
        </p:sp>
      </p:grpSp>
      <p:grpSp>
        <p:nvGrpSpPr>
          <p:cNvPr id="39" name="Group 38"/>
          <p:cNvGrpSpPr/>
          <p:nvPr/>
        </p:nvGrpSpPr>
        <p:grpSpPr>
          <a:xfrm>
            <a:off x="3761668" y="1166942"/>
            <a:ext cx="1600200" cy="3383280"/>
            <a:chOff x="3761668" y="1166942"/>
            <a:chExt cx="1600200" cy="3383280"/>
          </a:xfrm>
        </p:grpSpPr>
        <p:sp>
          <p:nvSpPr>
            <p:cNvPr id="17" name="Shape 13"/>
            <p:cNvSpPr/>
            <p:nvPr/>
          </p:nvSpPr>
          <p:spPr>
            <a:xfrm>
              <a:off x="3761668" y="1166942"/>
              <a:ext cx="1600200" cy="338328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8" name="Shape 14"/>
            <p:cNvSpPr/>
            <p:nvPr/>
          </p:nvSpPr>
          <p:spPr>
            <a:xfrm>
              <a:off x="3761668" y="1166942"/>
              <a:ext cx="1600200" cy="502920"/>
            </a:xfrm>
            <a:prstGeom prst="rect">
              <a:avLst/>
            </a:prstGeom>
            <a:solidFill>
              <a:srgbClr val="00B074"/>
            </a:solidFill>
            <a:ln w="12700">
              <a:solidFill>
                <a:srgbClr val="00B074"/>
              </a:solidFill>
              <a:prstDash val="solid"/>
            </a:ln>
          </p:spPr>
        </p:sp>
        <p:sp>
          <p:nvSpPr>
            <p:cNvPr id="19" name="Text 15"/>
            <p:cNvSpPr/>
            <p:nvPr/>
          </p:nvSpPr>
          <p:spPr>
            <a:xfrm>
              <a:off x="3761668" y="1166942"/>
              <a:ext cx="1600200" cy="502920"/>
            </a:xfrm>
            <a:prstGeom prst="rect">
              <a:avLst/>
            </a:prstGeom>
            <a:noFill/>
            <a:ln/>
          </p:spPr>
          <p:txBody>
            <a:bodyPr wrap="square" rtlCol="0" anchor="ctr"/>
            <a:lstStyle/>
            <a:p>
              <a:pPr marL="0" indent="0" algn="ctr">
                <a:buNone/>
              </a:pPr>
              <a:r>
                <a:rPr lang="en-US" sz="1800" b="1" dirty="0">
                  <a:solidFill>
                    <a:srgbClr val="FFFFFF"/>
                  </a:solidFill>
                </a:rPr>
                <a:t>3</a:t>
              </a:r>
              <a:endParaRPr lang="en-US" sz="1800" dirty="0"/>
            </a:p>
          </p:txBody>
        </p:sp>
        <p:pic>
          <p:nvPicPr>
            <p:cNvPr id="20" name="Image 2" descr="preencoded.png"/>
            <p:cNvPicPr>
              <a:picLocks noChangeAspect="1"/>
            </p:cNvPicPr>
            <p:nvPr/>
          </p:nvPicPr>
          <p:blipFill>
            <a:blip r:embed="rId5"/>
            <a:stretch>
              <a:fillRect/>
            </a:stretch>
          </p:blipFill>
          <p:spPr>
            <a:xfrm>
              <a:off x="4283747" y="2033452"/>
              <a:ext cx="548640" cy="548640"/>
            </a:xfrm>
            <a:prstGeom prst="rect">
              <a:avLst/>
            </a:prstGeom>
          </p:spPr>
        </p:pic>
        <p:sp>
          <p:nvSpPr>
            <p:cNvPr id="21" name="Text 16"/>
            <p:cNvSpPr/>
            <p:nvPr/>
          </p:nvSpPr>
          <p:spPr>
            <a:xfrm>
              <a:off x="3803687" y="2627812"/>
              <a:ext cx="1508760" cy="347472"/>
            </a:xfrm>
            <a:prstGeom prst="rect">
              <a:avLst/>
            </a:prstGeom>
            <a:noFill/>
            <a:ln/>
          </p:spPr>
          <p:txBody>
            <a:bodyPr wrap="square" rtlCol="0" anchor="ctr"/>
            <a:lstStyle/>
            <a:p>
              <a:pPr marL="0" indent="0" algn="ctr">
                <a:buNone/>
              </a:pPr>
              <a:r>
                <a:rPr lang="en-US" sz="1300" b="1" dirty="0">
                  <a:solidFill>
                    <a:srgbClr val="1A2E44"/>
                  </a:solidFill>
                  <a:latin typeface="Trebuchet MS" pitchFamily="34" charset="0"/>
                  <a:ea typeface="Trebuchet MS" pitchFamily="34" charset="-122"/>
                  <a:cs typeface="Trebuchet MS" pitchFamily="34" charset="-120"/>
                </a:rPr>
                <a:t>Network</a:t>
              </a:r>
              <a:endParaRPr lang="en-US" sz="1300" dirty="0"/>
            </a:p>
          </p:txBody>
        </p:sp>
        <p:sp>
          <p:nvSpPr>
            <p:cNvPr id="22" name="Text 17"/>
            <p:cNvSpPr/>
            <p:nvPr/>
          </p:nvSpPr>
          <p:spPr>
            <a:xfrm>
              <a:off x="3825676" y="2748854"/>
              <a:ext cx="1481328" cy="169164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Micro-segmentation via SDN/VLAN — limits lateral movement</a:t>
              </a:r>
              <a:endParaRPr lang="en-US" sz="1200" dirty="0"/>
            </a:p>
          </p:txBody>
        </p:sp>
      </p:grpSp>
      <p:grpSp>
        <p:nvGrpSpPr>
          <p:cNvPr id="40" name="Group 39"/>
          <p:cNvGrpSpPr/>
          <p:nvPr/>
        </p:nvGrpSpPr>
        <p:grpSpPr>
          <a:xfrm>
            <a:off x="5471596" y="1166942"/>
            <a:ext cx="1600200" cy="3383280"/>
            <a:chOff x="5471596" y="1166942"/>
            <a:chExt cx="1600200" cy="3383280"/>
          </a:xfrm>
        </p:grpSpPr>
        <p:sp>
          <p:nvSpPr>
            <p:cNvPr id="23" name="Shape 18"/>
            <p:cNvSpPr/>
            <p:nvPr/>
          </p:nvSpPr>
          <p:spPr>
            <a:xfrm>
              <a:off x="5471596" y="1166942"/>
              <a:ext cx="1600200" cy="338328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24" name="Shape 19"/>
            <p:cNvSpPr/>
            <p:nvPr/>
          </p:nvSpPr>
          <p:spPr>
            <a:xfrm>
              <a:off x="5471596" y="1166942"/>
              <a:ext cx="1600200" cy="502920"/>
            </a:xfrm>
            <a:prstGeom prst="rect">
              <a:avLst/>
            </a:prstGeom>
            <a:solidFill>
              <a:srgbClr val="FF6B6B"/>
            </a:solidFill>
            <a:ln w="12700">
              <a:solidFill>
                <a:srgbClr val="FF6B6B"/>
              </a:solidFill>
              <a:prstDash val="solid"/>
            </a:ln>
          </p:spPr>
        </p:sp>
        <p:sp>
          <p:nvSpPr>
            <p:cNvPr id="25" name="Text 20"/>
            <p:cNvSpPr/>
            <p:nvPr/>
          </p:nvSpPr>
          <p:spPr>
            <a:xfrm>
              <a:off x="5471596" y="1166942"/>
              <a:ext cx="1600200" cy="502920"/>
            </a:xfrm>
            <a:prstGeom prst="rect">
              <a:avLst/>
            </a:prstGeom>
            <a:noFill/>
            <a:ln/>
          </p:spPr>
          <p:txBody>
            <a:bodyPr wrap="square" rtlCol="0" anchor="ctr"/>
            <a:lstStyle/>
            <a:p>
              <a:pPr marL="0" indent="0" algn="ctr">
                <a:buNone/>
              </a:pPr>
              <a:r>
                <a:rPr lang="en-US" sz="1800" b="1" dirty="0">
                  <a:solidFill>
                    <a:srgbClr val="FFFFFF"/>
                  </a:solidFill>
                </a:rPr>
                <a:t>4</a:t>
              </a:r>
              <a:endParaRPr lang="en-US" sz="1800" dirty="0"/>
            </a:p>
          </p:txBody>
        </p:sp>
        <p:pic>
          <p:nvPicPr>
            <p:cNvPr id="26" name="Image 3" descr="preencoded.png"/>
            <p:cNvPicPr>
              <a:picLocks noChangeAspect="1"/>
            </p:cNvPicPr>
            <p:nvPr/>
          </p:nvPicPr>
          <p:blipFill>
            <a:blip r:embed="rId6"/>
            <a:stretch>
              <a:fillRect/>
            </a:stretch>
          </p:blipFill>
          <p:spPr>
            <a:xfrm>
              <a:off x="5997376" y="2033452"/>
              <a:ext cx="548640" cy="548640"/>
            </a:xfrm>
            <a:prstGeom prst="rect">
              <a:avLst/>
            </a:prstGeom>
          </p:spPr>
        </p:pic>
        <p:sp>
          <p:nvSpPr>
            <p:cNvPr id="27" name="Text 21"/>
            <p:cNvSpPr/>
            <p:nvPr/>
          </p:nvSpPr>
          <p:spPr>
            <a:xfrm>
              <a:off x="5517316" y="2627812"/>
              <a:ext cx="1508760" cy="347472"/>
            </a:xfrm>
            <a:prstGeom prst="rect">
              <a:avLst/>
            </a:prstGeom>
            <a:noFill/>
            <a:ln/>
          </p:spPr>
          <p:txBody>
            <a:bodyPr wrap="square" rtlCol="0" anchor="ctr"/>
            <a:lstStyle/>
            <a:p>
              <a:pPr marL="0" indent="0" algn="ctr">
                <a:buNone/>
              </a:pPr>
              <a:r>
                <a:rPr lang="en-US" sz="1300" b="1" dirty="0">
                  <a:solidFill>
                    <a:srgbClr val="1A2E44"/>
                  </a:solidFill>
                  <a:latin typeface="Trebuchet MS" pitchFamily="34" charset="0"/>
                  <a:ea typeface="Trebuchet MS" pitchFamily="34" charset="-122"/>
                  <a:cs typeface="Trebuchet MS" pitchFamily="34" charset="-120"/>
                </a:rPr>
                <a:t>Application</a:t>
              </a:r>
              <a:endParaRPr lang="en-US" sz="1300" dirty="0"/>
            </a:p>
          </p:txBody>
        </p:sp>
        <p:sp>
          <p:nvSpPr>
            <p:cNvPr id="28" name="Text 22"/>
            <p:cNvSpPr/>
            <p:nvPr/>
          </p:nvSpPr>
          <p:spPr>
            <a:xfrm>
              <a:off x="5535604" y="2748854"/>
              <a:ext cx="1481328" cy="169164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API security, container hardening, least-privilege at service level</a:t>
              </a:r>
              <a:endParaRPr lang="en-US" sz="1200" dirty="0"/>
            </a:p>
          </p:txBody>
        </p:sp>
      </p:grpSp>
      <p:grpSp>
        <p:nvGrpSpPr>
          <p:cNvPr id="41" name="Group 40"/>
          <p:cNvGrpSpPr/>
          <p:nvPr/>
        </p:nvGrpSpPr>
        <p:grpSpPr>
          <a:xfrm>
            <a:off x="7181524" y="1166942"/>
            <a:ext cx="1600200" cy="3383280"/>
            <a:chOff x="7181524" y="1166942"/>
            <a:chExt cx="1600200" cy="3383280"/>
          </a:xfrm>
        </p:grpSpPr>
        <p:sp>
          <p:nvSpPr>
            <p:cNvPr id="29" name="Shape 23"/>
            <p:cNvSpPr/>
            <p:nvPr/>
          </p:nvSpPr>
          <p:spPr>
            <a:xfrm>
              <a:off x="7181524" y="1166942"/>
              <a:ext cx="1600200" cy="338328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30" name="Shape 24"/>
            <p:cNvSpPr/>
            <p:nvPr/>
          </p:nvSpPr>
          <p:spPr>
            <a:xfrm>
              <a:off x="7181524" y="1166942"/>
              <a:ext cx="1600200" cy="502920"/>
            </a:xfrm>
            <a:prstGeom prst="rect">
              <a:avLst/>
            </a:prstGeom>
            <a:solidFill>
              <a:srgbClr val="FFC857"/>
            </a:solidFill>
            <a:ln w="12700">
              <a:solidFill>
                <a:srgbClr val="FFC857"/>
              </a:solidFill>
              <a:prstDash val="solid"/>
            </a:ln>
          </p:spPr>
        </p:sp>
        <p:sp>
          <p:nvSpPr>
            <p:cNvPr id="31" name="Text 25"/>
            <p:cNvSpPr/>
            <p:nvPr/>
          </p:nvSpPr>
          <p:spPr>
            <a:xfrm>
              <a:off x="7181524" y="1166942"/>
              <a:ext cx="1600200" cy="502920"/>
            </a:xfrm>
            <a:prstGeom prst="rect">
              <a:avLst/>
            </a:prstGeom>
            <a:noFill/>
            <a:ln/>
          </p:spPr>
          <p:txBody>
            <a:bodyPr wrap="square" rtlCol="0" anchor="ctr"/>
            <a:lstStyle/>
            <a:p>
              <a:pPr marL="0" indent="0" algn="ctr">
                <a:buNone/>
              </a:pPr>
              <a:r>
                <a:rPr lang="en-US" sz="1800" b="1" dirty="0">
                  <a:solidFill>
                    <a:srgbClr val="FFFFFF"/>
                  </a:solidFill>
                </a:rPr>
                <a:t>5</a:t>
              </a:r>
              <a:endParaRPr lang="en-US" sz="1800" dirty="0"/>
            </a:p>
          </p:txBody>
        </p:sp>
        <p:pic>
          <p:nvPicPr>
            <p:cNvPr id="32" name="Image 4" descr="preencoded.png"/>
            <p:cNvPicPr>
              <a:picLocks noChangeAspect="1"/>
            </p:cNvPicPr>
            <p:nvPr/>
          </p:nvPicPr>
          <p:blipFill>
            <a:blip r:embed="rId7"/>
            <a:stretch>
              <a:fillRect/>
            </a:stretch>
          </p:blipFill>
          <p:spPr>
            <a:xfrm>
              <a:off x="7707304" y="2033452"/>
              <a:ext cx="548640" cy="548640"/>
            </a:xfrm>
            <a:prstGeom prst="rect">
              <a:avLst/>
            </a:prstGeom>
          </p:spPr>
        </p:pic>
        <p:sp>
          <p:nvSpPr>
            <p:cNvPr id="33" name="Text 26"/>
            <p:cNvSpPr/>
            <p:nvPr/>
          </p:nvSpPr>
          <p:spPr>
            <a:xfrm>
              <a:off x="7227244" y="2627812"/>
              <a:ext cx="1508760" cy="347472"/>
            </a:xfrm>
            <a:prstGeom prst="rect">
              <a:avLst/>
            </a:prstGeom>
            <a:noFill/>
            <a:ln/>
          </p:spPr>
          <p:txBody>
            <a:bodyPr wrap="square" rtlCol="0" anchor="ctr"/>
            <a:lstStyle/>
            <a:p>
              <a:pPr marL="0" indent="0" algn="ctr">
                <a:buNone/>
              </a:pPr>
              <a:r>
                <a:rPr lang="en-US" sz="1300" b="1" dirty="0">
                  <a:solidFill>
                    <a:srgbClr val="1A2E44"/>
                  </a:solidFill>
                  <a:latin typeface="Trebuchet MS" pitchFamily="34" charset="0"/>
                  <a:ea typeface="Trebuchet MS" pitchFamily="34" charset="-122"/>
                  <a:cs typeface="Trebuchet MS" pitchFamily="34" charset="-120"/>
                </a:rPr>
                <a:t>Data</a:t>
              </a:r>
              <a:endParaRPr lang="en-US" sz="1300" dirty="0"/>
            </a:p>
          </p:txBody>
        </p:sp>
        <p:sp>
          <p:nvSpPr>
            <p:cNvPr id="34" name="Text 27"/>
            <p:cNvSpPr/>
            <p:nvPr/>
          </p:nvSpPr>
          <p:spPr>
            <a:xfrm>
              <a:off x="7245532" y="2748854"/>
              <a:ext cx="1481328" cy="1691640"/>
            </a:xfrm>
            <a:prstGeom prst="rect">
              <a:avLst/>
            </a:prstGeom>
            <a:noFill/>
            <a:ln/>
          </p:spPr>
          <p:txBody>
            <a:bodyPr wrap="square" rtlCol="0" anchor="ctr"/>
            <a:lstStyle/>
            <a:p>
              <a:pPr marL="0" indent="0" algn="ctr">
                <a:buNone/>
              </a:pPr>
              <a:r>
                <a:rPr lang="en-US" sz="1200" dirty="0">
                  <a:solidFill>
                    <a:srgbClr val="5E7A96"/>
                  </a:solidFill>
                  <a:latin typeface="Calibri" pitchFamily="34" charset="0"/>
                  <a:ea typeface="Calibri" pitchFamily="34" charset="-122"/>
                  <a:cs typeface="Calibri" pitchFamily="34" charset="-120"/>
                </a:rPr>
                <a:t>Classification, encryption, DLP — protect what matters most</a:t>
              </a:r>
              <a:endParaRPr lang="en-US" sz="1200" dirty="0"/>
            </a:p>
          </p:txBody>
        </p:sp>
      </p:grpSp>
      <p:grpSp>
        <p:nvGrpSpPr>
          <p:cNvPr id="42" name="Group 41"/>
          <p:cNvGrpSpPr/>
          <p:nvPr/>
        </p:nvGrpSpPr>
        <p:grpSpPr>
          <a:xfrm>
            <a:off x="320040" y="4849804"/>
            <a:ext cx="8503920" cy="182880"/>
            <a:chOff x="320040" y="4849804"/>
            <a:chExt cx="8503920" cy="182880"/>
          </a:xfrm>
        </p:grpSpPr>
        <p:sp>
          <p:nvSpPr>
            <p:cNvPr id="35" name="Shape 28"/>
            <p:cNvSpPr/>
            <p:nvPr/>
          </p:nvSpPr>
          <p:spPr>
            <a:xfrm>
              <a:off x="320040" y="4849804"/>
              <a:ext cx="8503920" cy="182880"/>
            </a:xfrm>
            <a:prstGeom prst="rect">
              <a:avLst/>
            </a:prstGeom>
            <a:solidFill>
              <a:srgbClr val="0D1B2A"/>
            </a:solidFill>
            <a:ln w="12700">
              <a:solidFill>
                <a:srgbClr val="0D1B2A"/>
              </a:solidFill>
              <a:prstDash val="solid"/>
            </a:ln>
          </p:spPr>
        </p:sp>
        <p:sp>
          <p:nvSpPr>
            <p:cNvPr id="36" name="Text 29"/>
            <p:cNvSpPr/>
            <p:nvPr/>
          </p:nvSpPr>
          <p:spPr>
            <a:xfrm>
              <a:off x="411480" y="4858948"/>
              <a:ext cx="8321040" cy="164592"/>
            </a:xfrm>
            <a:prstGeom prst="rect">
              <a:avLst/>
            </a:prstGeom>
            <a:noFill/>
            <a:ln/>
          </p:spPr>
          <p:txBody>
            <a:bodyPr wrap="square" rtlCol="0" anchor="ctr"/>
            <a:lstStyle/>
            <a:p>
              <a:pPr marL="0" indent="0" algn="ctr">
                <a:buNone/>
              </a:pPr>
              <a:r>
                <a:rPr lang="en-US" sz="1000" dirty="0">
                  <a:solidFill>
                    <a:srgbClr val="FFFFFF"/>
                  </a:solidFill>
                </a:rPr>
                <a:t>Cross-cutting functions: Visibility &amp; Analytics  •  Automation &amp; Orchestration  •  Governance</a:t>
              </a:r>
              <a:endParaRPr lang="en-US" sz="1000" dirty="0"/>
            </a:p>
          </p:txBody>
        </p:sp>
      </p:grpSp>
      <p:sp>
        <p:nvSpPr>
          <p:cNvPr id="44" name="Shape 0">
            <a:extLst>
              <a:ext uri="{FF2B5EF4-FFF2-40B4-BE49-F238E27FC236}">
                <a16:creationId xmlns:a16="http://schemas.microsoft.com/office/drawing/2014/main" id="{40FB7AE4-431C-4A72-9AAE-2EB5C54C6C20}"/>
              </a:ext>
            </a:extLst>
          </p:cNvPr>
          <p:cNvSpPr/>
          <p:nvPr/>
        </p:nvSpPr>
        <p:spPr>
          <a:xfrm>
            <a:off x="8915400" y="4593772"/>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228600" y="259951"/>
            <a:ext cx="64008" cy="438912"/>
          </a:xfrm>
          <a:prstGeom prst="rect">
            <a:avLst/>
          </a:prstGeom>
          <a:solidFill>
            <a:srgbClr val="00B4D8"/>
          </a:solidFill>
          <a:ln w="12700">
            <a:solidFill>
              <a:srgbClr val="00B4D8"/>
            </a:solidFill>
            <a:prstDash val="solid"/>
          </a:ln>
        </p:spPr>
      </p:sp>
      <p:sp>
        <p:nvSpPr>
          <p:cNvPr id="3" name="Text 1"/>
          <p:cNvSpPr/>
          <p:nvPr/>
        </p:nvSpPr>
        <p:spPr>
          <a:xfrm>
            <a:off x="365760" y="195943"/>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Pillars Deep Dive: Identity &amp; Device</a:t>
            </a:r>
            <a:endParaRPr lang="en-US" sz="2600" dirty="0"/>
          </a:p>
        </p:txBody>
      </p:sp>
      <p:sp>
        <p:nvSpPr>
          <p:cNvPr id="4" name="Text 2"/>
          <p:cNvSpPr/>
          <p:nvPr/>
        </p:nvSpPr>
        <p:spPr>
          <a:xfrm>
            <a:off x="365760" y="617656"/>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The two most user-facing security domains</a:t>
            </a:r>
            <a:endParaRPr lang="en-US" sz="1300" dirty="0"/>
          </a:p>
        </p:txBody>
      </p:sp>
      <p:grpSp>
        <p:nvGrpSpPr>
          <p:cNvPr id="15" name="Group 14"/>
          <p:cNvGrpSpPr/>
          <p:nvPr/>
        </p:nvGrpSpPr>
        <p:grpSpPr>
          <a:xfrm>
            <a:off x="365760" y="1221374"/>
            <a:ext cx="3977640" cy="3520440"/>
            <a:chOff x="365760" y="1417320"/>
            <a:chExt cx="3977640" cy="3520440"/>
          </a:xfrm>
        </p:grpSpPr>
        <p:sp>
          <p:nvSpPr>
            <p:cNvPr id="5" name="Shape 3"/>
            <p:cNvSpPr/>
            <p:nvPr/>
          </p:nvSpPr>
          <p:spPr>
            <a:xfrm>
              <a:off x="365760" y="1417320"/>
              <a:ext cx="3977640" cy="352044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6" name="Image 0" descr="preencoded.png"/>
            <p:cNvPicPr>
              <a:picLocks noChangeAspect="1"/>
            </p:cNvPicPr>
            <p:nvPr/>
          </p:nvPicPr>
          <p:blipFill>
            <a:blip r:embed="rId3"/>
            <a:stretch>
              <a:fillRect/>
            </a:stretch>
          </p:blipFill>
          <p:spPr>
            <a:xfrm>
              <a:off x="502920" y="1508760"/>
              <a:ext cx="548640" cy="548640"/>
            </a:xfrm>
            <a:prstGeom prst="rect">
              <a:avLst/>
            </a:prstGeom>
          </p:spPr>
        </p:pic>
        <p:sp>
          <p:nvSpPr>
            <p:cNvPr id="7" name="Text 4"/>
            <p:cNvSpPr/>
            <p:nvPr/>
          </p:nvSpPr>
          <p:spPr>
            <a:xfrm>
              <a:off x="1115568" y="1554480"/>
              <a:ext cx="3108960" cy="502920"/>
            </a:xfrm>
            <a:prstGeom prst="rect">
              <a:avLst/>
            </a:prstGeom>
            <a:noFill/>
            <a:ln/>
          </p:spPr>
          <p:txBody>
            <a:bodyPr wrap="square" lIns="0" tIns="0" rIns="0" bIns="0" rtlCol="0" anchor="ctr"/>
            <a:lstStyle/>
            <a:p>
              <a:pPr marL="0" indent="0">
                <a:buNone/>
              </a:pPr>
              <a:r>
                <a:rPr lang="en-US" sz="1500" b="1" dirty="0">
                  <a:solidFill>
                    <a:srgbClr val="5E60CE"/>
                  </a:solidFill>
                  <a:latin typeface="Trebuchet MS" pitchFamily="34" charset="0"/>
                  <a:ea typeface="Trebuchet MS" pitchFamily="34" charset="-122"/>
                  <a:cs typeface="Trebuchet MS" pitchFamily="34" charset="-120"/>
                </a:rPr>
                <a:t>Pillar 1 — Identity</a:t>
              </a:r>
              <a:endParaRPr lang="en-US" sz="1500" dirty="0"/>
            </a:p>
          </p:txBody>
        </p:sp>
        <p:sp>
          <p:nvSpPr>
            <p:cNvPr id="8" name="Shape 5"/>
            <p:cNvSpPr/>
            <p:nvPr/>
          </p:nvSpPr>
          <p:spPr>
            <a:xfrm>
              <a:off x="365760" y="2084832"/>
              <a:ext cx="3977640" cy="27432"/>
            </a:xfrm>
            <a:prstGeom prst="rect">
              <a:avLst/>
            </a:prstGeom>
            <a:solidFill>
              <a:srgbClr val="5E60CE"/>
            </a:solidFill>
            <a:ln w="12700">
              <a:solidFill>
                <a:srgbClr val="5E60CE"/>
              </a:solidFill>
              <a:prstDash val="solid"/>
            </a:ln>
          </p:spPr>
        </p:sp>
        <p:sp>
          <p:nvSpPr>
            <p:cNvPr id="9" name="Text 6"/>
            <p:cNvSpPr/>
            <p:nvPr/>
          </p:nvSpPr>
          <p:spPr>
            <a:xfrm>
              <a:off x="502920" y="2176272"/>
              <a:ext cx="3703320" cy="2651760"/>
            </a:xfrm>
            <a:prstGeom prst="rect">
              <a:avLst/>
            </a:prstGeom>
            <a:noFill/>
            <a:ln/>
          </p:spPr>
          <p:txBody>
            <a:bodyPr wrap="square" rtlCol="0" anchor="ctr"/>
            <a:lstStyle/>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Identity is the new perimeter — the most critical control plane</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Multi-Factor Authentication (MFA) is a mandatory baseline</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Identity Governance &amp; Administration (IGA) ensures least-privilege access</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Continuous authentication monitors behavioural signals mid-session</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Compromised accounts detected even after initial login</a:t>
              </a:r>
              <a:endParaRPr lang="en-US" sz="1200" dirty="0"/>
            </a:p>
          </p:txBody>
        </p:sp>
      </p:grpSp>
      <p:grpSp>
        <p:nvGrpSpPr>
          <p:cNvPr id="17" name="Group 16"/>
          <p:cNvGrpSpPr/>
          <p:nvPr/>
        </p:nvGrpSpPr>
        <p:grpSpPr>
          <a:xfrm>
            <a:off x="4663440" y="1221374"/>
            <a:ext cx="4069080" cy="3520440"/>
            <a:chOff x="4663440" y="1417320"/>
            <a:chExt cx="4069080" cy="3520440"/>
          </a:xfrm>
        </p:grpSpPr>
        <p:sp>
          <p:nvSpPr>
            <p:cNvPr id="10" name="Shape 7"/>
            <p:cNvSpPr/>
            <p:nvPr/>
          </p:nvSpPr>
          <p:spPr>
            <a:xfrm>
              <a:off x="4663440" y="1417320"/>
              <a:ext cx="4069080" cy="352044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4800600" y="1508760"/>
              <a:ext cx="548640" cy="548640"/>
            </a:xfrm>
            <a:prstGeom prst="rect">
              <a:avLst/>
            </a:prstGeom>
          </p:spPr>
        </p:pic>
        <p:sp>
          <p:nvSpPr>
            <p:cNvPr id="12" name="Text 8"/>
            <p:cNvSpPr/>
            <p:nvPr/>
          </p:nvSpPr>
          <p:spPr>
            <a:xfrm>
              <a:off x="5413248" y="1554480"/>
              <a:ext cx="3200400" cy="502920"/>
            </a:xfrm>
            <a:prstGeom prst="rect">
              <a:avLst/>
            </a:prstGeom>
            <a:noFill/>
            <a:ln/>
          </p:spPr>
          <p:txBody>
            <a:bodyPr wrap="square" lIns="0" tIns="0" rIns="0" bIns="0" rtlCol="0" anchor="ctr"/>
            <a:lstStyle/>
            <a:p>
              <a:pPr marL="0" indent="0">
                <a:buNone/>
              </a:pPr>
              <a:r>
                <a:rPr lang="en-US" sz="1500" b="1" dirty="0">
                  <a:solidFill>
                    <a:srgbClr val="00B4D8"/>
                  </a:solidFill>
                  <a:latin typeface="Trebuchet MS" pitchFamily="34" charset="0"/>
                  <a:ea typeface="Trebuchet MS" pitchFamily="34" charset="-122"/>
                  <a:cs typeface="Trebuchet MS" pitchFamily="34" charset="-120"/>
                </a:rPr>
                <a:t>Pillar 2 — Device</a:t>
              </a:r>
              <a:endParaRPr lang="en-US" sz="1500" dirty="0"/>
            </a:p>
          </p:txBody>
        </p:sp>
        <p:sp>
          <p:nvSpPr>
            <p:cNvPr id="13" name="Shape 9"/>
            <p:cNvSpPr/>
            <p:nvPr/>
          </p:nvSpPr>
          <p:spPr>
            <a:xfrm>
              <a:off x="4663440" y="2084832"/>
              <a:ext cx="4069080" cy="27432"/>
            </a:xfrm>
            <a:prstGeom prst="rect">
              <a:avLst/>
            </a:prstGeom>
            <a:solidFill>
              <a:srgbClr val="00B4D8"/>
            </a:solidFill>
            <a:ln w="12700">
              <a:solidFill>
                <a:srgbClr val="00B4D8"/>
              </a:solidFill>
              <a:prstDash val="solid"/>
            </a:ln>
          </p:spPr>
        </p:sp>
        <p:sp>
          <p:nvSpPr>
            <p:cNvPr id="14" name="Text 10"/>
            <p:cNvSpPr/>
            <p:nvPr/>
          </p:nvSpPr>
          <p:spPr>
            <a:xfrm>
              <a:off x="4800600" y="2176272"/>
              <a:ext cx="3794760" cy="2651760"/>
            </a:xfrm>
            <a:prstGeom prst="rect">
              <a:avLst/>
            </a:prstGeom>
            <a:noFill/>
            <a:ln/>
          </p:spPr>
          <p:txBody>
            <a:bodyPr wrap="square" rtlCol="0" anchor="ctr"/>
            <a:lstStyle/>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Device health is evaluated alongside user identity</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Unmanaged or unpatched devices represent elevated risk</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Endpoint Detection &amp; Response (EDR) continuously monitors for compromise</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Mobile Device Management (MDM) maintains visibility over personal devices</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A clean user identity on a compromised device is still a threat</a:t>
              </a:r>
              <a:endParaRPr lang="en-US" sz="1200" dirty="0"/>
            </a:p>
          </p:txBody>
        </p:sp>
      </p:grpSp>
      <p:sp>
        <p:nvSpPr>
          <p:cNvPr id="19" name="Shape 0">
            <a:extLst>
              <a:ext uri="{FF2B5EF4-FFF2-40B4-BE49-F238E27FC236}">
                <a16:creationId xmlns:a16="http://schemas.microsoft.com/office/drawing/2014/main" id="{C0EA9F62-2CC6-4C1E-A0DC-A1E13F6F9D88}"/>
              </a:ext>
            </a:extLst>
          </p:cNvPr>
          <p:cNvSpPr/>
          <p:nvPr/>
        </p:nvSpPr>
        <p:spPr>
          <a:xfrm>
            <a:off x="4471416" y="4193174"/>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182880" y="205740"/>
            <a:ext cx="64008" cy="438912"/>
          </a:xfrm>
          <a:prstGeom prst="rect">
            <a:avLst/>
          </a:prstGeom>
          <a:solidFill>
            <a:srgbClr val="00B4D8"/>
          </a:solidFill>
          <a:ln w="12700">
            <a:solidFill>
              <a:srgbClr val="00B4D8"/>
            </a:solidFill>
            <a:prstDash val="solid"/>
          </a:ln>
        </p:spPr>
      </p:sp>
      <p:sp>
        <p:nvSpPr>
          <p:cNvPr id="3" name="Text 1"/>
          <p:cNvSpPr/>
          <p:nvPr/>
        </p:nvSpPr>
        <p:spPr>
          <a:xfrm>
            <a:off x="320040" y="141732"/>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Pillars Deep Dive: Network, Application &amp; Data</a:t>
            </a:r>
            <a:endParaRPr lang="en-US" sz="2600" dirty="0"/>
          </a:p>
        </p:txBody>
      </p:sp>
      <p:sp>
        <p:nvSpPr>
          <p:cNvPr id="4" name="Text 2"/>
          <p:cNvSpPr/>
          <p:nvPr/>
        </p:nvSpPr>
        <p:spPr>
          <a:xfrm>
            <a:off x="320040" y="644652"/>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Infrastructure, workload, and data-centric security</a:t>
            </a:r>
            <a:endParaRPr lang="en-US" sz="1300" dirty="0"/>
          </a:p>
        </p:txBody>
      </p:sp>
      <p:grpSp>
        <p:nvGrpSpPr>
          <p:cNvPr id="23" name="Group 22"/>
          <p:cNvGrpSpPr/>
          <p:nvPr/>
        </p:nvGrpSpPr>
        <p:grpSpPr>
          <a:xfrm>
            <a:off x="276496" y="1219196"/>
            <a:ext cx="2743200" cy="3566160"/>
            <a:chOff x="320040" y="1371600"/>
            <a:chExt cx="2743200" cy="3566160"/>
          </a:xfrm>
        </p:grpSpPr>
        <p:sp>
          <p:nvSpPr>
            <p:cNvPr id="5" name="Shape 3"/>
            <p:cNvSpPr/>
            <p:nvPr/>
          </p:nvSpPr>
          <p:spPr>
            <a:xfrm>
              <a:off x="320040" y="1371600"/>
              <a:ext cx="2743200" cy="35661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6" name="Shape 4"/>
            <p:cNvSpPr/>
            <p:nvPr/>
          </p:nvSpPr>
          <p:spPr>
            <a:xfrm>
              <a:off x="320040" y="1371600"/>
              <a:ext cx="2743200" cy="438912"/>
            </a:xfrm>
            <a:prstGeom prst="rect">
              <a:avLst/>
            </a:prstGeom>
            <a:solidFill>
              <a:srgbClr val="00B074"/>
            </a:solidFill>
            <a:ln w="12700">
              <a:solidFill>
                <a:srgbClr val="00B074"/>
              </a:solidFill>
              <a:prstDash val="solid"/>
            </a:ln>
          </p:spPr>
        </p:sp>
        <p:pic>
          <p:nvPicPr>
            <p:cNvPr id="7" name="Image 0" descr="preencoded.png"/>
            <p:cNvPicPr>
              <a:picLocks noChangeAspect="1"/>
            </p:cNvPicPr>
            <p:nvPr/>
          </p:nvPicPr>
          <p:blipFill>
            <a:blip r:embed="rId3"/>
            <a:stretch>
              <a:fillRect/>
            </a:stretch>
          </p:blipFill>
          <p:spPr>
            <a:xfrm>
              <a:off x="429768" y="1417320"/>
              <a:ext cx="347472" cy="347472"/>
            </a:xfrm>
            <a:prstGeom prst="rect">
              <a:avLst/>
            </a:prstGeom>
          </p:spPr>
        </p:pic>
        <p:sp>
          <p:nvSpPr>
            <p:cNvPr id="8" name="Text 5"/>
            <p:cNvSpPr/>
            <p:nvPr/>
          </p:nvSpPr>
          <p:spPr>
            <a:xfrm>
              <a:off x="841248" y="1417320"/>
              <a:ext cx="214884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Pillar 3 — Network</a:t>
              </a:r>
              <a:endParaRPr lang="en-US" sz="1200" dirty="0"/>
            </a:p>
          </p:txBody>
        </p:sp>
        <p:sp>
          <p:nvSpPr>
            <p:cNvPr id="9" name="Text 6"/>
            <p:cNvSpPr/>
            <p:nvPr/>
          </p:nvSpPr>
          <p:spPr>
            <a:xfrm>
              <a:off x="411480" y="1892808"/>
              <a:ext cx="2560320" cy="2926080"/>
            </a:xfrm>
            <a:prstGeom prst="rect">
              <a:avLst/>
            </a:prstGeom>
            <a:noFill/>
            <a:ln/>
          </p:spPr>
          <p:txBody>
            <a:bodyPr wrap="square" rtlCol="0" anchor="ctr"/>
            <a:lstStyle/>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Replace flat networks with micro-segmentation</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SDN &amp; VLANs create isolated network zones</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Lateral movement contained — breach blast radius minimized</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East-west traffic inspected, not just north-south</a:t>
              </a:r>
              <a:endParaRPr lang="en-US" sz="1150" dirty="0"/>
            </a:p>
          </p:txBody>
        </p:sp>
      </p:grpSp>
      <p:grpSp>
        <p:nvGrpSpPr>
          <p:cNvPr id="22" name="Group 21"/>
          <p:cNvGrpSpPr/>
          <p:nvPr/>
        </p:nvGrpSpPr>
        <p:grpSpPr>
          <a:xfrm>
            <a:off x="3202576" y="1219196"/>
            <a:ext cx="2743200" cy="3566160"/>
            <a:chOff x="3246120" y="1371600"/>
            <a:chExt cx="2743200" cy="3566160"/>
          </a:xfrm>
        </p:grpSpPr>
        <p:sp>
          <p:nvSpPr>
            <p:cNvPr id="10" name="Shape 7"/>
            <p:cNvSpPr/>
            <p:nvPr/>
          </p:nvSpPr>
          <p:spPr>
            <a:xfrm>
              <a:off x="3246120" y="1371600"/>
              <a:ext cx="2743200" cy="35661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1" name="Shape 8"/>
            <p:cNvSpPr/>
            <p:nvPr/>
          </p:nvSpPr>
          <p:spPr>
            <a:xfrm>
              <a:off x="3246120" y="1371600"/>
              <a:ext cx="2743200" cy="438912"/>
            </a:xfrm>
            <a:prstGeom prst="rect">
              <a:avLst/>
            </a:prstGeom>
            <a:solidFill>
              <a:srgbClr val="FF6B6B"/>
            </a:solidFill>
            <a:ln w="12700">
              <a:solidFill>
                <a:srgbClr val="FF6B6B"/>
              </a:solidFill>
              <a:prstDash val="solid"/>
            </a:ln>
          </p:spPr>
        </p:sp>
        <p:pic>
          <p:nvPicPr>
            <p:cNvPr id="12" name="Image 1" descr="preencoded.png"/>
            <p:cNvPicPr>
              <a:picLocks noChangeAspect="1"/>
            </p:cNvPicPr>
            <p:nvPr/>
          </p:nvPicPr>
          <p:blipFill>
            <a:blip r:embed="rId4"/>
            <a:stretch>
              <a:fillRect/>
            </a:stretch>
          </p:blipFill>
          <p:spPr>
            <a:xfrm>
              <a:off x="3355848" y="1417320"/>
              <a:ext cx="347472" cy="347472"/>
            </a:xfrm>
            <a:prstGeom prst="rect">
              <a:avLst/>
            </a:prstGeom>
          </p:spPr>
        </p:pic>
        <p:sp>
          <p:nvSpPr>
            <p:cNvPr id="13" name="Text 9"/>
            <p:cNvSpPr/>
            <p:nvPr/>
          </p:nvSpPr>
          <p:spPr>
            <a:xfrm>
              <a:off x="3767328" y="1417320"/>
              <a:ext cx="214884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Pillar 4 — Application</a:t>
              </a:r>
              <a:endParaRPr lang="en-US" sz="1200" dirty="0"/>
            </a:p>
          </p:txBody>
        </p:sp>
        <p:sp>
          <p:nvSpPr>
            <p:cNvPr id="14" name="Text 10"/>
            <p:cNvSpPr/>
            <p:nvPr/>
          </p:nvSpPr>
          <p:spPr>
            <a:xfrm>
              <a:off x="3337560" y="1892808"/>
              <a:ext cx="2560320" cy="2926080"/>
            </a:xfrm>
            <a:prstGeom prst="rect">
              <a:avLst/>
            </a:prstGeom>
            <a:noFill/>
            <a:ln/>
          </p:spPr>
          <p:txBody>
            <a:bodyPr wrap="square" rtlCol="0" anchor="ctr"/>
            <a:lstStyle/>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Security woven into applications — not bolted on</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API security and container hardening for cloud-native apps</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Least-privilege enforced at the service level</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Workloads verified before accessing any resource</a:t>
              </a:r>
              <a:endParaRPr lang="en-US" sz="1150" dirty="0"/>
            </a:p>
          </p:txBody>
        </p:sp>
      </p:grpSp>
      <p:grpSp>
        <p:nvGrpSpPr>
          <p:cNvPr id="21" name="Group 20"/>
          <p:cNvGrpSpPr/>
          <p:nvPr/>
        </p:nvGrpSpPr>
        <p:grpSpPr>
          <a:xfrm>
            <a:off x="6128656" y="1219196"/>
            <a:ext cx="2743200" cy="3566160"/>
            <a:chOff x="6172200" y="1371600"/>
            <a:chExt cx="2743200" cy="3566160"/>
          </a:xfrm>
        </p:grpSpPr>
        <p:sp>
          <p:nvSpPr>
            <p:cNvPr id="15" name="Shape 11"/>
            <p:cNvSpPr/>
            <p:nvPr/>
          </p:nvSpPr>
          <p:spPr>
            <a:xfrm>
              <a:off x="6172200" y="1371600"/>
              <a:ext cx="2743200" cy="356616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6" name="Shape 12"/>
            <p:cNvSpPr/>
            <p:nvPr/>
          </p:nvSpPr>
          <p:spPr>
            <a:xfrm>
              <a:off x="6172200" y="1371600"/>
              <a:ext cx="2743200" cy="438912"/>
            </a:xfrm>
            <a:prstGeom prst="rect">
              <a:avLst/>
            </a:prstGeom>
            <a:solidFill>
              <a:srgbClr val="FFC857"/>
            </a:solidFill>
            <a:ln w="12700">
              <a:solidFill>
                <a:srgbClr val="FFC857"/>
              </a:solidFill>
              <a:prstDash val="solid"/>
            </a:ln>
          </p:spPr>
        </p:sp>
        <p:pic>
          <p:nvPicPr>
            <p:cNvPr id="17" name="Image 2" descr="preencoded.png"/>
            <p:cNvPicPr>
              <a:picLocks noChangeAspect="1"/>
            </p:cNvPicPr>
            <p:nvPr/>
          </p:nvPicPr>
          <p:blipFill>
            <a:blip r:embed="rId5"/>
            <a:stretch>
              <a:fillRect/>
            </a:stretch>
          </p:blipFill>
          <p:spPr>
            <a:xfrm>
              <a:off x="6281928" y="1417320"/>
              <a:ext cx="347472" cy="347472"/>
            </a:xfrm>
            <a:prstGeom prst="rect">
              <a:avLst/>
            </a:prstGeom>
          </p:spPr>
        </p:pic>
        <p:sp>
          <p:nvSpPr>
            <p:cNvPr id="18" name="Text 13"/>
            <p:cNvSpPr/>
            <p:nvPr/>
          </p:nvSpPr>
          <p:spPr>
            <a:xfrm>
              <a:off x="6693408" y="1417320"/>
              <a:ext cx="214884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Pillar 5 — Data</a:t>
              </a:r>
              <a:endParaRPr lang="en-US" sz="1200" dirty="0"/>
            </a:p>
          </p:txBody>
        </p:sp>
        <p:sp>
          <p:nvSpPr>
            <p:cNvPr id="19" name="Text 14"/>
            <p:cNvSpPr/>
            <p:nvPr/>
          </p:nvSpPr>
          <p:spPr>
            <a:xfrm>
              <a:off x="6263640" y="1892808"/>
              <a:ext cx="2560320" cy="2926080"/>
            </a:xfrm>
            <a:prstGeom prst="rect">
              <a:avLst/>
            </a:prstGeom>
            <a:noFill/>
            <a:ln/>
          </p:spPr>
          <p:txBody>
            <a:bodyPr wrap="square" rtlCol="0" anchor="ctr"/>
            <a:lstStyle/>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Data is the ultimate asset ZTA exists to protect</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Classify data by sensitivity and apply controls accordingly</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Encrypt at rest and in transit — always</a:t>
              </a:r>
              <a:endParaRPr lang="en-US" sz="1150" dirty="0"/>
            </a:p>
            <a:p>
              <a:pPr marL="342900" indent="-342900">
                <a:buSzPct val="100000"/>
                <a:buChar char="•"/>
              </a:pPr>
              <a:r>
                <a:rPr lang="en-US" sz="1150" dirty="0">
                  <a:solidFill>
                    <a:srgbClr val="1A2E44"/>
                  </a:solidFill>
                  <a:latin typeface="Calibri" pitchFamily="34" charset="0"/>
                  <a:ea typeface="Calibri" pitchFamily="34" charset="-122"/>
                  <a:cs typeface="Calibri" pitchFamily="34" charset="-120"/>
                </a:rPr>
                <a:t>DLP tools monitor for unauthorized access and exfiltration</a:t>
              </a:r>
              <a:endParaRPr lang="en-US" sz="1150" dirty="0"/>
            </a:p>
          </p:txBody>
        </p:sp>
      </p:grpSp>
      <p:sp>
        <p:nvSpPr>
          <p:cNvPr id="24" name="Shape 0">
            <a:extLst>
              <a:ext uri="{FF2B5EF4-FFF2-40B4-BE49-F238E27FC236}">
                <a16:creationId xmlns:a16="http://schemas.microsoft.com/office/drawing/2014/main" id="{E7A33978-44FF-45FD-B2E8-2277EC186B4E}"/>
              </a:ext>
            </a:extLst>
          </p:cNvPr>
          <p:cNvSpPr/>
          <p:nvPr/>
        </p:nvSpPr>
        <p:spPr>
          <a:xfrm>
            <a:off x="8798704" y="1219196"/>
            <a:ext cx="64008" cy="438912"/>
          </a:xfrm>
          <a:prstGeom prst="rect">
            <a:avLst/>
          </a:prstGeom>
          <a:solidFill>
            <a:srgbClr val="FFC857"/>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2994660" cy="274320"/>
          </a:xfrm>
          <a:prstGeom prst="roundRect">
            <a:avLst>
              <a:gd name="adj" fmla="val 20000"/>
            </a:avLst>
          </a:prstGeom>
          <a:solidFill>
            <a:srgbClr val="00B4D8">
              <a:alpha val="80000"/>
            </a:srgbClr>
          </a:solidFill>
          <a:ln w="12700">
            <a:solidFill>
              <a:srgbClr val="00B4D8"/>
            </a:solidFill>
            <a:prstDash val="solid"/>
          </a:ln>
        </p:spPr>
      </p:sp>
      <p:sp>
        <p:nvSpPr>
          <p:cNvPr id="3" name="Text 1"/>
          <p:cNvSpPr/>
          <p:nvPr/>
        </p:nvSpPr>
        <p:spPr>
          <a:xfrm>
            <a:off x="502920" y="265176"/>
            <a:ext cx="2903220" cy="256032"/>
          </a:xfrm>
          <a:prstGeom prst="rect">
            <a:avLst/>
          </a:prstGeom>
          <a:noFill/>
          <a:ln/>
        </p:spPr>
        <p:txBody>
          <a:bodyPr wrap="square" rtlCol="0" anchor="ctr"/>
          <a:lstStyle/>
          <a:p>
            <a:pPr marL="0" indent="0">
              <a:buNone/>
            </a:pPr>
            <a:r>
              <a:rPr lang="en-US" sz="900" b="1" kern="0" spc="200" dirty="0">
                <a:solidFill>
                  <a:srgbClr val="FFFFFF"/>
                </a:solidFill>
              </a:rPr>
              <a:t>IMPLEMENTATION CHALLENGES</a:t>
            </a:r>
            <a:endParaRPr lang="en-US" sz="900" dirty="0"/>
          </a:p>
        </p:txBody>
      </p:sp>
      <p:sp>
        <p:nvSpPr>
          <p:cNvPr id="4" name="Text 2"/>
          <p:cNvSpPr/>
          <p:nvPr/>
        </p:nvSpPr>
        <p:spPr>
          <a:xfrm>
            <a:off x="457200" y="640080"/>
            <a:ext cx="8229600" cy="54864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Real-World Barriers to ZTA Adoption</a:t>
            </a:r>
            <a:endParaRPr lang="en-US" sz="2600" dirty="0"/>
          </a:p>
        </p:txBody>
      </p:sp>
      <p:sp>
        <p:nvSpPr>
          <p:cNvPr id="5" name="Shape 3"/>
          <p:cNvSpPr/>
          <p:nvPr/>
        </p:nvSpPr>
        <p:spPr>
          <a:xfrm>
            <a:off x="411480" y="1417320"/>
            <a:ext cx="8321040" cy="1078992"/>
          </a:xfrm>
          <a:prstGeom prst="rect">
            <a:avLst/>
          </a:prstGeom>
          <a:solidFill>
            <a:srgbClr val="0A1628"/>
          </a:solidFill>
          <a:ln w="12700">
            <a:solidFill>
              <a:srgbClr val="FF6B6B"/>
            </a:solidFill>
            <a:prstDash val="solid"/>
          </a:ln>
        </p:spPr>
      </p:sp>
      <p:sp>
        <p:nvSpPr>
          <p:cNvPr id="6" name="Shape 4"/>
          <p:cNvSpPr/>
          <p:nvPr/>
        </p:nvSpPr>
        <p:spPr>
          <a:xfrm>
            <a:off x="411480" y="1417320"/>
            <a:ext cx="54864" cy="1078992"/>
          </a:xfrm>
          <a:prstGeom prst="rect">
            <a:avLst/>
          </a:prstGeom>
          <a:solidFill>
            <a:srgbClr val="FF6B6B"/>
          </a:solidFill>
          <a:ln w="12700">
            <a:solidFill>
              <a:srgbClr val="FF6B6B"/>
            </a:solidFill>
            <a:prstDash val="solid"/>
          </a:ln>
        </p:spPr>
      </p:sp>
      <p:pic>
        <p:nvPicPr>
          <p:cNvPr id="7" name="Image 0" descr="preencoded.png"/>
          <p:cNvPicPr>
            <a:picLocks noChangeAspect="1"/>
          </p:cNvPicPr>
          <p:nvPr/>
        </p:nvPicPr>
        <p:blipFill>
          <a:blip r:embed="rId3"/>
          <a:stretch>
            <a:fillRect/>
          </a:stretch>
        </p:blipFill>
        <p:spPr>
          <a:xfrm>
            <a:off x="548640" y="1709928"/>
            <a:ext cx="475488" cy="475488"/>
          </a:xfrm>
          <a:prstGeom prst="rect">
            <a:avLst/>
          </a:prstGeom>
        </p:spPr>
      </p:pic>
      <p:sp>
        <p:nvSpPr>
          <p:cNvPr id="8" name="Text 5"/>
          <p:cNvSpPr/>
          <p:nvPr/>
        </p:nvSpPr>
        <p:spPr>
          <a:xfrm>
            <a:off x="1115568" y="1490472"/>
            <a:ext cx="3200400" cy="320040"/>
          </a:xfrm>
          <a:prstGeom prst="rect">
            <a:avLst/>
          </a:prstGeom>
          <a:noFill/>
          <a:ln/>
        </p:spPr>
        <p:txBody>
          <a:bodyPr wrap="square" lIns="0" tIns="0" rIns="0" bIns="0" rtlCol="0" anchor="ctr"/>
          <a:lstStyle/>
          <a:p>
            <a:pPr marL="0" indent="0">
              <a:buNone/>
            </a:pPr>
            <a:r>
              <a:rPr lang="en-US" sz="1400" b="1" dirty="0">
                <a:solidFill>
                  <a:srgbClr val="FF6B6B"/>
                </a:solidFill>
                <a:latin typeface="Trebuchet MS" pitchFamily="34" charset="0"/>
                <a:ea typeface="Trebuchet MS" pitchFamily="34" charset="-122"/>
                <a:cs typeface="Trebuchet MS" pitchFamily="34" charset="-120"/>
              </a:rPr>
              <a:t>Legacy Systems</a:t>
            </a:r>
            <a:endParaRPr lang="en-US" sz="1400" dirty="0"/>
          </a:p>
        </p:txBody>
      </p:sp>
      <p:sp>
        <p:nvSpPr>
          <p:cNvPr id="9" name="Text 6"/>
          <p:cNvSpPr/>
          <p:nvPr/>
        </p:nvSpPr>
        <p:spPr>
          <a:xfrm>
            <a:off x="1115568" y="1819656"/>
            <a:ext cx="3383280" cy="54864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Problem: Older infrastructure lacks support for modern auth protocols (token-based, MFA)</a:t>
            </a:r>
            <a:endParaRPr lang="en-US" sz="1200" dirty="0"/>
          </a:p>
        </p:txBody>
      </p:sp>
      <p:sp>
        <p:nvSpPr>
          <p:cNvPr id="10" name="Shape 7"/>
          <p:cNvSpPr/>
          <p:nvPr/>
        </p:nvSpPr>
        <p:spPr>
          <a:xfrm>
            <a:off x="4617720" y="1490472"/>
            <a:ext cx="36576" cy="932688"/>
          </a:xfrm>
          <a:prstGeom prst="rect">
            <a:avLst/>
          </a:prstGeom>
          <a:solidFill>
            <a:srgbClr val="FF6B6B">
              <a:alpha val="40000"/>
            </a:srgbClr>
          </a:solidFill>
          <a:ln w="12700">
            <a:solidFill>
              <a:srgbClr val="FF6B6B">
                <a:alpha val="40000"/>
              </a:srgbClr>
            </a:solidFill>
            <a:prstDash val="solid"/>
          </a:ln>
        </p:spPr>
      </p:sp>
      <p:sp>
        <p:nvSpPr>
          <p:cNvPr id="11" name="Text 8"/>
          <p:cNvSpPr/>
          <p:nvPr/>
        </p:nvSpPr>
        <p:spPr>
          <a:xfrm>
            <a:off x="4736592" y="1490472"/>
            <a:ext cx="3840480" cy="9326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Mitigation: Use API gateways and identity proxies as a bridge — wrap legacy systems in ZT layer without modifying core</a:t>
            </a:r>
            <a:endParaRPr lang="en-US" sz="1200" dirty="0"/>
          </a:p>
        </p:txBody>
      </p:sp>
      <p:sp>
        <p:nvSpPr>
          <p:cNvPr id="12" name="Shape 9"/>
          <p:cNvSpPr/>
          <p:nvPr/>
        </p:nvSpPr>
        <p:spPr>
          <a:xfrm>
            <a:off x="411480" y="2606040"/>
            <a:ext cx="8321040" cy="1078992"/>
          </a:xfrm>
          <a:prstGeom prst="rect">
            <a:avLst/>
          </a:prstGeom>
          <a:solidFill>
            <a:srgbClr val="0A1628"/>
          </a:solidFill>
          <a:ln w="12700">
            <a:solidFill>
              <a:srgbClr val="FFC857"/>
            </a:solidFill>
            <a:prstDash val="solid"/>
          </a:ln>
        </p:spPr>
      </p:sp>
      <p:sp>
        <p:nvSpPr>
          <p:cNvPr id="13" name="Shape 10"/>
          <p:cNvSpPr/>
          <p:nvPr/>
        </p:nvSpPr>
        <p:spPr>
          <a:xfrm>
            <a:off x="411480" y="2606040"/>
            <a:ext cx="54864" cy="1078992"/>
          </a:xfrm>
          <a:prstGeom prst="rect">
            <a:avLst/>
          </a:prstGeom>
          <a:solidFill>
            <a:srgbClr val="FFC857"/>
          </a:solidFill>
          <a:ln w="12700">
            <a:solidFill>
              <a:srgbClr val="FFC857"/>
            </a:solidFill>
            <a:prstDash val="solid"/>
          </a:ln>
        </p:spPr>
      </p:sp>
      <p:pic>
        <p:nvPicPr>
          <p:cNvPr id="14" name="Image 1" descr="preencoded.png"/>
          <p:cNvPicPr>
            <a:picLocks noChangeAspect="1"/>
          </p:cNvPicPr>
          <p:nvPr/>
        </p:nvPicPr>
        <p:blipFill>
          <a:blip r:embed="rId4"/>
          <a:stretch>
            <a:fillRect/>
          </a:stretch>
        </p:blipFill>
        <p:spPr>
          <a:xfrm>
            <a:off x="548640" y="2898648"/>
            <a:ext cx="475488" cy="475488"/>
          </a:xfrm>
          <a:prstGeom prst="rect">
            <a:avLst/>
          </a:prstGeom>
        </p:spPr>
      </p:pic>
      <p:sp>
        <p:nvSpPr>
          <p:cNvPr id="15" name="Text 11"/>
          <p:cNvSpPr/>
          <p:nvPr/>
        </p:nvSpPr>
        <p:spPr>
          <a:xfrm>
            <a:off x="1115568" y="2679192"/>
            <a:ext cx="3200400" cy="320040"/>
          </a:xfrm>
          <a:prstGeom prst="rect">
            <a:avLst/>
          </a:prstGeom>
          <a:noFill/>
          <a:ln/>
        </p:spPr>
        <p:txBody>
          <a:bodyPr wrap="square" lIns="0" tIns="0" rIns="0" bIns="0" rtlCol="0" anchor="ctr"/>
          <a:lstStyle/>
          <a:p>
            <a:pPr marL="0" indent="0">
              <a:buNone/>
            </a:pPr>
            <a:r>
              <a:rPr lang="en-US" sz="1400" b="1" dirty="0">
                <a:solidFill>
                  <a:srgbClr val="FFC857"/>
                </a:solidFill>
                <a:latin typeface="Trebuchet MS" pitchFamily="34" charset="0"/>
                <a:ea typeface="Trebuchet MS" pitchFamily="34" charset="-122"/>
                <a:cs typeface="Trebuchet MS" pitchFamily="34" charset="-120"/>
              </a:rPr>
              <a:t>Operational Complexity</a:t>
            </a:r>
            <a:endParaRPr lang="en-US" sz="1400" dirty="0"/>
          </a:p>
        </p:txBody>
      </p:sp>
      <p:sp>
        <p:nvSpPr>
          <p:cNvPr id="16" name="Text 12"/>
          <p:cNvSpPr/>
          <p:nvPr/>
        </p:nvSpPr>
        <p:spPr>
          <a:xfrm>
            <a:off x="1115568" y="3008376"/>
            <a:ext cx="3383280" cy="54864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Problem: Large enterprises manage thousands of access policies — manual management is error-prone</a:t>
            </a:r>
            <a:endParaRPr lang="en-US" sz="1200" dirty="0"/>
          </a:p>
        </p:txBody>
      </p:sp>
      <p:sp>
        <p:nvSpPr>
          <p:cNvPr id="17" name="Shape 13"/>
          <p:cNvSpPr/>
          <p:nvPr/>
        </p:nvSpPr>
        <p:spPr>
          <a:xfrm>
            <a:off x="4617720" y="2679192"/>
            <a:ext cx="36576" cy="932688"/>
          </a:xfrm>
          <a:prstGeom prst="rect">
            <a:avLst/>
          </a:prstGeom>
          <a:solidFill>
            <a:srgbClr val="FFC857">
              <a:alpha val="40000"/>
            </a:srgbClr>
          </a:solidFill>
          <a:ln w="12700">
            <a:solidFill>
              <a:srgbClr val="FFC857">
                <a:alpha val="40000"/>
              </a:srgbClr>
            </a:solidFill>
            <a:prstDash val="solid"/>
          </a:ln>
        </p:spPr>
      </p:sp>
      <p:sp>
        <p:nvSpPr>
          <p:cNvPr id="18" name="Text 14"/>
          <p:cNvSpPr/>
          <p:nvPr/>
        </p:nvSpPr>
        <p:spPr>
          <a:xfrm>
            <a:off x="4736592" y="2679192"/>
            <a:ext cx="3840480" cy="9326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Mitigation: Policy-as-Code: version-controlled, auto-deployed policies. AI-driven orchestration flags anomalies in real time</a:t>
            </a:r>
            <a:endParaRPr lang="en-US" sz="1200" dirty="0"/>
          </a:p>
        </p:txBody>
      </p:sp>
      <p:sp>
        <p:nvSpPr>
          <p:cNvPr id="19" name="Shape 15"/>
          <p:cNvSpPr/>
          <p:nvPr/>
        </p:nvSpPr>
        <p:spPr>
          <a:xfrm>
            <a:off x="411480" y="3794760"/>
            <a:ext cx="8321040" cy="1078992"/>
          </a:xfrm>
          <a:prstGeom prst="rect">
            <a:avLst/>
          </a:prstGeom>
          <a:solidFill>
            <a:srgbClr val="0A1628"/>
          </a:solidFill>
          <a:ln w="12700">
            <a:solidFill>
              <a:srgbClr val="5E60CE"/>
            </a:solidFill>
            <a:prstDash val="solid"/>
          </a:ln>
        </p:spPr>
      </p:sp>
      <p:sp>
        <p:nvSpPr>
          <p:cNvPr id="20" name="Shape 16"/>
          <p:cNvSpPr/>
          <p:nvPr/>
        </p:nvSpPr>
        <p:spPr>
          <a:xfrm>
            <a:off x="411480" y="3794760"/>
            <a:ext cx="54864" cy="1078992"/>
          </a:xfrm>
          <a:prstGeom prst="rect">
            <a:avLst/>
          </a:prstGeom>
          <a:solidFill>
            <a:srgbClr val="5E60CE"/>
          </a:solidFill>
          <a:ln w="12700">
            <a:solidFill>
              <a:srgbClr val="5E60CE"/>
            </a:solidFill>
            <a:prstDash val="solid"/>
          </a:ln>
        </p:spPr>
      </p:sp>
      <p:pic>
        <p:nvPicPr>
          <p:cNvPr id="21" name="Image 2" descr="preencoded.png"/>
          <p:cNvPicPr>
            <a:picLocks noChangeAspect="1"/>
          </p:cNvPicPr>
          <p:nvPr/>
        </p:nvPicPr>
        <p:blipFill>
          <a:blip r:embed="rId5"/>
          <a:stretch>
            <a:fillRect/>
          </a:stretch>
        </p:blipFill>
        <p:spPr>
          <a:xfrm>
            <a:off x="548640" y="4087368"/>
            <a:ext cx="475488" cy="475488"/>
          </a:xfrm>
          <a:prstGeom prst="rect">
            <a:avLst/>
          </a:prstGeom>
        </p:spPr>
      </p:pic>
      <p:sp>
        <p:nvSpPr>
          <p:cNvPr id="22" name="Text 17"/>
          <p:cNvSpPr/>
          <p:nvPr/>
        </p:nvSpPr>
        <p:spPr>
          <a:xfrm>
            <a:off x="1115568" y="3867912"/>
            <a:ext cx="3200400" cy="320040"/>
          </a:xfrm>
          <a:prstGeom prst="rect">
            <a:avLst/>
          </a:prstGeom>
          <a:noFill/>
          <a:ln/>
        </p:spPr>
        <p:txBody>
          <a:bodyPr wrap="square" lIns="0" tIns="0" rIns="0" bIns="0" rtlCol="0" anchor="ctr"/>
          <a:lstStyle/>
          <a:p>
            <a:pPr marL="0" indent="0">
              <a:buNone/>
            </a:pPr>
            <a:r>
              <a:rPr lang="en-US" sz="1400" b="1" dirty="0">
                <a:solidFill>
                  <a:srgbClr val="5E60CE"/>
                </a:solidFill>
                <a:latin typeface="Trebuchet MS" pitchFamily="34" charset="0"/>
                <a:ea typeface="Trebuchet MS" pitchFamily="34" charset="-122"/>
                <a:cs typeface="Trebuchet MS" pitchFamily="34" charset="-120"/>
              </a:rPr>
              <a:t>Cultural Resistance</a:t>
            </a:r>
            <a:endParaRPr lang="en-US" sz="1400" dirty="0"/>
          </a:p>
        </p:txBody>
      </p:sp>
      <p:sp>
        <p:nvSpPr>
          <p:cNvPr id="23" name="Text 18"/>
          <p:cNvSpPr/>
          <p:nvPr/>
        </p:nvSpPr>
        <p:spPr>
          <a:xfrm>
            <a:off x="1115568" y="4197096"/>
            <a:ext cx="3383280" cy="548640"/>
          </a:xfrm>
          <a:prstGeom prst="rect">
            <a:avLst/>
          </a:prstGeom>
          <a:noFill/>
          <a:ln/>
        </p:spPr>
        <p:txBody>
          <a:bodyPr wrap="square" lIns="0" tIns="0" rIns="0" bIns="0" rtlCol="0" anchor="ctr"/>
          <a:lstStyle/>
          <a:p>
            <a:pPr marL="0" indent="0">
              <a:buNone/>
            </a:pPr>
            <a:r>
              <a:rPr lang="en-US" sz="1200" dirty="0">
                <a:solidFill>
                  <a:srgbClr val="5E7A96"/>
                </a:solidFill>
                <a:latin typeface="Calibri" pitchFamily="34" charset="0"/>
                <a:ea typeface="Calibri" pitchFamily="34" charset="-122"/>
                <a:cs typeface="Calibri" pitchFamily="34" charset="-120"/>
              </a:rPr>
              <a:t>Problem: Employees resist additional auth steps, stricter access controls, and false-positive lockouts</a:t>
            </a:r>
            <a:endParaRPr lang="en-US" sz="1200" dirty="0"/>
          </a:p>
        </p:txBody>
      </p:sp>
      <p:sp>
        <p:nvSpPr>
          <p:cNvPr id="24" name="Shape 19"/>
          <p:cNvSpPr/>
          <p:nvPr/>
        </p:nvSpPr>
        <p:spPr>
          <a:xfrm>
            <a:off x="4617720" y="3867912"/>
            <a:ext cx="36576" cy="932688"/>
          </a:xfrm>
          <a:prstGeom prst="rect">
            <a:avLst/>
          </a:prstGeom>
          <a:solidFill>
            <a:srgbClr val="5E60CE">
              <a:alpha val="40000"/>
            </a:srgbClr>
          </a:solidFill>
          <a:ln w="12700">
            <a:solidFill>
              <a:srgbClr val="5E60CE">
                <a:alpha val="40000"/>
              </a:srgbClr>
            </a:solidFill>
            <a:prstDash val="solid"/>
          </a:ln>
        </p:spPr>
      </p:sp>
      <p:sp>
        <p:nvSpPr>
          <p:cNvPr id="25" name="Text 20"/>
          <p:cNvSpPr/>
          <p:nvPr/>
        </p:nvSpPr>
        <p:spPr>
          <a:xfrm>
            <a:off x="4736592" y="3867912"/>
            <a:ext cx="3840480" cy="9326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Mitigation: Sustained communication &amp; training — focus on the WHY. Build organizational culture around security-first mindset</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grpSp>
        <p:nvGrpSpPr>
          <p:cNvPr id="46" name="Group 45"/>
          <p:cNvGrpSpPr/>
          <p:nvPr/>
        </p:nvGrpSpPr>
        <p:grpSpPr>
          <a:xfrm>
            <a:off x="185057" y="160020"/>
            <a:ext cx="8092440" cy="548640"/>
            <a:chOff x="457200" y="502920"/>
            <a:chExt cx="8092440" cy="548640"/>
          </a:xfrm>
        </p:grpSpPr>
        <p:sp>
          <p:nvSpPr>
            <p:cNvPr id="2" name="Shape 0"/>
            <p:cNvSpPr/>
            <p:nvPr/>
          </p:nvSpPr>
          <p:spPr>
            <a:xfrm>
              <a:off x="457200" y="566928"/>
              <a:ext cx="64008" cy="438912"/>
            </a:xfrm>
            <a:prstGeom prst="rect">
              <a:avLst/>
            </a:prstGeom>
            <a:solidFill>
              <a:srgbClr val="00B4D8"/>
            </a:solidFill>
            <a:ln w="12700">
              <a:solidFill>
                <a:srgbClr val="00B4D8"/>
              </a:solidFill>
              <a:prstDash val="solid"/>
            </a:ln>
          </p:spPr>
        </p:sp>
        <p:sp>
          <p:nvSpPr>
            <p:cNvPr id="3" name="Text 1"/>
            <p:cNvSpPr/>
            <p:nvPr/>
          </p:nvSpPr>
          <p:spPr>
            <a:xfrm>
              <a:off x="594360" y="502920"/>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Comparative Analysis of Reference Papers</a:t>
              </a:r>
              <a:endParaRPr lang="en-US" sz="2600" dirty="0"/>
            </a:p>
          </p:txBody>
        </p:sp>
      </p:grpSp>
      <p:sp>
        <p:nvSpPr>
          <p:cNvPr id="4" name="Text 2"/>
          <p:cNvSpPr/>
          <p:nvPr/>
        </p:nvSpPr>
        <p:spPr>
          <a:xfrm>
            <a:off x="475488" y="594360"/>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Situating this review within the broader research landscape</a:t>
            </a:r>
            <a:endParaRPr lang="en-US" sz="1300" dirty="0"/>
          </a:p>
        </p:txBody>
      </p:sp>
      <p:grpSp>
        <p:nvGrpSpPr>
          <p:cNvPr id="47" name="Group 46"/>
          <p:cNvGrpSpPr/>
          <p:nvPr/>
        </p:nvGrpSpPr>
        <p:grpSpPr>
          <a:xfrm>
            <a:off x="365760" y="1262740"/>
            <a:ext cx="8513064" cy="365760"/>
            <a:chOff x="365760" y="1371600"/>
            <a:chExt cx="8513064" cy="365760"/>
          </a:xfrm>
        </p:grpSpPr>
        <p:sp>
          <p:nvSpPr>
            <p:cNvPr id="5" name="Shape 3"/>
            <p:cNvSpPr/>
            <p:nvPr/>
          </p:nvSpPr>
          <p:spPr>
            <a:xfrm>
              <a:off x="365760" y="1371600"/>
              <a:ext cx="8412480" cy="365760"/>
            </a:xfrm>
            <a:prstGeom prst="rect">
              <a:avLst/>
            </a:prstGeom>
            <a:solidFill>
              <a:srgbClr val="0D1B2A"/>
            </a:solidFill>
            <a:ln w="12700">
              <a:solidFill>
                <a:srgbClr val="0D1B2A"/>
              </a:solidFill>
              <a:prstDash val="solid"/>
            </a:ln>
          </p:spPr>
        </p:sp>
        <p:sp>
          <p:nvSpPr>
            <p:cNvPr id="6" name="Text 4"/>
            <p:cNvSpPr/>
            <p:nvPr/>
          </p:nvSpPr>
          <p:spPr>
            <a:xfrm>
              <a:off x="457200" y="1380744"/>
              <a:ext cx="1920240" cy="347472"/>
            </a:xfrm>
            <a:prstGeom prst="rect">
              <a:avLst/>
            </a:prstGeom>
            <a:noFill/>
            <a:ln/>
          </p:spPr>
          <p:txBody>
            <a:bodyPr wrap="square" lIns="0" tIns="0" rIns="0" bIns="0" rtlCol="0" anchor="ctr"/>
            <a:lstStyle/>
            <a:p>
              <a:pPr marL="0" indent="0">
                <a:buNone/>
              </a:pPr>
              <a:r>
                <a:rPr lang="en-US" sz="1100" b="1" dirty="0">
                  <a:solidFill>
                    <a:srgbClr val="FFFFFF"/>
                  </a:solidFill>
                </a:rPr>
                <a:t>Reference</a:t>
              </a:r>
              <a:endParaRPr lang="en-US" sz="1100" dirty="0"/>
            </a:p>
          </p:txBody>
        </p:sp>
        <p:sp>
          <p:nvSpPr>
            <p:cNvPr id="7" name="Text 5"/>
            <p:cNvSpPr/>
            <p:nvPr/>
          </p:nvSpPr>
          <p:spPr>
            <a:xfrm>
              <a:off x="2395728" y="1380744"/>
              <a:ext cx="1371600" cy="347472"/>
            </a:xfrm>
            <a:prstGeom prst="rect">
              <a:avLst/>
            </a:prstGeom>
            <a:noFill/>
            <a:ln/>
          </p:spPr>
          <p:txBody>
            <a:bodyPr wrap="square" lIns="0" tIns="0" rIns="0" bIns="0" rtlCol="0" anchor="ctr"/>
            <a:lstStyle/>
            <a:p>
              <a:pPr marL="0" indent="0">
                <a:buNone/>
              </a:pPr>
              <a:r>
                <a:rPr lang="en-US" sz="1100" b="1" dirty="0">
                  <a:solidFill>
                    <a:srgbClr val="FFFFFF"/>
                  </a:solidFill>
                </a:rPr>
                <a:t>Scope</a:t>
              </a:r>
              <a:endParaRPr lang="en-US" sz="1100" dirty="0"/>
            </a:p>
          </p:txBody>
        </p:sp>
        <p:sp>
          <p:nvSpPr>
            <p:cNvPr id="8" name="Text 6"/>
            <p:cNvSpPr/>
            <p:nvPr/>
          </p:nvSpPr>
          <p:spPr>
            <a:xfrm>
              <a:off x="3785616" y="1380744"/>
              <a:ext cx="1554480" cy="347472"/>
            </a:xfrm>
            <a:prstGeom prst="rect">
              <a:avLst/>
            </a:prstGeom>
            <a:noFill/>
            <a:ln/>
          </p:spPr>
          <p:txBody>
            <a:bodyPr wrap="square" lIns="0" tIns="0" rIns="0" bIns="0" rtlCol="0" anchor="ctr"/>
            <a:lstStyle/>
            <a:p>
              <a:pPr marL="0" indent="0">
                <a:buNone/>
              </a:pPr>
              <a:r>
                <a:rPr lang="en-US" sz="1100" b="1" dirty="0">
                  <a:solidFill>
                    <a:srgbClr val="FFFFFF"/>
                  </a:solidFill>
                </a:rPr>
                <a:t>ZT Focus</a:t>
              </a:r>
              <a:endParaRPr lang="en-US" sz="1100" dirty="0"/>
            </a:p>
          </p:txBody>
        </p:sp>
        <p:sp>
          <p:nvSpPr>
            <p:cNvPr id="9" name="Text 7"/>
            <p:cNvSpPr/>
            <p:nvPr/>
          </p:nvSpPr>
          <p:spPr>
            <a:xfrm>
              <a:off x="5358384" y="1380744"/>
              <a:ext cx="3520440" cy="347472"/>
            </a:xfrm>
            <a:prstGeom prst="rect">
              <a:avLst/>
            </a:prstGeom>
            <a:noFill/>
            <a:ln/>
          </p:spPr>
          <p:txBody>
            <a:bodyPr wrap="square" lIns="0" tIns="0" rIns="0" bIns="0" rtlCol="0" anchor="ctr"/>
            <a:lstStyle/>
            <a:p>
              <a:pPr marL="0" indent="0">
                <a:buNone/>
              </a:pPr>
              <a:r>
                <a:rPr lang="en-US" sz="1100" b="1" dirty="0">
                  <a:solidFill>
                    <a:srgbClr val="FFFFFF"/>
                  </a:solidFill>
                </a:rPr>
                <a:t>Key Contribution</a:t>
              </a:r>
              <a:endParaRPr lang="en-US" sz="1100" dirty="0"/>
            </a:p>
          </p:txBody>
        </p:sp>
      </p:grpSp>
      <p:grpSp>
        <p:nvGrpSpPr>
          <p:cNvPr id="48" name="Group 47"/>
          <p:cNvGrpSpPr/>
          <p:nvPr/>
        </p:nvGrpSpPr>
        <p:grpSpPr>
          <a:xfrm>
            <a:off x="365760" y="1674220"/>
            <a:ext cx="8412480" cy="475488"/>
            <a:chOff x="365760" y="1783080"/>
            <a:chExt cx="8412480" cy="475488"/>
          </a:xfrm>
        </p:grpSpPr>
        <p:sp>
          <p:nvSpPr>
            <p:cNvPr id="10" name="Shape 8"/>
            <p:cNvSpPr/>
            <p:nvPr/>
          </p:nvSpPr>
          <p:spPr>
            <a:xfrm>
              <a:off x="365760" y="1783080"/>
              <a:ext cx="8412480" cy="475488"/>
            </a:xfrm>
            <a:prstGeom prst="rect">
              <a:avLst/>
            </a:prstGeom>
            <a:solidFill>
              <a:srgbClr val="FFFFFF"/>
            </a:solidFill>
            <a:ln w="6350">
              <a:solidFill>
                <a:srgbClr val="E2EBF4"/>
              </a:solidFill>
              <a:prstDash val="solid"/>
            </a:ln>
          </p:spPr>
        </p:sp>
        <p:sp>
          <p:nvSpPr>
            <p:cNvPr id="11" name="Shape 9"/>
            <p:cNvSpPr/>
            <p:nvPr/>
          </p:nvSpPr>
          <p:spPr>
            <a:xfrm>
              <a:off x="365760" y="1911096"/>
              <a:ext cx="219456" cy="219456"/>
            </a:xfrm>
            <a:prstGeom prst="ellipse">
              <a:avLst/>
            </a:prstGeom>
            <a:solidFill>
              <a:srgbClr val="00B4D8"/>
            </a:solidFill>
            <a:ln w="12700">
              <a:solidFill>
                <a:srgbClr val="00B4D8"/>
              </a:solidFill>
              <a:prstDash val="solid"/>
            </a:ln>
          </p:spPr>
        </p:sp>
        <p:sp>
          <p:nvSpPr>
            <p:cNvPr id="12" name="Text 10"/>
            <p:cNvSpPr/>
            <p:nvPr/>
          </p:nvSpPr>
          <p:spPr>
            <a:xfrm>
              <a:off x="640080" y="1828800"/>
              <a:ext cx="1719072" cy="402336"/>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NIST SP 800-207</a:t>
              </a:r>
              <a:endParaRPr lang="en-US" sz="1100" dirty="0"/>
            </a:p>
          </p:txBody>
        </p:sp>
        <p:sp>
          <p:nvSpPr>
            <p:cNvPr id="13" name="Text 11"/>
            <p:cNvSpPr/>
            <p:nvPr/>
          </p:nvSpPr>
          <p:spPr>
            <a:xfrm>
              <a:off x="2395728" y="1828800"/>
              <a:ext cx="1353312"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All Enterprises</a:t>
              </a:r>
              <a:endParaRPr lang="en-US" sz="1050" dirty="0"/>
            </a:p>
          </p:txBody>
        </p:sp>
        <p:sp>
          <p:nvSpPr>
            <p:cNvPr id="14" name="Text 12"/>
            <p:cNvSpPr/>
            <p:nvPr/>
          </p:nvSpPr>
          <p:spPr>
            <a:xfrm>
              <a:off x="3785616" y="1828800"/>
              <a:ext cx="1536192" cy="402336"/>
            </a:xfrm>
            <a:prstGeom prst="rect">
              <a:avLst/>
            </a:prstGeom>
            <a:noFill/>
            <a:ln/>
          </p:spPr>
          <p:txBody>
            <a:bodyPr wrap="square" lIns="0" tIns="0" rIns="0" bIns="0" rtlCol="0" anchor="ctr"/>
            <a:lstStyle/>
            <a:p>
              <a:pPr marL="0" indent="0">
                <a:buNone/>
              </a:pPr>
              <a:r>
                <a:rPr lang="en-US" sz="1050" dirty="0">
                  <a:solidFill>
                    <a:srgbClr val="1A2E44"/>
                  </a:solidFill>
                  <a:latin typeface="Calibri" pitchFamily="34" charset="0"/>
                  <a:ea typeface="Calibri" pitchFamily="34" charset="-122"/>
                  <a:cs typeface="Calibri" pitchFamily="34" charset="-120"/>
                </a:rPr>
                <a:t>All 5 pillars, PDP/PEP</a:t>
              </a:r>
              <a:endParaRPr lang="en-US" sz="1050" dirty="0"/>
            </a:p>
          </p:txBody>
        </p:sp>
        <p:sp>
          <p:nvSpPr>
            <p:cNvPr id="15" name="Text 13"/>
            <p:cNvSpPr/>
            <p:nvPr/>
          </p:nvSpPr>
          <p:spPr>
            <a:xfrm>
              <a:off x="5358384" y="1828800"/>
              <a:ext cx="3291840"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Vendor-neutral theoretical baseline; de facto global ZT reference</a:t>
              </a:r>
              <a:endParaRPr lang="en-US" sz="1050" dirty="0"/>
            </a:p>
          </p:txBody>
        </p:sp>
      </p:grpSp>
      <p:grpSp>
        <p:nvGrpSpPr>
          <p:cNvPr id="49" name="Group 48"/>
          <p:cNvGrpSpPr/>
          <p:nvPr/>
        </p:nvGrpSpPr>
        <p:grpSpPr>
          <a:xfrm>
            <a:off x="365760" y="2186284"/>
            <a:ext cx="8412480" cy="475488"/>
            <a:chOff x="365760" y="2295144"/>
            <a:chExt cx="8412480" cy="475488"/>
          </a:xfrm>
        </p:grpSpPr>
        <p:sp>
          <p:nvSpPr>
            <p:cNvPr id="16" name="Shape 14"/>
            <p:cNvSpPr/>
            <p:nvPr/>
          </p:nvSpPr>
          <p:spPr>
            <a:xfrm>
              <a:off x="365760" y="2295144"/>
              <a:ext cx="8412480" cy="475488"/>
            </a:xfrm>
            <a:prstGeom prst="rect">
              <a:avLst/>
            </a:prstGeom>
            <a:solidFill>
              <a:srgbClr val="F0F5FA"/>
            </a:solidFill>
            <a:ln w="6350">
              <a:solidFill>
                <a:srgbClr val="E2EBF4"/>
              </a:solidFill>
              <a:prstDash val="solid"/>
            </a:ln>
          </p:spPr>
        </p:sp>
        <p:sp>
          <p:nvSpPr>
            <p:cNvPr id="17" name="Shape 15"/>
            <p:cNvSpPr/>
            <p:nvPr/>
          </p:nvSpPr>
          <p:spPr>
            <a:xfrm>
              <a:off x="365760" y="2423160"/>
              <a:ext cx="219456" cy="219456"/>
            </a:xfrm>
            <a:prstGeom prst="ellipse">
              <a:avLst/>
            </a:prstGeom>
            <a:solidFill>
              <a:srgbClr val="00B4D8"/>
            </a:solidFill>
            <a:ln w="12700">
              <a:solidFill>
                <a:srgbClr val="00B4D8"/>
              </a:solidFill>
              <a:prstDash val="solid"/>
            </a:ln>
          </p:spPr>
        </p:sp>
        <p:sp>
          <p:nvSpPr>
            <p:cNvPr id="18" name="Text 16"/>
            <p:cNvSpPr/>
            <p:nvPr/>
          </p:nvSpPr>
          <p:spPr>
            <a:xfrm>
              <a:off x="640080" y="2340864"/>
              <a:ext cx="1719072" cy="402336"/>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CISA ZT Maturity v2.0</a:t>
              </a:r>
              <a:endParaRPr lang="en-US" sz="1100" dirty="0"/>
            </a:p>
          </p:txBody>
        </p:sp>
        <p:sp>
          <p:nvSpPr>
            <p:cNvPr id="19" name="Text 17"/>
            <p:cNvSpPr/>
            <p:nvPr/>
          </p:nvSpPr>
          <p:spPr>
            <a:xfrm>
              <a:off x="2395728" y="2340864"/>
              <a:ext cx="1353312"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Federal Agencies</a:t>
              </a:r>
              <a:endParaRPr lang="en-US" sz="1050" dirty="0"/>
            </a:p>
          </p:txBody>
        </p:sp>
        <p:sp>
          <p:nvSpPr>
            <p:cNvPr id="20" name="Text 18"/>
            <p:cNvSpPr/>
            <p:nvPr/>
          </p:nvSpPr>
          <p:spPr>
            <a:xfrm>
              <a:off x="3785616" y="2340864"/>
              <a:ext cx="1536192" cy="402336"/>
            </a:xfrm>
            <a:prstGeom prst="rect">
              <a:avLst/>
            </a:prstGeom>
            <a:noFill/>
            <a:ln/>
          </p:spPr>
          <p:txBody>
            <a:bodyPr wrap="square" lIns="0" tIns="0" rIns="0" bIns="0" rtlCol="0" anchor="ctr"/>
            <a:lstStyle/>
            <a:p>
              <a:pPr marL="0" indent="0">
                <a:buNone/>
              </a:pPr>
              <a:r>
                <a:rPr lang="en-US" sz="1050" dirty="0">
                  <a:solidFill>
                    <a:srgbClr val="1A2E44"/>
                  </a:solidFill>
                  <a:latin typeface="Calibri" pitchFamily="34" charset="0"/>
                  <a:ea typeface="Calibri" pitchFamily="34" charset="-122"/>
                  <a:cs typeface="Calibri" pitchFamily="34" charset="-120"/>
                </a:rPr>
                <a:t>Identity, Device, Network, App, Data</a:t>
              </a:r>
              <a:endParaRPr lang="en-US" sz="1050" dirty="0"/>
            </a:p>
          </p:txBody>
        </p:sp>
        <p:sp>
          <p:nvSpPr>
            <p:cNvPr id="21" name="Text 19"/>
            <p:cNvSpPr/>
            <p:nvPr/>
          </p:nvSpPr>
          <p:spPr>
            <a:xfrm>
              <a:off x="5358384" y="2340864"/>
              <a:ext cx="3291840"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Graduated maturity levels; practical self-assessment roadmap</a:t>
              </a:r>
              <a:endParaRPr lang="en-US" sz="1050" dirty="0"/>
            </a:p>
          </p:txBody>
        </p:sp>
      </p:grpSp>
      <p:grpSp>
        <p:nvGrpSpPr>
          <p:cNvPr id="50" name="Group 49"/>
          <p:cNvGrpSpPr/>
          <p:nvPr/>
        </p:nvGrpSpPr>
        <p:grpSpPr>
          <a:xfrm>
            <a:off x="365760" y="2698348"/>
            <a:ext cx="8412480" cy="475488"/>
            <a:chOff x="365760" y="2807208"/>
            <a:chExt cx="8412480" cy="475488"/>
          </a:xfrm>
        </p:grpSpPr>
        <p:sp>
          <p:nvSpPr>
            <p:cNvPr id="22" name="Shape 20"/>
            <p:cNvSpPr/>
            <p:nvPr/>
          </p:nvSpPr>
          <p:spPr>
            <a:xfrm>
              <a:off x="365760" y="2807208"/>
              <a:ext cx="8412480" cy="475488"/>
            </a:xfrm>
            <a:prstGeom prst="rect">
              <a:avLst/>
            </a:prstGeom>
            <a:solidFill>
              <a:srgbClr val="FFFFFF"/>
            </a:solidFill>
            <a:ln w="6350">
              <a:solidFill>
                <a:srgbClr val="E2EBF4"/>
              </a:solidFill>
              <a:prstDash val="solid"/>
            </a:ln>
          </p:spPr>
        </p:sp>
        <p:sp>
          <p:nvSpPr>
            <p:cNvPr id="23" name="Shape 21"/>
            <p:cNvSpPr/>
            <p:nvPr/>
          </p:nvSpPr>
          <p:spPr>
            <a:xfrm>
              <a:off x="365760" y="2935224"/>
              <a:ext cx="219456" cy="219456"/>
            </a:xfrm>
            <a:prstGeom prst="ellipse">
              <a:avLst/>
            </a:prstGeom>
            <a:solidFill>
              <a:srgbClr val="00B4D8"/>
            </a:solidFill>
            <a:ln w="12700">
              <a:solidFill>
                <a:srgbClr val="00B4D8"/>
              </a:solidFill>
              <a:prstDash val="solid"/>
            </a:ln>
          </p:spPr>
        </p:sp>
        <p:sp>
          <p:nvSpPr>
            <p:cNvPr id="24" name="Text 22"/>
            <p:cNvSpPr/>
            <p:nvPr/>
          </p:nvSpPr>
          <p:spPr>
            <a:xfrm>
              <a:off x="640080" y="2852928"/>
              <a:ext cx="1719072" cy="402336"/>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DoD ZT Ref. Arch. v2</a:t>
              </a:r>
              <a:endParaRPr lang="en-US" sz="1100" dirty="0"/>
            </a:p>
          </p:txBody>
        </p:sp>
        <p:sp>
          <p:nvSpPr>
            <p:cNvPr id="25" name="Text 23"/>
            <p:cNvSpPr/>
            <p:nvPr/>
          </p:nvSpPr>
          <p:spPr>
            <a:xfrm>
              <a:off x="2395728" y="2852928"/>
              <a:ext cx="1353312"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Military/Defense</a:t>
              </a:r>
              <a:endParaRPr lang="en-US" sz="1050" dirty="0"/>
            </a:p>
          </p:txBody>
        </p:sp>
        <p:sp>
          <p:nvSpPr>
            <p:cNvPr id="26" name="Text 24"/>
            <p:cNvSpPr/>
            <p:nvPr/>
          </p:nvSpPr>
          <p:spPr>
            <a:xfrm>
              <a:off x="3785616" y="2852928"/>
              <a:ext cx="1536192" cy="402336"/>
            </a:xfrm>
            <a:prstGeom prst="rect">
              <a:avLst/>
            </a:prstGeom>
            <a:noFill/>
            <a:ln/>
          </p:spPr>
          <p:txBody>
            <a:bodyPr wrap="square" lIns="0" tIns="0" rIns="0" bIns="0" rtlCol="0" anchor="ctr"/>
            <a:lstStyle/>
            <a:p>
              <a:pPr marL="0" indent="0">
                <a:buNone/>
              </a:pPr>
              <a:r>
                <a:rPr lang="en-US" sz="1050" dirty="0">
                  <a:solidFill>
                    <a:srgbClr val="1A2E44"/>
                  </a:solidFill>
                  <a:latin typeface="Calibri" pitchFamily="34" charset="0"/>
                  <a:ea typeface="Calibri" pitchFamily="34" charset="-122"/>
                  <a:cs typeface="Calibri" pitchFamily="34" charset="-120"/>
                </a:rPr>
                <a:t>Data-centric; 7 pillars</a:t>
              </a:r>
              <a:endParaRPr lang="en-US" sz="1050" dirty="0"/>
            </a:p>
          </p:txBody>
        </p:sp>
        <p:sp>
          <p:nvSpPr>
            <p:cNvPr id="27" name="Text 25"/>
            <p:cNvSpPr/>
            <p:nvPr/>
          </p:nvSpPr>
          <p:spPr>
            <a:xfrm>
              <a:off x="5358384" y="2852928"/>
              <a:ext cx="3291840"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Most prescriptive framework; maps ZT to mission-critical ops</a:t>
              </a:r>
              <a:endParaRPr lang="en-US" sz="1050" dirty="0"/>
            </a:p>
          </p:txBody>
        </p:sp>
      </p:grpSp>
      <p:grpSp>
        <p:nvGrpSpPr>
          <p:cNvPr id="51" name="Group 50"/>
          <p:cNvGrpSpPr/>
          <p:nvPr/>
        </p:nvGrpSpPr>
        <p:grpSpPr>
          <a:xfrm>
            <a:off x="365760" y="3210412"/>
            <a:ext cx="8412480" cy="475488"/>
            <a:chOff x="365760" y="3319272"/>
            <a:chExt cx="8412480" cy="475488"/>
          </a:xfrm>
        </p:grpSpPr>
        <p:sp>
          <p:nvSpPr>
            <p:cNvPr id="28" name="Shape 26"/>
            <p:cNvSpPr/>
            <p:nvPr/>
          </p:nvSpPr>
          <p:spPr>
            <a:xfrm>
              <a:off x="365760" y="3319272"/>
              <a:ext cx="8412480" cy="475488"/>
            </a:xfrm>
            <a:prstGeom prst="rect">
              <a:avLst/>
            </a:prstGeom>
            <a:solidFill>
              <a:srgbClr val="F0F5FA"/>
            </a:solidFill>
            <a:ln w="6350">
              <a:solidFill>
                <a:srgbClr val="E2EBF4"/>
              </a:solidFill>
              <a:prstDash val="solid"/>
            </a:ln>
          </p:spPr>
        </p:sp>
        <p:sp>
          <p:nvSpPr>
            <p:cNvPr id="29" name="Shape 27"/>
            <p:cNvSpPr/>
            <p:nvPr/>
          </p:nvSpPr>
          <p:spPr>
            <a:xfrm>
              <a:off x="365760" y="3447288"/>
              <a:ext cx="219456" cy="219456"/>
            </a:xfrm>
            <a:prstGeom prst="ellipse">
              <a:avLst/>
            </a:prstGeom>
            <a:solidFill>
              <a:srgbClr val="6C63FF"/>
            </a:solidFill>
            <a:ln w="12700">
              <a:solidFill>
                <a:srgbClr val="6C63FF"/>
              </a:solidFill>
              <a:prstDash val="solid"/>
            </a:ln>
          </p:spPr>
        </p:sp>
        <p:sp>
          <p:nvSpPr>
            <p:cNvPr id="30" name="Text 28"/>
            <p:cNvSpPr/>
            <p:nvPr/>
          </p:nvSpPr>
          <p:spPr>
            <a:xfrm>
              <a:off x="640080" y="3364992"/>
              <a:ext cx="1719072" cy="402336"/>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IEEE (2025)</a:t>
              </a:r>
              <a:endParaRPr lang="en-US" sz="1100" dirty="0"/>
            </a:p>
          </p:txBody>
        </p:sp>
        <p:sp>
          <p:nvSpPr>
            <p:cNvPr id="31" name="Text 29"/>
            <p:cNvSpPr/>
            <p:nvPr/>
          </p:nvSpPr>
          <p:spPr>
            <a:xfrm>
              <a:off x="2395728" y="3364992"/>
              <a:ext cx="1353312"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Enterprise IT</a:t>
              </a:r>
              <a:endParaRPr lang="en-US" sz="1050" dirty="0"/>
            </a:p>
          </p:txBody>
        </p:sp>
        <p:sp>
          <p:nvSpPr>
            <p:cNvPr id="32" name="Text 30"/>
            <p:cNvSpPr/>
            <p:nvPr/>
          </p:nvSpPr>
          <p:spPr>
            <a:xfrm>
              <a:off x="3785616" y="3364992"/>
              <a:ext cx="1536192" cy="402336"/>
            </a:xfrm>
            <a:prstGeom prst="rect">
              <a:avLst/>
            </a:prstGeom>
            <a:noFill/>
            <a:ln/>
          </p:spPr>
          <p:txBody>
            <a:bodyPr wrap="square" lIns="0" tIns="0" rIns="0" bIns="0" rtlCol="0" anchor="ctr"/>
            <a:lstStyle/>
            <a:p>
              <a:pPr marL="0" indent="0">
                <a:buNone/>
              </a:pPr>
              <a:r>
                <a:rPr lang="en-US" sz="1050" dirty="0">
                  <a:solidFill>
                    <a:srgbClr val="1A2E44"/>
                  </a:solidFill>
                  <a:latin typeface="Calibri" pitchFamily="34" charset="0"/>
                  <a:ea typeface="Calibri" pitchFamily="34" charset="-122"/>
                  <a:cs typeface="Calibri" pitchFamily="34" charset="-120"/>
                </a:rPr>
                <a:t>Implementation impact</a:t>
              </a:r>
              <a:endParaRPr lang="en-US" sz="1050" dirty="0"/>
            </a:p>
          </p:txBody>
        </p:sp>
        <p:sp>
          <p:nvSpPr>
            <p:cNvPr id="33" name="Text 31"/>
            <p:cNvSpPr/>
            <p:nvPr/>
          </p:nvSpPr>
          <p:spPr>
            <a:xfrm>
              <a:off x="5358384" y="3364992"/>
              <a:ext cx="3291840"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Empirically evaluates ZTA effectiveness; measurable security metrics</a:t>
              </a:r>
              <a:endParaRPr lang="en-US" sz="1050" dirty="0"/>
            </a:p>
          </p:txBody>
        </p:sp>
      </p:grpSp>
      <p:grpSp>
        <p:nvGrpSpPr>
          <p:cNvPr id="52" name="Group 51"/>
          <p:cNvGrpSpPr/>
          <p:nvPr/>
        </p:nvGrpSpPr>
        <p:grpSpPr>
          <a:xfrm>
            <a:off x="365760" y="3722476"/>
            <a:ext cx="8412480" cy="475488"/>
            <a:chOff x="365760" y="3831336"/>
            <a:chExt cx="8412480" cy="475488"/>
          </a:xfrm>
        </p:grpSpPr>
        <p:sp>
          <p:nvSpPr>
            <p:cNvPr id="34" name="Shape 32"/>
            <p:cNvSpPr/>
            <p:nvPr/>
          </p:nvSpPr>
          <p:spPr>
            <a:xfrm>
              <a:off x="365760" y="3831336"/>
              <a:ext cx="8412480" cy="475488"/>
            </a:xfrm>
            <a:prstGeom prst="rect">
              <a:avLst/>
            </a:prstGeom>
            <a:solidFill>
              <a:srgbClr val="FFFFFF"/>
            </a:solidFill>
            <a:ln w="6350">
              <a:solidFill>
                <a:srgbClr val="E2EBF4"/>
              </a:solidFill>
              <a:prstDash val="solid"/>
            </a:ln>
          </p:spPr>
        </p:sp>
        <p:sp>
          <p:nvSpPr>
            <p:cNvPr id="35" name="Shape 33"/>
            <p:cNvSpPr/>
            <p:nvPr/>
          </p:nvSpPr>
          <p:spPr>
            <a:xfrm>
              <a:off x="365760" y="3959352"/>
              <a:ext cx="219456" cy="219456"/>
            </a:xfrm>
            <a:prstGeom prst="ellipse">
              <a:avLst/>
            </a:prstGeom>
            <a:solidFill>
              <a:srgbClr val="6C63FF"/>
            </a:solidFill>
            <a:ln w="12700">
              <a:solidFill>
                <a:srgbClr val="6C63FF"/>
              </a:solidFill>
              <a:prstDash val="solid"/>
            </a:ln>
          </p:spPr>
        </p:sp>
        <p:sp>
          <p:nvSpPr>
            <p:cNvPr id="36" name="Text 34"/>
            <p:cNvSpPr/>
            <p:nvPr/>
          </p:nvSpPr>
          <p:spPr>
            <a:xfrm>
              <a:off x="640080" y="3877056"/>
              <a:ext cx="1719072" cy="402336"/>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Springer (2026)</a:t>
              </a:r>
              <a:endParaRPr lang="en-US" sz="1100" dirty="0"/>
            </a:p>
          </p:txBody>
        </p:sp>
        <p:sp>
          <p:nvSpPr>
            <p:cNvPr id="37" name="Text 35"/>
            <p:cNvSpPr/>
            <p:nvPr/>
          </p:nvSpPr>
          <p:spPr>
            <a:xfrm>
              <a:off x="2395728" y="3877056"/>
              <a:ext cx="1353312"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Endpoint &amp; Mobile</a:t>
              </a:r>
              <a:endParaRPr lang="en-US" sz="1050" dirty="0"/>
            </a:p>
          </p:txBody>
        </p:sp>
        <p:sp>
          <p:nvSpPr>
            <p:cNvPr id="38" name="Text 36"/>
            <p:cNvSpPr/>
            <p:nvPr/>
          </p:nvSpPr>
          <p:spPr>
            <a:xfrm>
              <a:off x="3785616" y="3877056"/>
              <a:ext cx="1536192" cy="402336"/>
            </a:xfrm>
            <a:prstGeom prst="rect">
              <a:avLst/>
            </a:prstGeom>
            <a:noFill/>
            <a:ln/>
          </p:spPr>
          <p:txBody>
            <a:bodyPr wrap="square" lIns="0" tIns="0" rIns="0" bIns="0" rtlCol="0" anchor="ctr"/>
            <a:lstStyle/>
            <a:p>
              <a:pPr marL="0" indent="0">
                <a:buNone/>
              </a:pPr>
              <a:r>
                <a:rPr lang="en-US" sz="1050" dirty="0">
                  <a:solidFill>
                    <a:srgbClr val="1A2E44"/>
                  </a:solidFill>
                  <a:latin typeface="Calibri" pitchFamily="34" charset="0"/>
                  <a:ea typeface="Calibri" pitchFamily="34" charset="-122"/>
                  <a:cs typeface="Calibri" pitchFamily="34" charset="-120"/>
                </a:rPr>
                <a:t>Zero-click attack vectors</a:t>
              </a:r>
              <a:endParaRPr lang="en-US" sz="1050" dirty="0"/>
            </a:p>
          </p:txBody>
        </p:sp>
        <p:sp>
          <p:nvSpPr>
            <p:cNvPr id="39" name="Text 37"/>
            <p:cNvSpPr/>
            <p:nvPr/>
          </p:nvSpPr>
          <p:spPr>
            <a:xfrm>
              <a:off x="5358384" y="3877056"/>
              <a:ext cx="3291840"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Demonstrates ZT defense against zero-click/zero-interaction attacks</a:t>
              </a:r>
              <a:endParaRPr lang="en-US" sz="1050" dirty="0"/>
            </a:p>
          </p:txBody>
        </p:sp>
      </p:grpSp>
      <p:grpSp>
        <p:nvGrpSpPr>
          <p:cNvPr id="53" name="Group 52"/>
          <p:cNvGrpSpPr/>
          <p:nvPr/>
        </p:nvGrpSpPr>
        <p:grpSpPr>
          <a:xfrm>
            <a:off x="365760" y="4234540"/>
            <a:ext cx="8412480" cy="475488"/>
            <a:chOff x="365760" y="4343400"/>
            <a:chExt cx="8412480" cy="475488"/>
          </a:xfrm>
        </p:grpSpPr>
        <p:sp>
          <p:nvSpPr>
            <p:cNvPr id="40" name="Shape 38"/>
            <p:cNvSpPr/>
            <p:nvPr/>
          </p:nvSpPr>
          <p:spPr>
            <a:xfrm>
              <a:off x="365760" y="4343400"/>
              <a:ext cx="8412480" cy="475488"/>
            </a:xfrm>
            <a:prstGeom prst="rect">
              <a:avLst/>
            </a:prstGeom>
            <a:solidFill>
              <a:srgbClr val="F0F5FA"/>
            </a:solidFill>
            <a:ln w="6350">
              <a:solidFill>
                <a:srgbClr val="E2EBF4"/>
              </a:solidFill>
              <a:prstDash val="solid"/>
            </a:ln>
          </p:spPr>
        </p:sp>
        <p:sp>
          <p:nvSpPr>
            <p:cNvPr id="41" name="Shape 39"/>
            <p:cNvSpPr/>
            <p:nvPr/>
          </p:nvSpPr>
          <p:spPr>
            <a:xfrm>
              <a:off x="365760" y="4471416"/>
              <a:ext cx="219456" cy="219456"/>
            </a:xfrm>
            <a:prstGeom prst="ellipse">
              <a:avLst/>
            </a:prstGeom>
            <a:solidFill>
              <a:srgbClr val="6C63FF"/>
            </a:solidFill>
            <a:ln w="12700">
              <a:solidFill>
                <a:srgbClr val="6C63FF"/>
              </a:solidFill>
              <a:prstDash val="solid"/>
            </a:ln>
          </p:spPr>
        </p:sp>
        <p:sp>
          <p:nvSpPr>
            <p:cNvPr id="42" name="Text 40"/>
            <p:cNvSpPr/>
            <p:nvPr/>
          </p:nvSpPr>
          <p:spPr>
            <a:xfrm>
              <a:off x="640080" y="4389120"/>
              <a:ext cx="1719072" cy="402336"/>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SAGE (2025)</a:t>
              </a:r>
              <a:endParaRPr lang="en-US" sz="1100" dirty="0"/>
            </a:p>
          </p:txBody>
        </p:sp>
        <p:sp>
          <p:nvSpPr>
            <p:cNvPr id="43" name="Text 41"/>
            <p:cNvSpPr/>
            <p:nvPr/>
          </p:nvSpPr>
          <p:spPr>
            <a:xfrm>
              <a:off x="2395728" y="4389120"/>
              <a:ext cx="1353312"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Cross-domain</a:t>
              </a:r>
              <a:endParaRPr lang="en-US" sz="1050" dirty="0"/>
            </a:p>
          </p:txBody>
        </p:sp>
        <p:sp>
          <p:nvSpPr>
            <p:cNvPr id="44" name="Text 42"/>
            <p:cNvSpPr/>
            <p:nvPr/>
          </p:nvSpPr>
          <p:spPr>
            <a:xfrm>
              <a:off x="3785616" y="4389120"/>
              <a:ext cx="1536192" cy="402336"/>
            </a:xfrm>
            <a:prstGeom prst="rect">
              <a:avLst/>
            </a:prstGeom>
            <a:noFill/>
            <a:ln/>
          </p:spPr>
          <p:txBody>
            <a:bodyPr wrap="square" lIns="0" tIns="0" rIns="0" bIns="0" rtlCol="0" anchor="ctr"/>
            <a:lstStyle/>
            <a:p>
              <a:pPr marL="0" indent="0">
                <a:buNone/>
              </a:pPr>
              <a:r>
                <a:rPr lang="en-US" sz="1050" dirty="0">
                  <a:solidFill>
                    <a:srgbClr val="1A2E44"/>
                  </a:solidFill>
                  <a:latin typeface="Calibri" pitchFamily="34" charset="0"/>
                  <a:ea typeface="Calibri" pitchFamily="34" charset="-122"/>
                  <a:cs typeface="Calibri" pitchFamily="34" charset="-120"/>
                </a:rPr>
                <a:t>Framework comparison</a:t>
              </a:r>
              <a:endParaRPr lang="en-US" sz="1050" dirty="0"/>
            </a:p>
          </p:txBody>
        </p:sp>
        <p:sp>
          <p:nvSpPr>
            <p:cNvPr id="45" name="Text 43"/>
            <p:cNvSpPr/>
            <p:nvPr/>
          </p:nvSpPr>
          <p:spPr>
            <a:xfrm>
              <a:off x="5358384" y="4389120"/>
              <a:ext cx="3291840" cy="402336"/>
            </a:xfrm>
            <a:prstGeom prst="rect">
              <a:avLst/>
            </a:prstGeom>
            <a:noFill/>
            <a:ln/>
          </p:spPr>
          <p:txBody>
            <a:bodyPr wrap="square" lIns="0" tIns="0" rIns="0" bIns="0" rtlCol="0" anchor="ctr"/>
            <a:lstStyle/>
            <a:p>
              <a:pPr marL="0" indent="0">
                <a:buNone/>
              </a:pPr>
              <a:r>
                <a:rPr lang="en-US" sz="1050" dirty="0">
                  <a:solidFill>
                    <a:srgbClr val="5E7A96"/>
                  </a:solidFill>
                  <a:latin typeface="Calibri" pitchFamily="34" charset="0"/>
                  <a:ea typeface="Calibri" pitchFamily="34" charset="-122"/>
                  <a:cs typeface="Calibri" pitchFamily="34" charset="-120"/>
                </a:rPr>
                <a:t>Identifies definitional inconsistencies; proposes unified evaluation</a:t>
              </a:r>
              <a:endParaRPr lang="en-US" sz="1050" dirty="0"/>
            </a:p>
          </p:txBody>
        </p:sp>
      </p:grpSp>
      <p:sp>
        <p:nvSpPr>
          <p:cNvPr id="54" name="Shape 0">
            <a:extLst>
              <a:ext uri="{FF2B5EF4-FFF2-40B4-BE49-F238E27FC236}">
                <a16:creationId xmlns:a16="http://schemas.microsoft.com/office/drawing/2014/main" id="{EDE5403B-E1EB-4A0C-911B-52818E53950F}"/>
              </a:ext>
            </a:extLst>
          </p:cNvPr>
          <p:cNvSpPr/>
          <p:nvPr/>
        </p:nvSpPr>
        <p:spPr>
          <a:xfrm>
            <a:off x="8778240" y="4261972"/>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grpSp>
        <p:nvGrpSpPr>
          <p:cNvPr id="13" name="Group 12"/>
          <p:cNvGrpSpPr/>
          <p:nvPr/>
        </p:nvGrpSpPr>
        <p:grpSpPr>
          <a:xfrm>
            <a:off x="7097486" y="169164"/>
            <a:ext cx="1897600" cy="274320"/>
            <a:chOff x="457200" y="256032"/>
            <a:chExt cx="2153412" cy="274320"/>
          </a:xfrm>
        </p:grpSpPr>
        <p:sp>
          <p:nvSpPr>
            <p:cNvPr id="2" name="Shape 0"/>
            <p:cNvSpPr/>
            <p:nvPr/>
          </p:nvSpPr>
          <p:spPr>
            <a:xfrm>
              <a:off x="457200" y="256032"/>
              <a:ext cx="2153412" cy="274320"/>
            </a:xfrm>
            <a:prstGeom prst="roundRect">
              <a:avLst>
                <a:gd name="adj" fmla="val 20000"/>
              </a:avLst>
            </a:prstGeom>
            <a:solidFill>
              <a:srgbClr val="00B4D8">
                <a:alpha val="80000"/>
              </a:srgbClr>
            </a:solidFill>
            <a:ln w="12700">
              <a:solidFill>
                <a:srgbClr val="00B4D8"/>
              </a:solidFill>
              <a:prstDash val="solid"/>
            </a:ln>
          </p:spPr>
        </p:sp>
        <p:sp>
          <p:nvSpPr>
            <p:cNvPr id="3" name="Text 1"/>
            <p:cNvSpPr/>
            <p:nvPr/>
          </p:nvSpPr>
          <p:spPr>
            <a:xfrm>
              <a:off x="502920" y="265176"/>
              <a:ext cx="2061972" cy="256032"/>
            </a:xfrm>
            <a:prstGeom prst="rect">
              <a:avLst/>
            </a:prstGeom>
            <a:noFill/>
            <a:ln/>
          </p:spPr>
          <p:txBody>
            <a:bodyPr wrap="square" rtlCol="0" anchor="ctr"/>
            <a:lstStyle/>
            <a:p>
              <a:pPr marL="0" indent="0" algn="r">
                <a:buNone/>
              </a:pPr>
              <a:r>
                <a:rPr lang="en-US" sz="900" b="1" kern="0" spc="200" dirty="0">
                  <a:solidFill>
                    <a:srgbClr val="FFFFFF"/>
                  </a:solidFill>
                </a:rPr>
                <a:t>FUTURE DIRECTIONS</a:t>
              </a:r>
              <a:endParaRPr lang="en-US" sz="900" dirty="0"/>
            </a:p>
          </p:txBody>
        </p:sp>
      </p:grpSp>
      <p:sp>
        <p:nvSpPr>
          <p:cNvPr id="4" name="Text 2"/>
          <p:cNvSpPr/>
          <p:nvPr/>
        </p:nvSpPr>
        <p:spPr>
          <a:xfrm>
            <a:off x="148046" y="169164"/>
            <a:ext cx="8229600" cy="54864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AI/ML Integration &amp; Quantum Resilience</a:t>
            </a:r>
            <a:endParaRPr lang="en-US" sz="2600" dirty="0"/>
          </a:p>
        </p:txBody>
      </p:sp>
      <p:grpSp>
        <p:nvGrpSpPr>
          <p:cNvPr id="14" name="Group 13"/>
          <p:cNvGrpSpPr/>
          <p:nvPr/>
        </p:nvGrpSpPr>
        <p:grpSpPr>
          <a:xfrm>
            <a:off x="365760" y="1219196"/>
            <a:ext cx="4160520" cy="3520440"/>
            <a:chOff x="365760" y="1371600"/>
            <a:chExt cx="4160520" cy="3520440"/>
          </a:xfrm>
        </p:grpSpPr>
        <p:sp>
          <p:nvSpPr>
            <p:cNvPr id="5" name="Shape 3"/>
            <p:cNvSpPr/>
            <p:nvPr/>
          </p:nvSpPr>
          <p:spPr>
            <a:xfrm>
              <a:off x="365760" y="1371600"/>
              <a:ext cx="4160520" cy="3520440"/>
            </a:xfrm>
            <a:prstGeom prst="rect">
              <a:avLst/>
            </a:prstGeom>
            <a:solidFill>
              <a:srgbClr val="0A1628"/>
            </a:solidFill>
            <a:ln w="15240">
              <a:solidFill>
                <a:srgbClr val="00B4D8"/>
              </a:solidFill>
              <a:prstDash val="solid"/>
            </a:ln>
          </p:spPr>
        </p:sp>
        <p:pic>
          <p:nvPicPr>
            <p:cNvPr id="6" name="Image 0" descr="preencoded.png"/>
            <p:cNvPicPr>
              <a:picLocks noChangeAspect="1"/>
            </p:cNvPicPr>
            <p:nvPr/>
          </p:nvPicPr>
          <p:blipFill>
            <a:blip r:embed="rId3"/>
            <a:stretch>
              <a:fillRect/>
            </a:stretch>
          </p:blipFill>
          <p:spPr>
            <a:xfrm>
              <a:off x="502920" y="1481328"/>
              <a:ext cx="822960" cy="822960"/>
            </a:xfrm>
            <a:prstGeom prst="rect">
              <a:avLst/>
            </a:prstGeom>
          </p:spPr>
        </p:pic>
        <p:sp>
          <p:nvSpPr>
            <p:cNvPr id="7" name="Text 4"/>
            <p:cNvSpPr/>
            <p:nvPr/>
          </p:nvSpPr>
          <p:spPr>
            <a:xfrm>
              <a:off x="1389888" y="1554480"/>
              <a:ext cx="3017520" cy="640080"/>
            </a:xfrm>
            <a:prstGeom prst="rect">
              <a:avLst/>
            </a:prstGeom>
            <a:noFill/>
            <a:ln/>
          </p:spPr>
          <p:txBody>
            <a:bodyPr wrap="square" rtlCol="0" anchor="ctr"/>
            <a:lstStyle/>
            <a:p>
              <a:pPr marL="0" indent="0">
                <a:buNone/>
              </a:pPr>
              <a:r>
                <a:rPr lang="en-US" sz="1800" b="1" dirty="0">
                  <a:solidFill>
                    <a:srgbClr val="00B4D8"/>
                  </a:solidFill>
                  <a:latin typeface="Trebuchet MS" pitchFamily="34" charset="0"/>
                  <a:ea typeface="Trebuchet MS" pitchFamily="34" charset="-122"/>
                  <a:cs typeface="Trebuchet MS" pitchFamily="34" charset="-120"/>
                </a:rPr>
                <a:t>AI &amp; Machine Learning</a:t>
              </a:r>
              <a:endParaRPr lang="en-US" sz="1800" dirty="0"/>
            </a:p>
          </p:txBody>
        </p:sp>
        <p:sp>
          <p:nvSpPr>
            <p:cNvPr id="8" name="Text 5"/>
            <p:cNvSpPr/>
            <p:nvPr/>
          </p:nvSpPr>
          <p:spPr>
            <a:xfrm>
              <a:off x="502920" y="2390502"/>
              <a:ext cx="3886200" cy="237744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ZTA generates massive telemetry — too much for human analysis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ML models analyse behavioral patterns across millions of events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Anomalies flagged in real time; threats predicted before materializing</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Autonomously adjusts policies based on real-time risk signals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Tightens controls when suspicious; relaxes when context confirms legitimacy</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Transforms security posture from reactive to genuinely proactive</a:t>
              </a:r>
              <a:endParaRPr lang="en-US" sz="1200" dirty="0"/>
            </a:p>
          </p:txBody>
        </p:sp>
      </p:grpSp>
      <p:grpSp>
        <p:nvGrpSpPr>
          <p:cNvPr id="16" name="Group 15"/>
          <p:cNvGrpSpPr/>
          <p:nvPr/>
        </p:nvGrpSpPr>
        <p:grpSpPr>
          <a:xfrm>
            <a:off x="4688262" y="1219196"/>
            <a:ext cx="4160520" cy="3520440"/>
            <a:chOff x="4590288" y="1371600"/>
            <a:chExt cx="4160520" cy="3520440"/>
          </a:xfrm>
        </p:grpSpPr>
        <p:sp>
          <p:nvSpPr>
            <p:cNvPr id="9" name="Shape 6"/>
            <p:cNvSpPr/>
            <p:nvPr/>
          </p:nvSpPr>
          <p:spPr>
            <a:xfrm>
              <a:off x="4590288" y="1371600"/>
              <a:ext cx="4160520" cy="3520440"/>
            </a:xfrm>
            <a:prstGeom prst="rect">
              <a:avLst/>
            </a:prstGeom>
            <a:solidFill>
              <a:srgbClr val="0A1628"/>
            </a:solidFill>
            <a:ln w="15240">
              <a:solidFill>
                <a:srgbClr val="6C63FF"/>
              </a:solidFill>
              <a:prstDash val="solid"/>
            </a:ln>
          </p:spPr>
        </p:sp>
        <p:grpSp>
          <p:nvGrpSpPr>
            <p:cNvPr id="15" name="Group 14"/>
            <p:cNvGrpSpPr/>
            <p:nvPr/>
          </p:nvGrpSpPr>
          <p:grpSpPr>
            <a:xfrm>
              <a:off x="4800600" y="1481328"/>
              <a:ext cx="3904488" cy="3286614"/>
              <a:chOff x="4800600" y="1481328"/>
              <a:chExt cx="3904488" cy="3286614"/>
            </a:xfrm>
          </p:grpSpPr>
          <p:pic>
            <p:nvPicPr>
              <p:cNvPr id="10" name="Image 1" descr="preencoded.png"/>
              <p:cNvPicPr>
                <a:picLocks noChangeAspect="1"/>
              </p:cNvPicPr>
              <p:nvPr/>
            </p:nvPicPr>
            <p:blipFill>
              <a:blip r:embed="rId4"/>
              <a:stretch>
                <a:fillRect/>
              </a:stretch>
            </p:blipFill>
            <p:spPr>
              <a:xfrm>
                <a:off x="4800600" y="1481328"/>
                <a:ext cx="822960" cy="822960"/>
              </a:xfrm>
              <a:prstGeom prst="rect">
                <a:avLst/>
              </a:prstGeom>
            </p:spPr>
          </p:pic>
          <p:sp>
            <p:nvSpPr>
              <p:cNvPr id="11" name="Text 7"/>
              <p:cNvSpPr/>
              <p:nvPr/>
            </p:nvSpPr>
            <p:spPr>
              <a:xfrm>
                <a:off x="5687568" y="1554480"/>
                <a:ext cx="3017520" cy="640080"/>
              </a:xfrm>
              <a:prstGeom prst="rect">
                <a:avLst/>
              </a:prstGeom>
              <a:noFill/>
              <a:ln/>
            </p:spPr>
            <p:txBody>
              <a:bodyPr wrap="square" rtlCol="0" anchor="ctr"/>
              <a:lstStyle/>
              <a:p>
                <a:pPr marL="0" indent="0">
                  <a:buNone/>
                </a:pPr>
                <a:r>
                  <a:rPr lang="en-US" sz="1700" b="1" dirty="0">
                    <a:solidFill>
                      <a:srgbClr val="6C63FF"/>
                    </a:solidFill>
                    <a:latin typeface="Trebuchet MS" pitchFamily="34" charset="0"/>
                    <a:ea typeface="Trebuchet MS" pitchFamily="34" charset="-122"/>
                    <a:cs typeface="Trebuchet MS" pitchFamily="34" charset="-120"/>
                  </a:rPr>
                  <a:t>Quantum-Resistant Crypto</a:t>
                </a:r>
                <a:endParaRPr lang="en-US" sz="1700" dirty="0"/>
              </a:p>
            </p:txBody>
          </p:sp>
          <p:sp>
            <p:nvSpPr>
              <p:cNvPr id="12" name="Text 8"/>
              <p:cNvSpPr/>
              <p:nvPr/>
            </p:nvSpPr>
            <p:spPr>
              <a:xfrm>
                <a:off x="4800600" y="2390502"/>
                <a:ext cx="3886200" cy="237744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Current standards (RSA, ECC) rely on hard mathematical problems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Sufficiently scaled quantum computers will break these assumptions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ZTA relies on strong cryptography for identity &amp; data-in-transit</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Quantum computing poses a critical future risk to ZTA foundations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Transition now to NIST post-quantum algorithm standards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Build crypto-agility: swap algorithms without overhauling architecture</a:t>
                </a:r>
                <a:endParaRPr lang="en-US" sz="1200" dirty="0"/>
              </a:p>
            </p:txBody>
          </p:sp>
        </p:grpSp>
      </p:grpSp>
      <p:sp>
        <p:nvSpPr>
          <p:cNvPr id="17" name="Shape 0">
            <a:extLst>
              <a:ext uri="{FF2B5EF4-FFF2-40B4-BE49-F238E27FC236}">
                <a16:creationId xmlns:a16="http://schemas.microsoft.com/office/drawing/2014/main" id="{2474AF7E-25D4-405B-9409-C58DD5E2BE4E}"/>
              </a:ext>
            </a:extLst>
          </p:cNvPr>
          <p:cNvSpPr/>
          <p:nvPr/>
        </p:nvSpPr>
        <p:spPr>
          <a:xfrm>
            <a:off x="148046" y="4535424"/>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a:effectLst/>
      </p:bgPr>
    </p:bg>
    <p:spTree>
      <p:nvGrpSpPr>
        <p:cNvPr id="1" name=""/>
        <p:cNvGrpSpPr/>
        <p:nvPr/>
      </p:nvGrpSpPr>
      <p:grpSpPr>
        <a:xfrm>
          <a:off x="0" y="0"/>
          <a:ext cx="0" cy="0"/>
          <a:chOff x="0" y="0"/>
          <a:chExt cx="0" cy="0"/>
        </a:xfrm>
      </p:grpSpPr>
      <p:grpSp>
        <p:nvGrpSpPr>
          <p:cNvPr id="35" name="Group 34"/>
          <p:cNvGrpSpPr/>
          <p:nvPr/>
        </p:nvGrpSpPr>
        <p:grpSpPr>
          <a:xfrm>
            <a:off x="217715" y="173736"/>
            <a:ext cx="8092440" cy="548640"/>
            <a:chOff x="457200" y="502920"/>
            <a:chExt cx="8092440" cy="548640"/>
          </a:xfrm>
        </p:grpSpPr>
        <p:sp>
          <p:nvSpPr>
            <p:cNvPr id="2" name="Shape 0"/>
            <p:cNvSpPr/>
            <p:nvPr/>
          </p:nvSpPr>
          <p:spPr>
            <a:xfrm>
              <a:off x="457200" y="566928"/>
              <a:ext cx="64008" cy="438912"/>
            </a:xfrm>
            <a:prstGeom prst="rect">
              <a:avLst/>
            </a:prstGeom>
            <a:solidFill>
              <a:srgbClr val="00B4D8"/>
            </a:solidFill>
            <a:ln w="12700">
              <a:solidFill>
                <a:srgbClr val="00B4D8"/>
              </a:solidFill>
              <a:prstDash val="solid"/>
            </a:ln>
          </p:spPr>
        </p:sp>
        <p:sp>
          <p:nvSpPr>
            <p:cNvPr id="3" name="Text 1"/>
            <p:cNvSpPr/>
            <p:nvPr/>
          </p:nvSpPr>
          <p:spPr>
            <a:xfrm>
              <a:off x="594360" y="502920"/>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Key Findings &amp; Discussion</a:t>
              </a:r>
              <a:endParaRPr lang="en-US" sz="2600" dirty="0"/>
            </a:p>
          </p:txBody>
        </p:sp>
      </p:grpSp>
      <p:sp>
        <p:nvSpPr>
          <p:cNvPr id="4" name="Text 2"/>
          <p:cNvSpPr/>
          <p:nvPr/>
        </p:nvSpPr>
        <p:spPr>
          <a:xfrm>
            <a:off x="428027" y="676656"/>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What the review reveals about ZTA in practice</a:t>
            </a:r>
            <a:endParaRPr lang="en-US" sz="1300" dirty="0"/>
          </a:p>
        </p:txBody>
      </p:sp>
      <p:grpSp>
        <p:nvGrpSpPr>
          <p:cNvPr id="36" name="Group 35"/>
          <p:cNvGrpSpPr/>
          <p:nvPr/>
        </p:nvGrpSpPr>
        <p:grpSpPr>
          <a:xfrm>
            <a:off x="343988" y="1199600"/>
            <a:ext cx="4206240" cy="1115568"/>
            <a:chOff x="365760" y="1417320"/>
            <a:chExt cx="4206240" cy="1115568"/>
          </a:xfrm>
        </p:grpSpPr>
        <p:sp>
          <p:nvSpPr>
            <p:cNvPr id="5" name="Shape 3"/>
            <p:cNvSpPr/>
            <p:nvPr/>
          </p:nvSpPr>
          <p:spPr>
            <a:xfrm>
              <a:off x="365760" y="1417320"/>
              <a:ext cx="4206240" cy="1115568"/>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6" name="Shape 4"/>
            <p:cNvSpPr/>
            <p:nvPr/>
          </p:nvSpPr>
          <p:spPr>
            <a:xfrm>
              <a:off x="365760" y="1417320"/>
              <a:ext cx="502920" cy="1115568"/>
            </a:xfrm>
            <a:prstGeom prst="rect">
              <a:avLst/>
            </a:prstGeom>
            <a:solidFill>
              <a:srgbClr val="00B4D8"/>
            </a:solidFill>
            <a:ln w="12700">
              <a:solidFill>
                <a:srgbClr val="00B4D8"/>
              </a:solidFill>
              <a:prstDash val="solid"/>
            </a:ln>
          </p:spPr>
        </p:sp>
        <p:sp>
          <p:nvSpPr>
            <p:cNvPr id="7" name="Text 5"/>
            <p:cNvSpPr/>
            <p:nvPr/>
          </p:nvSpPr>
          <p:spPr>
            <a:xfrm>
              <a:off x="365760" y="1417320"/>
              <a:ext cx="502920" cy="1115568"/>
            </a:xfrm>
            <a:prstGeom prst="rect">
              <a:avLst/>
            </a:prstGeom>
            <a:noFill/>
            <a:ln/>
          </p:spPr>
          <p:txBody>
            <a:bodyPr wrap="square" rtlCol="0" anchor="ctr"/>
            <a:lstStyle/>
            <a:p>
              <a:pPr marL="0" indent="0" algn="ctr">
                <a:buNone/>
              </a:pPr>
              <a:r>
                <a:rPr lang="en-US" sz="1400" b="1" dirty="0">
                  <a:solidFill>
                    <a:srgbClr val="FFFFFF"/>
                  </a:solidFill>
                </a:rPr>
                <a:t>F1</a:t>
              </a:r>
              <a:endParaRPr lang="en-US" sz="1400" dirty="0"/>
            </a:p>
          </p:txBody>
        </p:sp>
        <p:sp>
          <p:nvSpPr>
            <p:cNvPr id="8" name="Text 6"/>
            <p:cNvSpPr/>
            <p:nvPr/>
          </p:nvSpPr>
          <p:spPr>
            <a:xfrm>
              <a:off x="960120" y="1508760"/>
              <a:ext cx="3520440" cy="347472"/>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Fragmented Standards Landscape</a:t>
              </a:r>
              <a:endParaRPr lang="en-US" sz="1200" dirty="0"/>
            </a:p>
          </p:txBody>
        </p:sp>
        <p:sp>
          <p:nvSpPr>
            <p:cNvPr id="9" name="Text 7"/>
            <p:cNvSpPr/>
            <p:nvPr/>
          </p:nvSpPr>
          <p:spPr>
            <a:xfrm>
              <a:off x="960120" y="1863634"/>
              <a:ext cx="3520440" cy="59436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NIST, CISA, and DoD frameworks differ in scope and prescriptiveness. No single framework fits all organizational contexts.</a:t>
              </a:r>
              <a:endParaRPr lang="en-US" sz="1100" dirty="0"/>
            </a:p>
          </p:txBody>
        </p:sp>
      </p:grpSp>
      <p:grpSp>
        <p:nvGrpSpPr>
          <p:cNvPr id="38" name="Group 37"/>
          <p:cNvGrpSpPr/>
          <p:nvPr/>
        </p:nvGrpSpPr>
        <p:grpSpPr>
          <a:xfrm>
            <a:off x="4709160" y="1199600"/>
            <a:ext cx="4206240" cy="1115568"/>
            <a:chOff x="4709160" y="1417320"/>
            <a:chExt cx="4206240" cy="1115568"/>
          </a:xfrm>
        </p:grpSpPr>
        <p:sp>
          <p:nvSpPr>
            <p:cNvPr id="10" name="Shape 8"/>
            <p:cNvSpPr/>
            <p:nvPr/>
          </p:nvSpPr>
          <p:spPr>
            <a:xfrm>
              <a:off x="4709160" y="1417320"/>
              <a:ext cx="4206240" cy="1115568"/>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1" name="Shape 9"/>
            <p:cNvSpPr/>
            <p:nvPr/>
          </p:nvSpPr>
          <p:spPr>
            <a:xfrm>
              <a:off x="4709160" y="1417320"/>
              <a:ext cx="502920" cy="1115568"/>
            </a:xfrm>
            <a:prstGeom prst="rect">
              <a:avLst/>
            </a:prstGeom>
            <a:solidFill>
              <a:srgbClr val="5E60CE"/>
            </a:solidFill>
            <a:ln w="12700">
              <a:solidFill>
                <a:srgbClr val="5E60CE"/>
              </a:solidFill>
              <a:prstDash val="solid"/>
            </a:ln>
          </p:spPr>
        </p:sp>
        <p:sp>
          <p:nvSpPr>
            <p:cNvPr id="12" name="Text 10"/>
            <p:cNvSpPr/>
            <p:nvPr/>
          </p:nvSpPr>
          <p:spPr>
            <a:xfrm>
              <a:off x="4709160" y="1417320"/>
              <a:ext cx="502920" cy="1115568"/>
            </a:xfrm>
            <a:prstGeom prst="rect">
              <a:avLst/>
            </a:prstGeom>
            <a:noFill/>
            <a:ln/>
          </p:spPr>
          <p:txBody>
            <a:bodyPr wrap="square" rtlCol="0" anchor="ctr"/>
            <a:lstStyle/>
            <a:p>
              <a:pPr marL="0" indent="0" algn="ctr">
                <a:buNone/>
              </a:pPr>
              <a:r>
                <a:rPr lang="en-US" sz="1400" b="1" dirty="0">
                  <a:solidFill>
                    <a:srgbClr val="FFFFFF"/>
                  </a:solidFill>
                </a:rPr>
                <a:t>F2</a:t>
              </a:r>
              <a:endParaRPr lang="en-US" sz="1400" dirty="0"/>
            </a:p>
          </p:txBody>
        </p:sp>
        <p:sp>
          <p:nvSpPr>
            <p:cNvPr id="13" name="Text 11"/>
            <p:cNvSpPr/>
            <p:nvPr/>
          </p:nvSpPr>
          <p:spPr>
            <a:xfrm>
              <a:off x="5303520" y="1508760"/>
              <a:ext cx="3520440" cy="347472"/>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Identity Is the New Perimeter</a:t>
              </a:r>
              <a:endParaRPr lang="en-US" sz="1200" dirty="0"/>
            </a:p>
          </p:txBody>
        </p:sp>
        <p:sp>
          <p:nvSpPr>
            <p:cNvPr id="14" name="Text 12"/>
            <p:cNvSpPr/>
            <p:nvPr/>
          </p:nvSpPr>
          <p:spPr>
            <a:xfrm>
              <a:off x="5303520" y="1809204"/>
              <a:ext cx="3520440" cy="59436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Across all frameworks and literature, identity verification consistently emerges as the most critical Zero Trust control.</a:t>
              </a:r>
              <a:endParaRPr lang="en-US" sz="1100" dirty="0"/>
            </a:p>
          </p:txBody>
        </p:sp>
      </p:grpSp>
      <p:grpSp>
        <p:nvGrpSpPr>
          <p:cNvPr id="42" name="Group 41"/>
          <p:cNvGrpSpPr/>
          <p:nvPr/>
        </p:nvGrpSpPr>
        <p:grpSpPr>
          <a:xfrm>
            <a:off x="343988" y="2477584"/>
            <a:ext cx="4206240" cy="1115568"/>
            <a:chOff x="365760" y="2651760"/>
            <a:chExt cx="4206240" cy="1115568"/>
          </a:xfrm>
        </p:grpSpPr>
        <p:sp>
          <p:nvSpPr>
            <p:cNvPr id="15" name="Shape 13"/>
            <p:cNvSpPr/>
            <p:nvPr/>
          </p:nvSpPr>
          <p:spPr>
            <a:xfrm>
              <a:off x="365760" y="2651760"/>
              <a:ext cx="4206240" cy="1115568"/>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16" name="Shape 14"/>
            <p:cNvSpPr/>
            <p:nvPr/>
          </p:nvSpPr>
          <p:spPr>
            <a:xfrm>
              <a:off x="365760" y="2651760"/>
              <a:ext cx="502920" cy="1115568"/>
            </a:xfrm>
            <a:prstGeom prst="rect">
              <a:avLst/>
            </a:prstGeom>
            <a:solidFill>
              <a:srgbClr val="00B074"/>
            </a:solidFill>
            <a:ln w="12700">
              <a:solidFill>
                <a:srgbClr val="00B074"/>
              </a:solidFill>
              <a:prstDash val="solid"/>
            </a:ln>
          </p:spPr>
        </p:sp>
        <p:sp>
          <p:nvSpPr>
            <p:cNvPr id="17" name="Text 15"/>
            <p:cNvSpPr/>
            <p:nvPr/>
          </p:nvSpPr>
          <p:spPr>
            <a:xfrm>
              <a:off x="365760" y="2651760"/>
              <a:ext cx="502920" cy="1115568"/>
            </a:xfrm>
            <a:prstGeom prst="rect">
              <a:avLst/>
            </a:prstGeom>
            <a:noFill/>
            <a:ln/>
          </p:spPr>
          <p:txBody>
            <a:bodyPr wrap="square" rtlCol="0" anchor="ctr"/>
            <a:lstStyle/>
            <a:p>
              <a:pPr marL="0" indent="0" algn="ctr">
                <a:buNone/>
              </a:pPr>
              <a:r>
                <a:rPr lang="en-US" sz="1400" b="1" dirty="0">
                  <a:solidFill>
                    <a:srgbClr val="FFFFFF"/>
                  </a:solidFill>
                </a:rPr>
                <a:t>F3</a:t>
              </a:r>
              <a:endParaRPr lang="en-US" sz="1400" dirty="0"/>
            </a:p>
          </p:txBody>
        </p:sp>
        <p:sp>
          <p:nvSpPr>
            <p:cNvPr id="18" name="Text 16"/>
            <p:cNvSpPr/>
            <p:nvPr/>
          </p:nvSpPr>
          <p:spPr>
            <a:xfrm>
              <a:off x="960120" y="2743200"/>
              <a:ext cx="3520440" cy="347472"/>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Micro-segmentation Reduces Risk</a:t>
              </a:r>
              <a:endParaRPr lang="en-US" sz="1200" dirty="0"/>
            </a:p>
          </p:txBody>
        </p:sp>
        <p:sp>
          <p:nvSpPr>
            <p:cNvPr id="19" name="Text 17"/>
            <p:cNvSpPr/>
            <p:nvPr/>
          </p:nvSpPr>
          <p:spPr>
            <a:xfrm>
              <a:off x="960120" y="3076302"/>
              <a:ext cx="3520440" cy="59436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Network segmentation is proven to limit lateral movement and minimize breach impact — a key empirical finding from IEEE (2025).</a:t>
              </a:r>
              <a:endParaRPr lang="en-US" sz="1100" dirty="0"/>
            </a:p>
          </p:txBody>
        </p:sp>
      </p:grpSp>
      <p:grpSp>
        <p:nvGrpSpPr>
          <p:cNvPr id="39" name="Group 38"/>
          <p:cNvGrpSpPr/>
          <p:nvPr/>
        </p:nvGrpSpPr>
        <p:grpSpPr>
          <a:xfrm>
            <a:off x="4709160" y="2477584"/>
            <a:ext cx="4206240" cy="1115568"/>
            <a:chOff x="4709160" y="2651760"/>
            <a:chExt cx="4206240" cy="1115568"/>
          </a:xfrm>
        </p:grpSpPr>
        <p:sp>
          <p:nvSpPr>
            <p:cNvPr id="20" name="Shape 18"/>
            <p:cNvSpPr/>
            <p:nvPr/>
          </p:nvSpPr>
          <p:spPr>
            <a:xfrm>
              <a:off x="4709160" y="2651760"/>
              <a:ext cx="4206240" cy="1115568"/>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21" name="Shape 19"/>
            <p:cNvSpPr/>
            <p:nvPr/>
          </p:nvSpPr>
          <p:spPr>
            <a:xfrm>
              <a:off x="4709160" y="2651760"/>
              <a:ext cx="502920" cy="1115568"/>
            </a:xfrm>
            <a:prstGeom prst="rect">
              <a:avLst/>
            </a:prstGeom>
            <a:solidFill>
              <a:srgbClr val="FF6B6B"/>
            </a:solidFill>
            <a:ln w="12700">
              <a:solidFill>
                <a:srgbClr val="FF6B6B"/>
              </a:solidFill>
              <a:prstDash val="solid"/>
            </a:ln>
          </p:spPr>
        </p:sp>
        <p:sp>
          <p:nvSpPr>
            <p:cNvPr id="22" name="Text 20"/>
            <p:cNvSpPr/>
            <p:nvPr/>
          </p:nvSpPr>
          <p:spPr>
            <a:xfrm>
              <a:off x="4709160" y="2651760"/>
              <a:ext cx="502920" cy="1115568"/>
            </a:xfrm>
            <a:prstGeom prst="rect">
              <a:avLst/>
            </a:prstGeom>
            <a:noFill/>
            <a:ln/>
          </p:spPr>
          <p:txBody>
            <a:bodyPr wrap="square" rtlCol="0" anchor="ctr"/>
            <a:lstStyle/>
            <a:p>
              <a:pPr marL="0" indent="0" algn="ctr">
                <a:buNone/>
              </a:pPr>
              <a:r>
                <a:rPr lang="en-US" sz="1400" b="1" dirty="0">
                  <a:solidFill>
                    <a:srgbClr val="FFFFFF"/>
                  </a:solidFill>
                </a:rPr>
                <a:t>F4</a:t>
              </a:r>
              <a:endParaRPr lang="en-US" sz="1400" dirty="0"/>
            </a:p>
          </p:txBody>
        </p:sp>
        <p:sp>
          <p:nvSpPr>
            <p:cNvPr id="23" name="Text 21"/>
            <p:cNvSpPr/>
            <p:nvPr/>
          </p:nvSpPr>
          <p:spPr>
            <a:xfrm>
              <a:off x="5303520" y="2743200"/>
              <a:ext cx="3520440" cy="347472"/>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Implementation Gap Exists</a:t>
              </a:r>
              <a:endParaRPr lang="en-US" sz="1200" dirty="0"/>
            </a:p>
          </p:txBody>
        </p:sp>
        <p:sp>
          <p:nvSpPr>
            <p:cNvPr id="24" name="Text 22"/>
            <p:cNvSpPr/>
            <p:nvPr/>
          </p:nvSpPr>
          <p:spPr>
            <a:xfrm>
              <a:off x="5303520" y="3087188"/>
              <a:ext cx="3520440" cy="59436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Significant gap between framework prescriptions and real-world adoption, particularly for organizations with legacy infrastructure.</a:t>
              </a:r>
              <a:endParaRPr lang="en-US" sz="1100" dirty="0"/>
            </a:p>
          </p:txBody>
        </p:sp>
      </p:grpSp>
      <p:grpSp>
        <p:nvGrpSpPr>
          <p:cNvPr id="41" name="Group 40"/>
          <p:cNvGrpSpPr/>
          <p:nvPr/>
        </p:nvGrpSpPr>
        <p:grpSpPr>
          <a:xfrm>
            <a:off x="343988" y="3766454"/>
            <a:ext cx="4206240" cy="1115568"/>
            <a:chOff x="365760" y="3886200"/>
            <a:chExt cx="4206240" cy="1115568"/>
          </a:xfrm>
        </p:grpSpPr>
        <p:sp>
          <p:nvSpPr>
            <p:cNvPr id="25" name="Shape 23"/>
            <p:cNvSpPr/>
            <p:nvPr/>
          </p:nvSpPr>
          <p:spPr>
            <a:xfrm>
              <a:off x="365760" y="3886200"/>
              <a:ext cx="4206240" cy="1115568"/>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26" name="Shape 24"/>
            <p:cNvSpPr/>
            <p:nvPr/>
          </p:nvSpPr>
          <p:spPr>
            <a:xfrm>
              <a:off x="365760" y="3886200"/>
              <a:ext cx="502920" cy="1115568"/>
            </a:xfrm>
            <a:prstGeom prst="rect">
              <a:avLst/>
            </a:prstGeom>
            <a:solidFill>
              <a:srgbClr val="FFC857"/>
            </a:solidFill>
            <a:ln w="12700">
              <a:solidFill>
                <a:srgbClr val="FFC857"/>
              </a:solidFill>
              <a:prstDash val="solid"/>
            </a:ln>
          </p:spPr>
        </p:sp>
        <p:sp>
          <p:nvSpPr>
            <p:cNvPr id="27" name="Text 25"/>
            <p:cNvSpPr/>
            <p:nvPr/>
          </p:nvSpPr>
          <p:spPr>
            <a:xfrm>
              <a:off x="365760" y="3886200"/>
              <a:ext cx="502920" cy="1115568"/>
            </a:xfrm>
            <a:prstGeom prst="rect">
              <a:avLst/>
            </a:prstGeom>
            <a:noFill/>
            <a:ln/>
          </p:spPr>
          <p:txBody>
            <a:bodyPr wrap="square" rtlCol="0" anchor="ctr"/>
            <a:lstStyle/>
            <a:p>
              <a:pPr marL="0" indent="0" algn="ctr">
                <a:buNone/>
              </a:pPr>
              <a:r>
                <a:rPr lang="en-US" sz="1400" b="1" dirty="0">
                  <a:solidFill>
                    <a:srgbClr val="FFFFFF"/>
                  </a:solidFill>
                </a:rPr>
                <a:t>F5</a:t>
              </a:r>
              <a:endParaRPr lang="en-US" sz="1400" dirty="0"/>
            </a:p>
          </p:txBody>
        </p:sp>
        <p:sp>
          <p:nvSpPr>
            <p:cNvPr id="28" name="Text 26"/>
            <p:cNvSpPr/>
            <p:nvPr/>
          </p:nvSpPr>
          <p:spPr>
            <a:xfrm>
              <a:off x="960120" y="3977640"/>
              <a:ext cx="3520440" cy="347472"/>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AI Enhances ZTA Effectiveness</a:t>
              </a:r>
              <a:endParaRPr lang="en-US" sz="1200" dirty="0"/>
            </a:p>
          </p:txBody>
        </p:sp>
        <p:sp>
          <p:nvSpPr>
            <p:cNvPr id="29" name="Text 27"/>
            <p:cNvSpPr/>
            <p:nvPr/>
          </p:nvSpPr>
          <p:spPr>
            <a:xfrm>
              <a:off x="960120" y="4299856"/>
              <a:ext cx="3520440" cy="59436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AI/ML integration addresses the telemetry analysis gap and enables proactive, autonomous policy adjustment at scale.</a:t>
              </a:r>
              <a:endParaRPr lang="en-US" sz="1100" dirty="0"/>
            </a:p>
          </p:txBody>
        </p:sp>
      </p:grpSp>
      <p:grpSp>
        <p:nvGrpSpPr>
          <p:cNvPr id="40" name="Group 39"/>
          <p:cNvGrpSpPr/>
          <p:nvPr/>
        </p:nvGrpSpPr>
        <p:grpSpPr>
          <a:xfrm>
            <a:off x="4709160" y="3766454"/>
            <a:ext cx="4206240" cy="1115568"/>
            <a:chOff x="4709160" y="3886200"/>
            <a:chExt cx="4206240" cy="1115568"/>
          </a:xfrm>
        </p:grpSpPr>
        <p:sp>
          <p:nvSpPr>
            <p:cNvPr id="30" name="Shape 28"/>
            <p:cNvSpPr/>
            <p:nvPr/>
          </p:nvSpPr>
          <p:spPr>
            <a:xfrm>
              <a:off x="4709160" y="3886200"/>
              <a:ext cx="4206240" cy="1115568"/>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sp>
          <p:nvSpPr>
            <p:cNvPr id="31" name="Shape 29"/>
            <p:cNvSpPr/>
            <p:nvPr/>
          </p:nvSpPr>
          <p:spPr>
            <a:xfrm>
              <a:off x="4709160" y="3886200"/>
              <a:ext cx="502920" cy="1115568"/>
            </a:xfrm>
            <a:prstGeom prst="rect">
              <a:avLst/>
            </a:prstGeom>
            <a:solidFill>
              <a:srgbClr val="6C63FF"/>
            </a:solidFill>
            <a:ln w="12700">
              <a:solidFill>
                <a:srgbClr val="6C63FF"/>
              </a:solidFill>
              <a:prstDash val="solid"/>
            </a:ln>
          </p:spPr>
        </p:sp>
        <p:sp>
          <p:nvSpPr>
            <p:cNvPr id="32" name="Text 30"/>
            <p:cNvSpPr/>
            <p:nvPr/>
          </p:nvSpPr>
          <p:spPr>
            <a:xfrm>
              <a:off x="4709160" y="3886200"/>
              <a:ext cx="502920" cy="1115568"/>
            </a:xfrm>
            <a:prstGeom prst="rect">
              <a:avLst/>
            </a:prstGeom>
            <a:noFill/>
            <a:ln/>
          </p:spPr>
          <p:txBody>
            <a:bodyPr wrap="square" rtlCol="0" anchor="ctr"/>
            <a:lstStyle/>
            <a:p>
              <a:pPr marL="0" indent="0" algn="ctr">
                <a:buNone/>
              </a:pPr>
              <a:r>
                <a:rPr lang="en-US" sz="1400" b="1" dirty="0">
                  <a:solidFill>
                    <a:srgbClr val="FFFFFF"/>
                  </a:solidFill>
                </a:rPr>
                <a:t>F6</a:t>
              </a:r>
              <a:endParaRPr lang="en-US" sz="1400" dirty="0"/>
            </a:p>
          </p:txBody>
        </p:sp>
        <p:sp>
          <p:nvSpPr>
            <p:cNvPr id="33" name="Text 31"/>
            <p:cNvSpPr/>
            <p:nvPr/>
          </p:nvSpPr>
          <p:spPr>
            <a:xfrm>
              <a:off x="5303520" y="3977640"/>
              <a:ext cx="3520440" cy="347472"/>
            </a:xfrm>
            <a:prstGeom prst="rect">
              <a:avLst/>
            </a:prstGeom>
            <a:noFill/>
            <a:ln/>
          </p:spPr>
          <p:txBody>
            <a:bodyPr wrap="square" lIns="0" tIns="0" rIns="0" bIns="0" rtlCol="0" anchor="ctr"/>
            <a:lstStyle/>
            <a:p>
              <a:pPr marL="0" indent="0">
                <a:buNone/>
              </a:pPr>
              <a:r>
                <a:rPr lang="en-US" sz="1200" b="1" dirty="0">
                  <a:solidFill>
                    <a:srgbClr val="1A2E44"/>
                  </a:solidFill>
                  <a:latin typeface="Trebuchet MS" pitchFamily="34" charset="0"/>
                  <a:ea typeface="Trebuchet MS" pitchFamily="34" charset="-122"/>
                  <a:cs typeface="Trebuchet MS" pitchFamily="34" charset="-120"/>
                </a:rPr>
                <a:t>Quantum Risk is Imminent</a:t>
              </a:r>
              <a:endParaRPr lang="en-US" sz="1200" dirty="0"/>
            </a:p>
          </p:txBody>
        </p:sp>
        <p:sp>
          <p:nvSpPr>
            <p:cNvPr id="34" name="Text 32"/>
            <p:cNvSpPr/>
            <p:nvPr/>
          </p:nvSpPr>
          <p:spPr>
            <a:xfrm>
              <a:off x="5303520" y="4321628"/>
              <a:ext cx="3520440" cy="594360"/>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Current cryptographic foundations of ZTA are quantum-vulnerable. Post-quantum transition must begin before quantum capability arrives.</a:t>
              </a:r>
              <a:endParaRPr lang="en-US" sz="1100" dirty="0"/>
            </a:p>
          </p:txBody>
        </p:sp>
      </p:grpSp>
      <p:sp>
        <p:nvSpPr>
          <p:cNvPr id="44" name="Shape 0">
            <a:extLst>
              <a:ext uri="{FF2B5EF4-FFF2-40B4-BE49-F238E27FC236}">
                <a16:creationId xmlns:a16="http://schemas.microsoft.com/office/drawing/2014/main" id="{CEF06B6B-457F-4256-9009-2F1F872D19F6}"/>
              </a:ext>
            </a:extLst>
          </p:cNvPr>
          <p:cNvSpPr/>
          <p:nvPr/>
        </p:nvSpPr>
        <p:spPr>
          <a:xfrm>
            <a:off x="9006840" y="4570383"/>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grpSp>
        <p:nvGrpSpPr>
          <p:cNvPr id="25" name="Group 24"/>
          <p:cNvGrpSpPr/>
          <p:nvPr/>
        </p:nvGrpSpPr>
        <p:grpSpPr>
          <a:xfrm>
            <a:off x="261257" y="178308"/>
            <a:ext cx="8092440" cy="548640"/>
            <a:chOff x="457200" y="502920"/>
            <a:chExt cx="8092440" cy="548640"/>
          </a:xfrm>
        </p:grpSpPr>
        <p:sp>
          <p:nvSpPr>
            <p:cNvPr id="2" name="Shape 0"/>
            <p:cNvSpPr/>
            <p:nvPr/>
          </p:nvSpPr>
          <p:spPr>
            <a:xfrm>
              <a:off x="457200" y="566928"/>
              <a:ext cx="64008" cy="438912"/>
            </a:xfrm>
            <a:prstGeom prst="rect">
              <a:avLst/>
            </a:prstGeom>
            <a:solidFill>
              <a:srgbClr val="00B4D8"/>
            </a:solidFill>
            <a:ln w="12700">
              <a:solidFill>
                <a:srgbClr val="00B4D8"/>
              </a:solidFill>
              <a:prstDash val="solid"/>
            </a:ln>
          </p:spPr>
        </p:sp>
        <p:sp>
          <p:nvSpPr>
            <p:cNvPr id="3" name="Text 1"/>
            <p:cNvSpPr/>
            <p:nvPr/>
          </p:nvSpPr>
          <p:spPr>
            <a:xfrm>
              <a:off x="594360" y="502920"/>
              <a:ext cx="7955280" cy="548640"/>
            </a:xfrm>
            <a:prstGeom prst="rect">
              <a:avLst/>
            </a:prstGeom>
            <a:noFill/>
            <a:ln/>
          </p:spPr>
          <p:txBody>
            <a:bodyPr wrap="square" lIns="0" tIns="0" rIns="0" bIns="0" rtlCol="0" anchor="ctr"/>
            <a:lstStyle/>
            <a:p>
              <a:pPr marL="0" indent="0">
                <a:buNone/>
              </a:pPr>
              <a:r>
                <a:rPr lang="en-US" sz="2600" b="1" dirty="0">
                  <a:solidFill>
                    <a:srgbClr val="1A2E44"/>
                  </a:solidFill>
                  <a:latin typeface="Trebuchet MS" pitchFamily="34" charset="0"/>
                  <a:ea typeface="Trebuchet MS" pitchFamily="34" charset="-122"/>
                  <a:cs typeface="Trebuchet MS" pitchFamily="34" charset="-120"/>
                </a:rPr>
                <a:t>Limitations of This Review</a:t>
              </a:r>
              <a:endParaRPr lang="en-US" sz="2600" dirty="0"/>
            </a:p>
          </p:txBody>
        </p:sp>
      </p:grpSp>
      <p:sp>
        <p:nvSpPr>
          <p:cNvPr id="4" name="Text 2"/>
          <p:cNvSpPr/>
          <p:nvPr/>
        </p:nvSpPr>
        <p:spPr>
          <a:xfrm>
            <a:off x="530352" y="618744"/>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Acknowledging the boundaries of the research</a:t>
            </a:r>
            <a:endParaRPr lang="en-US" sz="1300" dirty="0"/>
          </a:p>
        </p:txBody>
      </p:sp>
      <p:grpSp>
        <p:nvGrpSpPr>
          <p:cNvPr id="26" name="Group 25"/>
          <p:cNvGrpSpPr/>
          <p:nvPr/>
        </p:nvGrpSpPr>
        <p:grpSpPr>
          <a:xfrm>
            <a:off x="365760" y="1417320"/>
            <a:ext cx="4206240" cy="1463040"/>
            <a:chOff x="365760" y="1417320"/>
            <a:chExt cx="4206240" cy="1463040"/>
          </a:xfrm>
        </p:grpSpPr>
        <p:sp>
          <p:nvSpPr>
            <p:cNvPr id="5" name="Shape 3"/>
            <p:cNvSpPr/>
            <p:nvPr/>
          </p:nvSpPr>
          <p:spPr>
            <a:xfrm>
              <a:off x="365760" y="1417320"/>
              <a:ext cx="4206240" cy="146304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6" name="Image 0" descr="preencoded.png"/>
            <p:cNvPicPr>
              <a:picLocks noChangeAspect="1"/>
            </p:cNvPicPr>
            <p:nvPr/>
          </p:nvPicPr>
          <p:blipFill>
            <a:blip r:embed="rId3"/>
            <a:stretch>
              <a:fillRect/>
            </a:stretch>
          </p:blipFill>
          <p:spPr>
            <a:xfrm>
              <a:off x="530352" y="1920240"/>
              <a:ext cx="475488" cy="475488"/>
            </a:xfrm>
            <a:prstGeom prst="rect">
              <a:avLst/>
            </a:prstGeom>
          </p:spPr>
        </p:pic>
        <p:sp>
          <p:nvSpPr>
            <p:cNvPr id="7" name="Text 4"/>
            <p:cNvSpPr/>
            <p:nvPr/>
          </p:nvSpPr>
          <p:spPr>
            <a:xfrm>
              <a:off x="1115568" y="1508760"/>
              <a:ext cx="3364992" cy="365760"/>
            </a:xfrm>
            <a:prstGeom prst="rect">
              <a:avLst/>
            </a:prstGeom>
            <a:noFill/>
            <a:ln/>
          </p:spPr>
          <p:txBody>
            <a:bodyPr wrap="square" lIns="0" tIns="0" rIns="0" bIns="0" rtlCol="0" anchor="ctr"/>
            <a:lstStyle/>
            <a:p>
              <a:pPr marL="0" indent="0">
                <a:buNone/>
              </a:pPr>
              <a:r>
                <a:rPr lang="en-US" sz="1300" b="1" dirty="0">
                  <a:solidFill>
                    <a:srgbClr val="1A2E44"/>
                  </a:solidFill>
                  <a:latin typeface="Trebuchet MS" pitchFamily="34" charset="0"/>
                  <a:ea typeface="Trebuchet MS" pitchFamily="34" charset="-122"/>
                  <a:cs typeface="Trebuchet MS" pitchFamily="34" charset="-120"/>
                </a:rPr>
                <a:t>Review Paper Scope</a:t>
              </a:r>
              <a:endParaRPr lang="en-US" sz="1300" dirty="0"/>
            </a:p>
          </p:txBody>
        </p:sp>
        <p:sp>
          <p:nvSpPr>
            <p:cNvPr id="8" name="Shape 5"/>
            <p:cNvSpPr/>
            <p:nvPr/>
          </p:nvSpPr>
          <p:spPr>
            <a:xfrm>
              <a:off x="1115568" y="1892808"/>
              <a:ext cx="3364992" cy="22860"/>
            </a:xfrm>
            <a:prstGeom prst="rect">
              <a:avLst/>
            </a:prstGeom>
            <a:solidFill>
              <a:srgbClr val="FF6B6B"/>
            </a:solidFill>
            <a:ln w="12700">
              <a:solidFill>
                <a:srgbClr val="FF6B6B"/>
              </a:solidFill>
              <a:prstDash val="solid"/>
            </a:ln>
          </p:spPr>
        </p:sp>
        <p:sp>
          <p:nvSpPr>
            <p:cNvPr id="9" name="Text 6"/>
            <p:cNvSpPr/>
            <p:nvPr/>
          </p:nvSpPr>
          <p:spPr>
            <a:xfrm>
              <a:off x="1115568" y="1965960"/>
              <a:ext cx="3337560" cy="841248"/>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As a literature review, this paper does not include primary empirical research or original data collection. Findings are derived from and dependent on the quality of referenced sources.</a:t>
              </a:r>
              <a:endParaRPr lang="en-US" sz="1100" dirty="0"/>
            </a:p>
          </p:txBody>
        </p:sp>
      </p:grpSp>
      <p:grpSp>
        <p:nvGrpSpPr>
          <p:cNvPr id="29" name="Group 28"/>
          <p:cNvGrpSpPr/>
          <p:nvPr/>
        </p:nvGrpSpPr>
        <p:grpSpPr>
          <a:xfrm>
            <a:off x="365760" y="3017520"/>
            <a:ext cx="4206240" cy="1463040"/>
            <a:chOff x="365760" y="3017520"/>
            <a:chExt cx="4206240" cy="1463040"/>
          </a:xfrm>
        </p:grpSpPr>
        <p:sp>
          <p:nvSpPr>
            <p:cNvPr id="10" name="Shape 7"/>
            <p:cNvSpPr/>
            <p:nvPr/>
          </p:nvSpPr>
          <p:spPr>
            <a:xfrm>
              <a:off x="365760" y="3017520"/>
              <a:ext cx="4206240" cy="146304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530352" y="3520440"/>
              <a:ext cx="475488" cy="475488"/>
            </a:xfrm>
            <a:prstGeom prst="rect">
              <a:avLst/>
            </a:prstGeom>
          </p:spPr>
        </p:pic>
        <p:sp>
          <p:nvSpPr>
            <p:cNvPr id="12" name="Text 8"/>
            <p:cNvSpPr/>
            <p:nvPr/>
          </p:nvSpPr>
          <p:spPr>
            <a:xfrm>
              <a:off x="1115568" y="3108960"/>
              <a:ext cx="3364992" cy="365760"/>
            </a:xfrm>
            <a:prstGeom prst="rect">
              <a:avLst/>
            </a:prstGeom>
            <a:noFill/>
            <a:ln/>
          </p:spPr>
          <p:txBody>
            <a:bodyPr wrap="square" lIns="0" tIns="0" rIns="0" bIns="0" rtlCol="0" anchor="ctr"/>
            <a:lstStyle/>
            <a:p>
              <a:pPr marL="0" indent="0">
                <a:buNone/>
              </a:pPr>
              <a:r>
                <a:rPr lang="en-US" sz="1300" b="1" dirty="0">
                  <a:solidFill>
                    <a:srgbClr val="1A2E44"/>
                  </a:solidFill>
                  <a:latin typeface="Trebuchet MS" pitchFamily="34" charset="0"/>
                  <a:ea typeface="Trebuchet MS" pitchFamily="34" charset="-122"/>
                  <a:cs typeface="Trebuchet MS" pitchFamily="34" charset="-120"/>
                </a:rPr>
                <a:t>Framework Currency</a:t>
              </a:r>
              <a:endParaRPr lang="en-US" sz="1300" dirty="0"/>
            </a:p>
          </p:txBody>
        </p:sp>
        <p:sp>
          <p:nvSpPr>
            <p:cNvPr id="13" name="Shape 9"/>
            <p:cNvSpPr/>
            <p:nvPr/>
          </p:nvSpPr>
          <p:spPr>
            <a:xfrm>
              <a:off x="1115568" y="3493008"/>
              <a:ext cx="3364992" cy="22860"/>
            </a:xfrm>
            <a:prstGeom prst="rect">
              <a:avLst/>
            </a:prstGeom>
            <a:solidFill>
              <a:srgbClr val="FFC857"/>
            </a:solidFill>
            <a:ln w="12700">
              <a:solidFill>
                <a:srgbClr val="FFC857"/>
              </a:solidFill>
              <a:prstDash val="solid"/>
            </a:ln>
          </p:spPr>
        </p:sp>
        <p:sp>
          <p:nvSpPr>
            <p:cNvPr id="14" name="Text 10"/>
            <p:cNvSpPr/>
            <p:nvPr/>
          </p:nvSpPr>
          <p:spPr>
            <a:xfrm>
              <a:off x="1115568" y="3566160"/>
              <a:ext cx="3337560" cy="841248"/>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Cybersecurity frameworks evolve rapidly. NIST, CISA, and DoD documents referenced reflect versions available at time of writing and may have since been updated.</a:t>
              </a:r>
              <a:endParaRPr lang="en-US" sz="1100" dirty="0"/>
            </a:p>
          </p:txBody>
        </p:sp>
      </p:grpSp>
      <p:grpSp>
        <p:nvGrpSpPr>
          <p:cNvPr id="27" name="Group 26"/>
          <p:cNvGrpSpPr/>
          <p:nvPr/>
        </p:nvGrpSpPr>
        <p:grpSpPr>
          <a:xfrm>
            <a:off x="4709160" y="1417320"/>
            <a:ext cx="4206240" cy="1463040"/>
            <a:chOff x="4709160" y="1417320"/>
            <a:chExt cx="4206240" cy="1463040"/>
          </a:xfrm>
        </p:grpSpPr>
        <p:sp>
          <p:nvSpPr>
            <p:cNvPr id="15" name="Shape 11"/>
            <p:cNvSpPr/>
            <p:nvPr/>
          </p:nvSpPr>
          <p:spPr>
            <a:xfrm>
              <a:off x="4709160" y="1417320"/>
              <a:ext cx="4206240" cy="146304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16" name="Image 2" descr="preencoded.png"/>
            <p:cNvPicPr>
              <a:picLocks noChangeAspect="1"/>
            </p:cNvPicPr>
            <p:nvPr/>
          </p:nvPicPr>
          <p:blipFill>
            <a:blip r:embed="rId5"/>
            <a:stretch>
              <a:fillRect/>
            </a:stretch>
          </p:blipFill>
          <p:spPr>
            <a:xfrm>
              <a:off x="4873752" y="1920240"/>
              <a:ext cx="475488" cy="475488"/>
            </a:xfrm>
            <a:prstGeom prst="rect">
              <a:avLst/>
            </a:prstGeom>
          </p:spPr>
        </p:pic>
        <p:sp>
          <p:nvSpPr>
            <p:cNvPr id="17" name="Text 12"/>
            <p:cNvSpPr/>
            <p:nvPr/>
          </p:nvSpPr>
          <p:spPr>
            <a:xfrm>
              <a:off x="5458968" y="1508760"/>
              <a:ext cx="3364992" cy="365760"/>
            </a:xfrm>
            <a:prstGeom prst="rect">
              <a:avLst/>
            </a:prstGeom>
            <a:noFill/>
            <a:ln/>
          </p:spPr>
          <p:txBody>
            <a:bodyPr wrap="square" lIns="0" tIns="0" rIns="0" bIns="0" rtlCol="0" anchor="ctr"/>
            <a:lstStyle/>
            <a:p>
              <a:pPr marL="0" indent="0">
                <a:buNone/>
              </a:pPr>
              <a:r>
                <a:rPr lang="en-US" sz="1300" b="1" dirty="0">
                  <a:solidFill>
                    <a:srgbClr val="1A2E44"/>
                  </a:solidFill>
                  <a:latin typeface="Trebuchet MS" pitchFamily="34" charset="0"/>
                  <a:ea typeface="Trebuchet MS" pitchFamily="34" charset="-122"/>
                  <a:cs typeface="Trebuchet MS" pitchFamily="34" charset="-120"/>
                </a:rPr>
                <a:t>Context-Specific Applicability</a:t>
              </a:r>
              <a:endParaRPr lang="en-US" sz="1300" dirty="0"/>
            </a:p>
          </p:txBody>
        </p:sp>
        <p:sp>
          <p:nvSpPr>
            <p:cNvPr id="18" name="Shape 13"/>
            <p:cNvSpPr/>
            <p:nvPr/>
          </p:nvSpPr>
          <p:spPr>
            <a:xfrm>
              <a:off x="5458968" y="1892808"/>
              <a:ext cx="3364992" cy="22860"/>
            </a:xfrm>
            <a:prstGeom prst="rect">
              <a:avLst/>
            </a:prstGeom>
            <a:solidFill>
              <a:srgbClr val="5E60CE"/>
            </a:solidFill>
            <a:ln w="12700">
              <a:solidFill>
                <a:srgbClr val="5E60CE"/>
              </a:solidFill>
              <a:prstDash val="solid"/>
            </a:ln>
          </p:spPr>
        </p:sp>
      </p:grpSp>
      <p:sp>
        <p:nvSpPr>
          <p:cNvPr id="19" name="Text 14"/>
          <p:cNvSpPr/>
          <p:nvPr/>
        </p:nvSpPr>
        <p:spPr>
          <a:xfrm>
            <a:off x="5458968" y="1965960"/>
            <a:ext cx="3337560" cy="841248"/>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ZTA implementation varies significantly by organizational size, sector, and existing infrastructure. Generalizations across all contexts have inherent limitations.</a:t>
            </a:r>
            <a:endParaRPr lang="en-US" sz="1100" dirty="0"/>
          </a:p>
        </p:txBody>
      </p:sp>
      <p:grpSp>
        <p:nvGrpSpPr>
          <p:cNvPr id="28" name="Group 27"/>
          <p:cNvGrpSpPr/>
          <p:nvPr/>
        </p:nvGrpSpPr>
        <p:grpSpPr>
          <a:xfrm>
            <a:off x="4709160" y="3017520"/>
            <a:ext cx="4206240" cy="1463040"/>
            <a:chOff x="4709160" y="3017520"/>
            <a:chExt cx="4206240" cy="1463040"/>
          </a:xfrm>
        </p:grpSpPr>
        <p:sp>
          <p:nvSpPr>
            <p:cNvPr id="20" name="Shape 15"/>
            <p:cNvSpPr/>
            <p:nvPr/>
          </p:nvSpPr>
          <p:spPr>
            <a:xfrm>
              <a:off x="4709160" y="3017520"/>
              <a:ext cx="4206240" cy="1463040"/>
            </a:xfrm>
            <a:prstGeom prst="rect">
              <a:avLst/>
            </a:prstGeom>
            <a:solidFill>
              <a:srgbClr val="FFFFFF"/>
            </a:solidFill>
            <a:ln w="12700">
              <a:solidFill>
                <a:srgbClr val="E2EBF4"/>
              </a:solidFill>
              <a:prstDash val="solid"/>
            </a:ln>
            <a:effectLst>
              <a:outerShdw blurRad="101600" dist="25400" dir="8100000" algn="bl" rotWithShape="0">
                <a:srgbClr val="000000">
                  <a:alpha val="12000"/>
                </a:srgbClr>
              </a:outerShdw>
            </a:effectLst>
          </p:spPr>
        </p:sp>
        <p:pic>
          <p:nvPicPr>
            <p:cNvPr id="21" name="Image 3" descr="preencoded.png"/>
            <p:cNvPicPr>
              <a:picLocks noChangeAspect="1"/>
            </p:cNvPicPr>
            <p:nvPr/>
          </p:nvPicPr>
          <p:blipFill>
            <a:blip r:embed="rId6"/>
            <a:stretch>
              <a:fillRect/>
            </a:stretch>
          </p:blipFill>
          <p:spPr>
            <a:xfrm>
              <a:off x="4873752" y="3520440"/>
              <a:ext cx="475488" cy="475488"/>
            </a:xfrm>
            <a:prstGeom prst="rect">
              <a:avLst/>
            </a:prstGeom>
          </p:spPr>
        </p:pic>
        <p:sp>
          <p:nvSpPr>
            <p:cNvPr id="22" name="Text 16"/>
            <p:cNvSpPr/>
            <p:nvPr/>
          </p:nvSpPr>
          <p:spPr>
            <a:xfrm>
              <a:off x="5458968" y="3108960"/>
              <a:ext cx="3364992" cy="365760"/>
            </a:xfrm>
            <a:prstGeom prst="rect">
              <a:avLst/>
            </a:prstGeom>
            <a:noFill/>
            <a:ln/>
          </p:spPr>
          <p:txBody>
            <a:bodyPr wrap="square" lIns="0" tIns="0" rIns="0" bIns="0" rtlCol="0" anchor="ctr"/>
            <a:lstStyle/>
            <a:p>
              <a:pPr marL="0" indent="0">
                <a:buNone/>
              </a:pPr>
              <a:r>
                <a:rPr lang="en-US" sz="1300" b="1" dirty="0">
                  <a:solidFill>
                    <a:srgbClr val="1A2E44"/>
                  </a:solidFill>
                  <a:latin typeface="Trebuchet MS" pitchFamily="34" charset="0"/>
                  <a:ea typeface="Trebuchet MS" pitchFamily="34" charset="-122"/>
                  <a:cs typeface="Trebuchet MS" pitchFamily="34" charset="-120"/>
                </a:rPr>
                <a:t>AI &amp; Quantum Maturity</a:t>
              </a:r>
              <a:endParaRPr lang="en-US" sz="1300" dirty="0"/>
            </a:p>
          </p:txBody>
        </p:sp>
        <p:sp>
          <p:nvSpPr>
            <p:cNvPr id="23" name="Shape 17"/>
            <p:cNvSpPr/>
            <p:nvPr/>
          </p:nvSpPr>
          <p:spPr>
            <a:xfrm>
              <a:off x="5458968" y="3493008"/>
              <a:ext cx="3364992" cy="22860"/>
            </a:xfrm>
            <a:prstGeom prst="rect">
              <a:avLst/>
            </a:prstGeom>
            <a:solidFill>
              <a:srgbClr val="00B4D8"/>
            </a:solidFill>
            <a:ln w="12700">
              <a:solidFill>
                <a:srgbClr val="00B4D8"/>
              </a:solidFill>
              <a:prstDash val="solid"/>
            </a:ln>
          </p:spPr>
        </p:sp>
        <p:sp>
          <p:nvSpPr>
            <p:cNvPr id="24" name="Text 18"/>
            <p:cNvSpPr/>
            <p:nvPr/>
          </p:nvSpPr>
          <p:spPr>
            <a:xfrm>
              <a:off x="5458968" y="3566160"/>
              <a:ext cx="3337560" cy="841248"/>
            </a:xfrm>
            <a:prstGeom prst="rect">
              <a:avLst/>
            </a:prstGeom>
            <a:noFill/>
            <a:ln/>
          </p:spPr>
          <p:txBody>
            <a:bodyPr wrap="square" lIns="0" tIns="0" rIns="0" bIns="0" rtlCol="0" anchor="ctr"/>
            <a:lstStyle/>
            <a:p>
              <a:pPr marL="0" indent="0">
                <a:buNone/>
              </a:pPr>
              <a:r>
                <a:rPr lang="en-US" sz="1100" dirty="0">
                  <a:solidFill>
                    <a:srgbClr val="5E7A96"/>
                  </a:solidFill>
                  <a:latin typeface="Calibri" pitchFamily="34" charset="0"/>
                  <a:ea typeface="Calibri" pitchFamily="34" charset="-122"/>
                  <a:cs typeface="Calibri" pitchFamily="34" charset="-120"/>
                </a:rPr>
                <a:t>AI/ML integration and post-quantum cryptography are still evolving. Assessments in this paper reflect capabilities at the current state of research, not projected future states.</a:t>
              </a:r>
              <a:endParaRPr lang="en-US" sz="1100" dirty="0"/>
            </a:p>
          </p:txBody>
        </p:sp>
      </p:grpSp>
      <p:sp>
        <p:nvSpPr>
          <p:cNvPr id="31" name="Shape 0">
            <a:extLst>
              <a:ext uri="{FF2B5EF4-FFF2-40B4-BE49-F238E27FC236}">
                <a16:creationId xmlns:a16="http://schemas.microsoft.com/office/drawing/2014/main" id="{DBC03236-0439-403D-BD7A-9F20E25FEDE5}"/>
              </a:ext>
            </a:extLst>
          </p:cNvPr>
          <p:cNvSpPr/>
          <p:nvPr/>
        </p:nvSpPr>
        <p:spPr>
          <a:xfrm rot="5400000">
            <a:off x="333756" y="4764024"/>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chemeClr val="bg2">
            <a:lumMod val="10000"/>
            <a:alpha val="80000"/>
          </a:schemeClr>
        </a:solidFill>
        <a:effectLst/>
      </p:bgPr>
    </p:bg>
    <p:spTree>
      <p:nvGrpSpPr>
        <p:cNvPr id="1" name=""/>
        <p:cNvGrpSpPr/>
        <p:nvPr/>
      </p:nvGrpSpPr>
      <p:grpSpPr>
        <a:xfrm>
          <a:off x="0" y="0"/>
          <a:ext cx="0" cy="0"/>
          <a:chOff x="0" y="0"/>
          <a:chExt cx="0" cy="0"/>
        </a:xfrm>
      </p:grpSpPr>
      <p:sp>
        <p:nvSpPr>
          <p:cNvPr id="2" name="Shape 0"/>
          <p:cNvSpPr/>
          <p:nvPr/>
        </p:nvSpPr>
        <p:spPr>
          <a:xfrm>
            <a:off x="457200" y="256032"/>
            <a:ext cx="1417320" cy="274320"/>
          </a:xfrm>
          <a:prstGeom prst="roundRect">
            <a:avLst>
              <a:gd name="adj" fmla="val 20000"/>
            </a:avLst>
          </a:prstGeom>
          <a:solidFill>
            <a:srgbClr val="00B4D8">
              <a:alpha val="80000"/>
            </a:srgbClr>
          </a:solidFill>
          <a:ln w="12700">
            <a:solidFill>
              <a:srgbClr val="00B4D8"/>
            </a:solidFill>
            <a:prstDash val="solid"/>
          </a:ln>
        </p:spPr>
      </p:sp>
      <p:sp>
        <p:nvSpPr>
          <p:cNvPr id="3" name="Text 1"/>
          <p:cNvSpPr/>
          <p:nvPr/>
        </p:nvSpPr>
        <p:spPr>
          <a:xfrm>
            <a:off x="502920" y="265176"/>
            <a:ext cx="1325880" cy="256032"/>
          </a:xfrm>
          <a:prstGeom prst="rect">
            <a:avLst/>
          </a:prstGeom>
          <a:noFill/>
          <a:ln/>
        </p:spPr>
        <p:txBody>
          <a:bodyPr wrap="square" rtlCol="0" anchor="ctr"/>
          <a:lstStyle/>
          <a:p>
            <a:pPr marL="0" indent="0">
              <a:buNone/>
            </a:pPr>
            <a:r>
              <a:rPr lang="en-US" sz="900" b="1" kern="0" spc="200" dirty="0">
                <a:solidFill>
                  <a:srgbClr val="FFFFFF"/>
                </a:solidFill>
              </a:rPr>
              <a:t>CONCLUSION</a:t>
            </a:r>
            <a:endParaRPr lang="en-US" sz="900" dirty="0"/>
          </a:p>
        </p:txBody>
      </p:sp>
      <p:sp>
        <p:nvSpPr>
          <p:cNvPr id="4" name="Text 2"/>
          <p:cNvSpPr/>
          <p:nvPr/>
        </p:nvSpPr>
        <p:spPr>
          <a:xfrm>
            <a:off x="239486" y="588266"/>
            <a:ext cx="8067964" cy="5943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Zero Trust: The Security Imperative</a:t>
            </a:r>
            <a:endParaRPr lang="en-US" sz="2800" dirty="0"/>
          </a:p>
        </p:txBody>
      </p:sp>
      <p:pic>
        <p:nvPicPr>
          <p:cNvPr id="5" name="Image 0" descr="preencoded.png"/>
          <p:cNvPicPr>
            <a:picLocks noChangeAspect="1"/>
          </p:cNvPicPr>
          <p:nvPr/>
        </p:nvPicPr>
        <p:blipFill>
          <a:blip r:embed="rId3"/>
          <a:stretch>
            <a:fillRect/>
          </a:stretch>
        </p:blipFill>
        <p:spPr>
          <a:xfrm>
            <a:off x="411480" y="1444752"/>
            <a:ext cx="347472" cy="347472"/>
          </a:xfrm>
          <a:prstGeom prst="rect">
            <a:avLst/>
          </a:prstGeom>
        </p:spPr>
      </p:pic>
      <p:sp>
        <p:nvSpPr>
          <p:cNvPr id="6" name="Text 3"/>
          <p:cNvSpPr/>
          <p:nvPr/>
        </p:nvSpPr>
        <p:spPr>
          <a:xfrm>
            <a:off x="850392" y="1417320"/>
            <a:ext cx="48006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ZTA has matured from concept to well-documented, actively adopted practice</a:t>
            </a:r>
            <a:endParaRPr lang="en-US" sz="1250" dirty="0"/>
          </a:p>
        </p:txBody>
      </p:sp>
      <p:pic>
        <p:nvPicPr>
          <p:cNvPr id="7" name="Image 1" descr="preencoded.png"/>
          <p:cNvPicPr>
            <a:picLocks noChangeAspect="1"/>
          </p:cNvPicPr>
          <p:nvPr/>
        </p:nvPicPr>
        <p:blipFill>
          <a:blip r:embed="rId3"/>
          <a:stretch>
            <a:fillRect/>
          </a:stretch>
        </p:blipFill>
        <p:spPr>
          <a:xfrm>
            <a:off x="411480" y="2011680"/>
            <a:ext cx="347472" cy="347472"/>
          </a:xfrm>
          <a:prstGeom prst="rect">
            <a:avLst/>
          </a:prstGeom>
        </p:spPr>
      </p:pic>
      <p:sp>
        <p:nvSpPr>
          <p:cNvPr id="8" name="Text 4"/>
          <p:cNvSpPr/>
          <p:nvPr/>
        </p:nvSpPr>
        <p:spPr>
          <a:xfrm>
            <a:off x="850392" y="1984248"/>
            <a:ext cx="48006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NIST, CISA, and DoD frameworks provide solid — though not interchangeable — starting points</a:t>
            </a:r>
            <a:endParaRPr lang="en-US" sz="1250" dirty="0"/>
          </a:p>
        </p:txBody>
      </p:sp>
      <p:pic>
        <p:nvPicPr>
          <p:cNvPr id="9" name="Image 2" descr="preencoded.png"/>
          <p:cNvPicPr>
            <a:picLocks noChangeAspect="1"/>
          </p:cNvPicPr>
          <p:nvPr/>
        </p:nvPicPr>
        <p:blipFill>
          <a:blip r:embed="rId4"/>
          <a:stretch>
            <a:fillRect/>
          </a:stretch>
        </p:blipFill>
        <p:spPr>
          <a:xfrm>
            <a:off x="411480" y="2578608"/>
            <a:ext cx="347472" cy="347472"/>
          </a:xfrm>
          <a:prstGeom prst="rect">
            <a:avLst/>
          </a:prstGeom>
        </p:spPr>
      </p:pic>
      <p:sp>
        <p:nvSpPr>
          <p:cNvPr id="10" name="Text 5"/>
          <p:cNvSpPr/>
          <p:nvPr/>
        </p:nvSpPr>
        <p:spPr>
          <a:xfrm>
            <a:off x="850392" y="2551176"/>
            <a:ext cx="48006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Implementation challenges (legacy, complexity, culture) are real but surmountable</a:t>
            </a:r>
            <a:endParaRPr lang="en-US" sz="1250" dirty="0"/>
          </a:p>
        </p:txBody>
      </p:sp>
      <p:pic>
        <p:nvPicPr>
          <p:cNvPr id="11" name="Image 3" descr="preencoded.png"/>
          <p:cNvPicPr>
            <a:picLocks noChangeAspect="1"/>
          </p:cNvPicPr>
          <p:nvPr/>
        </p:nvPicPr>
        <p:blipFill>
          <a:blip r:embed="rId5"/>
          <a:stretch>
            <a:fillRect/>
          </a:stretch>
        </p:blipFill>
        <p:spPr>
          <a:xfrm>
            <a:off x="411480" y="3145536"/>
            <a:ext cx="347472" cy="347472"/>
          </a:xfrm>
          <a:prstGeom prst="rect">
            <a:avLst/>
          </a:prstGeom>
        </p:spPr>
      </p:pic>
      <p:sp>
        <p:nvSpPr>
          <p:cNvPr id="12" name="Text 6"/>
          <p:cNvSpPr/>
          <p:nvPr/>
        </p:nvSpPr>
        <p:spPr>
          <a:xfrm>
            <a:off x="850392" y="3118104"/>
            <a:ext cx="48006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AI/ML is making continuous verification operationally feasible at enterprise scale</a:t>
            </a:r>
            <a:endParaRPr lang="en-US" sz="1250" dirty="0"/>
          </a:p>
        </p:txBody>
      </p:sp>
      <p:pic>
        <p:nvPicPr>
          <p:cNvPr id="13" name="Image 4" descr="preencoded.png"/>
          <p:cNvPicPr>
            <a:picLocks noChangeAspect="1"/>
          </p:cNvPicPr>
          <p:nvPr/>
        </p:nvPicPr>
        <p:blipFill>
          <a:blip r:embed="rId6"/>
          <a:stretch>
            <a:fillRect/>
          </a:stretch>
        </p:blipFill>
        <p:spPr>
          <a:xfrm>
            <a:off x="411480" y="3712464"/>
            <a:ext cx="347472" cy="347472"/>
          </a:xfrm>
          <a:prstGeom prst="rect">
            <a:avLst/>
          </a:prstGeom>
        </p:spPr>
      </p:pic>
      <p:sp>
        <p:nvSpPr>
          <p:cNvPr id="14" name="Text 7"/>
          <p:cNvSpPr/>
          <p:nvPr/>
        </p:nvSpPr>
        <p:spPr>
          <a:xfrm>
            <a:off x="850392" y="3685032"/>
            <a:ext cx="48006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Post-quantum cryptography transition must begin before quantum capability arrives</a:t>
            </a:r>
            <a:endParaRPr lang="en-US" sz="1250" dirty="0"/>
          </a:p>
        </p:txBody>
      </p:sp>
      <p:pic>
        <p:nvPicPr>
          <p:cNvPr id="15" name="Image 5" descr="preencoded.png"/>
          <p:cNvPicPr>
            <a:picLocks noChangeAspect="1"/>
          </p:cNvPicPr>
          <p:nvPr/>
        </p:nvPicPr>
        <p:blipFill>
          <a:blip r:embed="rId7"/>
          <a:stretch>
            <a:fillRect/>
          </a:stretch>
        </p:blipFill>
        <p:spPr>
          <a:xfrm>
            <a:off x="411480" y="4279392"/>
            <a:ext cx="347472" cy="347472"/>
          </a:xfrm>
          <a:prstGeom prst="rect">
            <a:avLst/>
          </a:prstGeom>
        </p:spPr>
      </p:pic>
      <p:sp>
        <p:nvSpPr>
          <p:cNvPr id="16" name="Text 8"/>
          <p:cNvSpPr/>
          <p:nvPr/>
        </p:nvSpPr>
        <p:spPr>
          <a:xfrm>
            <a:off x="850391" y="4219302"/>
            <a:ext cx="5604837" cy="411480"/>
          </a:xfrm>
          <a:prstGeom prst="rect">
            <a:avLst/>
          </a:prstGeom>
          <a:noFill/>
          <a:ln/>
        </p:spPr>
        <p:txBody>
          <a:bodyPr wrap="square" lIns="0" tIns="0" rIns="0" bIns="0" rtlCol="0" anchor="ctr"/>
          <a:lstStyle/>
          <a:p>
            <a:pPr marL="0" indent="0">
              <a:buNone/>
            </a:pPr>
            <a:r>
              <a:rPr lang="en-US" sz="1250" b="1" dirty="0">
                <a:solidFill>
                  <a:srgbClr val="FFC857"/>
                </a:solidFill>
                <a:latin typeface="Calibri" pitchFamily="34" charset="0"/>
                <a:ea typeface="Calibri" pitchFamily="34" charset="-122"/>
                <a:cs typeface="Calibri" pitchFamily="34" charset="-120"/>
              </a:rPr>
              <a:t>Core message: Stop extending implicit trust — verify everything, every time</a:t>
            </a:r>
            <a:endParaRPr lang="en-US" sz="1250" dirty="0"/>
          </a:p>
        </p:txBody>
      </p:sp>
      <p:sp>
        <p:nvSpPr>
          <p:cNvPr id="17" name="Shape 0">
            <a:extLst>
              <a:ext uri="{FF2B5EF4-FFF2-40B4-BE49-F238E27FC236}">
                <a16:creationId xmlns:a16="http://schemas.microsoft.com/office/drawing/2014/main" id="{2B341C92-3E0B-46DC-9362-F45502DAE753}"/>
              </a:ext>
            </a:extLst>
          </p:cNvPr>
          <p:cNvSpPr/>
          <p:nvPr/>
        </p:nvSpPr>
        <p:spPr>
          <a:xfrm>
            <a:off x="263350" y="256032"/>
            <a:ext cx="64008" cy="274320"/>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a:effectLst/>
      </p:bgPr>
    </p:bg>
    <p:spTree>
      <p:nvGrpSpPr>
        <p:cNvPr id="1" name=""/>
        <p:cNvGrpSpPr/>
        <p:nvPr/>
      </p:nvGrpSpPr>
      <p:grpSpPr>
        <a:xfrm>
          <a:off x="0" y="0"/>
          <a:ext cx="0" cy="0"/>
          <a:chOff x="0" y="0"/>
          <a:chExt cx="0" cy="0"/>
        </a:xfrm>
      </p:grpSpPr>
      <p:grpSp>
        <p:nvGrpSpPr>
          <p:cNvPr id="29" name="Group 28"/>
          <p:cNvGrpSpPr/>
          <p:nvPr/>
        </p:nvGrpSpPr>
        <p:grpSpPr>
          <a:xfrm>
            <a:off x="283029" y="217714"/>
            <a:ext cx="8092440" cy="548640"/>
            <a:chOff x="457200" y="492034"/>
            <a:chExt cx="8092440" cy="548640"/>
          </a:xfrm>
        </p:grpSpPr>
        <p:sp>
          <p:nvSpPr>
            <p:cNvPr id="2" name="Shape 0"/>
            <p:cNvSpPr/>
            <p:nvPr/>
          </p:nvSpPr>
          <p:spPr>
            <a:xfrm>
              <a:off x="457200" y="566928"/>
              <a:ext cx="64008" cy="438912"/>
            </a:xfrm>
            <a:prstGeom prst="rect">
              <a:avLst/>
            </a:prstGeom>
            <a:solidFill>
              <a:srgbClr val="00B4D8"/>
            </a:solidFill>
            <a:ln w="12700">
              <a:solidFill>
                <a:srgbClr val="00B4D8"/>
              </a:solidFill>
              <a:prstDash val="solid"/>
            </a:ln>
          </p:spPr>
        </p:sp>
        <p:sp>
          <p:nvSpPr>
            <p:cNvPr id="3" name="Text 1"/>
            <p:cNvSpPr/>
            <p:nvPr/>
          </p:nvSpPr>
          <p:spPr>
            <a:xfrm>
              <a:off x="594360" y="492034"/>
              <a:ext cx="7955280" cy="548640"/>
            </a:xfrm>
            <a:prstGeom prst="rect">
              <a:avLst/>
            </a:prstGeom>
            <a:noFill/>
            <a:ln/>
          </p:spPr>
          <p:txBody>
            <a:bodyPr wrap="square" lIns="0" tIns="0" rIns="0" bIns="0" rtlCol="0" anchor="ctr"/>
            <a:lstStyle/>
            <a:p>
              <a:pPr marL="0" indent="0">
                <a:buNone/>
              </a:pPr>
              <a:r>
                <a:rPr lang="en-US" sz="2600" b="1" u="sng" dirty="0">
                  <a:solidFill>
                    <a:srgbClr val="1A2E44"/>
                  </a:solidFill>
                  <a:latin typeface="Trebuchet MS" pitchFamily="34" charset="0"/>
                  <a:ea typeface="Trebuchet MS" pitchFamily="34" charset="-122"/>
                  <a:cs typeface="Trebuchet MS" pitchFamily="34" charset="-120"/>
                </a:rPr>
                <a:t>References</a:t>
              </a:r>
              <a:endParaRPr lang="en-US" sz="2600" u="sng" dirty="0"/>
            </a:p>
          </p:txBody>
        </p:sp>
      </p:grpSp>
      <p:sp>
        <p:nvSpPr>
          <p:cNvPr id="4" name="Text 2"/>
          <p:cNvSpPr/>
          <p:nvPr/>
        </p:nvSpPr>
        <p:spPr>
          <a:xfrm>
            <a:off x="594360" y="670394"/>
            <a:ext cx="7955280" cy="320040"/>
          </a:xfrm>
          <a:prstGeom prst="rect">
            <a:avLst/>
          </a:prstGeom>
          <a:noFill/>
          <a:ln/>
        </p:spPr>
        <p:txBody>
          <a:bodyPr wrap="square" lIns="0" tIns="0" rIns="0" bIns="0" rtlCol="0" anchor="ctr"/>
          <a:lstStyle/>
          <a:p>
            <a:pPr marL="0" indent="0">
              <a:buNone/>
            </a:pPr>
            <a:r>
              <a:rPr lang="en-US" sz="1300" dirty="0">
                <a:solidFill>
                  <a:srgbClr val="5E7A96"/>
                </a:solidFill>
                <a:latin typeface="Calibri" pitchFamily="34" charset="0"/>
                <a:ea typeface="Calibri" pitchFamily="34" charset="-122"/>
                <a:cs typeface="Calibri" pitchFamily="34" charset="-120"/>
              </a:rPr>
              <a:t>Sources underpinning this review</a:t>
            </a:r>
            <a:endParaRPr lang="en-US" sz="1300" dirty="0"/>
          </a:p>
        </p:txBody>
      </p:sp>
      <p:grpSp>
        <p:nvGrpSpPr>
          <p:cNvPr id="30" name="Group 29"/>
          <p:cNvGrpSpPr/>
          <p:nvPr/>
        </p:nvGrpSpPr>
        <p:grpSpPr>
          <a:xfrm>
            <a:off x="365760" y="1417320"/>
            <a:ext cx="8366760" cy="493224"/>
            <a:chOff x="365760" y="1417320"/>
            <a:chExt cx="8366760" cy="493224"/>
          </a:xfrm>
        </p:grpSpPr>
        <p:grpSp>
          <p:nvGrpSpPr>
            <p:cNvPr id="31" name="Group 30"/>
            <p:cNvGrpSpPr/>
            <p:nvPr/>
          </p:nvGrpSpPr>
          <p:grpSpPr>
            <a:xfrm>
              <a:off x="365760" y="1453344"/>
              <a:ext cx="274320" cy="274320"/>
              <a:chOff x="365760" y="1508760"/>
              <a:chExt cx="274320" cy="274320"/>
            </a:xfrm>
          </p:grpSpPr>
          <p:sp>
            <p:nvSpPr>
              <p:cNvPr id="5" name="Shape 3"/>
              <p:cNvSpPr/>
              <p:nvPr/>
            </p:nvSpPr>
            <p:spPr>
              <a:xfrm>
                <a:off x="365760" y="1508760"/>
                <a:ext cx="274320" cy="274320"/>
              </a:xfrm>
              <a:prstGeom prst="ellipse">
                <a:avLst/>
              </a:prstGeom>
              <a:solidFill>
                <a:srgbClr val="00B4D8"/>
              </a:solidFill>
              <a:ln w="12700">
                <a:solidFill>
                  <a:srgbClr val="00B4D8"/>
                </a:solidFill>
                <a:prstDash val="solid"/>
              </a:ln>
            </p:spPr>
          </p:sp>
          <p:sp>
            <p:nvSpPr>
              <p:cNvPr id="6" name="Text 4"/>
              <p:cNvSpPr/>
              <p:nvPr/>
            </p:nvSpPr>
            <p:spPr>
              <a:xfrm>
                <a:off x="365760" y="1508760"/>
                <a:ext cx="274320" cy="274320"/>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grpSp>
        <p:sp>
          <p:nvSpPr>
            <p:cNvPr id="7" name="Text 5"/>
            <p:cNvSpPr/>
            <p:nvPr/>
          </p:nvSpPr>
          <p:spPr>
            <a:xfrm>
              <a:off x="777240" y="1417320"/>
              <a:ext cx="7955280" cy="292608"/>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NIST. (2020). Zero Trust Architecture (NIST SP 800-207).</a:t>
              </a:r>
              <a:endParaRPr lang="en-US" sz="1200" dirty="0"/>
            </a:p>
          </p:txBody>
        </p:sp>
        <p:sp>
          <p:nvSpPr>
            <p:cNvPr id="8" name="Text 6"/>
            <p:cNvSpPr/>
            <p:nvPr/>
          </p:nvSpPr>
          <p:spPr>
            <a:xfrm>
              <a:off x="777240" y="1654512"/>
              <a:ext cx="7955280" cy="256032"/>
            </a:xfrm>
            <a:prstGeom prst="rect">
              <a:avLst/>
            </a:prstGeom>
            <a:noFill/>
            <a:ln/>
          </p:spPr>
          <p:txBody>
            <a:bodyPr wrap="square" lIns="0" tIns="0" rIns="0" bIns="0" rtlCol="0" anchor="ctr"/>
            <a:lstStyle/>
            <a:p>
              <a:pPr marL="0" indent="0">
                <a:buNone/>
              </a:pPr>
              <a:r>
                <a:rPr lang="en-US" sz="1000" i="1" dirty="0">
                  <a:solidFill>
                    <a:srgbClr val="5E7A96"/>
                  </a:solidFill>
                  <a:latin typeface="Calibri" pitchFamily="34" charset="0"/>
                  <a:ea typeface="Calibri" pitchFamily="34" charset="-122"/>
                  <a:cs typeface="Calibri" pitchFamily="34" charset="-120"/>
                </a:rPr>
                <a:t>https://nvlpubs.nist.gov/nistpubs/specialpublications/NIST.SP.800-207.pdf</a:t>
              </a:r>
              <a:endParaRPr lang="en-US" sz="1000" dirty="0"/>
            </a:p>
          </p:txBody>
        </p:sp>
      </p:grpSp>
      <p:grpSp>
        <p:nvGrpSpPr>
          <p:cNvPr id="37" name="Group 36"/>
          <p:cNvGrpSpPr/>
          <p:nvPr/>
        </p:nvGrpSpPr>
        <p:grpSpPr>
          <a:xfrm>
            <a:off x="365760" y="2002536"/>
            <a:ext cx="8366760" cy="493224"/>
            <a:chOff x="365760" y="2002536"/>
            <a:chExt cx="8366760" cy="493224"/>
          </a:xfrm>
        </p:grpSpPr>
        <p:grpSp>
          <p:nvGrpSpPr>
            <p:cNvPr id="32" name="Group 31"/>
            <p:cNvGrpSpPr/>
            <p:nvPr/>
          </p:nvGrpSpPr>
          <p:grpSpPr>
            <a:xfrm>
              <a:off x="365760" y="2038560"/>
              <a:ext cx="274320" cy="274320"/>
              <a:chOff x="365760" y="2093976"/>
              <a:chExt cx="274320" cy="274320"/>
            </a:xfrm>
          </p:grpSpPr>
          <p:sp>
            <p:nvSpPr>
              <p:cNvPr id="9" name="Shape 7"/>
              <p:cNvSpPr/>
              <p:nvPr/>
            </p:nvSpPr>
            <p:spPr>
              <a:xfrm>
                <a:off x="365760" y="2093976"/>
                <a:ext cx="274320" cy="274320"/>
              </a:xfrm>
              <a:prstGeom prst="ellipse">
                <a:avLst/>
              </a:prstGeom>
              <a:solidFill>
                <a:srgbClr val="00B4D8"/>
              </a:solidFill>
              <a:ln w="12700">
                <a:solidFill>
                  <a:srgbClr val="00B4D8"/>
                </a:solidFill>
                <a:prstDash val="solid"/>
              </a:ln>
            </p:spPr>
          </p:sp>
          <p:sp>
            <p:nvSpPr>
              <p:cNvPr id="10" name="Text 8"/>
              <p:cNvSpPr/>
              <p:nvPr/>
            </p:nvSpPr>
            <p:spPr>
              <a:xfrm>
                <a:off x="365760" y="2093976"/>
                <a:ext cx="274320" cy="274320"/>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grpSp>
        <p:sp>
          <p:nvSpPr>
            <p:cNvPr id="11" name="Text 9"/>
            <p:cNvSpPr/>
            <p:nvPr/>
          </p:nvSpPr>
          <p:spPr>
            <a:xfrm>
              <a:off x="777240" y="2002536"/>
              <a:ext cx="7955280" cy="292608"/>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CISA. (2023). Zero Trust Maturity Model Version 2.0.</a:t>
              </a:r>
              <a:endParaRPr lang="en-US" sz="1200" dirty="0"/>
            </a:p>
          </p:txBody>
        </p:sp>
        <p:sp>
          <p:nvSpPr>
            <p:cNvPr id="12" name="Text 10"/>
            <p:cNvSpPr/>
            <p:nvPr/>
          </p:nvSpPr>
          <p:spPr>
            <a:xfrm>
              <a:off x="777240" y="2239728"/>
              <a:ext cx="7955280" cy="256032"/>
            </a:xfrm>
            <a:prstGeom prst="rect">
              <a:avLst/>
            </a:prstGeom>
            <a:noFill/>
            <a:ln/>
          </p:spPr>
          <p:txBody>
            <a:bodyPr wrap="square" lIns="0" tIns="0" rIns="0" bIns="0" rtlCol="0" anchor="ctr"/>
            <a:lstStyle/>
            <a:p>
              <a:pPr marL="0" indent="0">
                <a:buNone/>
              </a:pPr>
              <a:r>
                <a:rPr lang="en-US" sz="1000" i="1" dirty="0">
                  <a:solidFill>
                    <a:srgbClr val="5E7A96"/>
                  </a:solidFill>
                  <a:latin typeface="Calibri" pitchFamily="34" charset="0"/>
                  <a:ea typeface="Calibri" pitchFamily="34" charset="-122"/>
                  <a:cs typeface="Calibri" pitchFamily="34" charset="-120"/>
                </a:rPr>
                <a:t>https://www.cisa.gov/sites/default/files/2023-04/CISA_Zero_Trust_Maturity_Model_Version_2_508c.pdf</a:t>
              </a:r>
              <a:endParaRPr lang="en-US" sz="1000" dirty="0"/>
            </a:p>
          </p:txBody>
        </p:sp>
      </p:grpSp>
      <p:grpSp>
        <p:nvGrpSpPr>
          <p:cNvPr id="38" name="Group 37"/>
          <p:cNvGrpSpPr/>
          <p:nvPr/>
        </p:nvGrpSpPr>
        <p:grpSpPr>
          <a:xfrm>
            <a:off x="365760" y="2587752"/>
            <a:ext cx="8366760" cy="493224"/>
            <a:chOff x="365760" y="2587752"/>
            <a:chExt cx="8366760" cy="493224"/>
          </a:xfrm>
        </p:grpSpPr>
        <p:grpSp>
          <p:nvGrpSpPr>
            <p:cNvPr id="33" name="Group 32"/>
            <p:cNvGrpSpPr/>
            <p:nvPr/>
          </p:nvGrpSpPr>
          <p:grpSpPr>
            <a:xfrm>
              <a:off x="365760" y="2614540"/>
              <a:ext cx="274320" cy="274320"/>
              <a:chOff x="365760" y="2679192"/>
              <a:chExt cx="274320" cy="274320"/>
            </a:xfrm>
          </p:grpSpPr>
          <p:sp>
            <p:nvSpPr>
              <p:cNvPr id="13" name="Shape 11"/>
              <p:cNvSpPr/>
              <p:nvPr/>
            </p:nvSpPr>
            <p:spPr>
              <a:xfrm>
                <a:off x="365760" y="2679192"/>
                <a:ext cx="274320" cy="274320"/>
              </a:xfrm>
              <a:prstGeom prst="ellipse">
                <a:avLst/>
              </a:prstGeom>
              <a:solidFill>
                <a:srgbClr val="00B4D8"/>
              </a:solidFill>
              <a:ln w="12700">
                <a:solidFill>
                  <a:srgbClr val="00B4D8"/>
                </a:solidFill>
                <a:prstDash val="solid"/>
              </a:ln>
            </p:spPr>
          </p:sp>
          <p:sp>
            <p:nvSpPr>
              <p:cNvPr id="14" name="Text 12"/>
              <p:cNvSpPr/>
              <p:nvPr/>
            </p:nvSpPr>
            <p:spPr>
              <a:xfrm>
                <a:off x="365760" y="2679192"/>
                <a:ext cx="274320" cy="274320"/>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grpSp>
        <p:sp>
          <p:nvSpPr>
            <p:cNvPr id="15" name="Text 13"/>
            <p:cNvSpPr/>
            <p:nvPr/>
          </p:nvSpPr>
          <p:spPr>
            <a:xfrm>
              <a:off x="777240" y="2587752"/>
              <a:ext cx="7955280" cy="292608"/>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DoD. (2022). Department of Defense Zero Trust Reference Architecture.</a:t>
              </a:r>
              <a:endParaRPr lang="en-US" sz="1200" dirty="0"/>
            </a:p>
          </p:txBody>
        </p:sp>
        <p:sp>
          <p:nvSpPr>
            <p:cNvPr id="16" name="Text 14"/>
            <p:cNvSpPr/>
            <p:nvPr/>
          </p:nvSpPr>
          <p:spPr>
            <a:xfrm>
              <a:off x="777240" y="2824944"/>
              <a:ext cx="7955280" cy="256032"/>
            </a:xfrm>
            <a:prstGeom prst="rect">
              <a:avLst/>
            </a:prstGeom>
            <a:noFill/>
            <a:ln/>
          </p:spPr>
          <p:txBody>
            <a:bodyPr wrap="square" lIns="0" tIns="0" rIns="0" bIns="0" rtlCol="0" anchor="ctr"/>
            <a:lstStyle/>
            <a:p>
              <a:pPr marL="0" indent="0">
                <a:buNone/>
              </a:pPr>
              <a:r>
                <a:rPr lang="en-US" sz="1000" i="1" dirty="0">
                  <a:solidFill>
                    <a:srgbClr val="5E7A96"/>
                  </a:solidFill>
                  <a:latin typeface="Calibri" pitchFamily="34" charset="0"/>
                  <a:ea typeface="Calibri" pitchFamily="34" charset="-122"/>
                  <a:cs typeface="Calibri" pitchFamily="34" charset="-120"/>
                </a:rPr>
                <a:t>https://dodcio.defense.gov/Portals/0/Documents/Library/(U)ZT_RA_v2.0(U)_Sep22.pdf</a:t>
              </a:r>
              <a:endParaRPr lang="en-US" sz="1000" dirty="0"/>
            </a:p>
          </p:txBody>
        </p:sp>
      </p:grpSp>
      <p:grpSp>
        <p:nvGrpSpPr>
          <p:cNvPr id="39" name="Group 38"/>
          <p:cNvGrpSpPr/>
          <p:nvPr/>
        </p:nvGrpSpPr>
        <p:grpSpPr>
          <a:xfrm>
            <a:off x="365760" y="3172968"/>
            <a:ext cx="8366760" cy="301108"/>
            <a:chOff x="365760" y="3172968"/>
            <a:chExt cx="8366760" cy="301108"/>
          </a:xfrm>
        </p:grpSpPr>
        <p:grpSp>
          <p:nvGrpSpPr>
            <p:cNvPr id="34" name="Group 33"/>
            <p:cNvGrpSpPr/>
            <p:nvPr/>
          </p:nvGrpSpPr>
          <p:grpSpPr>
            <a:xfrm>
              <a:off x="365760" y="3199756"/>
              <a:ext cx="274320" cy="274320"/>
              <a:chOff x="365760" y="3264408"/>
              <a:chExt cx="274320" cy="274320"/>
            </a:xfrm>
          </p:grpSpPr>
          <p:sp>
            <p:nvSpPr>
              <p:cNvPr id="17" name="Shape 15"/>
              <p:cNvSpPr/>
              <p:nvPr/>
            </p:nvSpPr>
            <p:spPr>
              <a:xfrm>
                <a:off x="365760" y="3264408"/>
                <a:ext cx="274320" cy="274320"/>
              </a:xfrm>
              <a:prstGeom prst="ellipse">
                <a:avLst/>
              </a:prstGeom>
              <a:solidFill>
                <a:srgbClr val="00B4D8"/>
              </a:solidFill>
              <a:ln w="12700">
                <a:solidFill>
                  <a:srgbClr val="00B4D8"/>
                </a:solidFill>
                <a:prstDash val="solid"/>
              </a:ln>
            </p:spPr>
          </p:sp>
          <p:sp>
            <p:nvSpPr>
              <p:cNvPr id="18" name="Text 16"/>
              <p:cNvSpPr/>
              <p:nvPr/>
            </p:nvSpPr>
            <p:spPr>
              <a:xfrm>
                <a:off x="365760" y="3264408"/>
                <a:ext cx="274320" cy="274320"/>
              </a:xfrm>
              <a:prstGeom prst="rect">
                <a:avLst/>
              </a:prstGeom>
              <a:noFill/>
              <a:ln/>
            </p:spPr>
            <p:txBody>
              <a:bodyPr wrap="square" rtlCol="0" anchor="ctr"/>
              <a:lstStyle/>
              <a:p>
                <a:pPr marL="0" indent="0" algn="ctr">
                  <a:buNone/>
                </a:pPr>
                <a:r>
                  <a:rPr lang="en-US" sz="1000" b="1" dirty="0">
                    <a:solidFill>
                      <a:srgbClr val="FFFFFF"/>
                    </a:solidFill>
                  </a:rPr>
                  <a:t>4</a:t>
                </a:r>
                <a:endParaRPr lang="en-US" sz="1000" dirty="0"/>
              </a:p>
            </p:txBody>
          </p:sp>
        </p:grpSp>
        <p:sp>
          <p:nvSpPr>
            <p:cNvPr id="19" name="Text 17"/>
            <p:cNvSpPr/>
            <p:nvPr/>
          </p:nvSpPr>
          <p:spPr>
            <a:xfrm>
              <a:off x="777240" y="3172968"/>
              <a:ext cx="7955280" cy="292608"/>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IEEE. (2025). Zero Trust Architecture: Evaluating its Impact on Modern Information Security.</a:t>
              </a:r>
              <a:endParaRPr lang="en-US" sz="1200" dirty="0"/>
            </a:p>
          </p:txBody>
        </p:sp>
      </p:grpSp>
      <p:sp>
        <p:nvSpPr>
          <p:cNvPr id="20" name="Text 18"/>
          <p:cNvSpPr/>
          <p:nvPr/>
        </p:nvSpPr>
        <p:spPr>
          <a:xfrm>
            <a:off x="777240" y="3419396"/>
            <a:ext cx="7955280" cy="256032"/>
          </a:xfrm>
          <a:prstGeom prst="rect">
            <a:avLst/>
          </a:prstGeom>
          <a:noFill/>
          <a:ln/>
        </p:spPr>
        <p:txBody>
          <a:bodyPr wrap="square" lIns="0" tIns="0" rIns="0" bIns="0" rtlCol="0" anchor="ctr"/>
          <a:lstStyle/>
          <a:p>
            <a:pPr marL="0" indent="0">
              <a:buNone/>
            </a:pPr>
            <a:r>
              <a:rPr lang="en-US" sz="1000" i="1" dirty="0">
                <a:solidFill>
                  <a:srgbClr val="5E7A96"/>
                </a:solidFill>
                <a:latin typeface="Calibri" pitchFamily="34" charset="0"/>
                <a:ea typeface="Calibri" pitchFamily="34" charset="-122"/>
                <a:cs typeface="Calibri" pitchFamily="34" charset="-120"/>
              </a:rPr>
              <a:t>https://ieeexplore.ieee.org/abstract/document/11337489/</a:t>
            </a:r>
            <a:endParaRPr lang="en-US" sz="1000" dirty="0"/>
          </a:p>
        </p:txBody>
      </p:sp>
      <p:grpSp>
        <p:nvGrpSpPr>
          <p:cNvPr id="40" name="Group 39"/>
          <p:cNvGrpSpPr/>
          <p:nvPr/>
        </p:nvGrpSpPr>
        <p:grpSpPr>
          <a:xfrm>
            <a:off x="365760" y="3758184"/>
            <a:ext cx="8366760" cy="502460"/>
            <a:chOff x="365760" y="3758184"/>
            <a:chExt cx="8366760" cy="502460"/>
          </a:xfrm>
        </p:grpSpPr>
        <p:grpSp>
          <p:nvGrpSpPr>
            <p:cNvPr id="35" name="Group 34"/>
            <p:cNvGrpSpPr/>
            <p:nvPr/>
          </p:nvGrpSpPr>
          <p:grpSpPr>
            <a:xfrm>
              <a:off x="365760" y="3794208"/>
              <a:ext cx="274320" cy="274320"/>
              <a:chOff x="365760" y="3849624"/>
              <a:chExt cx="274320" cy="274320"/>
            </a:xfrm>
          </p:grpSpPr>
          <p:sp>
            <p:nvSpPr>
              <p:cNvPr id="21" name="Shape 19"/>
              <p:cNvSpPr/>
              <p:nvPr/>
            </p:nvSpPr>
            <p:spPr>
              <a:xfrm>
                <a:off x="365760" y="3849624"/>
                <a:ext cx="274320" cy="274320"/>
              </a:xfrm>
              <a:prstGeom prst="ellipse">
                <a:avLst/>
              </a:prstGeom>
              <a:solidFill>
                <a:srgbClr val="00B4D8"/>
              </a:solidFill>
              <a:ln w="12700">
                <a:solidFill>
                  <a:srgbClr val="00B4D8"/>
                </a:solidFill>
                <a:prstDash val="solid"/>
              </a:ln>
            </p:spPr>
          </p:sp>
          <p:sp>
            <p:nvSpPr>
              <p:cNvPr id="22" name="Text 20"/>
              <p:cNvSpPr/>
              <p:nvPr/>
            </p:nvSpPr>
            <p:spPr>
              <a:xfrm>
                <a:off x="365760" y="3849624"/>
                <a:ext cx="274320" cy="274320"/>
              </a:xfrm>
              <a:prstGeom prst="rect">
                <a:avLst/>
              </a:prstGeom>
              <a:noFill/>
              <a:ln/>
            </p:spPr>
            <p:txBody>
              <a:bodyPr wrap="square" rtlCol="0" anchor="ctr"/>
              <a:lstStyle/>
              <a:p>
                <a:pPr marL="0" indent="0" algn="ctr">
                  <a:buNone/>
                </a:pPr>
                <a:r>
                  <a:rPr lang="en-US" sz="1000" b="1" dirty="0">
                    <a:solidFill>
                      <a:srgbClr val="FFFFFF"/>
                    </a:solidFill>
                  </a:rPr>
                  <a:t>5</a:t>
                </a:r>
                <a:endParaRPr lang="en-US" sz="1000" dirty="0"/>
              </a:p>
            </p:txBody>
          </p:sp>
        </p:grpSp>
        <p:sp>
          <p:nvSpPr>
            <p:cNvPr id="23" name="Text 21"/>
            <p:cNvSpPr/>
            <p:nvPr/>
          </p:nvSpPr>
          <p:spPr>
            <a:xfrm>
              <a:off x="777240" y="3758184"/>
              <a:ext cx="7955280" cy="292608"/>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SAGE. (2025). A comprehensive review and comparative analysis of zero trust architecture.</a:t>
              </a:r>
              <a:endParaRPr lang="en-US" sz="1200" dirty="0"/>
            </a:p>
          </p:txBody>
        </p:sp>
        <p:sp>
          <p:nvSpPr>
            <p:cNvPr id="24" name="Text 22"/>
            <p:cNvSpPr/>
            <p:nvPr/>
          </p:nvSpPr>
          <p:spPr>
            <a:xfrm>
              <a:off x="777240" y="4004612"/>
              <a:ext cx="7955280" cy="256032"/>
            </a:xfrm>
            <a:prstGeom prst="rect">
              <a:avLst/>
            </a:prstGeom>
            <a:noFill/>
            <a:ln/>
          </p:spPr>
          <p:txBody>
            <a:bodyPr wrap="square" lIns="0" tIns="0" rIns="0" bIns="0" rtlCol="0" anchor="ctr"/>
            <a:lstStyle/>
            <a:p>
              <a:pPr marL="0" indent="0">
                <a:buNone/>
              </a:pPr>
              <a:r>
                <a:rPr lang="en-US" sz="1000" i="1" dirty="0">
                  <a:solidFill>
                    <a:srgbClr val="5E7A96"/>
                  </a:solidFill>
                  <a:latin typeface="Calibri" pitchFamily="34" charset="0"/>
                  <a:ea typeface="Calibri" pitchFamily="34" charset="-122"/>
                  <a:cs typeface="Calibri" pitchFamily="34" charset="-120"/>
                </a:rPr>
                <a:t>https://journals.sagepub.com/doi/abs/10.1177/0926227X251409922</a:t>
              </a:r>
              <a:endParaRPr lang="en-US" sz="1000" dirty="0"/>
            </a:p>
          </p:txBody>
        </p:sp>
      </p:grpSp>
      <p:grpSp>
        <p:nvGrpSpPr>
          <p:cNvPr id="41" name="Group 40"/>
          <p:cNvGrpSpPr/>
          <p:nvPr/>
        </p:nvGrpSpPr>
        <p:grpSpPr>
          <a:xfrm>
            <a:off x="365760" y="4343400"/>
            <a:ext cx="8366760" cy="474752"/>
            <a:chOff x="365760" y="4343400"/>
            <a:chExt cx="8366760" cy="474752"/>
          </a:xfrm>
        </p:grpSpPr>
        <p:grpSp>
          <p:nvGrpSpPr>
            <p:cNvPr id="36" name="Group 35"/>
            <p:cNvGrpSpPr/>
            <p:nvPr/>
          </p:nvGrpSpPr>
          <p:grpSpPr>
            <a:xfrm>
              <a:off x="365760" y="4379424"/>
              <a:ext cx="274320" cy="274320"/>
              <a:chOff x="365760" y="4434840"/>
              <a:chExt cx="274320" cy="274320"/>
            </a:xfrm>
          </p:grpSpPr>
          <p:sp>
            <p:nvSpPr>
              <p:cNvPr id="25" name="Shape 23"/>
              <p:cNvSpPr/>
              <p:nvPr/>
            </p:nvSpPr>
            <p:spPr>
              <a:xfrm>
                <a:off x="365760" y="4434840"/>
                <a:ext cx="274320" cy="274320"/>
              </a:xfrm>
              <a:prstGeom prst="ellipse">
                <a:avLst/>
              </a:prstGeom>
              <a:solidFill>
                <a:srgbClr val="00B4D8"/>
              </a:solidFill>
              <a:ln w="12700">
                <a:solidFill>
                  <a:srgbClr val="00B4D8"/>
                </a:solidFill>
                <a:prstDash val="solid"/>
              </a:ln>
            </p:spPr>
          </p:sp>
          <p:sp>
            <p:nvSpPr>
              <p:cNvPr id="26" name="Text 24"/>
              <p:cNvSpPr/>
              <p:nvPr/>
            </p:nvSpPr>
            <p:spPr>
              <a:xfrm>
                <a:off x="365760" y="4434840"/>
                <a:ext cx="274320" cy="274320"/>
              </a:xfrm>
              <a:prstGeom prst="rect">
                <a:avLst/>
              </a:prstGeom>
              <a:noFill/>
              <a:ln/>
            </p:spPr>
            <p:txBody>
              <a:bodyPr wrap="square" rtlCol="0" anchor="ctr"/>
              <a:lstStyle/>
              <a:p>
                <a:pPr marL="0" indent="0" algn="ctr">
                  <a:buNone/>
                </a:pPr>
                <a:r>
                  <a:rPr lang="en-US" sz="1000" b="1" dirty="0">
                    <a:solidFill>
                      <a:srgbClr val="FFFFFF"/>
                    </a:solidFill>
                  </a:rPr>
                  <a:t>6</a:t>
                </a:r>
                <a:endParaRPr lang="en-US" sz="1000" dirty="0"/>
              </a:p>
            </p:txBody>
          </p:sp>
        </p:grpSp>
        <p:sp>
          <p:nvSpPr>
            <p:cNvPr id="27" name="Text 25"/>
            <p:cNvSpPr/>
            <p:nvPr/>
          </p:nvSpPr>
          <p:spPr>
            <a:xfrm>
              <a:off x="777240" y="4343400"/>
              <a:ext cx="7955280" cy="292608"/>
            </a:xfrm>
            <a:prstGeom prst="rect">
              <a:avLst/>
            </a:prstGeom>
            <a:noFill/>
            <a:ln/>
          </p:spPr>
          <p:txBody>
            <a:bodyPr wrap="square" lIns="0" tIns="0" rIns="0" bIns="0" rtlCol="0" anchor="ctr"/>
            <a:lstStyle/>
            <a:p>
              <a:pPr marL="0" indent="0">
                <a:buNone/>
              </a:pPr>
              <a:r>
                <a:rPr lang="en-US" sz="1200" b="1" dirty="0">
                  <a:solidFill>
                    <a:srgbClr val="1A2E44"/>
                  </a:solidFill>
                  <a:latin typeface="Calibri" pitchFamily="34" charset="0"/>
                  <a:ea typeface="Calibri" pitchFamily="34" charset="-122"/>
                  <a:cs typeface="Calibri" pitchFamily="34" charset="-120"/>
                </a:rPr>
                <a:t>Springer. (2026). Review of zero-click attacks and zero-trust security model.</a:t>
              </a:r>
              <a:endParaRPr lang="en-US" sz="1200" dirty="0"/>
            </a:p>
          </p:txBody>
        </p:sp>
        <p:sp>
          <p:nvSpPr>
            <p:cNvPr id="28" name="Text 26"/>
            <p:cNvSpPr/>
            <p:nvPr/>
          </p:nvSpPr>
          <p:spPr>
            <a:xfrm>
              <a:off x="777240" y="4562120"/>
              <a:ext cx="7955280" cy="256032"/>
            </a:xfrm>
            <a:prstGeom prst="rect">
              <a:avLst/>
            </a:prstGeom>
            <a:noFill/>
            <a:ln/>
          </p:spPr>
          <p:txBody>
            <a:bodyPr wrap="square" lIns="0" tIns="0" rIns="0" bIns="0" rtlCol="0" anchor="ctr"/>
            <a:lstStyle/>
            <a:p>
              <a:pPr marL="0" indent="0">
                <a:buNone/>
              </a:pPr>
              <a:r>
                <a:rPr lang="en-US" sz="1000" i="1" dirty="0">
                  <a:solidFill>
                    <a:srgbClr val="5E7A96"/>
                  </a:solidFill>
                  <a:latin typeface="Calibri" pitchFamily="34" charset="0"/>
                  <a:ea typeface="Calibri" pitchFamily="34" charset="-122"/>
                  <a:cs typeface="Calibri" pitchFamily="34" charset="-120"/>
                </a:rPr>
                <a:t>https://link.springer.com/article/10.1007/s44354-026-00023-4</a:t>
              </a:r>
              <a:endParaRPr lang="en-US" sz="1000" dirty="0"/>
            </a:p>
          </p:txBody>
        </p:sp>
      </p:grpSp>
      <p:sp>
        <p:nvSpPr>
          <p:cNvPr id="42" name="Shape 0">
            <a:extLst>
              <a:ext uri="{FF2B5EF4-FFF2-40B4-BE49-F238E27FC236}">
                <a16:creationId xmlns:a16="http://schemas.microsoft.com/office/drawing/2014/main" id="{12FC4C68-9FDE-41C4-A103-7CB9273A1E17}"/>
              </a:ext>
            </a:extLst>
          </p:cNvPr>
          <p:cNvSpPr/>
          <p:nvPr/>
        </p:nvSpPr>
        <p:spPr>
          <a:xfrm>
            <a:off x="8780396" y="4342664"/>
            <a:ext cx="64008" cy="438912"/>
          </a:xfrm>
          <a:prstGeom prst="rect">
            <a:avLst/>
          </a:prstGeom>
          <a:solidFill>
            <a:srgbClr val="00B4D8"/>
          </a:solidFill>
          <a:ln w="12700">
            <a:solidFill>
              <a:srgbClr val="00B4D8"/>
            </a:solidFill>
            <a:prstDash val="solid"/>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32" name="Group 31"/>
          <p:cNvGrpSpPr/>
          <p:nvPr/>
        </p:nvGrpSpPr>
        <p:grpSpPr>
          <a:xfrm>
            <a:off x="1088313" y="2079680"/>
            <a:ext cx="3788487" cy="1037916"/>
            <a:chOff x="990342" y="2063738"/>
            <a:chExt cx="4068727" cy="1572816"/>
          </a:xfrm>
          <a:solidFill>
            <a:srgbClr val="00B4D8"/>
          </a:solidFill>
        </p:grpSpPr>
        <p:sp>
          <p:nvSpPr>
            <p:cNvPr id="31" name="Rectangle 30"/>
            <p:cNvSpPr/>
            <p:nvPr/>
          </p:nvSpPr>
          <p:spPr>
            <a:xfrm>
              <a:off x="990342" y="2063738"/>
              <a:ext cx="4068727" cy="15728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p:cNvSpPr/>
            <p:nvPr/>
          </p:nvSpPr>
          <p:spPr>
            <a:xfrm>
              <a:off x="990342" y="2063738"/>
              <a:ext cx="4068727" cy="1502756"/>
            </a:xfrm>
            <a:prstGeom prst="rect">
              <a:avLst/>
            </a:prstGeom>
            <a:grpFill/>
            <a:ln>
              <a:noFill/>
            </a:ln>
          </p:spPr>
          <p:txBody>
            <a:bodyPr wrap="square" rtlCol="0" anchor="ctr"/>
            <a:lstStyle/>
            <a:p>
              <a:pPr marL="0" indent="0" algn="ctr">
                <a:buNone/>
              </a:pPr>
              <a:r>
                <a:rPr lang="en-US" sz="5400" b="1" kern="0" spc="200" dirty="0">
                  <a:solidFill>
                    <a:srgbClr val="FFFFFF"/>
                  </a:solidFill>
                </a:rPr>
                <a:t>Thank You</a:t>
              </a:r>
              <a:endParaRPr lang="en-US" sz="5400" dirty="0"/>
            </a:p>
          </p:txBody>
        </p:sp>
      </p:grpSp>
      <p:sp>
        <p:nvSpPr>
          <p:cNvPr id="20" name="Shape 16"/>
          <p:cNvSpPr/>
          <p:nvPr/>
        </p:nvSpPr>
        <p:spPr>
          <a:xfrm>
            <a:off x="1033449" y="2079680"/>
            <a:ext cx="54864" cy="1037916"/>
          </a:xfrm>
          <a:prstGeom prst="rect">
            <a:avLst/>
          </a:prstGeom>
          <a:solidFill>
            <a:srgbClr val="5E60CE"/>
          </a:solidFill>
          <a:ln w="12700">
            <a:solidFill>
              <a:srgbClr val="5E60CE"/>
            </a:solidFill>
            <a:prstDash val="solid"/>
          </a:ln>
        </p:spPr>
      </p:sp>
      <p:grpSp>
        <p:nvGrpSpPr>
          <p:cNvPr id="26" name="Group 25"/>
          <p:cNvGrpSpPr/>
          <p:nvPr/>
        </p:nvGrpSpPr>
        <p:grpSpPr>
          <a:xfrm>
            <a:off x="5806619" y="393192"/>
            <a:ext cx="3117546" cy="4191293"/>
            <a:chOff x="6400800" y="1325880"/>
            <a:chExt cx="2377440" cy="3022092"/>
          </a:xfrm>
        </p:grpSpPr>
        <p:sp>
          <p:nvSpPr>
            <p:cNvPr id="27" name="Shape 9"/>
            <p:cNvSpPr/>
            <p:nvPr/>
          </p:nvSpPr>
          <p:spPr>
            <a:xfrm>
              <a:off x="6400800" y="1325880"/>
              <a:ext cx="2377440" cy="3022092"/>
            </a:xfrm>
            <a:prstGeom prst="rect">
              <a:avLst/>
            </a:prstGeom>
            <a:solidFill>
              <a:srgbClr val="0A1628"/>
            </a:solidFill>
            <a:ln w="19050">
              <a:solidFill>
                <a:srgbClr val="00B4D8"/>
              </a:solidFill>
              <a:prstDash val="solid"/>
            </a:ln>
          </p:spPr>
        </p:sp>
        <p:sp>
          <p:nvSpPr>
            <p:cNvPr id="28" name="Text 14"/>
            <p:cNvSpPr/>
            <p:nvPr/>
          </p:nvSpPr>
          <p:spPr>
            <a:xfrm>
              <a:off x="6400800" y="3845052"/>
              <a:ext cx="2377440" cy="502920"/>
            </a:xfrm>
            <a:prstGeom prst="rect">
              <a:avLst/>
            </a:prstGeom>
            <a:noFill/>
            <a:ln/>
          </p:spPr>
          <p:txBody>
            <a:bodyPr wrap="square" rtlCol="0" anchor="ctr"/>
            <a:lstStyle/>
            <a:p>
              <a:pPr marL="0" indent="0" algn="ctr">
                <a:buNone/>
              </a:pPr>
              <a:r>
                <a:rPr lang="en-US" sz="1800" b="1" dirty="0">
                  <a:solidFill>
                    <a:srgbClr val="00B4D8"/>
                  </a:solidFill>
                </a:rPr>
                <a:t>Scan Here</a:t>
              </a:r>
              <a:endParaRPr lang="en-US" sz="1800" dirty="0"/>
            </a:p>
          </p:txBody>
        </p:sp>
        <p:pic>
          <p:nvPicPr>
            <p:cNvPr id="29" name="Picture 28"/>
            <p:cNvPicPr>
              <a:picLocks noChangeAspect="1"/>
            </p:cNvPicPr>
            <p:nvPr/>
          </p:nvPicPr>
          <p:blipFill rotWithShape="1">
            <a:blip r:embed="rId3">
              <a:extLst>
                <a:ext uri="{28A0092B-C50C-407E-A947-70E740481C1C}">
                  <a14:useLocalDpi xmlns:a14="http://schemas.microsoft.com/office/drawing/2010/main" val="0"/>
                </a:ext>
              </a:extLst>
            </a:blip>
            <a:srcRect l="14793" t="17515" r="14714" b="24390"/>
            <a:stretch/>
          </p:blipFill>
          <p:spPr>
            <a:xfrm>
              <a:off x="6552290" y="1522154"/>
              <a:ext cx="2079630" cy="2142322"/>
            </a:xfrm>
            <a:prstGeom prst="rect">
              <a:avLst/>
            </a:prstGeom>
          </p:spPr>
        </p:pic>
      </p:grpSp>
    </p:spTree>
    <p:extLst>
      <p:ext uri="{BB962C8B-B14F-4D97-AF65-F5344CB8AC3E}">
        <p14:creationId xmlns:p14="http://schemas.microsoft.com/office/powerpoint/2010/main" val="661790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4107</Words>
  <Application>Microsoft Office PowerPoint</Application>
  <PresentationFormat>On-screen Show (16:9)</PresentationFormat>
  <Paragraphs>319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Trust Architecture – A Comprehensive Review</dc:title>
  <dc:subject>PptxGenJS Presentation</dc:subject>
  <dc:creator>PptxGenJS</dc:creator>
  <cp:lastModifiedBy>MD Tanvir Rahman</cp:lastModifiedBy>
  <cp:revision>30</cp:revision>
  <dcterms:created xsi:type="dcterms:W3CDTF">2026-05-02T16:31:46Z</dcterms:created>
  <dcterms:modified xsi:type="dcterms:W3CDTF">2026-05-03T18:20:41Z</dcterms:modified>
</cp:coreProperties>
</file>