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57"/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7456" autoAdjust="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2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Hello everyone. Today we will talk about Zero Trust Architecture.</a:t>
            </a:r>
          </a:p>
          <a:p>
            <a:r>
              <a:rPr dirty="0"/>
              <a:t>This presentation is prepared by our team from NBIU.</a:t>
            </a:r>
          </a:p>
          <a:p>
            <a:r>
              <a:rPr dirty="0"/>
              <a:t>We hope you find this session helpful and easy to follow.</a:t>
            </a:r>
          </a:p>
          <a:p>
            <a:r>
              <a:rPr dirty="0"/>
              <a:t>Let's get started with the introduction.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86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presentation, we cover Zero Trust frameworks and real-world challenges.</a:t>
            </a:r>
          </a:p>
          <a:p>
            <a:r>
              <a:rPr lang="en-US" dirty="0"/>
              <a:t>Our main goal is to understand the 'Never Trust, Always Verify' philosophy.</a:t>
            </a:r>
          </a:p>
          <a:p>
            <a:r>
              <a:rPr lang="en-US" dirty="0"/>
              <a:t>We will also look at how AI and Quantum security will change the future.</a:t>
            </a:r>
          </a:p>
          <a:p>
            <a:r>
              <a:rPr lang="en-US" dirty="0"/>
              <a:t>This provides a complete roadmap for modern digital security.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presentation, we cover Zero Trust frameworks and real-world challenges.</a:t>
            </a:r>
          </a:p>
          <a:p>
            <a:r>
              <a:rPr lang="en-US" dirty="0"/>
              <a:t>Our main goal is to understand the 'Never Trust, Always Verify' philosophy.</a:t>
            </a:r>
          </a:p>
          <a:p>
            <a:r>
              <a:rPr lang="en-US" dirty="0"/>
              <a:t>We will also look at how AI and Quantum security will change the future.</a:t>
            </a:r>
          </a:p>
          <a:p>
            <a:r>
              <a:rPr lang="en-US" dirty="0"/>
              <a:t>This provides a complete roadmap for modern digital security.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security is failing because it only protects the network's outer edge.</a:t>
            </a:r>
          </a:p>
          <a:p>
            <a:r>
              <a:rPr lang="en-US" dirty="0"/>
              <a:t>Zero Trust changes the focus from 'Where is the user?' to 'Who is the user?'.</a:t>
            </a:r>
          </a:p>
          <a:p>
            <a:r>
              <a:rPr lang="en-US" dirty="0"/>
              <a:t>It ensures that every access request is checked for identity and context.</a:t>
            </a:r>
          </a:p>
          <a:p>
            <a:r>
              <a:rPr lang="en-US" dirty="0"/>
              <a:t>This approach is essential in today's world of remote work and cloud services.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research objectives are simple and clear for this review.</a:t>
            </a:r>
          </a:p>
          <a:p>
            <a:r>
              <a:rPr lang="en-US" dirty="0"/>
              <a:t>First, we want to compare major frameworks like NIST and CISA.</a:t>
            </a:r>
          </a:p>
          <a:p>
            <a:r>
              <a:rPr lang="en-US" dirty="0"/>
              <a:t>Second, we identify the main barriers to adopting Zero Trust in companies.</a:t>
            </a:r>
          </a:p>
          <a:p>
            <a:r>
              <a:rPr lang="en-US" dirty="0"/>
              <a:t>Finally, we look at how AI can help automate security in the future.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three major frameworks that define Zero Trust today.</a:t>
            </a:r>
          </a:p>
          <a:p>
            <a:r>
              <a:rPr lang="en-US" dirty="0"/>
              <a:t>NIST provides the foundation, CISA focuses on maturity and growth,</a:t>
            </a:r>
          </a:p>
          <a:p>
            <a:r>
              <a:rPr lang="en-US" dirty="0"/>
              <a:t>and the DoD framework is designed for high-security environments.</a:t>
            </a:r>
          </a:p>
          <a:p>
            <a:r>
              <a:rPr lang="en-US" dirty="0"/>
              <a:t>Together, they offer a complete guide for any organization.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SP 800-207 has seven core rules for Zero Trust.</a:t>
            </a:r>
          </a:p>
          <a:p>
            <a:r>
              <a:rPr lang="en-US" dirty="0"/>
              <a:t>The main idea is that security depends on identity, not location.</a:t>
            </a:r>
          </a:p>
          <a:p>
            <a:r>
              <a:rPr lang="en-US" dirty="0"/>
              <a:t>All communication must be secure, and access is granted per session.</a:t>
            </a:r>
          </a:p>
          <a:p>
            <a:r>
              <a:rPr lang="en-US" dirty="0"/>
              <a:t>This shifts security to a more dynamic and data-centric model.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CISA defines five pillars: Identity, Device, Network, Application, and Data.</a:t>
            </a:r>
          </a:p>
          <a:p>
            <a:r>
              <a:rPr lang="en-US" dirty="0"/>
              <a:t>Each pillar represents a different area that needs protection.</a:t>
            </a:r>
          </a:p>
          <a:p>
            <a:r>
              <a:rPr lang="en-US" dirty="0"/>
              <a:t>All five pillars must work together to create a strong security system.</a:t>
            </a:r>
          </a:p>
          <a:p>
            <a:r>
              <a:rPr lang="en-US" dirty="0"/>
              <a:t>This helps organizations measure their security maturity over time.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and Device are the two most important parts of Zero Trust.</a:t>
            </a:r>
          </a:p>
          <a:p>
            <a:r>
              <a:rPr lang="en-US" dirty="0"/>
              <a:t>We must verify every user's identity using multi-factor authentication.</a:t>
            </a:r>
          </a:p>
          <a:p>
            <a:r>
              <a:rPr lang="en-US" dirty="0"/>
              <a:t>We also check if the device is healthy before allowing it to connect.</a:t>
            </a:r>
          </a:p>
          <a:p>
            <a:r>
              <a:rPr lang="en-US" dirty="0"/>
              <a:t>This ensures that only the right people on safe devices can access data.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Network, Application, and Data focus on protecting the inner infrastructure.</a:t>
            </a:r>
          </a:p>
          <a:p>
            <a:r>
              <a:rPr lang="en-US" dirty="0"/>
              <a:t>We use micro-segmentation to divide the network into small, secure zones.</a:t>
            </a:r>
          </a:p>
          <a:p>
            <a:r>
              <a:rPr lang="en-US" dirty="0"/>
              <a:t>This prevents hackers from moving easily if they get inside.</a:t>
            </a:r>
          </a:p>
          <a:p>
            <a:r>
              <a:rPr lang="en-US" dirty="0"/>
              <a:t>Our ultimate goal is to keep the most sensitive data safe at all times.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has three big challenges: Legacy systems, Complexity, and Culture.</a:t>
            </a:r>
          </a:p>
          <a:p>
            <a:r>
              <a:rPr lang="en-US" dirty="0"/>
              <a:t>Old systems often don't support modern security, making them hard to update.</a:t>
            </a:r>
          </a:p>
          <a:p>
            <a:r>
              <a:rPr lang="en-US" dirty="0"/>
              <a:t>Managing thousands of rules is complex, and employees may resist new steps.</a:t>
            </a:r>
          </a:p>
          <a:p>
            <a:r>
              <a:rPr lang="en-US" dirty="0"/>
              <a:t>We can overcome these with better automation and clear communication.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review shows that Zero Trust is a journey, not a single product.</a:t>
            </a:r>
          </a:p>
          <a:p>
            <a:r>
              <a:rPr lang="en-US" dirty="0"/>
              <a:t>While frameworks provide the rules, every organization implements them differently.</a:t>
            </a:r>
          </a:p>
          <a:p>
            <a:r>
              <a:rPr lang="en-US" dirty="0"/>
              <a:t>Success depends on having a clear strategy and the right technical tools.</a:t>
            </a:r>
          </a:p>
          <a:p>
            <a:r>
              <a:rPr lang="en-US" dirty="0"/>
              <a:t>Consistency across all security layers is the key to a strong defense.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future of Zero Trust will be driven by AI and Quantum-Resistant security.</a:t>
            </a:r>
          </a:p>
          <a:p>
            <a:r>
              <a:rPr lang="en-US" dirty="0"/>
              <a:t>AI helps by detecting suspicious behavior and threats in real-time.</a:t>
            </a:r>
          </a:p>
          <a:p>
            <a:r>
              <a:rPr lang="en-US" dirty="0"/>
              <a:t>Quantum security will protect our data from future supercomputers.</a:t>
            </a:r>
          </a:p>
          <a:p>
            <a:r>
              <a:rPr lang="en-US" dirty="0"/>
              <a:t>Organizations must start preparing for these changes today.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Findings: Identity is the most critical control in Zero Trust.</a:t>
            </a:r>
          </a:p>
          <a:p>
            <a:r>
              <a:rPr lang="en-US" dirty="0"/>
              <a:t>Micro-segmentation effectively reduces the damage from any security breach.</a:t>
            </a:r>
          </a:p>
          <a:p>
            <a:r>
              <a:rPr lang="en-US" dirty="0"/>
              <a:t>AI and Machine Learning are making continuous verification much easier.</a:t>
            </a:r>
          </a:p>
          <a:p>
            <a:r>
              <a:rPr lang="en-US" dirty="0"/>
              <a:t>Starting the transition to quantum-safe security is now a priority.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research has limits, and our review is based on existing papers.</a:t>
            </a:r>
          </a:p>
          <a:p>
            <a:r>
              <a:rPr lang="en-US" dirty="0"/>
              <a:t>Cybersecurity standards change fast, so some details may evolve soon.</a:t>
            </a:r>
          </a:p>
          <a:p>
            <a:r>
              <a:rPr lang="en-US" dirty="0"/>
              <a:t>Also, Zero Trust is not a one-size-fits-all solution for every company.</a:t>
            </a:r>
          </a:p>
          <a:p>
            <a:r>
              <a:rPr lang="en-US" dirty="0"/>
              <a:t>We must adapt these concepts to fit specific organizational needs.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Zero Trust is the modern standard for digital security.</a:t>
            </a:r>
          </a:p>
          <a:p>
            <a:r>
              <a:rPr lang="en-US" dirty="0"/>
              <a:t>It has moved from a theoretical idea to a practical, essential requirement.</a:t>
            </a:r>
          </a:p>
          <a:p>
            <a:r>
              <a:rPr lang="en-US" dirty="0"/>
              <a:t>By verifying everything every time, we can build a much safer future.</a:t>
            </a:r>
          </a:p>
          <a:p>
            <a:r>
              <a:rPr lang="en-US" dirty="0"/>
              <a:t>Thank you for your attention, and we are ready for your questions.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lists the six main sources that supported our research.</a:t>
            </a:r>
          </a:p>
          <a:p>
            <a:r>
              <a:rPr lang="en-US" dirty="0"/>
              <a:t>We used official standards from NIST, CISA, and the Department of Defense.</a:t>
            </a:r>
          </a:p>
          <a:p>
            <a:r>
              <a:rPr lang="en-US" dirty="0"/>
              <a:t>We also included peer-reviewed papers from IEEE and other academic journals.</a:t>
            </a:r>
          </a:p>
          <a:p>
            <a:r>
              <a:rPr lang="en-US" dirty="0"/>
              <a:t>These sources provide a balanced view of both theory and practice.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 to our presentation today.</a:t>
            </a:r>
          </a:p>
          <a:p>
            <a:r>
              <a:rPr lang="en-US" dirty="0"/>
              <a:t>We hope you now have a better understanding of Zero Trust.</a:t>
            </a:r>
          </a:p>
          <a:p>
            <a:r>
              <a:rPr lang="en-US" dirty="0"/>
              <a:t>Please feel free to ask any questions you may have.</a:t>
            </a:r>
          </a:p>
          <a:p>
            <a:r>
              <a:rPr lang="en-US" dirty="0"/>
              <a:t>We look forward to a great discussion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3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67921A-5169-45AC-9AC9-DBE806A400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17328" r="30442"/>
          <a:stretch/>
        </p:blipFill>
        <p:spPr>
          <a:xfrm>
            <a:off x="-2" y="0"/>
            <a:ext cx="3176913" cy="51435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176912" y="0"/>
            <a:ext cx="45719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77479" y="4514735"/>
            <a:ext cx="834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04 May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42023" y="1849850"/>
            <a:ext cx="5577840" cy="986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Comprehensive Review of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Trust Architecture</a:t>
            </a:r>
            <a:endParaRPr lang="en-US" sz="3600" i="1" dirty="0"/>
          </a:p>
        </p:txBody>
      </p:sp>
      <p:sp>
        <p:nvSpPr>
          <p:cNvPr id="10" name="Text 7"/>
          <p:cNvSpPr/>
          <p:nvPr/>
        </p:nvSpPr>
        <p:spPr>
          <a:xfrm>
            <a:off x="3391619" y="2940949"/>
            <a:ext cx="5486400" cy="352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494313" y="2923160"/>
            <a:ext cx="5075778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1710F7E-10F5-40A5-86C5-551B32D376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328" r="30442"/>
          <a:stretch/>
        </p:blipFill>
        <p:spPr>
          <a:xfrm>
            <a:off x="-7435" y="627047"/>
            <a:ext cx="3176913" cy="402484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8787928-D2EB-4697-ADD6-339CF2EE8B57}"/>
              </a:ext>
            </a:extLst>
          </p:cNvPr>
          <p:cNvGrpSpPr/>
          <p:nvPr/>
        </p:nvGrpSpPr>
        <p:grpSpPr>
          <a:xfrm>
            <a:off x="3513847" y="3007087"/>
            <a:ext cx="2407524" cy="347472"/>
            <a:chOff x="3513847" y="3007087"/>
            <a:chExt cx="2165344" cy="347472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9012C3C1-CC27-42BC-9FA3-BEBD880A059A}"/>
                </a:ext>
              </a:extLst>
            </p:cNvPr>
            <p:cNvSpPr/>
            <p:nvPr/>
          </p:nvSpPr>
          <p:spPr>
            <a:xfrm>
              <a:off x="3513847" y="3007087"/>
              <a:ext cx="2165344" cy="347472"/>
            </a:xfrm>
            <a:prstGeom prst="rect">
              <a:avLst/>
            </a:prstGeom>
            <a:solidFill>
              <a:srgbClr val="00B4D8">
                <a:alpha val="15000"/>
              </a:srgb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33DCC633-7443-4708-A6C2-5050F7EAC024}"/>
                </a:ext>
              </a:extLst>
            </p:cNvPr>
            <p:cNvSpPr/>
            <p:nvPr/>
          </p:nvSpPr>
          <p:spPr>
            <a:xfrm>
              <a:off x="3611011" y="3012860"/>
              <a:ext cx="20681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"Never Trust, Always Verify"</a:t>
              </a:r>
              <a:endPara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647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33CE487-8FB6-4960-91E0-FF7AC19E0116}"/>
              </a:ext>
            </a:extLst>
          </p:cNvPr>
          <p:cNvGrpSpPr/>
          <p:nvPr/>
        </p:nvGrpSpPr>
        <p:grpSpPr>
          <a:xfrm>
            <a:off x="3315111" y="356163"/>
            <a:ext cx="2429744" cy="347471"/>
            <a:chOff x="3315111" y="356163"/>
            <a:chExt cx="2429744" cy="347471"/>
          </a:xfrm>
        </p:grpSpPr>
        <p:sp>
          <p:nvSpPr>
            <p:cNvPr id="5" name="Shape 2"/>
            <p:cNvSpPr/>
            <p:nvPr/>
          </p:nvSpPr>
          <p:spPr>
            <a:xfrm>
              <a:off x="3315111" y="356163"/>
              <a:ext cx="2429744" cy="347471"/>
            </a:xfrm>
            <a:prstGeom prst="roundRect">
              <a:avLst>
                <a:gd name="adj" fmla="val 20000"/>
              </a:avLst>
            </a:prstGeom>
            <a:solidFill>
              <a:srgbClr val="00B4D8">
                <a:alpha val="80000"/>
              </a:srgbClr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6" name="Text 3"/>
            <p:cNvSpPr/>
            <p:nvPr/>
          </p:nvSpPr>
          <p:spPr>
            <a:xfrm>
              <a:off x="3541014" y="401883"/>
              <a:ext cx="20619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kern="0" spc="200" dirty="0">
                  <a:solidFill>
                    <a:srgbClr val="FFFFFF"/>
                  </a:solidFill>
                </a:rPr>
                <a:t>Team Introduction</a:t>
              </a:r>
              <a:endParaRPr lang="en-US" sz="140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1271171" y="2117477"/>
            <a:ext cx="1124839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45821" y="2117477"/>
            <a:ext cx="1757258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Trust</a:t>
            </a:r>
            <a:endParaRPr lang="en-US" sz="1600" b="1" i="1" dirty="0"/>
          </a:p>
        </p:txBody>
      </p:sp>
      <p:sp>
        <p:nvSpPr>
          <p:cNvPr id="11" name="Text 8"/>
          <p:cNvSpPr/>
          <p:nvPr/>
        </p:nvSpPr>
        <p:spPr>
          <a:xfrm>
            <a:off x="1271171" y="2455323"/>
            <a:ext cx="1124839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45821" y="2602886"/>
            <a:ext cx="2045161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Tanvir Rahman Pranto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E7A96"/>
                </a:solidFill>
                <a:latin typeface="Calibri" pitchFamily="34" charset="0"/>
                <a:cs typeface="Calibri" pitchFamily="34" charset="-120"/>
              </a:rPr>
              <a:t>Md. Razab Ali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71171" y="2999354"/>
            <a:ext cx="1124839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45821" y="3189090"/>
            <a:ext cx="2045161" cy="3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Bengal International University, Rajshahi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46242" y="2117477"/>
            <a:ext cx="1752733" cy="760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Sakurah Ismail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E7A96"/>
                </a:solidFill>
                <a:latin typeface="Calibri" pitchFamily="34" charset="0"/>
                <a:cs typeface="Calibri" pitchFamily="34" charset="-120"/>
              </a:rPr>
              <a:t>Lecturer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E7A96"/>
                </a:solidFill>
                <a:latin typeface="Calibri" pitchFamily="34" charset="0"/>
                <a:cs typeface="Calibri" pitchFamily="34" charset="-120"/>
              </a:rPr>
              <a:t>NBIU, Rajshahi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46242" y="3183355"/>
            <a:ext cx="2162250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04 May 2026</a:t>
            </a:r>
            <a:endParaRPr lang="en-US" sz="1400" dirty="0"/>
          </a:p>
        </p:txBody>
      </p:sp>
      <p:sp>
        <p:nvSpPr>
          <p:cNvPr id="26" name="Text 14"/>
          <p:cNvSpPr/>
          <p:nvPr/>
        </p:nvSpPr>
        <p:spPr>
          <a:xfrm>
            <a:off x="5429384" y="1713560"/>
            <a:ext cx="2162250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To:</a:t>
            </a:r>
            <a:endParaRPr lang="en-US" sz="1400" dirty="0"/>
          </a:p>
        </p:txBody>
      </p:sp>
      <p:sp>
        <p:nvSpPr>
          <p:cNvPr id="30" name="Text 14"/>
          <p:cNvSpPr/>
          <p:nvPr/>
        </p:nvSpPr>
        <p:spPr>
          <a:xfrm>
            <a:off x="735508" y="1713560"/>
            <a:ext cx="2162250" cy="403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By:</a:t>
            </a:r>
            <a:endParaRPr lang="en-US" sz="1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934374-05C2-403D-8000-FBB0F322174E}"/>
              </a:ext>
            </a:extLst>
          </p:cNvPr>
          <p:cNvCxnSpPr/>
          <p:nvPr/>
        </p:nvCxnSpPr>
        <p:spPr>
          <a:xfrm>
            <a:off x="4988312" y="1509130"/>
            <a:ext cx="0" cy="251274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 &amp;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covers and why it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077097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76289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6974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reviews ZTA frameworks, pillars, and real-world deployment challenges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077097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76289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26974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NIST SP 800-207, CISA Maturity Model, and DoD Reference Architecture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46304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077097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76289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55080" y="26974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actionable roadmap and identifies AI &amp; quantum-era future directions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noFill/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467258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77A8"/>
                </a:solidFill>
              </a:rPr>
              <a:t>Core Philosophy: "Never Trust, Always Verify" — every access request is treated as potentially suspicious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53412" cy="274320"/>
          </a:xfrm>
          <a:prstGeom prst="roundRect">
            <a:avLst>
              <a:gd name="adj" fmla="val 200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0619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Perimeter Security Has Failed</a:t>
            </a:r>
            <a:endParaRPr lang="en-US" sz="28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457200" y="1463040"/>
            <a:ext cx="4572000" cy="740664"/>
            <a:chOff x="457200" y="1463040"/>
            <a:chExt cx="4572000" cy="740664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508760"/>
              <a:ext cx="347472" cy="347472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914400" y="1463040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8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Cloud Computing</a:t>
              </a:r>
              <a:endParaRPr lang="en-US" sz="14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914400" y="1792224"/>
              <a:ext cx="41148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and services now live outside traditional network boundaries</a:t>
              </a:r>
              <a:endParaRPr lang="en-US" sz="12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57200" y="2304288"/>
            <a:ext cx="4572000" cy="740664"/>
            <a:chOff x="457200" y="2304288"/>
            <a:chExt cx="4572000" cy="740664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350008"/>
              <a:ext cx="347472" cy="347472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914400" y="2304288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8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Remote Work</a:t>
              </a:r>
              <a:endParaRPr lang="en-US" sz="14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914400" y="2633472"/>
              <a:ext cx="41148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 connect from home networks, cafés, and personal devices</a:t>
              </a:r>
              <a:endParaRPr lang="en-US" sz="12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57200" y="3145536"/>
            <a:ext cx="4572000" cy="740664"/>
            <a:chOff x="457200" y="3145536"/>
            <a:chExt cx="4572000" cy="740664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191256"/>
              <a:ext cx="347472" cy="347472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914400" y="3145536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8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Advanced Threats</a:t>
              </a:r>
              <a:endParaRPr lang="en-US" sz="14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914400" y="3474720"/>
              <a:ext cx="41148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Attackers are patient, methodical — and often already inside</a:t>
              </a:r>
              <a:endParaRPr lang="en-US" sz="12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57200" y="3986784"/>
            <a:ext cx="4572000" cy="740664"/>
            <a:chOff x="457200" y="3986784"/>
            <a:chExt cx="4572000" cy="740664"/>
          </a:xfrm>
        </p:grpSpPr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032504"/>
              <a:ext cx="347472" cy="347472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914400" y="3986784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8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Implicit Trust</a:t>
              </a:r>
              <a:endParaRPr lang="en-US" sz="140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914400" y="4315968"/>
              <a:ext cx="41148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Once inside the perimeter, users were trusted unconditionally</a:t>
              </a:r>
              <a:endParaRPr lang="en-US" sz="12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212080" y="1280160"/>
            <a:ext cx="3657600" cy="2331720"/>
            <a:chOff x="5212080" y="1280160"/>
            <a:chExt cx="3657600" cy="2331720"/>
          </a:xfrm>
        </p:grpSpPr>
        <p:sp>
          <p:nvSpPr>
            <p:cNvPr id="17" name="Shape 11"/>
            <p:cNvSpPr/>
            <p:nvPr/>
          </p:nvSpPr>
          <p:spPr>
            <a:xfrm>
              <a:off x="5212080" y="1280160"/>
              <a:ext cx="3657600" cy="2331720"/>
            </a:xfrm>
            <a:prstGeom prst="rect">
              <a:avLst/>
            </a:prstGeom>
            <a:solidFill>
              <a:srgbClr val="0A162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8" name="Text 12"/>
            <p:cNvSpPr/>
            <p:nvPr/>
          </p:nvSpPr>
          <p:spPr>
            <a:xfrm>
              <a:off x="5303520" y="137160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C857"/>
                  </a:solidFill>
                </a:rPr>
                <a:t>OLD MODEL</a:t>
              </a:r>
              <a:endParaRPr lang="en-US" sz="1200" dirty="0"/>
            </a:p>
          </p:txBody>
        </p:sp>
        <p:sp>
          <p:nvSpPr>
            <p:cNvPr id="19" name="Text 13"/>
            <p:cNvSpPr/>
            <p:nvPr/>
          </p:nvSpPr>
          <p:spPr>
            <a:xfrm>
              <a:off x="5394960" y="1783080"/>
              <a:ext cx="338328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Trust the perimeter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Implicit trust inside network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VPN = secure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 Lateral movement unchecked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 Insider threats ignored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 Cloud blind spots</a:t>
              </a:r>
              <a:endParaRPr lang="en-US" sz="1200" dirty="0"/>
            </a:p>
          </p:txBody>
        </p:sp>
      </p:grpSp>
      <p:sp>
        <p:nvSpPr>
          <p:cNvPr id="20" name="Shape 14"/>
          <p:cNvSpPr/>
          <p:nvPr/>
        </p:nvSpPr>
        <p:spPr>
          <a:xfrm>
            <a:off x="5257800" y="4330196"/>
            <a:ext cx="3657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212080" y="37483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 shifts: not WHERE is the user, but WHO are they and do they need access NOW?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9222" y="336474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6382" y="27246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0812" y="73184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sets out to achieve</a:t>
            </a:r>
            <a:endParaRPr lang="en-US" sz="13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271880" y="1186866"/>
            <a:ext cx="2743200" cy="1737360"/>
            <a:chOff x="457200" y="1417320"/>
            <a:chExt cx="2743200" cy="1737360"/>
          </a:xfrm>
        </p:grpSpPr>
        <p:sp>
          <p:nvSpPr>
            <p:cNvPr id="5" name="Shape 3"/>
            <p:cNvSpPr/>
            <p:nvPr/>
          </p:nvSpPr>
          <p:spPr>
            <a:xfrm>
              <a:off x="457200" y="1417320"/>
              <a:ext cx="27432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594360" y="1600200"/>
              <a:ext cx="411480" cy="41148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94360" y="160020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1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97280" y="16002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Examine Foundational Frameworks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1943100"/>
              <a:ext cx="25146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Analyse NIST SP 800-207, CISA ZT Maturity Model v2.0, and DoD ZT Reference Architecture</a:t>
              </a:r>
              <a:endParaRPr lang="en-US" sz="11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201444" y="1186866"/>
            <a:ext cx="2743200" cy="1737360"/>
            <a:chOff x="3364992" y="1417320"/>
            <a:chExt cx="2743200" cy="1737360"/>
          </a:xfrm>
        </p:grpSpPr>
        <p:sp>
          <p:nvSpPr>
            <p:cNvPr id="10" name="Shape 8"/>
            <p:cNvSpPr/>
            <p:nvPr/>
          </p:nvSpPr>
          <p:spPr>
            <a:xfrm>
              <a:off x="3364992" y="1417320"/>
              <a:ext cx="27432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3502152" y="1600200"/>
              <a:ext cx="411480" cy="41148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502152" y="160020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2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005072" y="16002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Define the Five ZTA Pillars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502152" y="1943100"/>
              <a:ext cx="25146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Break down Identity, Device, Network, Application/Workload, and Data security domains</a:t>
              </a:r>
              <a:endParaRPr lang="en-US" sz="11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131008" y="1186866"/>
            <a:ext cx="2743200" cy="1737360"/>
            <a:chOff x="6272784" y="1417320"/>
            <a:chExt cx="2743200" cy="1737360"/>
          </a:xfrm>
        </p:grpSpPr>
        <p:sp>
          <p:nvSpPr>
            <p:cNvPr id="15" name="Shape 13"/>
            <p:cNvSpPr/>
            <p:nvPr/>
          </p:nvSpPr>
          <p:spPr>
            <a:xfrm>
              <a:off x="6272784" y="1417320"/>
              <a:ext cx="27432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6409944" y="1600200"/>
              <a:ext cx="411480" cy="41148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409944" y="160020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3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912864" y="16002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Identify Implementation Challenges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87084" y="1943100"/>
              <a:ext cx="25146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Explore real-world barriers including legacy systems, policy complexity, and cultural resistance</a:t>
              </a:r>
              <a:endParaRPr lang="en-US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8BC8E30-FF26-4CB9-A259-0CF286E1D52A}"/>
              </a:ext>
            </a:extLst>
          </p:cNvPr>
          <p:cNvGrpSpPr/>
          <p:nvPr/>
        </p:nvGrpSpPr>
        <p:grpSpPr>
          <a:xfrm>
            <a:off x="911960" y="3121363"/>
            <a:ext cx="6994671" cy="1737971"/>
            <a:chOff x="911960" y="3121363"/>
            <a:chExt cx="6994671" cy="1737971"/>
          </a:xfrm>
        </p:grpSpPr>
        <p:grpSp>
          <p:nvGrpSpPr>
            <p:cNvPr id="30" name="Group 29"/>
            <p:cNvGrpSpPr/>
            <p:nvPr/>
          </p:nvGrpSpPr>
          <p:grpSpPr>
            <a:xfrm>
              <a:off x="911960" y="3121363"/>
              <a:ext cx="3442062" cy="1737360"/>
              <a:chOff x="1453896" y="3344949"/>
              <a:chExt cx="2777149" cy="1737360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1453896" y="3344949"/>
                <a:ext cx="2743200" cy="1737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BF4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21" name="Shape 19"/>
              <p:cNvSpPr/>
              <p:nvPr/>
            </p:nvSpPr>
            <p:spPr>
              <a:xfrm>
                <a:off x="1591056" y="3555537"/>
                <a:ext cx="339085" cy="41148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1591056" y="3549601"/>
                <a:ext cx="345385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4</a:t>
                </a:r>
                <a:endParaRPr lang="en-US" sz="11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2093976" y="3527829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A2E44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Analyse Comparative Literature</a:t>
                </a:r>
                <a:endParaRPr lang="en-US" sz="1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1716445" y="3939309"/>
                <a:ext cx="251460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5E7A9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Situate the review within academic literature from IEEE, Springer, and SAGE publications</a:t>
                </a:r>
                <a:endParaRPr lang="en-US" sz="1100" dirty="0"/>
              </a:p>
            </p:txBody>
          </p:sp>
        </p:grpSp>
        <p:sp>
          <p:nvSpPr>
            <p:cNvPr id="25" name="Shape 23"/>
            <p:cNvSpPr/>
            <p:nvPr/>
          </p:nvSpPr>
          <p:spPr>
            <a:xfrm>
              <a:off x="4572000" y="3121974"/>
              <a:ext cx="3334631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822150" y="3304243"/>
              <a:ext cx="396795" cy="41148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885041" y="3404406"/>
              <a:ext cx="271015" cy="21115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5</a:t>
              </a:r>
              <a:endParaRPr lang="en-US" sz="11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16111" y="3339532"/>
              <a:ext cx="2042728" cy="311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Propose Future Directions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742242" y="3639846"/>
              <a:ext cx="3056745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Evaluate the role of AI/ML and quantum-resistant cryptography in next-generation ZTA</a:t>
              </a:r>
              <a:endParaRPr lang="en-US" sz="1100" dirty="0"/>
            </a:p>
          </p:txBody>
        </p:sp>
      </p:grpSp>
      <p:sp>
        <p:nvSpPr>
          <p:cNvPr id="35" name="Shape 0">
            <a:extLst>
              <a:ext uri="{FF2B5EF4-FFF2-40B4-BE49-F238E27FC236}">
                <a16:creationId xmlns:a16="http://schemas.microsoft.com/office/drawing/2014/main" id="{32FCAB33-474C-475B-BAAD-94C7E3A1B02F}"/>
              </a:ext>
            </a:extLst>
          </p:cNvPr>
          <p:cNvSpPr/>
          <p:nvPr/>
        </p:nvSpPr>
        <p:spPr>
          <a:xfrm>
            <a:off x="8810200" y="4423161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160" y="281088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8320" y="217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Review: Major Frameworks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6926" y="6514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organizations have most concretely defined Zero Trust in practice</a:t>
            </a:r>
            <a:endParaRPr lang="en-US" sz="13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49766" y="1007376"/>
            <a:ext cx="8229600" cy="384048"/>
            <a:chOff x="449766" y="1007376"/>
            <a:chExt cx="8229600" cy="384048"/>
          </a:xfrm>
        </p:grpSpPr>
        <p:sp>
          <p:nvSpPr>
            <p:cNvPr id="5" name="Shape 3"/>
            <p:cNvSpPr/>
            <p:nvPr/>
          </p:nvSpPr>
          <p:spPr>
            <a:xfrm>
              <a:off x="449766" y="1007376"/>
              <a:ext cx="8229600" cy="384048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41206" y="101652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Framework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192966" y="101652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Audience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844726" y="101652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Key Characteristics</a:t>
              </a:r>
              <a:endParaRPr lang="en-US" sz="12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49766" y="1538602"/>
            <a:ext cx="8229600" cy="822960"/>
            <a:chOff x="449766" y="1451514"/>
            <a:chExt cx="8229600" cy="822960"/>
          </a:xfrm>
        </p:grpSpPr>
        <p:sp>
          <p:nvSpPr>
            <p:cNvPr id="9" name="Shape 7"/>
            <p:cNvSpPr/>
            <p:nvPr/>
          </p:nvSpPr>
          <p:spPr>
            <a:xfrm>
              <a:off x="449766" y="1451514"/>
              <a:ext cx="8229600" cy="8229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49766" y="1451514"/>
              <a:ext cx="54864" cy="82296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86926" y="1497234"/>
              <a:ext cx="24688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NIST SP 800-207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38686" y="1497234"/>
              <a:ext cx="24688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Enterprises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890446" y="1497234"/>
              <a:ext cx="26974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Vendor-neutral • 7 core tenets • PDP/PEP model</a:t>
              </a:r>
              <a:endParaRPr lang="en-US" sz="11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9766" y="2434714"/>
            <a:ext cx="8229600" cy="822960"/>
            <a:chOff x="449766" y="2347626"/>
            <a:chExt cx="8229600" cy="822960"/>
          </a:xfrm>
        </p:grpSpPr>
        <p:sp>
          <p:nvSpPr>
            <p:cNvPr id="14" name="Shape 12"/>
            <p:cNvSpPr/>
            <p:nvPr/>
          </p:nvSpPr>
          <p:spPr>
            <a:xfrm>
              <a:off x="449766" y="2347626"/>
              <a:ext cx="8229600" cy="822960"/>
            </a:xfrm>
            <a:prstGeom prst="rect">
              <a:avLst/>
            </a:prstGeom>
            <a:solidFill>
              <a:srgbClr val="F0F5FA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49766" y="2347626"/>
              <a:ext cx="54864" cy="822960"/>
            </a:xfrm>
            <a:prstGeom prst="rect">
              <a:avLst/>
            </a:prstGeom>
            <a:solidFill>
              <a:srgbClr val="6C63FF"/>
            </a:solidFill>
            <a:ln w="12700">
              <a:solidFill>
                <a:srgbClr val="6C63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86926" y="2393346"/>
              <a:ext cx="24688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CISA ZT Maturity Model v2.0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238686" y="2393346"/>
              <a:ext cx="24688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U.S. Federal Agencies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890446" y="2393346"/>
              <a:ext cx="26974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pillars • Graduated maturity levels • Self-assessment roadmap</a:t>
              </a:r>
              <a:endParaRPr lang="en-US" sz="11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49766" y="4529997"/>
            <a:ext cx="8229600" cy="411480"/>
            <a:chOff x="449766" y="4529997"/>
            <a:chExt cx="8229600" cy="411480"/>
          </a:xfrm>
        </p:grpSpPr>
        <p:sp>
          <p:nvSpPr>
            <p:cNvPr id="24" name="Shape 22"/>
            <p:cNvSpPr/>
            <p:nvPr/>
          </p:nvSpPr>
          <p:spPr>
            <a:xfrm>
              <a:off x="449766" y="4529997"/>
              <a:ext cx="8229600" cy="411480"/>
            </a:xfrm>
            <a:prstGeom prst="rect">
              <a:avLst/>
            </a:prstGeom>
            <a:solidFill>
              <a:srgbClr val="00B4D8">
                <a:alpha val="10000"/>
              </a:srgbClr>
            </a:solidFill>
            <a:ln w="12700">
              <a:noFill/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86926" y="4539141"/>
              <a:ext cx="7955280" cy="3931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0077A8"/>
                  </a:solidFill>
                </a:rPr>
                <a:t>Academic literature: IEEE (2025) • Springer (2026) • SAGE (2025) — stress-test frameworks against empirical evidence</a:t>
              </a:r>
              <a:endParaRPr lang="en-US" sz="11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49766" y="3330826"/>
            <a:ext cx="8229600" cy="833849"/>
            <a:chOff x="449766" y="3330826"/>
            <a:chExt cx="8229600" cy="833849"/>
          </a:xfrm>
        </p:grpSpPr>
        <p:grpSp>
          <p:nvGrpSpPr>
            <p:cNvPr id="29" name="Group 28"/>
            <p:cNvGrpSpPr/>
            <p:nvPr/>
          </p:nvGrpSpPr>
          <p:grpSpPr>
            <a:xfrm>
              <a:off x="449766" y="3330826"/>
              <a:ext cx="8229600" cy="822960"/>
              <a:chOff x="449766" y="3243738"/>
              <a:chExt cx="8229600" cy="822960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449766" y="3243738"/>
                <a:ext cx="8229600" cy="82296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2EBF4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586926" y="3289458"/>
                <a:ext cx="246888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A2E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DoD ZT Reference Architecture</a:t>
                </a:r>
                <a:endParaRPr lang="en-US" sz="12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238686" y="3289458"/>
                <a:ext cx="246888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5E7A9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Military &amp; Defense</a:t>
                </a:r>
                <a:endParaRPr lang="en-US" sz="12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890446" y="3289458"/>
                <a:ext cx="269748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A2E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Highly prescriptive • Data-centric • 7 pillars • 90+ ZT activities</a:t>
                </a:r>
                <a:endParaRPr lang="en-US" sz="1100" dirty="0"/>
              </a:p>
            </p:txBody>
          </p:sp>
        </p:grpSp>
        <p:sp>
          <p:nvSpPr>
            <p:cNvPr id="20" name="Shape 18"/>
            <p:cNvSpPr/>
            <p:nvPr/>
          </p:nvSpPr>
          <p:spPr>
            <a:xfrm>
              <a:off x="449766" y="3341715"/>
              <a:ext cx="54864" cy="822960"/>
            </a:xfrm>
            <a:prstGeom prst="rect">
              <a:avLst/>
            </a:prstGeom>
            <a:solidFill>
              <a:srgbClr val="00B074"/>
            </a:solidFill>
            <a:ln w="12700">
              <a:solidFill>
                <a:srgbClr val="00B074"/>
              </a:solidFill>
              <a:prstDash val="solid"/>
            </a:ln>
          </p:spPr>
        </p:sp>
      </p:grpSp>
      <p:sp>
        <p:nvSpPr>
          <p:cNvPr id="33" name="Shape 0">
            <a:extLst>
              <a:ext uri="{FF2B5EF4-FFF2-40B4-BE49-F238E27FC236}">
                <a16:creationId xmlns:a16="http://schemas.microsoft.com/office/drawing/2014/main" id="{7E8739D3-E3D3-4892-B454-3D4AD0922D65}"/>
              </a:ext>
            </a:extLst>
          </p:cNvPr>
          <p:cNvSpPr/>
          <p:nvPr/>
        </p:nvSpPr>
        <p:spPr>
          <a:xfrm>
            <a:off x="387010" y="4522566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43100" cy="274320"/>
          </a:xfrm>
          <a:prstGeom prst="roundRect">
            <a:avLst>
              <a:gd name="adj" fmla="val 200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NIST SP 800-207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Seven Core Tenets of Zero Trust</a:t>
            </a:r>
            <a:endParaRPr lang="en-US" sz="26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500744" y="1186538"/>
            <a:ext cx="4526280" cy="640080"/>
            <a:chOff x="500744" y="1186538"/>
            <a:chExt cx="4526280" cy="640080"/>
          </a:xfrm>
        </p:grpSpPr>
        <p:sp>
          <p:nvSpPr>
            <p:cNvPr id="5" name="Shape 3"/>
            <p:cNvSpPr/>
            <p:nvPr/>
          </p:nvSpPr>
          <p:spPr>
            <a:xfrm>
              <a:off x="500744" y="1296266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00744" y="129626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1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57944" y="1186538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data sources and computing services are treated as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resources requiring protection</a:t>
              </a:r>
              <a:endParaRPr lang="en-US" sz="115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00744" y="2082650"/>
            <a:ext cx="4526280" cy="640080"/>
            <a:chOff x="500744" y="2082650"/>
            <a:chExt cx="4526280" cy="640080"/>
          </a:xfrm>
        </p:grpSpPr>
        <p:sp>
          <p:nvSpPr>
            <p:cNvPr id="8" name="Shape 6"/>
            <p:cNvSpPr/>
            <p:nvPr/>
          </p:nvSpPr>
          <p:spPr>
            <a:xfrm>
              <a:off x="500744" y="2192378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00744" y="219237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2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57944" y="2082650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communication is secured regardless of network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location — no trusted network</a:t>
              </a:r>
              <a:endParaRPr lang="en-US" sz="115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00744" y="2978762"/>
            <a:ext cx="4526280" cy="640080"/>
            <a:chOff x="500744" y="2978762"/>
            <a:chExt cx="4526280" cy="640080"/>
          </a:xfrm>
        </p:grpSpPr>
        <p:sp>
          <p:nvSpPr>
            <p:cNvPr id="11" name="Shape 9"/>
            <p:cNvSpPr/>
            <p:nvPr/>
          </p:nvSpPr>
          <p:spPr>
            <a:xfrm>
              <a:off x="500744" y="3088490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00744" y="308849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3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57944" y="2978762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Access to resources is granted per session only; each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request evaluated independently</a:t>
              </a:r>
              <a:endParaRPr lang="en-US" sz="115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00744" y="3874874"/>
            <a:ext cx="4526280" cy="640080"/>
            <a:chOff x="500744" y="3874874"/>
            <a:chExt cx="4526280" cy="640080"/>
          </a:xfrm>
        </p:grpSpPr>
        <p:sp>
          <p:nvSpPr>
            <p:cNvPr id="14" name="Shape 12"/>
            <p:cNvSpPr/>
            <p:nvPr/>
          </p:nvSpPr>
          <p:spPr>
            <a:xfrm>
              <a:off x="500744" y="3984602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00744" y="398460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4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57944" y="3874874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Access decisions use dynamic policy: identity, device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health, and real-time context</a:t>
              </a:r>
              <a:endParaRPr lang="en-US" sz="115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569827" y="1600202"/>
            <a:ext cx="4526280" cy="640080"/>
            <a:chOff x="4569827" y="1600202"/>
            <a:chExt cx="4526280" cy="640080"/>
          </a:xfrm>
        </p:grpSpPr>
        <p:sp>
          <p:nvSpPr>
            <p:cNvPr id="17" name="Shape 15"/>
            <p:cNvSpPr/>
            <p:nvPr/>
          </p:nvSpPr>
          <p:spPr>
            <a:xfrm>
              <a:off x="4569827" y="1709930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69827" y="170993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5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027027" y="1600202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monitoring and measurement of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integrity and security posture for all assets</a:t>
              </a:r>
              <a:endParaRPr lang="en-US" sz="115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569827" y="2496314"/>
            <a:ext cx="4526280" cy="640080"/>
            <a:chOff x="4569827" y="2496314"/>
            <a:chExt cx="4526280" cy="640080"/>
          </a:xfrm>
        </p:grpSpPr>
        <p:sp>
          <p:nvSpPr>
            <p:cNvPr id="20" name="Shape 18"/>
            <p:cNvSpPr/>
            <p:nvPr/>
          </p:nvSpPr>
          <p:spPr>
            <a:xfrm>
              <a:off x="4569827" y="2606042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569827" y="260604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6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27027" y="2496314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Authentication and authorization are strictly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enforced before any access is granted</a:t>
              </a:r>
              <a:endParaRPr lang="en-US" sz="115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569827" y="3392426"/>
            <a:ext cx="4526280" cy="640080"/>
            <a:chOff x="4569827" y="3392426"/>
            <a:chExt cx="4526280" cy="640080"/>
          </a:xfrm>
        </p:grpSpPr>
        <p:sp>
          <p:nvSpPr>
            <p:cNvPr id="23" name="Shape 21"/>
            <p:cNvSpPr/>
            <p:nvPr/>
          </p:nvSpPr>
          <p:spPr>
            <a:xfrm>
              <a:off x="4569827" y="3502154"/>
              <a:ext cx="365760" cy="3657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569827" y="3502154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</a:rPr>
                <a:t>7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027027" y="3392426"/>
              <a:ext cx="4069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collection of telemetry to improve</a:t>
              </a:r>
            </a:p>
            <a:p>
              <a:pPr marL="0" indent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posture over time</a:t>
              </a:r>
              <a:endParaRPr lang="en-US" sz="115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1219200" y="4663476"/>
            <a:ext cx="6705600" cy="246888"/>
          </a:xfrm>
          <a:prstGeom prst="rect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653501"/>
            <a:ext cx="9144000" cy="266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F0F8"/>
                </a:solidFill>
              </a:rPr>
              <a:t>Together, these tenets shift security from a location-based to an identity- and context-driven model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3282" y="283895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0442" y="219887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Pillars of Zero Trust (CISA)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2356" y="657493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represents a critical security domain</a:t>
            </a:r>
            <a:endParaRPr lang="en-US" sz="13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41812" y="1166942"/>
            <a:ext cx="1600200" cy="3383280"/>
            <a:chOff x="341812" y="1166942"/>
            <a:chExt cx="1600200" cy="3383280"/>
          </a:xfrm>
        </p:grpSpPr>
        <p:sp>
          <p:nvSpPr>
            <p:cNvPr id="5" name="Shape 3"/>
            <p:cNvSpPr/>
            <p:nvPr/>
          </p:nvSpPr>
          <p:spPr>
            <a:xfrm>
              <a:off x="341812" y="1166942"/>
              <a:ext cx="160020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41812" y="1166942"/>
              <a:ext cx="1600200" cy="502920"/>
            </a:xfrm>
            <a:prstGeom prst="rect">
              <a:avLst/>
            </a:prstGeom>
            <a:solidFill>
              <a:srgbClr val="5E60CE"/>
            </a:solidFill>
            <a:ln w="12700">
              <a:solidFill>
                <a:srgbClr val="5E60CE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41812" y="1166942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1</a:t>
              </a:r>
              <a:endParaRPr lang="en-US" sz="1800" dirty="0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592" y="2033452"/>
              <a:ext cx="548640" cy="54864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387532" y="2627812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Identity</a:t>
              </a:r>
              <a:endParaRPr lang="en-US" sz="13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05820" y="2748854"/>
              <a:ext cx="1481328" cy="1691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MFA, IGA, continuous authentication — identity is the new perimeter</a:t>
              </a:r>
              <a:endParaRPr lang="en-US" sz="12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051740" y="1166942"/>
            <a:ext cx="1600200" cy="3383280"/>
            <a:chOff x="2051740" y="1166942"/>
            <a:chExt cx="1600200" cy="3383280"/>
          </a:xfrm>
        </p:grpSpPr>
        <p:sp>
          <p:nvSpPr>
            <p:cNvPr id="11" name="Shape 8"/>
            <p:cNvSpPr/>
            <p:nvPr/>
          </p:nvSpPr>
          <p:spPr>
            <a:xfrm>
              <a:off x="2051740" y="1166942"/>
              <a:ext cx="160020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2051740" y="1166942"/>
              <a:ext cx="1600200" cy="50292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2051740" y="1166942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2</a:t>
              </a:r>
              <a:endParaRPr lang="en-US" sz="1800" dirty="0"/>
            </a:p>
          </p:txBody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5808" y="2035622"/>
              <a:ext cx="548640" cy="548640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2115748" y="2629982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Device</a:t>
              </a:r>
              <a:endParaRPr lang="en-US" sz="13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2115748" y="2748854"/>
              <a:ext cx="1481328" cy="1691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EDR, MDM — only healthy, compliant devices gain access</a:t>
              </a:r>
              <a:endParaRPr lang="en-US" sz="12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761668" y="1166942"/>
            <a:ext cx="1600200" cy="3383280"/>
            <a:chOff x="3761668" y="1166942"/>
            <a:chExt cx="1600200" cy="3383280"/>
          </a:xfrm>
        </p:grpSpPr>
        <p:sp>
          <p:nvSpPr>
            <p:cNvPr id="17" name="Shape 13"/>
            <p:cNvSpPr/>
            <p:nvPr/>
          </p:nvSpPr>
          <p:spPr>
            <a:xfrm>
              <a:off x="3761668" y="1166942"/>
              <a:ext cx="160020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Shape 14"/>
            <p:cNvSpPr/>
            <p:nvPr/>
          </p:nvSpPr>
          <p:spPr>
            <a:xfrm>
              <a:off x="3761668" y="1166942"/>
              <a:ext cx="1600200" cy="502920"/>
            </a:xfrm>
            <a:prstGeom prst="rect">
              <a:avLst/>
            </a:prstGeom>
            <a:solidFill>
              <a:srgbClr val="00B074"/>
            </a:solidFill>
            <a:ln w="12700">
              <a:solidFill>
                <a:srgbClr val="00B074"/>
              </a:solidFill>
              <a:prstDash val="solid"/>
            </a:ln>
          </p:spPr>
        </p:sp>
        <p:sp>
          <p:nvSpPr>
            <p:cNvPr id="19" name="Text 15"/>
            <p:cNvSpPr/>
            <p:nvPr/>
          </p:nvSpPr>
          <p:spPr>
            <a:xfrm>
              <a:off x="3761668" y="1166942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3</a:t>
              </a:r>
              <a:endParaRPr lang="en-US" sz="1800" dirty="0"/>
            </a:p>
          </p:txBody>
        </p:sp>
        <p:pic>
          <p:nvPicPr>
            <p:cNvPr id="2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747" y="2033452"/>
              <a:ext cx="548640" cy="548640"/>
            </a:xfrm>
            <a:prstGeom prst="rect">
              <a:avLst/>
            </a:prstGeom>
          </p:spPr>
        </p:pic>
        <p:sp>
          <p:nvSpPr>
            <p:cNvPr id="21" name="Text 16"/>
            <p:cNvSpPr/>
            <p:nvPr/>
          </p:nvSpPr>
          <p:spPr>
            <a:xfrm>
              <a:off x="3803687" y="2627812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Network</a:t>
              </a:r>
              <a:endParaRPr lang="en-US" sz="1300" dirty="0"/>
            </a:p>
          </p:txBody>
        </p:sp>
        <p:sp>
          <p:nvSpPr>
            <p:cNvPr id="22" name="Text 17"/>
            <p:cNvSpPr/>
            <p:nvPr/>
          </p:nvSpPr>
          <p:spPr>
            <a:xfrm>
              <a:off x="3825676" y="2748854"/>
              <a:ext cx="1481328" cy="1691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Micro-segmentation via SDN/VLAN — limits lateral movement</a:t>
              </a:r>
              <a:endParaRPr lang="en-US" sz="1200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471596" y="1166942"/>
            <a:ext cx="1600200" cy="3383280"/>
            <a:chOff x="5471596" y="1166942"/>
            <a:chExt cx="1600200" cy="3383280"/>
          </a:xfrm>
        </p:grpSpPr>
        <p:sp>
          <p:nvSpPr>
            <p:cNvPr id="23" name="Shape 18"/>
            <p:cNvSpPr/>
            <p:nvPr/>
          </p:nvSpPr>
          <p:spPr>
            <a:xfrm>
              <a:off x="5471596" y="1166942"/>
              <a:ext cx="160020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4" name="Shape 19"/>
            <p:cNvSpPr/>
            <p:nvPr/>
          </p:nvSpPr>
          <p:spPr>
            <a:xfrm>
              <a:off x="5471596" y="1166942"/>
              <a:ext cx="1600200" cy="502920"/>
            </a:xfrm>
            <a:prstGeom prst="rect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25" name="Text 20"/>
            <p:cNvSpPr/>
            <p:nvPr/>
          </p:nvSpPr>
          <p:spPr>
            <a:xfrm>
              <a:off x="5471596" y="1166942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4</a:t>
              </a:r>
              <a:endParaRPr lang="en-US" sz="1800" dirty="0"/>
            </a:p>
          </p:txBody>
        </p:sp>
        <p:pic>
          <p:nvPicPr>
            <p:cNvPr id="2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97376" y="2033452"/>
              <a:ext cx="548640" cy="548640"/>
            </a:xfrm>
            <a:prstGeom prst="rect">
              <a:avLst/>
            </a:prstGeom>
          </p:spPr>
        </p:pic>
        <p:sp>
          <p:nvSpPr>
            <p:cNvPr id="27" name="Text 21"/>
            <p:cNvSpPr/>
            <p:nvPr/>
          </p:nvSpPr>
          <p:spPr>
            <a:xfrm>
              <a:off x="5517316" y="2627812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Application</a:t>
              </a:r>
              <a:endParaRPr lang="en-US" sz="1300" dirty="0"/>
            </a:p>
          </p:txBody>
        </p:sp>
        <p:sp>
          <p:nvSpPr>
            <p:cNvPr id="28" name="Text 22"/>
            <p:cNvSpPr/>
            <p:nvPr/>
          </p:nvSpPr>
          <p:spPr>
            <a:xfrm>
              <a:off x="5535604" y="2748854"/>
              <a:ext cx="1481328" cy="1691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security, container hardening, least-privilege at service level</a:t>
              </a:r>
              <a:endParaRPr lang="en-US" sz="12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181524" y="1166942"/>
            <a:ext cx="1600200" cy="3383280"/>
            <a:chOff x="7181524" y="1166942"/>
            <a:chExt cx="1600200" cy="3383280"/>
          </a:xfrm>
        </p:grpSpPr>
        <p:sp>
          <p:nvSpPr>
            <p:cNvPr id="29" name="Shape 23"/>
            <p:cNvSpPr/>
            <p:nvPr/>
          </p:nvSpPr>
          <p:spPr>
            <a:xfrm>
              <a:off x="7181524" y="1166942"/>
              <a:ext cx="160020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Shape 24"/>
            <p:cNvSpPr/>
            <p:nvPr/>
          </p:nvSpPr>
          <p:spPr>
            <a:xfrm>
              <a:off x="7181524" y="1166942"/>
              <a:ext cx="1600200" cy="502920"/>
            </a:xfrm>
            <a:prstGeom prst="rect">
              <a:avLst/>
            </a:prstGeom>
            <a:solidFill>
              <a:srgbClr val="FFC857"/>
            </a:solidFill>
            <a:ln w="12700">
              <a:solidFill>
                <a:srgbClr val="FFC857"/>
              </a:solidFill>
              <a:prstDash val="solid"/>
            </a:ln>
          </p:spPr>
        </p:sp>
        <p:sp>
          <p:nvSpPr>
            <p:cNvPr id="31" name="Text 25"/>
            <p:cNvSpPr/>
            <p:nvPr/>
          </p:nvSpPr>
          <p:spPr>
            <a:xfrm>
              <a:off x="7181524" y="1166942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5</a:t>
              </a:r>
              <a:endParaRPr lang="en-US" sz="1800" dirty="0"/>
            </a:p>
          </p:txBody>
        </p:sp>
        <p:pic>
          <p:nvPicPr>
            <p:cNvPr id="32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07304" y="2033452"/>
              <a:ext cx="548640" cy="548640"/>
            </a:xfrm>
            <a:prstGeom prst="rect">
              <a:avLst/>
            </a:prstGeom>
          </p:spPr>
        </p:pic>
        <p:sp>
          <p:nvSpPr>
            <p:cNvPr id="33" name="Text 26"/>
            <p:cNvSpPr/>
            <p:nvPr/>
          </p:nvSpPr>
          <p:spPr>
            <a:xfrm>
              <a:off x="7227244" y="2627812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</a:t>
              </a:r>
              <a:endParaRPr lang="en-US" sz="1300" dirty="0"/>
            </a:p>
          </p:txBody>
        </p:sp>
        <p:sp>
          <p:nvSpPr>
            <p:cNvPr id="34" name="Text 27"/>
            <p:cNvSpPr/>
            <p:nvPr/>
          </p:nvSpPr>
          <p:spPr>
            <a:xfrm>
              <a:off x="7245532" y="2748854"/>
              <a:ext cx="1481328" cy="1691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Classification, encryption, DLP — protect what matters most</a:t>
              </a:r>
              <a:endParaRPr lang="en-US" sz="12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20040" y="4849804"/>
            <a:ext cx="8503920" cy="182880"/>
            <a:chOff x="320040" y="4849804"/>
            <a:chExt cx="8503920" cy="182880"/>
          </a:xfrm>
        </p:grpSpPr>
        <p:sp>
          <p:nvSpPr>
            <p:cNvPr id="35" name="Shape 28"/>
            <p:cNvSpPr/>
            <p:nvPr/>
          </p:nvSpPr>
          <p:spPr>
            <a:xfrm>
              <a:off x="320040" y="4849804"/>
              <a:ext cx="8503920" cy="1828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6" name="Text 29"/>
            <p:cNvSpPr/>
            <p:nvPr/>
          </p:nvSpPr>
          <p:spPr>
            <a:xfrm>
              <a:off x="411480" y="4858948"/>
              <a:ext cx="83210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Cross-cutting functions: Visibility &amp; Analytics  •  Automation &amp; Orchestration  •  Governance</a:t>
              </a:r>
              <a:endParaRPr lang="en-US" sz="1000" dirty="0"/>
            </a:p>
          </p:txBody>
        </p:sp>
      </p:grpSp>
      <p:sp>
        <p:nvSpPr>
          <p:cNvPr id="44" name="Shape 0">
            <a:extLst>
              <a:ext uri="{FF2B5EF4-FFF2-40B4-BE49-F238E27FC236}">
                <a16:creationId xmlns:a16="http://schemas.microsoft.com/office/drawing/2014/main" id="{40FB7AE4-431C-4A72-9AAE-2EB5C54C6C20}"/>
              </a:ext>
            </a:extLst>
          </p:cNvPr>
          <p:cNvSpPr/>
          <p:nvPr/>
        </p:nvSpPr>
        <p:spPr>
          <a:xfrm>
            <a:off x="8915400" y="4593772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59951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95943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Pillars Deep Dive: Identity &amp; Device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176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user-facing security domains</a:t>
            </a:r>
            <a:endParaRPr lang="en-US" sz="13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365760" y="1221374"/>
            <a:ext cx="3977640" cy="3520440"/>
            <a:chOff x="365760" y="1417320"/>
            <a:chExt cx="3977640" cy="3520440"/>
          </a:xfrm>
        </p:grpSpPr>
        <p:sp>
          <p:nvSpPr>
            <p:cNvPr id="5" name="Shape 3"/>
            <p:cNvSpPr/>
            <p:nvPr/>
          </p:nvSpPr>
          <p:spPr>
            <a:xfrm>
              <a:off x="365760" y="1417320"/>
              <a:ext cx="3977640" cy="3520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" y="1508760"/>
              <a:ext cx="548640" cy="54864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115568" y="1554480"/>
              <a:ext cx="3108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5E60C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Pillar 1 — Identity</a:t>
              </a:r>
              <a:endParaRPr lang="en-US" sz="15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65760" y="2084832"/>
              <a:ext cx="3977640" cy="27432"/>
            </a:xfrm>
            <a:prstGeom prst="rect">
              <a:avLst/>
            </a:prstGeom>
            <a:solidFill>
              <a:srgbClr val="5E60CE"/>
            </a:solidFill>
            <a:ln w="12700">
              <a:solidFill>
                <a:srgbClr val="5E60CE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502920" y="2176272"/>
              <a:ext cx="3703320" cy="2651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Identity is the new perimeter — the most critical control plane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Multi-Factor Authentication (MFA) is a mandatory baseline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Identity Governance &amp; Administration (IGA) ensures least-privilege access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authentication monitors behavioural signals mid-session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Compromised accounts detected even after initial login</a:t>
              </a:r>
              <a:endParaRPr lang="en-US" sz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663440" y="1221374"/>
            <a:ext cx="4069080" cy="3520440"/>
            <a:chOff x="4663440" y="1417320"/>
            <a:chExt cx="4069080" cy="3520440"/>
          </a:xfrm>
        </p:grpSpPr>
        <p:sp>
          <p:nvSpPr>
            <p:cNvPr id="10" name="Shape 7"/>
            <p:cNvSpPr/>
            <p:nvPr/>
          </p:nvSpPr>
          <p:spPr>
            <a:xfrm>
              <a:off x="4663440" y="1417320"/>
              <a:ext cx="4069080" cy="3520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0600" y="1508760"/>
              <a:ext cx="548640" cy="54864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413248" y="155448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0B4D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Pillar 2 — Device</a:t>
              </a:r>
              <a:endParaRPr lang="en-US" sz="150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4663440" y="2084832"/>
              <a:ext cx="4069080" cy="2743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4" name="Text 10"/>
            <p:cNvSpPr/>
            <p:nvPr/>
          </p:nvSpPr>
          <p:spPr>
            <a:xfrm>
              <a:off x="4800600" y="2176272"/>
              <a:ext cx="3794760" cy="2651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Device health is evaluated alongside user identity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Unmanaged or unpatched devices represent elevated risk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Endpoint Detection &amp; Response (EDR) continuously monitors for compromise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Mobile Device Management (MDM) maintains visibility over personal devices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clean user identity on a compromised device is still a threat</a:t>
              </a:r>
              <a:endParaRPr lang="en-US" sz="1200" dirty="0"/>
            </a:p>
          </p:txBody>
        </p:sp>
      </p:grpSp>
      <p:sp>
        <p:nvSpPr>
          <p:cNvPr id="19" name="Shape 0">
            <a:extLst>
              <a:ext uri="{FF2B5EF4-FFF2-40B4-BE49-F238E27FC236}">
                <a16:creationId xmlns:a16="http://schemas.microsoft.com/office/drawing/2014/main" id="{C0EA9F62-2CC6-4C1E-A0DC-A1E13F6F9D88}"/>
              </a:ext>
            </a:extLst>
          </p:cNvPr>
          <p:cNvSpPr/>
          <p:nvPr/>
        </p:nvSpPr>
        <p:spPr>
          <a:xfrm>
            <a:off x="4471416" y="4193174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05740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17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Pillars Deep Dive: Network, Application &amp;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workload, and data-centric security</a:t>
            </a:r>
            <a:endParaRPr lang="en-US" sz="13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276496" y="1219196"/>
            <a:ext cx="2743200" cy="3566160"/>
            <a:chOff x="320040" y="1371600"/>
            <a:chExt cx="2743200" cy="3566160"/>
          </a:xfrm>
        </p:grpSpPr>
        <p:sp>
          <p:nvSpPr>
            <p:cNvPr id="5" name="Shape 3"/>
            <p:cNvSpPr/>
            <p:nvPr/>
          </p:nvSpPr>
          <p:spPr>
            <a:xfrm>
              <a:off x="320040" y="1371600"/>
              <a:ext cx="274320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20040" y="1371600"/>
              <a:ext cx="2743200" cy="438912"/>
            </a:xfrm>
            <a:prstGeom prst="rect">
              <a:avLst/>
            </a:prstGeom>
            <a:solidFill>
              <a:srgbClr val="00B074"/>
            </a:solidFill>
            <a:ln w="12700">
              <a:solidFill>
                <a:srgbClr val="00B074"/>
              </a:solidFill>
              <a:prstDash val="solid"/>
            </a:ln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768" y="1417320"/>
              <a:ext cx="347472" cy="347472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841248" y="1417320"/>
              <a:ext cx="2148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Pillar 3 — Network</a:t>
              </a: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11480" y="1892808"/>
              <a:ext cx="256032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Replace flat networks with micro-segmentation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SDN &amp; VLANs create isolated network zones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Lateral movement contained — breach blast radius minimized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East-west traffic inspected, not just north-south</a:t>
              </a:r>
              <a:endParaRPr lang="en-US" sz="115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202576" y="1219196"/>
            <a:ext cx="2743200" cy="3566160"/>
            <a:chOff x="3246120" y="1371600"/>
            <a:chExt cx="2743200" cy="3566160"/>
          </a:xfrm>
        </p:grpSpPr>
        <p:sp>
          <p:nvSpPr>
            <p:cNvPr id="10" name="Shape 7"/>
            <p:cNvSpPr/>
            <p:nvPr/>
          </p:nvSpPr>
          <p:spPr>
            <a:xfrm>
              <a:off x="3246120" y="1371600"/>
              <a:ext cx="274320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8"/>
            <p:cNvSpPr/>
            <p:nvPr/>
          </p:nvSpPr>
          <p:spPr>
            <a:xfrm>
              <a:off x="3246120" y="1371600"/>
              <a:ext cx="2743200" cy="438912"/>
            </a:xfrm>
            <a:prstGeom prst="rect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5848" y="1417320"/>
              <a:ext cx="347472" cy="347472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3767328" y="1417320"/>
              <a:ext cx="2148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Pillar 4 — Application</a:t>
              </a:r>
              <a:endParaRPr lang="en-US" sz="12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3337560" y="1892808"/>
              <a:ext cx="256032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woven into applications — not bolted on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security and container hardening for cloud-native apps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Least-privilege enforced at the service level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Workloads verified before accessing any resource</a:t>
              </a:r>
              <a:endParaRPr lang="en-US" sz="115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128656" y="1219196"/>
            <a:ext cx="2743200" cy="3566160"/>
            <a:chOff x="6172200" y="1371600"/>
            <a:chExt cx="2743200" cy="3566160"/>
          </a:xfrm>
        </p:grpSpPr>
        <p:sp>
          <p:nvSpPr>
            <p:cNvPr id="15" name="Shape 11"/>
            <p:cNvSpPr/>
            <p:nvPr/>
          </p:nvSpPr>
          <p:spPr>
            <a:xfrm>
              <a:off x="6172200" y="1371600"/>
              <a:ext cx="274320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2"/>
            <p:cNvSpPr/>
            <p:nvPr/>
          </p:nvSpPr>
          <p:spPr>
            <a:xfrm>
              <a:off x="6172200" y="1371600"/>
              <a:ext cx="2743200" cy="438912"/>
            </a:xfrm>
            <a:prstGeom prst="rect">
              <a:avLst/>
            </a:prstGeom>
            <a:solidFill>
              <a:srgbClr val="FFC857"/>
            </a:solidFill>
            <a:ln w="12700">
              <a:solidFill>
                <a:srgbClr val="FFC857"/>
              </a:solidFill>
              <a:prstDash val="solid"/>
            </a:ln>
          </p:spPr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1928" y="1417320"/>
              <a:ext cx="347472" cy="347472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6693408" y="1417320"/>
              <a:ext cx="2148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Pillar 5 — Data</a:t>
              </a:r>
              <a:endParaRPr lang="en-US" sz="12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6263640" y="1892808"/>
              <a:ext cx="256032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is the ultimate asset ZTA exists to protect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Classify data by sensitivity and apply controls accordingly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Encrypt at rest and in transit — always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DLP tools monitor for unauthorized access and exfiltration</a:t>
              </a:r>
              <a:endParaRPr lang="en-US" sz="1150" dirty="0"/>
            </a:p>
          </p:txBody>
        </p:sp>
      </p:grpSp>
      <p:sp>
        <p:nvSpPr>
          <p:cNvPr id="24" name="Shape 0">
            <a:extLst>
              <a:ext uri="{FF2B5EF4-FFF2-40B4-BE49-F238E27FC236}">
                <a16:creationId xmlns:a16="http://schemas.microsoft.com/office/drawing/2014/main" id="{E7A33978-44FF-45FD-B2E8-2277EC186B4E}"/>
              </a:ext>
            </a:extLst>
          </p:cNvPr>
          <p:cNvSpPr/>
          <p:nvPr/>
        </p:nvSpPr>
        <p:spPr>
          <a:xfrm>
            <a:off x="8798704" y="1219196"/>
            <a:ext cx="64008" cy="438912"/>
          </a:xfrm>
          <a:prstGeom prst="rect">
            <a:avLst/>
          </a:prstGeom>
          <a:solidFill>
            <a:srgbClr val="FFC857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994660" cy="274320"/>
          </a:xfrm>
          <a:prstGeom prst="roundRect">
            <a:avLst>
              <a:gd name="adj" fmla="val 200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9032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IMPLEMENTATION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Barriers to ZTA Adoption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789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99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Systems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18196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Older infrastructure lacks support for modern auth protocols (token-based, MFA)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1490472"/>
            <a:ext cx="36576" cy="932688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6592" y="1490472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Mitigation: Use API gateways and identity proxies as a bridge — wrap legacy systems in ZT layer without modifying core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606040"/>
            <a:ext cx="83210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606040"/>
            <a:ext cx="54864" cy="107899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98648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15568" y="2679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Complexity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15568" y="30083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Large enterprises manage thousands of access policies — manual management is error-prone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17720" y="2679192"/>
            <a:ext cx="36576" cy="932688"/>
          </a:xfrm>
          <a:prstGeom prst="rect">
            <a:avLst/>
          </a:prstGeom>
          <a:solidFill>
            <a:srgbClr val="FFC857">
              <a:alpha val="40000"/>
            </a:srgbClr>
          </a:solidFill>
          <a:ln w="12700">
            <a:solidFill>
              <a:srgbClr val="FFC857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36592" y="2679192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Mitigation: Policy-as-Code: version-controlled, auto-deployed policies. AI-driven orchestration flags anomalies in real time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3794760"/>
            <a:ext cx="83210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3794760"/>
            <a:ext cx="54864" cy="1078992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87368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3867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6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Cultural Resistance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15568" y="41970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Employees resist additional auth steps, stricter access controls, and false-positive lockouts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17720" y="3867912"/>
            <a:ext cx="36576" cy="932688"/>
          </a:xfrm>
          <a:prstGeom prst="rect">
            <a:avLst/>
          </a:prstGeom>
          <a:solidFill>
            <a:srgbClr val="5E60CE">
              <a:alpha val="40000"/>
            </a:srgbClr>
          </a:solidFill>
          <a:ln w="12700">
            <a:solidFill>
              <a:srgbClr val="5E60CE">
                <a:alpha val="4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36592" y="3867912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Mitigation: Sustained communication &amp; training — focus on the WHY. Build organizational culture around security-first mindset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185057" y="160020"/>
            <a:ext cx="8092440" cy="548640"/>
            <a:chOff x="457200" y="502920"/>
            <a:chExt cx="8092440" cy="548640"/>
          </a:xfrm>
        </p:grpSpPr>
        <p:sp>
          <p:nvSpPr>
            <p:cNvPr id="2" name="Shape 0"/>
            <p:cNvSpPr/>
            <p:nvPr/>
          </p:nvSpPr>
          <p:spPr>
            <a:xfrm>
              <a:off x="457200" y="566928"/>
              <a:ext cx="64008" cy="43891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594360" y="502920"/>
              <a:ext cx="79552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Comparative Analysis of Reference Papers</a:t>
              </a:r>
              <a:endParaRPr lang="en-US" sz="26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75488" y="594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Situating this review within the broader research landscape</a:t>
            </a:r>
            <a:endParaRPr lang="en-US" sz="1300" dirty="0"/>
          </a:p>
        </p:txBody>
      </p:sp>
      <p:grpSp>
        <p:nvGrpSpPr>
          <p:cNvPr id="47" name="Group 46"/>
          <p:cNvGrpSpPr/>
          <p:nvPr/>
        </p:nvGrpSpPr>
        <p:grpSpPr>
          <a:xfrm>
            <a:off x="365760" y="1262740"/>
            <a:ext cx="8513064" cy="365760"/>
            <a:chOff x="365760" y="1371600"/>
            <a:chExt cx="8513064" cy="365760"/>
          </a:xfrm>
        </p:grpSpPr>
        <p:sp>
          <p:nvSpPr>
            <p:cNvPr id="5" name="Shape 3"/>
            <p:cNvSpPr/>
            <p:nvPr/>
          </p:nvSpPr>
          <p:spPr>
            <a:xfrm>
              <a:off x="365760" y="1371600"/>
              <a:ext cx="8412480" cy="3657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57200" y="1380744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Reference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395728" y="1380744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Scope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785616" y="1380744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ZT Focus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358384" y="1380744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Key Contribution</a:t>
              </a:r>
              <a:endParaRPr lang="en-US" sz="1100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65760" y="1674220"/>
            <a:ext cx="8412480" cy="475488"/>
            <a:chOff x="365760" y="1783080"/>
            <a:chExt cx="8412480" cy="475488"/>
          </a:xfrm>
        </p:grpSpPr>
        <p:sp>
          <p:nvSpPr>
            <p:cNvPr id="10" name="Shape 8"/>
            <p:cNvSpPr/>
            <p:nvPr/>
          </p:nvSpPr>
          <p:spPr>
            <a:xfrm>
              <a:off x="365760" y="1783080"/>
              <a:ext cx="841248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65760" y="1911096"/>
              <a:ext cx="219456" cy="21945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40080" y="1828800"/>
              <a:ext cx="171907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NIST SP 800-207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395728" y="1828800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Enterprises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785616" y="1828800"/>
              <a:ext cx="15361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5 pillars, PDP/PEP</a:t>
              </a:r>
              <a:endParaRPr lang="en-US" sz="10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358384" y="1828800"/>
              <a:ext cx="32918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Vendor-neutral theoretical baseline; de facto global ZT reference</a:t>
              </a:r>
              <a:endParaRPr lang="en-US" sz="105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65760" y="2186284"/>
            <a:ext cx="8412480" cy="475488"/>
            <a:chOff x="365760" y="2295144"/>
            <a:chExt cx="8412480" cy="475488"/>
          </a:xfrm>
        </p:grpSpPr>
        <p:sp>
          <p:nvSpPr>
            <p:cNvPr id="16" name="Shape 14"/>
            <p:cNvSpPr/>
            <p:nvPr/>
          </p:nvSpPr>
          <p:spPr>
            <a:xfrm>
              <a:off x="365760" y="2295144"/>
              <a:ext cx="8412480" cy="475488"/>
            </a:xfrm>
            <a:prstGeom prst="rect">
              <a:avLst/>
            </a:prstGeom>
            <a:solidFill>
              <a:srgbClr val="F0F5FA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65760" y="2423160"/>
              <a:ext cx="219456" cy="21945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40080" y="2340864"/>
              <a:ext cx="171907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CISA ZT Maturity v2.0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395728" y="2340864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Federal Agencies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785616" y="2340864"/>
              <a:ext cx="15361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Identity, Device, Network, App, Data</a:t>
              </a:r>
              <a:endParaRPr lang="en-US" sz="10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358384" y="2340864"/>
              <a:ext cx="32918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Graduated maturity levels; practical self-assessment roadmap</a:t>
              </a:r>
              <a:endParaRPr lang="en-US" sz="105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65760" y="2698348"/>
            <a:ext cx="8412480" cy="475488"/>
            <a:chOff x="365760" y="2807208"/>
            <a:chExt cx="8412480" cy="475488"/>
          </a:xfrm>
        </p:grpSpPr>
        <p:sp>
          <p:nvSpPr>
            <p:cNvPr id="22" name="Shape 20"/>
            <p:cNvSpPr/>
            <p:nvPr/>
          </p:nvSpPr>
          <p:spPr>
            <a:xfrm>
              <a:off x="365760" y="2807208"/>
              <a:ext cx="841248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365760" y="2935224"/>
              <a:ext cx="219456" cy="219456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40080" y="2852928"/>
              <a:ext cx="171907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DoD ZT Ref. Arch. v2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395728" y="2852928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Military/Defense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785616" y="2852928"/>
              <a:ext cx="15361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Data-centric; 7 pillars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358384" y="2852928"/>
              <a:ext cx="32918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Most prescriptive framework; maps ZT to mission-critical ops</a:t>
              </a:r>
              <a:endParaRPr lang="en-US" sz="1050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65760" y="3210412"/>
            <a:ext cx="8412480" cy="475488"/>
            <a:chOff x="365760" y="3319272"/>
            <a:chExt cx="8412480" cy="475488"/>
          </a:xfrm>
        </p:grpSpPr>
        <p:sp>
          <p:nvSpPr>
            <p:cNvPr id="28" name="Shape 26"/>
            <p:cNvSpPr/>
            <p:nvPr/>
          </p:nvSpPr>
          <p:spPr>
            <a:xfrm>
              <a:off x="365760" y="3319272"/>
              <a:ext cx="8412480" cy="475488"/>
            </a:xfrm>
            <a:prstGeom prst="rect">
              <a:avLst/>
            </a:prstGeom>
            <a:solidFill>
              <a:srgbClr val="F0F5FA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365760" y="3447288"/>
              <a:ext cx="219456" cy="219456"/>
            </a:xfrm>
            <a:prstGeom prst="ellipse">
              <a:avLst/>
            </a:prstGeom>
            <a:solidFill>
              <a:srgbClr val="6C63FF"/>
            </a:solidFill>
            <a:ln w="12700">
              <a:solidFill>
                <a:srgbClr val="6C63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40080" y="3364992"/>
              <a:ext cx="171907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IEEE (2025)</a:t>
              </a:r>
              <a:endParaRPr lang="en-US" sz="11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2395728" y="3364992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 IT</a:t>
              </a:r>
              <a:endParaRPr lang="en-US" sz="10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785616" y="3364992"/>
              <a:ext cx="15361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Implementation impact</a:t>
              </a:r>
              <a:endParaRPr lang="en-US" sz="10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358384" y="3364992"/>
              <a:ext cx="32918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Empirically evaluates ZTA effectiveness; measurable security metrics</a:t>
              </a:r>
              <a:endParaRPr lang="en-US" sz="105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65760" y="3722476"/>
            <a:ext cx="8412480" cy="475488"/>
            <a:chOff x="365760" y="3831336"/>
            <a:chExt cx="8412480" cy="475488"/>
          </a:xfrm>
        </p:grpSpPr>
        <p:sp>
          <p:nvSpPr>
            <p:cNvPr id="34" name="Shape 32"/>
            <p:cNvSpPr/>
            <p:nvPr/>
          </p:nvSpPr>
          <p:spPr>
            <a:xfrm>
              <a:off x="365760" y="3831336"/>
              <a:ext cx="841248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365760" y="3959352"/>
              <a:ext cx="219456" cy="219456"/>
            </a:xfrm>
            <a:prstGeom prst="ellipse">
              <a:avLst/>
            </a:prstGeom>
            <a:solidFill>
              <a:srgbClr val="6C63FF"/>
            </a:solidFill>
            <a:ln w="12700">
              <a:solidFill>
                <a:srgbClr val="6C63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640080" y="3877056"/>
              <a:ext cx="171907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Springer (2026)</a:t>
              </a:r>
              <a:endParaRPr lang="en-US" sz="11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395728" y="3877056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Endpoint &amp; Mobile</a:t>
              </a:r>
              <a:endParaRPr lang="en-US" sz="10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3785616" y="3877056"/>
              <a:ext cx="15361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Zero-click attack vectors</a:t>
              </a:r>
              <a:endParaRPr lang="en-US" sz="10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5358384" y="3877056"/>
              <a:ext cx="32918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Demonstrates ZT defense against zero-click/zero-interaction attacks</a:t>
              </a:r>
              <a:endParaRPr lang="en-US" sz="1050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365760" y="4234540"/>
            <a:ext cx="8412480" cy="475488"/>
            <a:chOff x="365760" y="4343400"/>
            <a:chExt cx="8412480" cy="475488"/>
          </a:xfrm>
        </p:grpSpPr>
        <p:sp>
          <p:nvSpPr>
            <p:cNvPr id="40" name="Shape 38"/>
            <p:cNvSpPr/>
            <p:nvPr/>
          </p:nvSpPr>
          <p:spPr>
            <a:xfrm>
              <a:off x="365760" y="4343400"/>
              <a:ext cx="8412480" cy="475488"/>
            </a:xfrm>
            <a:prstGeom prst="rect">
              <a:avLst/>
            </a:prstGeom>
            <a:solidFill>
              <a:srgbClr val="F0F5FA"/>
            </a:solidFill>
            <a:ln w="6350">
              <a:solidFill>
                <a:srgbClr val="E2EBF4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365760" y="4471416"/>
              <a:ext cx="219456" cy="219456"/>
            </a:xfrm>
            <a:prstGeom prst="ellipse">
              <a:avLst/>
            </a:prstGeom>
            <a:solidFill>
              <a:srgbClr val="6C63FF"/>
            </a:solidFill>
            <a:ln w="12700">
              <a:solidFill>
                <a:srgbClr val="6C63FF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640080" y="4389120"/>
              <a:ext cx="171907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SAGE (2025)</a:t>
              </a:r>
              <a:endParaRPr lang="en-US" sz="11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2395728" y="4389120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Cross-domain</a:t>
              </a:r>
              <a:endParaRPr lang="en-US" sz="10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3785616" y="4389120"/>
              <a:ext cx="15361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Framework comparison</a:t>
              </a:r>
              <a:endParaRPr lang="en-US" sz="10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358384" y="4389120"/>
              <a:ext cx="32918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Identifies definitional inconsistencies; proposes unified evaluation</a:t>
              </a:r>
              <a:endParaRPr lang="en-US" sz="1050" dirty="0"/>
            </a:p>
          </p:txBody>
        </p:sp>
      </p:grpSp>
      <p:sp>
        <p:nvSpPr>
          <p:cNvPr id="54" name="Shape 0">
            <a:extLst>
              <a:ext uri="{FF2B5EF4-FFF2-40B4-BE49-F238E27FC236}">
                <a16:creationId xmlns:a16="http://schemas.microsoft.com/office/drawing/2014/main" id="{EDE5403B-E1EB-4A0C-911B-52818E53950F}"/>
              </a:ext>
            </a:extLst>
          </p:cNvPr>
          <p:cNvSpPr/>
          <p:nvPr/>
        </p:nvSpPr>
        <p:spPr>
          <a:xfrm>
            <a:off x="8778240" y="4261972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097486" y="169164"/>
            <a:ext cx="1897600" cy="274320"/>
            <a:chOff x="457200" y="256032"/>
            <a:chExt cx="2153412" cy="274320"/>
          </a:xfrm>
        </p:grpSpPr>
        <p:sp>
          <p:nvSpPr>
            <p:cNvPr id="2" name="Shape 0"/>
            <p:cNvSpPr/>
            <p:nvPr/>
          </p:nvSpPr>
          <p:spPr>
            <a:xfrm>
              <a:off x="457200" y="256032"/>
              <a:ext cx="2153412" cy="274320"/>
            </a:xfrm>
            <a:prstGeom prst="roundRect">
              <a:avLst>
                <a:gd name="adj" fmla="val 20000"/>
              </a:avLst>
            </a:prstGeom>
            <a:solidFill>
              <a:srgbClr val="00B4D8">
                <a:alpha val="80000"/>
              </a:srgbClr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502920" y="265176"/>
              <a:ext cx="20619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kern="0" spc="200" dirty="0">
                  <a:solidFill>
                    <a:srgbClr val="FFFFFF"/>
                  </a:solidFill>
                </a:rPr>
                <a:t>FUTURE DIRECTIONS</a:t>
              </a:r>
              <a:endParaRPr lang="en-US" sz="9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148046" y="1691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Integration &amp; Quantum Resilience</a:t>
            </a:r>
            <a:endParaRPr lang="en-US" sz="26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65760" y="1219196"/>
            <a:ext cx="4160520" cy="3520440"/>
            <a:chOff x="365760" y="1371600"/>
            <a:chExt cx="4160520" cy="3520440"/>
          </a:xfrm>
        </p:grpSpPr>
        <p:sp>
          <p:nvSpPr>
            <p:cNvPr id="5" name="Shape 3"/>
            <p:cNvSpPr/>
            <p:nvPr/>
          </p:nvSpPr>
          <p:spPr>
            <a:xfrm>
              <a:off x="365760" y="1371600"/>
              <a:ext cx="4160520" cy="3520440"/>
            </a:xfrm>
            <a:prstGeom prst="rect">
              <a:avLst/>
            </a:prstGeom>
            <a:solidFill>
              <a:srgbClr val="0A1628"/>
            </a:solidFill>
            <a:ln w="15240">
              <a:solidFill>
                <a:srgbClr val="00B4D8"/>
              </a:solidFill>
              <a:prstDash val="solid"/>
            </a:ln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" y="1481328"/>
              <a:ext cx="822960" cy="82296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389888" y="1554480"/>
              <a:ext cx="3017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0B4D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AI &amp; Machine Learning</a:t>
              </a:r>
              <a:endParaRPr lang="en-US" sz="18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02920" y="2390502"/>
              <a:ext cx="3886200" cy="2377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ZTA generates massive telemetry — too much for human analysis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models analyse behavioral patterns across millions of events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Anomalies flagged in real time; threats predicted before materializing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Autonomously adjusts policies based on real-time risk signals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Tightens controls when suspicious; relaxes when context confirms legitimacy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Transforms security posture from reactive to genuinely proactive</a:t>
              </a:r>
              <a:endParaRPr lang="en-US" sz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688262" y="1219196"/>
            <a:ext cx="4160520" cy="3520440"/>
            <a:chOff x="4590288" y="1371600"/>
            <a:chExt cx="4160520" cy="3520440"/>
          </a:xfrm>
        </p:grpSpPr>
        <p:sp>
          <p:nvSpPr>
            <p:cNvPr id="9" name="Shape 6"/>
            <p:cNvSpPr/>
            <p:nvPr/>
          </p:nvSpPr>
          <p:spPr>
            <a:xfrm>
              <a:off x="4590288" y="1371600"/>
              <a:ext cx="4160520" cy="3520440"/>
            </a:xfrm>
            <a:prstGeom prst="rect">
              <a:avLst/>
            </a:prstGeom>
            <a:solidFill>
              <a:srgbClr val="0A1628"/>
            </a:solidFill>
            <a:ln w="15240">
              <a:solidFill>
                <a:srgbClr val="6C63FF"/>
              </a:solidFill>
              <a:prstDash val="solid"/>
            </a:ln>
          </p:spPr>
        </p:sp>
        <p:grpSp>
          <p:nvGrpSpPr>
            <p:cNvPr id="15" name="Group 14"/>
            <p:cNvGrpSpPr/>
            <p:nvPr/>
          </p:nvGrpSpPr>
          <p:grpSpPr>
            <a:xfrm>
              <a:off x="4800600" y="1481328"/>
              <a:ext cx="3904488" cy="3286614"/>
              <a:chOff x="4800600" y="1481328"/>
              <a:chExt cx="3904488" cy="3286614"/>
            </a:xfrm>
          </p:grpSpPr>
          <p:pic>
            <p:nvPicPr>
              <p:cNvPr id="10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0600" y="1481328"/>
                <a:ext cx="822960" cy="822960"/>
              </a:xfrm>
              <a:prstGeom prst="rect">
                <a:avLst/>
              </a:prstGeom>
            </p:spPr>
          </p:pic>
          <p:sp>
            <p:nvSpPr>
              <p:cNvPr id="11" name="Text 7"/>
              <p:cNvSpPr/>
              <p:nvPr/>
            </p:nvSpPr>
            <p:spPr>
              <a:xfrm>
                <a:off x="5687568" y="1554480"/>
                <a:ext cx="301752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6C63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Quantum-Resistant Crypto</a:t>
                </a:r>
                <a:endParaRPr lang="en-US" sz="1700" dirty="0"/>
              </a:p>
            </p:txBody>
          </p:sp>
          <p:sp>
            <p:nvSpPr>
              <p:cNvPr id="12" name="Text 8"/>
              <p:cNvSpPr/>
              <p:nvPr/>
            </p:nvSpPr>
            <p:spPr>
              <a:xfrm>
                <a:off x="4800600" y="2390502"/>
                <a:ext cx="3886200" cy="23774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Current standards (RSA, ECC) rely on hard mathematical problems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Sufficiently scaled quantum computers will break these assumptions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ZTA relies on strong cryptography for identity &amp; data-in-transit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Quantum computing poses a critical future risk to ZTA foundations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Transition now to NIST post-quantum algorithm standards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Build crypto-agility: swap algorithms without overhauling architecture</a:t>
                </a:r>
                <a:endParaRPr lang="en-US" sz="1200" dirty="0"/>
              </a:p>
            </p:txBody>
          </p:sp>
        </p:grpSp>
      </p:grpSp>
      <p:sp>
        <p:nvSpPr>
          <p:cNvPr id="17" name="Shape 0">
            <a:extLst>
              <a:ext uri="{FF2B5EF4-FFF2-40B4-BE49-F238E27FC236}">
                <a16:creationId xmlns:a16="http://schemas.microsoft.com/office/drawing/2014/main" id="{2474AF7E-25D4-405B-9409-C58DD5E2BE4E}"/>
              </a:ext>
            </a:extLst>
          </p:cNvPr>
          <p:cNvSpPr/>
          <p:nvPr/>
        </p:nvSpPr>
        <p:spPr>
          <a:xfrm>
            <a:off x="148046" y="4535424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217715" y="173736"/>
            <a:ext cx="8092440" cy="548640"/>
            <a:chOff x="457200" y="502920"/>
            <a:chExt cx="8092440" cy="548640"/>
          </a:xfrm>
        </p:grpSpPr>
        <p:sp>
          <p:nvSpPr>
            <p:cNvPr id="2" name="Shape 0"/>
            <p:cNvSpPr/>
            <p:nvPr/>
          </p:nvSpPr>
          <p:spPr>
            <a:xfrm>
              <a:off x="457200" y="566928"/>
              <a:ext cx="64008" cy="43891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594360" y="502920"/>
              <a:ext cx="79552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Key Findings &amp; Discussion</a:t>
              </a:r>
              <a:endParaRPr lang="en-US" sz="26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28027" y="6766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 reveals about ZTA in practice</a:t>
            </a:r>
            <a:endParaRPr lang="en-US" sz="13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343988" y="1199600"/>
            <a:ext cx="4206240" cy="1115568"/>
            <a:chOff x="365760" y="1417320"/>
            <a:chExt cx="4206240" cy="1115568"/>
          </a:xfrm>
        </p:grpSpPr>
        <p:sp>
          <p:nvSpPr>
            <p:cNvPr id="5" name="Shape 3"/>
            <p:cNvSpPr/>
            <p:nvPr/>
          </p:nvSpPr>
          <p:spPr>
            <a:xfrm>
              <a:off x="365760" y="1417320"/>
              <a:ext cx="42062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65760" y="1417320"/>
              <a:ext cx="502920" cy="1115568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65760" y="1417320"/>
              <a:ext cx="502920" cy="1115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60120" y="1508760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Fragmented Standards Landscape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60120" y="1863634"/>
              <a:ext cx="3520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NIST, CISA, and DoD frameworks differ in scope and prescriptiveness. No single framework fits all organizational contexts.</a:t>
              </a:r>
              <a:endParaRPr lang="en-US" sz="11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709160" y="1199600"/>
            <a:ext cx="4206240" cy="1115568"/>
            <a:chOff x="4709160" y="1417320"/>
            <a:chExt cx="4206240" cy="1115568"/>
          </a:xfrm>
        </p:grpSpPr>
        <p:sp>
          <p:nvSpPr>
            <p:cNvPr id="10" name="Shape 8"/>
            <p:cNvSpPr/>
            <p:nvPr/>
          </p:nvSpPr>
          <p:spPr>
            <a:xfrm>
              <a:off x="4709160" y="1417320"/>
              <a:ext cx="42062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4709160" y="1417320"/>
              <a:ext cx="502920" cy="1115568"/>
            </a:xfrm>
            <a:prstGeom prst="rect">
              <a:avLst/>
            </a:prstGeom>
            <a:solidFill>
              <a:srgbClr val="5E60CE"/>
            </a:solidFill>
            <a:ln w="12700">
              <a:solidFill>
                <a:srgbClr val="5E60CE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709160" y="1417320"/>
              <a:ext cx="502920" cy="1115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F2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03520" y="1508760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Identity Is the New Perimeter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303520" y="1809204"/>
              <a:ext cx="3520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Across all frameworks and literature, identity verification consistently emerges as the most critical Zero Trust control.</a:t>
              </a:r>
              <a:endParaRPr lang="en-US" sz="11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43988" y="2477584"/>
            <a:ext cx="4206240" cy="1115568"/>
            <a:chOff x="365760" y="2651760"/>
            <a:chExt cx="4206240" cy="1115568"/>
          </a:xfrm>
        </p:grpSpPr>
        <p:sp>
          <p:nvSpPr>
            <p:cNvPr id="15" name="Shape 13"/>
            <p:cNvSpPr/>
            <p:nvPr/>
          </p:nvSpPr>
          <p:spPr>
            <a:xfrm>
              <a:off x="365760" y="2651760"/>
              <a:ext cx="42062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365760" y="2651760"/>
              <a:ext cx="502920" cy="1115568"/>
            </a:xfrm>
            <a:prstGeom prst="rect">
              <a:avLst/>
            </a:prstGeom>
            <a:solidFill>
              <a:srgbClr val="00B074"/>
            </a:solidFill>
            <a:ln w="12700">
              <a:solidFill>
                <a:srgbClr val="00B074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5760" y="2651760"/>
              <a:ext cx="502920" cy="1115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F3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60120" y="2743200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Micro-segmentation Reduces Risk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60120" y="3076302"/>
              <a:ext cx="3520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 segmentation is proven to limit lateral movement and minimize breach impact — a key empirical finding from IEEE (2025).</a:t>
              </a:r>
              <a:endParaRPr lang="en-US" sz="11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709160" y="2477584"/>
            <a:ext cx="4206240" cy="1115568"/>
            <a:chOff x="4709160" y="2651760"/>
            <a:chExt cx="4206240" cy="1115568"/>
          </a:xfrm>
        </p:grpSpPr>
        <p:sp>
          <p:nvSpPr>
            <p:cNvPr id="20" name="Shape 18"/>
            <p:cNvSpPr/>
            <p:nvPr/>
          </p:nvSpPr>
          <p:spPr>
            <a:xfrm>
              <a:off x="4709160" y="2651760"/>
              <a:ext cx="42062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09160" y="2651760"/>
              <a:ext cx="502920" cy="1115568"/>
            </a:xfrm>
            <a:prstGeom prst="rect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709160" y="2651760"/>
              <a:ext cx="502920" cy="1115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F4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303520" y="2743200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Implementation Gap Exists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303520" y="3087188"/>
              <a:ext cx="3520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Significant gap between framework prescriptions and real-world adoption, particularly for organizations with legacy infrastructure.</a:t>
              </a:r>
              <a:endParaRPr lang="en-US" sz="11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43988" y="3766454"/>
            <a:ext cx="4206240" cy="1115568"/>
            <a:chOff x="365760" y="3886200"/>
            <a:chExt cx="4206240" cy="1115568"/>
          </a:xfrm>
        </p:grpSpPr>
        <p:sp>
          <p:nvSpPr>
            <p:cNvPr id="25" name="Shape 23"/>
            <p:cNvSpPr/>
            <p:nvPr/>
          </p:nvSpPr>
          <p:spPr>
            <a:xfrm>
              <a:off x="365760" y="3886200"/>
              <a:ext cx="42062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365760" y="3886200"/>
              <a:ext cx="502920" cy="1115568"/>
            </a:xfrm>
            <a:prstGeom prst="rect">
              <a:avLst/>
            </a:prstGeom>
            <a:solidFill>
              <a:srgbClr val="FFC857"/>
            </a:solidFill>
            <a:ln w="12700">
              <a:solidFill>
                <a:srgbClr val="FFC857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65760" y="3886200"/>
              <a:ext cx="502920" cy="1115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F5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960120" y="3977640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AI Enhances ZTA Effectiveness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60120" y="4299856"/>
              <a:ext cx="3520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AI/ML integration addresses the telemetry analysis gap and enables proactive, autonomous policy adjustment at scale.</a:t>
              </a:r>
              <a:endParaRPr lang="en-US" sz="1100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709160" y="3766454"/>
            <a:ext cx="4206240" cy="1115568"/>
            <a:chOff x="4709160" y="3886200"/>
            <a:chExt cx="4206240" cy="1115568"/>
          </a:xfrm>
        </p:grpSpPr>
        <p:sp>
          <p:nvSpPr>
            <p:cNvPr id="30" name="Shape 28"/>
            <p:cNvSpPr/>
            <p:nvPr/>
          </p:nvSpPr>
          <p:spPr>
            <a:xfrm>
              <a:off x="4709160" y="3886200"/>
              <a:ext cx="42062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4709160" y="3886200"/>
              <a:ext cx="502920" cy="1115568"/>
            </a:xfrm>
            <a:prstGeom prst="rect">
              <a:avLst/>
            </a:prstGeom>
            <a:solidFill>
              <a:srgbClr val="6C63FF"/>
            </a:solidFill>
            <a:ln w="12700">
              <a:solidFill>
                <a:srgbClr val="6C63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709160" y="3886200"/>
              <a:ext cx="502920" cy="1115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F6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303520" y="3977640"/>
              <a:ext cx="3520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Quantum Risk is Imminent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303520" y="4321628"/>
              <a:ext cx="3520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Current cryptographic foundations of ZTA are quantum-vulnerable. Post-quantum transition must begin before quantum capability arrives.</a:t>
              </a:r>
              <a:endParaRPr lang="en-US" sz="1100" dirty="0"/>
            </a:p>
          </p:txBody>
        </p:sp>
      </p:grpSp>
      <p:sp>
        <p:nvSpPr>
          <p:cNvPr id="44" name="Shape 0">
            <a:extLst>
              <a:ext uri="{FF2B5EF4-FFF2-40B4-BE49-F238E27FC236}">
                <a16:creationId xmlns:a16="http://schemas.microsoft.com/office/drawing/2014/main" id="{CEF06B6B-457F-4256-9009-2F1F872D19F6}"/>
              </a:ext>
            </a:extLst>
          </p:cNvPr>
          <p:cNvSpPr/>
          <p:nvPr/>
        </p:nvSpPr>
        <p:spPr>
          <a:xfrm>
            <a:off x="9006840" y="4570383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61257" y="178308"/>
            <a:ext cx="8092440" cy="548640"/>
            <a:chOff x="457200" y="502920"/>
            <a:chExt cx="8092440" cy="548640"/>
          </a:xfrm>
        </p:grpSpPr>
        <p:sp>
          <p:nvSpPr>
            <p:cNvPr id="2" name="Shape 0"/>
            <p:cNvSpPr/>
            <p:nvPr/>
          </p:nvSpPr>
          <p:spPr>
            <a:xfrm>
              <a:off x="457200" y="566928"/>
              <a:ext cx="64008" cy="43891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594360" y="502920"/>
              <a:ext cx="79552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Limitations of This Review</a:t>
              </a:r>
              <a:endParaRPr lang="en-US" sz="26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530352" y="6187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the boundaries of the research</a:t>
            </a:r>
            <a:endParaRPr lang="en-US" sz="13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365760" y="1417320"/>
            <a:ext cx="4206240" cy="1463040"/>
            <a:chOff x="365760" y="1417320"/>
            <a:chExt cx="4206240" cy="1463040"/>
          </a:xfrm>
        </p:grpSpPr>
        <p:sp>
          <p:nvSpPr>
            <p:cNvPr id="5" name="Shape 3"/>
            <p:cNvSpPr/>
            <p:nvPr/>
          </p:nvSpPr>
          <p:spPr>
            <a:xfrm>
              <a:off x="365760" y="1417320"/>
              <a:ext cx="4206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1920240"/>
              <a:ext cx="475488" cy="475488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115568" y="1508760"/>
              <a:ext cx="336499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Review Paper Scope</a:t>
              </a:r>
              <a:endParaRPr lang="en-US" sz="13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1115568" y="1892808"/>
              <a:ext cx="3364992" cy="22860"/>
            </a:xfrm>
            <a:prstGeom prst="rect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1115568" y="1965960"/>
              <a:ext cx="333756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 a literature review, this paper does not include primary empirical research or original data collection. Findings are derived from and dependent on the quality of referenced sources.</a:t>
              </a:r>
              <a:endParaRPr lang="en-US" sz="11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65760" y="3017520"/>
            <a:ext cx="4206240" cy="1463040"/>
            <a:chOff x="365760" y="3017520"/>
            <a:chExt cx="4206240" cy="1463040"/>
          </a:xfrm>
        </p:grpSpPr>
        <p:sp>
          <p:nvSpPr>
            <p:cNvPr id="10" name="Shape 7"/>
            <p:cNvSpPr/>
            <p:nvPr/>
          </p:nvSpPr>
          <p:spPr>
            <a:xfrm>
              <a:off x="365760" y="3017520"/>
              <a:ext cx="4206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352" y="3520440"/>
              <a:ext cx="475488" cy="475488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1115568" y="3108960"/>
              <a:ext cx="336499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Framework Currency</a:t>
              </a:r>
              <a:endParaRPr lang="en-US" sz="130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1115568" y="3493008"/>
              <a:ext cx="3364992" cy="22860"/>
            </a:xfrm>
            <a:prstGeom prst="rect">
              <a:avLst/>
            </a:prstGeom>
            <a:solidFill>
              <a:srgbClr val="FFC857"/>
            </a:solidFill>
            <a:ln w="12700">
              <a:solidFill>
                <a:srgbClr val="FFC857"/>
              </a:solidFill>
              <a:prstDash val="solid"/>
            </a:ln>
          </p:spPr>
        </p:sp>
        <p:sp>
          <p:nvSpPr>
            <p:cNvPr id="14" name="Text 10"/>
            <p:cNvSpPr/>
            <p:nvPr/>
          </p:nvSpPr>
          <p:spPr>
            <a:xfrm>
              <a:off x="1115568" y="3566160"/>
              <a:ext cx="333756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Cybersecurity frameworks evolve rapidly. NIST, CISA, and DoD documents referenced reflect versions available at time of writing and may have since been updated.</a:t>
              </a:r>
              <a:endParaRPr lang="en-US" sz="11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709160" y="1417320"/>
            <a:ext cx="4206240" cy="1463040"/>
            <a:chOff x="4709160" y="1417320"/>
            <a:chExt cx="4206240" cy="1463040"/>
          </a:xfrm>
        </p:grpSpPr>
        <p:sp>
          <p:nvSpPr>
            <p:cNvPr id="15" name="Shape 11"/>
            <p:cNvSpPr/>
            <p:nvPr/>
          </p:nvSpPr>
          <p:spPr>
            <a:xfrm>
              <a:off x="4709160" y="1417320"/>
              <a:ext cx="4206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3752" y="1920240"/>
              <a:ext cx="475488" cy="475488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5458968" y="1508760"/>
              <a:ext cx="336499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Context-Specific Applicability</a:t>
              </a:r>
              <a:endParaRPr lang="en-US" sz="1300" dirty="0"/>
            </a:p>
          </p:txBody>
        </p:sp>
        <p:sp>
          <p:nvSpPr>
            <p:cNvPr id="18" name="Shape 13"/>
            <p:cNvSpPr/>
            <p:nvPr/>
          </p:nvSpPr>
          <p:spPr>
            <a:xfrm>
              <a:off x="5458968" y="1892808"/>
              <a:ext cx="3364992" cy="22860"/>
            </a:xfrm>
            <a:prstGeom prst="rect">
              <a:avLst/>
            </a:prstGeom>
            <a:solidFill>
              <a:srgbClr val="5E60CE"/>
            </a:solidFill>
            <a:ln w="12700">
              <a:solidFill>
                <a:srgbClr val="5E60CE"/>
              </a:solidFill>
              <a:prstDash val="solid"/>
            </a:ln>
          </p:spPr>
        </p:sp>
      </p:grpSp>
      <p:sp>
        <p:nvSpPr>
          <p:cNvPr id="19" name="Text 14"/>
          <p:cNvSpPr/>
          <p:nvPr/>
        </p:nvSpPr>
        <p:spPr>
          <a:xfrm>
            <a:off x="5458968" y="196596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implementation varies significantly by organizational size, sector, and existing infrastructure. Generalizations across all contexts have inherent limitations.</a:t>
            </a:r>
            <a:endParaRPr lang="en-US" sz="11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709160" y="3017520"/>
            <a:ext cx="4206240" cy="1463040"/>
            <a:chOff x="4709160" y="3017520"/>
            <a:chExt cx="4206240" cy="1463040"/>
          </a:xfrm>
        </p:grpSpPr>
        <p:sp>
          <p:nvSpPr>
            <p:cNvPr id="20" name="Shape 15"/>
            <p:cNvSpPr/>
            <p:nvPr/>
          </p:nvSpPr>
          <p:spPr>
            <a:xfrm>
              <a:off x="4709160" y="3017520"/>
              <a:ext cx="420624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BF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73752" y="3520440"/>
              <a:ext cx="475488" cy="475488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5458968" y="3108960"/>
              <a:ext cx="336499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AI &amp; Quantum Maturity</a:t>
              </a:r>
              <a:endParaRPr lang="en-US" sz="1300" dirty="0"/>
            </a:p>
          </p:txBody>
        </p:sp>
        <p:sp>
          <p:nvSpPr>
            <p:cNvPr id="23" name="Shape 17"/>
            <p:cNvSpPr/>
            <p:nvPr/>
          </p:nvSpPr>
          <p:spPr>
            <a:xfrm>
              <a:off x="5458968" y="3493008"/>
              <a:ext cx="3364992" cy="2286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24" name="Text 18"/>
            <p:cNvSpPr/>
            <p:nvPr/>
          </p:nvSpPr>
          <p:spPr>
            <a:xfrm>
              <a:off x="5458968" y="3566160"/>
              <a:ext cx="333756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AI/ML integration and post-quantum cryptography are still evolving. Assessments in this paper reflect capabilities at the current state of research, not projected future states.</a:t>
              </a:r>
              <a:endParaRPr lang="en-US" sz="1100" dirty="0"/>
            </a:p>
          </p:txBody>
        </p:sp>
      </p:grpSp>
      <p:sp>
        <p:nvSpPr>
          <p:cNvPr id="31" name="Shape 0">
            <a:extLst>
              <a:ext uri="{FF2B5EF4-FFF2-40B4-BE49-F238E27FC236}">
                <a16:creationId xmlns:a16="http://schemas.microsoft.com/office/drawing/2014/main" id="{DBC03236-0439-403D-BD7A-9F20E25FEDE5}"/>
              </a:ext>
            </a:extLst>
          </p:cNvPr>
          <p:cNvSpPr/>
          <p:nvPr/>
        </p:nvSpPr>
        <p:spPr>
          <a:xfrm rot="5400000">
            <a:off x="333756" y="4764024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2">
            <a:lumMod val="1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9486" y="588266"/>
            <a:ext cx="80679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Trust: The Security Imperative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4173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has matured from concept to well-documented, actively adopted practice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CISA, and DoD frameworks provide solid — though not interchangeable — starting points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78608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" y="25511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challenges (legacy, complexity, culture) are real but surmountable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45536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392" y="311810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is making continuous verification operationally feasible at enterprise scale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712464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0392" y="36850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transition must begin before quantum capability arrives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79392"/>
            <a:ext cx="347472" cy="34747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50391" y="4219302"/>
            <a:ext cx="5604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Stop extending implicit trust — verify everything, every time</a:t>
            </a:r>
            <a:endParaRPr lang="en-US" sz="125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2B341C92-3E0B-46DC-9362-F45502DAE753}"/>
              </a:ext>
            </a:extLst>
          </p:cNvPr>
          <p:cNvSpPr/>
          <p:nvPr/>
        </p:nvSpPr>
        <p:spPr>
          <a:xfrm>
            <a:off x="263350" y="256032"/>
            <a:ext cx="640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283029" y="217714"/>
            <a:ext cx="8092440" cy="548640"/>
            <a:chOff x="457200" y="492034"/>
            <a:chExt cx="8092440" cy="548640"/>
          </a:xfrm>
        </p:grpSpPr>
        <p:sp>
          <p:nvSpPr>
            <p:cNvPr id="2" name="Shape 0"/>
            <p:cNvSpPr/>
            <p:nvPr/>
          </p:nvSpPr>
          <p:spPr>
            <a:xfrm>
              <a:off x="457200" y="566928"/>
              <a:ext cx="64008" cy="43891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594360" y="492034"/>
              <a:ext cx="79552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u="sng" dirty="0">
                  <a:solidFill>
                    <a:srgbClr val="1A2E4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References</a:t>
              </a:r>
              <a:endParaRPr lang="en-US" sz="2600" u="sng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594360" y="67039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underpinning this review</a:t>
            </a:r>
            <a:endParaRPr lang="en-US" sz="13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365760" y="1417320"/>
            <a:ext cx="8366760" cy="493224"/>
            <a:chOff x="365760" y="1417320"/>
            <a:chExt cx="8366760" cy="493224"/>
          </a:xfrm>
        </p:grpSpPr>
        <p:grpSp>
          <p:nvGrpSpPr>
            <p:cNvPr id="31" name="Group 30"/>
            <p:cNvGrpSpPr/>
            <p:nvPr/>
          </p:nvGrpSpPr>
          <p:grpSpPr>
            <a:xfrm>
              <a:off x="365760" y="1453344"/>
              <a:ext cx="274320" cy="274320"/>
              <a:chOff x="365760" y="1508760"/>
              <a:chExt cx="274320" cy="27432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365760" y="1508760"/>
                <a:ext cx="274320" cy="27432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6" name="Text 4"/>
              <p:cNvSpPr/>
              <p:nvPr/>
            </p:nvSpPr>
            <p:spPr>
              <a:xfrm>
                <a:off x="365760" y="1508760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1</a:t>
                </a:r>
                <a:endParaRPr lang="en-US" sz="1000" dirty="0"/>
              </a:p>
            </p:txBody>
          </p:sp>
        </p:grpSp>
        <p:sp>
          <p:nvSpPr>
            <p:cNvPr id="7" name="Text 5"/>
            <p:cNvSpPr/>
            <p:nvPr/>
          </p:nvSpPr>
          <p:spPr>
            <a:xfrm>
              <a:off x="777240" y="1417320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NIST. (2020). Zero Trust Architecture (NIST SP 800-207).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77240" y="1654512"/>
              <a:ext cx="7955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https://nvlpubs.nist.gov/nistpubs/specialpublications/NIST.SP.800-207.pdf</a:t>
              </a:r>
              <a:endParaRPr lang="en-US" sz="10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65760" y="2002536"/>
            <a:ext cx="8366760" cy="493224"/>
            <a:chOff x="365760" y="2002536"/>
            <a:chExt cx="8366760" cy="493224"/>
          </a:xfrm>
        </p:grpSpPr>
        <p:grpSp>
          <p:nvGrpSpPr>
            <p:cNvPr id="32" name="Group 31"/>
            <p:cNvGrpSpPr/>
            <p:nvPr/>
          </p:nvGrpSpPr>
          <p:grpSpPr>
            <a:xfrm>
              <a:off x="365760" y="2038560"/>
              <a:ext cx="274320" cy="274320"/>
              <a:chOff x="365760" y="2093976"/>
              <a:chExt cx="274320" cy="27432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365760" y="2093976"/>
                <a:ext cx="274320" cy="27432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10" name="Text 8"/>
              <p:cNvSpPr/>
              <p:nvPr/>
            </p:nvSpPr>
            <p:spPr>
              <a:xfrm>
                <a:off x="365760" y="2093976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2</a:t>
                </a:r>
                <a:endParaRPr lang="en-US" sz="1000" dirty="0"/>
              </a:p>
            </p:txBody>
          </p:sp>
        </p:grpSp>
        <p:sp>
          <p:nvSpPr>
            <p:cNvPr id="11" name="Text 9"/>
            <p:cNvSpPr/>
            <p:nvPr/>
          </p:nvSpPr>
          <p:spPr>
            <a:xfrm>
              <a:off x="777240" y="2002536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CISA. (2023). Zero Trust Maturity Model Version 2.0.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" y="2239728"/>
              <a:ext cx="7955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https://www.cisa.gov/sites/default/files/2023-04/CISA_Zero_Trust_Maturity_Model_Version_2_508c.pdf</a:t>
              </a:r>
              <a:endParaRPr lang="en-US" sz="10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65760" y="2587752"/>
            <a:ext cx="8366760" cy="493224"/>
            <a:chOff x="365760" y="2587752"/>
            <a:chExt cx="8366760" cy="493224"/>
          </a:xfrm>
        </p:grpSpPr>
        <p:grpSp>
          <p:nvGrpSpPr>
            <p:cNvPr id="33" name="Group 32"/>
            <p:cNvGrpSpPr/>
            <p:nvPr/>
          </p:nvGrpSpPr>
          <p:grpSpPr>
            <a:xfrm>
              <a:off x="365760" y="2614540"/>
              <a:ext cx="274320" cy="274320"/>
              <a:chOff x="365760" y="2679192"/>
              <a:chExt cx="274320" cy="274320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365760" y="2679192"/>
                <a:ext cx="274320" cy="27432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365760" y="2679192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3</a:t>
                </a:r>
                <a:endParaRPr lang="en-US" sz="1000" dirty="0"/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777240" y="2587752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DoD. (2022). Department of Defense Zero Trust Reference Architecture.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77240" y="2824944"/>
              <a:ext cx="7955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https://dodcio.defense.gov/Portals/0/Documents/Library/(U)ZT_RA_v2.0(U)_Sep22.pdf</a:t>
              </a:r>
              <a:endParaRPr lang="en-US" sz="10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65760" y="3172968"/>
            <a:ext cx="8366760" cy="301108"/>
            <a:chOff x="365760" y="3172968"/>
            <a:chExt cx="8366760" cy="301108"/>
          </a:xfrm>
        </p:grpSpPr>
        <p:grpSp>
          <p:nvGrpSpPr>
            <p:cNvPr id="34" name="Group 33"/>
            <p:cNvGrpSpPr/>
            <p:nvPr/>
          </p:nvGrpSpPr>
          <p:grpSpPr>
            <a:xfrm>
              <a:off x="365760" y="3199756"/>
              <a:ext cx="274320" cy="274320"/>
              <a:chOff x="365760" y="3264408"/>
              <a:chExt cx="274320" cy="274320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365760" y="3264408"/>
                <a:ext cx="274320" cy="27432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365760" y="3264408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4</a:t>
                </a:r>
                <a:endParaRPr lang="en-US" sz="1000" dirty="0"/>
              </a:p>
            </p:txBody>
          </p:sp>
        </p:grpSp>
        <p:sp>
          <p:nvSpPr>
            <p:cNvPr id="19" name="Text 17"/>
            <p:cNvSpPr/>
            <p:nvPr/>
          </p:nvSpPr>
          <p:spPr>
            <a:xfrm>
              <a:off x="777240" y="3172968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IEEE. (2025). Zero Trust Architecture: Evaluating its Impact on Modern Information Security.</a:t>
              </a:r>
              <a:endParaRPr lang="en-US" sz="12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777240" y="34193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https://ieeexplore.ieee.org/abstract/document/11337489/</a:t>
            </a:r>
            <a:endParaRPr lang="en-US" sz="10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365760" y="3758184"/>
            <a:ext cx="8366760" cy="502460"/>
            <a:chOff x="365760" y="3758184"/>
            <a:chExt cx="8366760" cy="502460"/>
          </a:xfrm>
        </p:grpSpPr>
        <p:grpSp>
          <p:nvGrpSpPr>
            <p:cNvPr id="35" name="Group 34"/>
            <p:cNvGrpSpPr/>
            <p:nvPr/>
          </p:nvGrpSpPr>
          <p:grpSpPr>
            <a:xfrm>
              <a:off x="365760" y="3794208"/>
              <a:ext cx="274320" cy="274320"/>
              <a:chOff x="365760" y="3849624"/>
              <a:chExt cx="274320" cy="27432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365760" y="3849624"/>
                <a:ext cx="274320" cy="27432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365760" y="3849624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5</a:t>
                </a:r>
                <a:endParaRPr lang="en-US" sz="1000" dirty="0"/>
              </a:p>
            </p:txBody>
          </p:sp>
        </p:grpSp>
        <p:sp>
          <p:nvSpPr>
            <p:cNvPr id="23" name="Text 21"/>
            <p:cNvSpPr/>
            <p:nvPr/>
          </p:nvSpPr>
          <p:spPr>
            <a:xfrm>
              <a:off x="777240" y="3758184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SAGE. (2025). A comprehensive review and comparative analysis of zero trust architecture.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77240" y="4004612"/>
              <a:ext cx="7955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https://journals.sagepub.com/doi/abs/10.1177/0926227X251409922</a:t>
              </a:r>
              <a:endParaRPr lang="en-US" sz="10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65760" y="4343400"/>
            <a:ext cx="8366760" cy="474752"/>
            <a:chOff x="365760" y="4343400"/>
            <a:chExt cx="8366760" cy="474752"/>
          </a:xfrm>
        </p:grpSpPr>
        <p:grpSp>
          <p:nvGrpSpPr>
            <p:cNvPr id="36" name="Group 35"/>
            <p:cNvGrpSpPr/>
            <p:nvPr/>
          </p:nvGrpSpPr>
          <p:grpSpPr>
            <a:xfrm>
              <a:off x="365760" y="4379424"/>
              <a:ext cx="274320" cy="274320"/>
              <a:chOff x="365760" y="4434840"/>
              <a:chExt cx="274320" cy="274320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365760" y="4434840"/>
                <a:ext cx="274320" cy="274320"/>
              </a:xfrm>
              <a:prstGeom prst="ellipse">
                <a:avLst/>
              </a:prstGeom>
              <a:solidFill>
                <a:srgbClr val="00B4D8"/>
              </a:solidFill>
              <a:ln w="12700">
                <a:solidFill>
                  <a:srgbClr val="00B4D8"/>
                </a:solidFill>
                <a:prstDash val="solid"/>
              </a:ln>
            </p:spPr>
          </p:sp>
          <p:sp>
            <p:nvSpPr>
              <p:cNvPr id="26" name="Text 24"/>
              <p:cNvSpPr/>
              <p:nvPr/>
            </p:nvSpPr>
            <p:spPr>
              <a:xfrm>
                <a:off x="365760" y="4434840"/>
                <a:ext cx="27432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6</a:t>
                </a:r>
                <a:endParaRPr lang="en-US" sz="1000" dirty="0"/>
              </a:p>
            </p:txBody>
          </p:sp>
        </p:grpSp>
        <p:sp>
          <p:nvSpPr>
            <p:cNvPr id="27" name="Text 25"/>
            <p:cNvSpPr/>
            <p:nvPr/>
          </p:nvSpPr>
          <p:spPr>
            <a:xfrm>
              <a:off x="777240" y="4343400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Springer. (2026). Review of zero-click attacks and zero-trust security model.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77240" y="4562120"/>
              <a:ext cx="7955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5E7A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https://link.springer.com/article/10.1007/s44354-026-00023-4</a:t>
              </a:r>
              <a:endParaRPr lang="en-US" sz="1000" dirty="0"/>
            </a:p>
          </p:txBody>
        </p:sp>
      </p:grpSp>
      <p:sp>
        <p:nvSpPr>
          <p:cNvPr id="42" name="Shape 0">
            <a:extLst>
              <a:ext uri="{FF2B5EF4-FFF2-40B4-BE49-F238E27FC236}">
                <a16:creationId xmlns:a16="http://schemas.microsoft.com/office/drawing/2014/main" id="{12FC4C68-9FDE-41C4-A103-7CB9273A1E17}"/>
              </a:ext>
            </a:extLst>
          </p:cNvPr>
          <p:cNvSpPr/>
          <p:nvPr/>
        </p:nvSpPr>
        <p:spPr>
          <a:xfrm>
            <a:off x="8780396" y="4342664"/>
            <a:ext cx="6400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088313" y="2079680"/>
            <a:ext cx="3788487" cy="1037916"/>
            <a:chOff x="990342" y="2063738"/>
            <a:chExt cx="4068727" cy="1572816"/>
          </a:xfrm>
          <a:solidFill>
            <a:srgbClr val="00B4D8"/>
          </a:solidFill>
        </p:grpSpPr>
        <p:sp>
          <p:nvSpPr>
            <p:cNvPr id="31" name="Rectangle 30"/>
            <p:cNvSpPr/>
            <p:nvPr/>
          </p:nvSpPr>
          <p:spPr>
            <a:xfrm>
              <a:off x="990342" y="2063738"/>
              <a:ext cx="4068727" cy="15728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990342" y="2063738"/>
              <a:ext cx="4068727" cy="150275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400" b="1" kern="0" spc="200" dirty="0">
                  <a:solidFill>
                    <a:srgbClr val="FFFFFF"/>
                  </a:solidFill>
                </a:rPr>
                <a:t>Thank You</a:t>
              </a:r>
              <a:endParaRPr lang="en-US" sz="5400" dirty="0"/>
            </a:p>
          </p:txBody>
        </p:sp>
      </p:grpSp>
      <p:sp>
        <p:nvSpPr>
          <p:cNvPr id="20" name="Shape 16"/>
          <p:cNvSpPr/>
          <p:nvPr/>
        </p:nvSpPr>
        <p:spPr>
          <a:xfrm>
            <a:off x="1033449" y="2079680"/>
            <a:ext cx="54864" cy="1037916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grpSp>
        <p:nvGrpSpPr>
          <p:cNvPr id="26" name="Group 25"/>
          <p:cNvGrpSpPr/>
          <p:nvPr/>
        </p:nvGrpSpPr>
        <p:grpSpPr>
          <a:xfrm>
            <a:off x="5806619" y="393192"/>
            <a:ext cx="3117546" cy="4191293"/>
            <a:chOff x="6400800" y="1325880"/>
            <a:chExt cx="2377440" cy="3022092"/>
          </a:xfrm>
        </p:grpSpPr>
        <p:sp>
          <p:nvSpPr>
            <p:cNvPr id="27" name="Shape 9"/>
            <p:cNvSpPr/>
            <p:nvPr/>
          </p:nvSpPr>
          <p:spPr>
            <a:xfrm>
              <a:off x="6400800" y="1325880"/>
              <a:ext cx="2377440" cy="3022092"/>
            </a:xfrm>
            <a:prstGeom prst="rect">
              <a:avLst/>
            </a:prstGeom>
            <a:solidFill>
              <a:srgbClr val="0A1628"/>
            </a:solidFill>
            <a:ln w="19050">
              <a:solidFill>
                <a:srgbClr val="00B4D8"/>
              </a:solidFill>
              <a:prstDash val="solid"/>
            </a:ln>
          </p:spPr>
        </p:sp>
        <p:sp>
          <p:nvSpPr>
            <p:cNvPr id="28" name="Text 14"/>
            <p:cNvSpPr/>
            <p:nvPr/>
          </p:nvSpPr>
          <p:spPr>
            <a:xfrm>
              <a:off x="6400800" y="3845052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B4D8"/>
                  </a:solidFill>
                </a:rPr>
                <a:t>Scan Here</a:t>
              </a:r>
              <a:endParaRPr lang="en-US" sz="1800" dirty="0"/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3" t="17515" r="14714" b="24390"/>
            <a:stretch/>
          </p:blipFill>
          <p:spPr>
            <a:xfrm>
              <a:off x="6552290" y="1522154"/>
              <a:ext cx="2079630" cy="21423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79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2731</Words>
  <Application>Microsoft Office PowerPoint</Application>
  <PresentationFormat>On-screen Show (16:9)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 – A Comprehensive Review</dc:title>
  <dc:subject>PptxGenJS Presentation</dc:subject>
  <dc:creator>PptxGenJS</dc:creator>
  <cp:lastModifiedBy>MD Tanvir Rahman</cp:lastModifiedBy>
  <cp:revision>31</cp:revision>
  <dcterms:created xsi:type="dcterms:W3CDTF">2026-05-02T16:31:46Z</dcterms:created>
  <dcterms:modified xsi:type="dcterms:W3CDTF">2026-05-03T18:55:51Z</dcterms:modified>
</cp:coreProperties>
</file>