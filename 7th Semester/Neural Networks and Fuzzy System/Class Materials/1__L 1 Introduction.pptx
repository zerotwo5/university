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211660B-B0A4-4930-BB1B-A1DAF7E0C33F}">
  <a:tblStyle styleId="{6211660B-B0A4-4930-BB1B-A1DAF7E0C33F}"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6: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7: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8: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9: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0: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1: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2: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3: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4:notes"/>
          <p:cNvSpPr txBox="1"/>
          <p:nvPr>
            <p:ph idx="1" type="body"/>
          </p:nvPr>
        </p:nvSpPr>
        <p:spPr>
          <a:xfrm>
            <a:off x="914400" y="3257550"/>
            <a:ext cx="73152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1033373" y="293319"/>
            <a:ext cx="5934709" cy="72864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200">
                <a:solidFill>
                  <a:schemeClr val="dk1"/>
                </a:solidFill>
                <a:latin typeface="Comic Sans MS"/>
                <a:ea typeface="Comic Sans MS"/>
                <a:cs typeface="Comic Sans MS"/>
                <a:sym typeface="Comic Sans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470077" y="1355216"/>
            <a:ext cx="8203844" cy="371411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400">
                <a:solidFill>
                  <a:schemeClr val="dk1"/>
                </a:solidFill>
                <a:latin typeface="Times New Roman"/>
                <a:ea typeface="Times New Roman"/>
                <a:cs typeface="Times New Roman"/>
                <a:sym typeface="Times New Roman"/>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 name="Google Shape;14;p2"/>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984026" y="265415"/>
            <a:ext cx="7403123" cy="2775043"/>
          </a:xfrm>
          <a:prstGeom prst="rect">
            <a:avLst/>
          </a:prstGeom>
          <a:noFill/>
          <a:ln>
            <a:noFill/>
          </a:ln>
        </p:spPr>
      </p:pic>
      <p:sp>
        <p:nvSpPr>
          <p:cNvPr id="19" name="Google Shape;19;p3"/>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2" name="Shape 22"/>
        <p:cNvGrpSpPr/>
        <p:nvPr/>
      </p:nvGrpSpPr>
      <p:grpSpPr>
        <a:xfrm>
          <a:off x="0" y="0"/>
          <a:ext cx="0" cy="0"/>
          <a:chOff x="0" y="0"/>
          <a:chExt cx="0" cy="0"/>
        </a:xfrm>
      </p:grpSpPr>
      <p:sp>
        <p:nvSpPr>
          <p:cNvPr id="23" name="Google Shape;23;p4"/>
          <p:cNvSpPr txBox="1"/>
          <p:nvPr>
            <p:ph type="ctrTitle"/>
          </p:nvPr>
        </p:nvSpPr>
        <p:spPr>
          <a:xfrm>
            <a:off x="685800" y="2125980"/>
            <a:ext cx="77724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200">
                <a:solidFill>
                  <a:schemeClr val="dk1"/>
                </a:solidFill>
                <a:latin typeface="Comic Sans MS"/>
                <a:ea typeface="Comic Sans MS"/>
                <a:cs typeface="Comic Sans MS"/>
                <a:sym typeface="Comic Sans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 type="subTitle"/>
          </p:nvPr>
        </p:nvSpPr>
        <p:spPr>
          <a:xfrm>
            <a:off x="1371600" y="3840480"/>
            <a:ext cx="64008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40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5"/>
          <p:cNvSpPr txBox="1"/>
          <p:nvPr>
            <p:ph type="title"/>
          </p:nvPr>
        </p:nvSpPr>
        <p:spPr>
          <a:xfrm>
            <a:off x="1033373" y="293319"/>
            <a:ext cx="5934709" cy="72864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200">
                <a:solidFill>
                  <a:schemeClr val="dk1"/>
                </a:solidFill>
                <a:latin typeface="Comic Sans MS"/>
                <a:ea typeface="Comic Sans MS"/>
                <a:cs typeface="Comic Sans MS"/>
                <a:sym typeface="Comic Sans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
          <p:cNvSpPr txBox="1"/>
          <p:nvPr>
            <p:ph idx="1" type="body"/>
          </p:nvPr>
        </p:nvSpPr>
        <p:spPr>
          <a:xfrm>
            <a:off x="45720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5"/>
          <p:cNvSpPr txBox="1"/>
          <p:nvPr>
            <p:ph idx="2" type="body"/>
          </p:nvPr>
        </p:nvSpPr>
        <p:spPr>
          <a:xfrm>
            <a:off x="4709160" y="1577340"/>
            <a:ext cx="397764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5"/>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5" name="Shape 35"/>
        <p:cNvGrpSpPr/>
        <p:nvPr/>
      </p:nvGrpSpPr>
      <p:grpSpPr>
        <a:xfrm>
          <a:off x="0" y="0"/>
          <a:ext cx="0" cy="0"/>
          <a:chOff x="0" y="0"/>
          <a:chExt cx="0" cy="0"/>
        </a:xfrm>
      </p:grpSpPr>
      <p:sp>
        <p:nvSpPr>
          <p:cNvPr id="36" name="Google Shape;36;p6"/>
          <p:cNvSpPr txBox="1"/>
          <p:nvPr>
            <p:ph type="title"/>
          </p:nvPr>
        </p:nvSpPr>
        <p:spPr>
          <a:xfrm>
            <a:off x="1033373" y="293319"/>
            <a:ext cx="5934709" cy="72864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200">
                <a:solidFill>
                  <a:schemeClr val="dk1"/>
                </a:solidFill>
                <a:latin typeface="Comic Sans MS"/>
                <a:ea typeface="Comic Sans MS"/>
                <a:cs typeface="Comic Sans MS"/>
                <a:sym typeface="Comic Sans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33373" y="293319"/>
            <a:ext cx="5934709" cy="72864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200" u="none" cap="none" strike="noStrike">
                <a:solidFill>
                  <a:schemeClr val="dk1"/>
                </a:solidFill>
                <a:latin typeface="Comic Sans MS"/>
                <a:ea typeface="Comic Sans MS"/>
                <a:cs typeface="Comic Sans MS"/>
                <a:sym typeface="Comic Sans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70077" y="1355216"/>
            <a:ext cx="8203844" cy="371411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
          <p:cNvSpPr txBox="1"/>
          <p:nvPr>
            <p:ph idx="11" type="ftr"/>
          </p:nvPr>
        </p:nvSpPr>
        <p:spPr>
          <a:xfrm>
            <a:off x="3108960" y="6377940"/>
            <a:ext cx="292608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0" type="dt"/>
          </p:nvPr>
        </p:nvSpPr>
        <p:spPr>
          <a:xfrm>
            <a:off x="457200" y="6377940"/>
            <a:ext cx="210312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
          <p:cNvSpPr txBox="1"/>
          <p:nvPr>
            <p:ph idx="12" type="sldNum"/>
          </p:nvPr>
        </p:nvSpPr>
        <p:spPr>
          <a:xfrm>
            <a:off x="6583680" y="6377940"/>
            <a:ext cx="210312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 name="Shape 43"/>
        <p:cNvGrpSpPr/>
        <p:nvPr/>
      </p:nvGrpSpPr>
      <p:grpSpPr>
        <a:xfrm>
          <a:off x="0" y="0"/>
          <a:ext cx="0" cy="0"/>
          <a:chOff x="0" y="0"/>
          <a:chExt cx="0" cy="0"/>
        </a:xfrm>
      </p:grpSpPr>
      <p:grpSp>
        <p:nvGrpSpPr>
          <p:cNvPr id="44" name="Google Shape;44;p7"/>
          <p:cNvGrpSpPr/>
          <p:nvPr/>
        </p:nvGrpSpPr>
        <p:grpSpPr>
          <a:xfrm>
            <a:off x="1857651" y="1802079"/>
            <a:ext cx="5255763" cy="1193343"/>
            <a:chOff x="1857651" y="1802079"/>
            <a:chExt cx="5255763" cy="1193343"/>
          </a:xfrm>
        </p:grpSpPr>
        <p:pic>
          <p:nvPicPr>
            <p:cNvPr id="45" name="Google Shape;45;p7"/>
            <p:cNvPicPr preferRelativeResize="0"/>
            <p:nvPr/>
          </p:nvPicPr>
          <p:blipFill rotWithShape="1">
            <a:blip r:embed="rId3">
              <a:alphaModFix/>
            </a:blip>
            <a:srcRect b="0" l="0" r="0" t="0"/>
            <a:stretch/>
          </p:blipFill>
          <p:spPr>
            <a:xfrm>
              <a:off x="1857651" y="1802079"/>
              <a:ext cx="5255763" cy="473476"/>
            </a:xfrm>
            <a:prstGeom prst="rect">
              <a:avLst/>
            </a:prstGeom>
            <a:noFill/>
            <a:ln>
              <a:noFill/>
            </a:ln>
          </p:spPr>
        </p:pic>
        <p:pic>
          <p:nvPicPr>
            <p:cNvPr id="46" name="Google Shape;46;p7"/>
            <p:cNvPicPr preferRelativeResize="0"/>
            <p:nvPr/>
          </p:nvPicPr>
          <p:blipFill rotWithShape="1">
            <a:blip r:embed="rId4">
              <a:alphaModFix/>
            </a:blip>
            <a:srcRect b="0" l="0" r="0" t="0"/>
            <a:stretch/>
          </p:blipFill>
          <p:spPr>
            <a:xfrm>
              <a:off x="3403091" y="2098548"/>
              <a:ext cx="2151126" cy="896874"/>
            </a:xfrm>
            <a:prstGeom prst="rect">
              <a:avLst/>
            </a:prstGeom>
            <a:noFill/>
            <a:ln>
              <a:noFill/>
            </a:ln>
          </p:spPr>
        </p:pic>
      </p:grpSp>
      <p:sp>
        <p:nvSpPr>
          <p:cNvPr descr="$PPTXTitle" id="47" name="Google Shape;47;p7"/>
          <p:cNvSpPr txBox="1"/>
          <p:nvPr>
            <p:ph type="title"/>
          </p:nvPr>
        </p:nvSpPr>
        <p:spPr>
          <a:xfrm>
            <a:off x="1826767" y="1707642"/>
            <a:ext cx="5275580" cy="1001394"/>
          </a:xfrm>
          <a:prstGeom prst="rect">
            <a:avLst/>
          </a:prstGeom>
          <a:noFill/>
          <a:ln>
            <a:noFill/>
          </a:ln>
        </p:spPr>
        <p:txBody>
          <a:bodyPr anchorCtr="0" anchor="t" bIns="0" lIns="0" spcFirstLastPara="1" rIns="0" wrap="square" tIns="13325">
            <a:spAutoFit/>
          </a:bodyPr>
          <a:lstStyle/>
          <a:p>
            <a:pPr indent="-1815464" lvl="0" marL="1827530" marR="5080" rtl="0" algn="l">
              <a:lnSpc>
                <a:spcPct val="100000"/>
              </a:lnSpc>
              <a:spcBef>
                <a:spcPts val="0"/>
              </a:spcBef>
              <a:spcAft>
                <a:spcPts val="0"/>
              </a:spcAft>
              <a:buNone/>
            </a:pPr>
            <a:r>
              <a:rPr b="0" lang="en-US">
                <a:solidFill>
                  <a:srgbClr val="786950"/>
                </a:solidFill>
                <a:latin typeface="Comic Sans MS"/>
                <a:ea typeface="Comic Sans MS"/>
                <a:cs typeface="Comic Sans MS"/>
                <a:sym typeface="Comic Sans MS"/>
              </a:rPr>
              <a:t>Neural Networks and Fuzzy Systems</a:t>
            </a:r>
            <a:endParaRPr/>
          </a:p>
        </p:txBody>
      </p:sp>
      <p:sp>
        <p:nvSpPr>
          <p:cNvPr id="48" name="Google Shape;48;p7"/>
          <p:cNvSpPr txBox="1"/>
          <p:nvPr/>
        </p:nvSpPr>
        <p:spPr>
          <a:xfrm>
            <a:off x="2858775" y="3075500"/>
            <a:ext cx="3877800" cy="7518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None/>
            </a:pPr>
            <a:r>
              <a:rPr b="1" lang="en-US" sz="2400">
                <a:solidFill>
                  <a:srgbClr val="786950"/>
                </a:solidFill>
                <a:latin typeface="Comic Sans MS"/>
                <a:ea typeface="Comic Sans MS"/>
                <a:cs typeface="Comic Sans MS"/>
                <a:sym typeface="Comic Sans MS"/>
              </a:rPr>
              <a:t>Introduction</a:t>
            </a:r>
            <a:endParaRPr b="1" sz="2400">
              <a:solidFill>
                <a:srgbClr val="786950"/>
              </a:solidFill>
              <a:latin typeface="Comic Sans MS"/>
              <a:ea typeface="Comic Sans MS"/>
              <a:cs typeface="Comic Sans MS"/>
              <a:sym typeface="Comic Sans MS"/>
            </a:endParaRPr>
          </a:p>
          <a:p>
            <a:pPr indent="0" lvl="0" marL="12700" rtl="0" algn="ctr">
              <a:lnSpc>
                <a:spcPct val="100000"/>
              </a:lnSpc>
              <a:spcBef>
                <a:spcPts val="0"/>
              </a:spcBef>
              <a:spcAft>
                <a:spcPts val="0"/>
              </a:spcAft>
              <a:buNone/>
            </a:pPr>
            <a:r>
              <a:rPr b="1" lang="en-US" sz="2400">
                <a:solidFill>
                  <a:srgbClr val="786950"/>
                </a:solidFill>
                <a:latin typeface="Comic Sans MS"/>
                <a:ea typeface="Comic Sans MS"/>
                <a:cs typeface="Comic Sans MS"/>
                <a:sym typeface="Comic Sans MS"/>
              </a:rPr>
              <a:t> CSE 0613 4221</a:t>
            </a:r>
            <a:endParaRPr b="1" sz="2400">
              <a:solidFill>
                <a:srgbClr val="786950"/>
              </a:solidFill>
              <a:latin typeface="Comic Sans MS"/>
              <a:ea typeface="Comic Sans MS"/>
              <a:cs typeface="Comic Sans MS"/>
              <a:sym typeface="Comic Sans MS"/>
            </a:endParaRPr>
          </a:p>
        </p:txBody>
      </p:sp>
      <p:sp>
        <p:nvSpPr>
          <p:cNvPr id="49" name="Google Shape;49;p7"/>
          <p:cNvSpPr txBox="1"/>
          <p:nvPr/>
        </p:nvSpPr>
        <p:spPr>
          <a:xfrm>
            <a:off x="3171825" y="4385309"/>
            <a:ext cx="2762400" cy="936300"/>
          </a:xfrm>
          <a:prstGeom prst="rect">
            <a:avLst/>
          </a:prstGeom>
          <a:noFill/>
          <a:ln>
            <a:noFill/>
          </a:ln>
        </p:spPr>
        <p:txBody>
          <a:bodyPr anchorCtr="0" anchor="t" bIns="0" lIns="0" spcFirstLastPara="1" rIns="0" wrap="square" tIns="12700">
            <a:spAutoFit/>
          </a:bodyPr>
          <a:lstStyle/>
          <a:p>
            <a:pPr indent="-1905" lvl="0" marL="12700" marR="5080" rtl="0" algn="ctr">
              <a:lnSpc>
                <a:spcPct val="100000"/>
              </a:lnSpc>
              <a:spcBef>
                <a:spcPts val="0"/>
              </a:spcBef>
              <a:spcAft>
                <a:spcPts val="0"/>
              </a:spcAft>
              <a:buNone/>
            </a:pPr>
            <a:r>
              <a:rPr lang="en-US" sz="2000">
                <a:latin typeface="Comic Sans MS"/>
                <a:ea typeface="Comic Sans MS"/>
                <a:cs typeface="Comic Sans MS"/>
                <a:sym typeface="Comic Sans MS"/>
              </a:rPr>
              <a:t>Sakurah</a:t>
            </a:r>
            <a:r>
              <a:rPr lang="en-US" sz="2000">
                <a:latin typeface="Comic Sans MS"/>
                <a:ea typeface="Comic Sans MS"/>
                <a:cs typeface="Comic Sans MS"/>
                <a:sym typeface="Comic Sans MS"/>
              </a:rPr>
              <a:t> Ismail</a:t>
            </a:r>
            <a:endParaRPr sz="2000">
              <a:latin typeface="Comic Sans MS"/>
              <a:ea typeface="Comic Sans MS"/>
              <a:cs typeface="Comic Sans MS"/>
              <a:sym typeface="Comic Sans MS"/>
            </a:endParaRPr>
          </a:p>
          <a:p>
            <a:pPr indent="-1905" lvl="0" marL="12700" marR="5080" rtl="0" algn="ctr">
              <a:lnSpc>
                <a:spcPct val="100000"/>
              </a:lnSpc>
              <a:spcBef>
                <a:spcPts val="0"/>
              </a:spcBef>
              <a:spcAft>
                <a:spcPts val="0"/>
              </a:spcAft>
              <a:buNone/>
            </a:pPr>
            <a:r>
              <a:rPr lang="en-US" sz="2000">
                <a:latin typeface="Comic Sans MS"/>
                <a:ea typeface="Comic Sans MS"/>
                <a:cs typeface="Comic Sans MS"/>
                <a:sym typeface="Comic Sans MS"/>
              </a:rPr>
              <a:t>Lecturer, Dept. of CSE NBIU</a:t>
            </a:r>
            <a:endParaRPr sz="2000">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 name="Shape 53"/>
        <p:cNvGrpSpPr/>
        <p:nvPr/>
      </p:nvGrpSpPr>
      <p:grpSpPr>
        <a:xfrm>
          <a:off x="0" y="0"/>
          <a:ext cx="0" cy="0"/>
          <a:chOff x="0" y="0"/>
          <a:chExt cx="0" cy="0"/>
        </a:xfrm>
      </p:grpSpPr>
      <p:sp>
        <p:nvSpPr>
          <p:cNvPr descr="$PPTXTitle" id="54" name="Google Shape;54;p8"/>
          <p:cNvSpPr txBox="1"/>
          <p:nvPr>
            <p:ph type="title"/>
          </p:nvPr>
        </p:nvSpPr>
        <p:spPr>
          <a:xfrm>
            <a:off x="1033373" y="293319"/>
            <a:ext cx="5934709" cy="728649"/>
          </a:xfrm>
          <a:prstGeom prst="rect">
            <a:avLst/>
          </a:prstGeom>
          <a:noFill/>
          <a:ln>
            <a:noFill/>
          </a:ln>
        </p:spPr>
        <p:txBody>
          <a:bodyPr anchorCtr="0" anchor="t" bIns="0" lIns="0" spcFirstLastPara="1" rIns="0" wrap="square" tIns="13325">
            <a:spAutoFit/>
          </a:bodyPr>
          <a:lstStyle/>
          <a:p>
            <a:pPr indent="0" lvl="0" marL="1751330" rtl="0" algn="l">
              <a:lnSpc>
                <a:spcPct val="100000"/>
              </a:lnSpc>
              <a:spcBef>
                <a:spcPts val="0"/>
              </a:spcBef>
              <a:spcAft>
                <a:spcPts val="0"/>
              </a:spcAft>
              <a:buNone/>
            </a:pPr>
            <a:r>
              <a:rPr lang="en-US"/>
              <a:t>Introduction</a:t>
            </a:r>
            <a:endParaRPr/>
          </a:p>
        </p:txBody>
      </p:sp>
      <p:sp>
        <p:nvSpPr>
          <p:cNvPr id="55" name="Google Shape;55;p8"/>
          <p:cNvSpPr txBox="1"/>
          <p:nvPr/>
        </p:nvSpPr>
        <p:spPr>
          <a:xfrm>
            <a:off x="429564" y="1083929"/>
            <a:ext cx="8202930" cy="4904105"/>
          </a:xfrm>
          <a:prstGeom prst="rect">
            <a:avLst/>
          </a:prstGeom>
          <a:noFill/>
          <a:ln>
            <a:noFill/>
          </a:ln>
        </p:spPr>
        <p:txBody>
          <a:bodyPr anchorCtr="0" anchor="t" bIns="0" lIns="0" spcFirstLastPara="1" rIns="0" wrap="square" tIns="165725">
            <a:spAutoFit/>
          </a:bodyPr>
          <a:lstStyle/>
          <a:p>
            <a:pPr indent="-342265" lvl="0" marL="354965" rtl="0" algn="l">
              <a:lnSpc>
                <a:spcPct val="100000"/>
              </a:lnSpc>
              <a:spcBef>
                <a:spcPts val="0"/>
              </a:spcBef>
              <a:spcAft>
                <a:spcPts val="0"/>
              </a:spcAft>
              <a:buClr>
                <a:srgbClr val="996600"/>
              </a:buClr>
              <a:buSzPts val="2400"/>
              <a:buFont typeface="Noto Sans Symbols"/>
              <a:buChar char="⬥"/>
            </a:pPr>
            <a:r>
              <a:rPr lang="en-US" sz="2400">
                <a:latin typeface="Times New Roman"/>
                <a:ea typeface="Times New Roman"/>
                <a:cs typeface="Times New Roman"/>
                <a:sym typeface="Times New Roman"/>
              </a:rPr>
              <a:t>Human and Computer:</a:t>
            </a:r>
            <a:endParaRPr sz="2400">
              <a:latin typeface="Times New Roman"/>
              <a:ea typeface="Times New Roman"/>
              <a:cs typeface="Times New Roman"/>
              <a:sym typeface="Times New Roman"/>
            </a:endParaRPr>
          </a:p>
          <a:p>
            <a:pPr indent="-287020" lvl="1" marL="756285" marR="6350" rtl="0" algn="l">
              <a:lnSpc>
                <a:spcPct val="100000"/>
              </a:lnSpc>
              <a:spcBef>
                <a:spcPts val="1200"/>
              </a:spcBef>
              <a:spcAft>
                <a:spcPts val="0"/>
              </a:spcAft>
              <a:buSzPts val="2250"/>
              <a:buFont typeface="Times New Roman"/>
              <a:buChar char="–"/>
            </a:pPr>
            <a:r>
              <a:rPr b="1" lang="en-US" sz="2400">
                <a:latin typeface="Times New Roman"/>
                <a:ea typeface="Times New Roman"/>
                <a:cs typeface="Times New Roman"/>
                <a:sym typeface="Times New Roman"/>
              </a:rPr>
              <a:t>Human beings are more intelligent than computers</a:t>
            </a:r>
            <a:r>
              <a:rPr lang="en-US" sz="2400">
                <a:latin typeface="Times New Roman"/>
                <a:ea typeface="Times New Roman"/>
                <a:cs typeface="Times New Roman"/>
                <a:sym typeface="Times New Roman"/>
              </a:rPr>
              <a:t>. </a:t>
            </a:r>
            <a:r>
              <a:rPr lang="en-US" sz="2400">
                <a:solidFill>
                  <a:srgbClr val="FF0000"/>
                </a:solidFill>
                <a:latin typeface="Times New Roman"/>
                <a:ea typeface="Times New Roman"/>
                <a:cs typeface="Times New Roman"/>
                <a:sym typeface="Times New Roman"/>
              </a:rPr>
              <a:t>Why is that said?</a:t>
            </a:r>
            <a:endParaRPr sz="2400">
              <a:latin typeface="Times New Roman"/>
              <a:ea typeface="Times New Roman"/>
              <a:cs typeface="Times New Roman"/>
              <a:sym typeface="Times New Roman"/>
            </a:endParaRPr>
          </a:p>
          <a:p>
            <a:pPr indent="-287020" lvl="1" marL="756285" marR="5080" rtl="0" algn="l">
              <a:lnSpc>
                <a:spcPct val="100000"/>
              </a:lnSpc>
              <a:spcBef>
                <a:spcPts val="1200"/>
              </a:spcBef>
              <a:spcAft>
                <a:spcPts val="0"/>
              </a:spcAft>
              <a:buSzPts val="2250"/>
              <a:buFont typeface="Times New Roman"/>
              <a:buChar char="–"/>
            </a:pPr>
            <a:r>
              <a:rPr lang="en-US" sz="2400">
                <a:latin typeface="Times New Roman"/>
                <a:ea typeface="Times New Roman"/>
                <a:cs typeface="Times New Roman"/>
                <a:sym typeface="Times New Roman"/>
              </a:rPr>
              <a:t>Calculating the sum of a few hundred eight and nine digit numbers</a:t>
            </a:r>
            <a:endParaRPr sz="2400">
              <a:latin typeface="Times New Roman"/>
              <a:ea typeface="Times New Roman"/>
              <a:cs typeface="Times New Roman"/>
              <a:sym typeface="Times New Roman"/>
            </a:endParaRPr>
          </a:p>
          <a:p>
            <a:pPr indent="-286385" lvl="1" marL="756285" rtl="0" algn="l">
              <a:lnSpc>
                <a:spcPct val="100000"/>
              </a:lnSpc>
              <a:spcBef>
                <a:spcPts val="1205"/>
              </a:spcBef>
              <a:spcAft>
                <a:spcPts val="0"/>
              </a:spcAft>
              <a:buClr>
                <a:srgbClr val="717CDF"/>
              </a:buClr>
              <a:buSzPts val="2250"/>
              <a:buFont typeface="Times New Roman"/>
              <a:buChar char="–"/>
            </a:pPr>
            <a:r>
              <a:rPr lang="en-US" sz="2400">
                <a:solidFill>
                  <a:srgbClr val="717CDF"/>
                </a:solidFill>
                <a:latin typeface="Times New Roman"/>
                <a:ea typeface="Times New Roman"/>
                <a:cs typeface="Times New Roman"/>
                <a:sym typeface="Times New Roman"/>
              </a:rPr>
              <a:t>Does that make the computer more intelligent than us?</a:t>
            </a:r>
            <a:endParaRPr sz="2400">
              <a:latin typeface="Times New Roman"/>
              <a:ea typeface="Times New Roman"/>
              <a:cs typeface="Times New Roman"/>
              <a:sym typeface="Times New Roman"/>
            </a:endParaRPr>
          </a:p>
          <a:p>
            <a:pPr indent="-286385" lvl="1" marL="756285" rtl="0" algn="l">
              <a:lnSpc>
                <a:spcPct val="100000"/>
              </a:lnSpc>
              <a:spcBef>
                <a:spcPts val="1200"/>
              </a:spcBef>
              <a:spcAft>
                <a:spcPts val="0"/>
              </a:spcAft>
              <a:buSzPts val="2250"/>
              <a:buFont typeface="Times New Roman"/>
              <a:buChar char="–"/>
            </a:pPr>
            <a:r>
              <a:rPr lang="en-US" sz="2400">
                <a:latin typeface="Times New Roman"/>
                <a:ea typeface="Times New Roman"/>
                <a:cs typeface="Times New Roman"/>
                <a:sym typeface="Times New Roman"/>
              </a:rPr>
              <a:t>Consider: </a:t>
            </a:r>
            <a:r>
              <a:rPr b="1" lang="en-US" sz="2400">
                <a:latin typeface="Times New Roman"/>
                <a:ea typeface="Times New Roman"/>
                <a:cs typeface="Times New Roman"/>
                <a:sym typeface="Times New Roman"/>
              </a:rPr>
              <a:t>crosswords</a:t>
            </a:r>
            <a:endParaRPr sz="2400">
              <a:latin typeface="Times New Roman"/>
              <a:ea typeface="Times New Roman"/>
              <a:cs typeface="Times New Roman"/>
              <a:sym typeface="Times New Roman"/>
            </a:endParaRPr>
          </a:p>
          <a:p>
            <a:pPr indent="-227965" lvl="2" marL="1155065" rtl="0" algn="l">
              <a:lnSpc>
                <a:spcPct val="100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Some of us are excellent</a:t>
            </a:r>
            <a:endParaRPr sz="2400">
              <a:latin typeface="Times New Roman"/>
              <a:ea typeface="Times New Roman"/>
              <a:cs typeface="Times New Roman"/>
              <a:sym typeface="Times New Roman"/>
            </a:endParaRPr>
          </a:p>
          <a:p>
            <a:pPr indent="-227965" lvl="2" marL="1155065" rtl="0" algn="l">
              <a:lnSpc>
                <a:spcPct val="100000"/>
              </a:lnSpc>
              <a:spcBef>
                <a:spcPts val="1200"/>
              </a:spcBef>
              <a:spcAft>
                <a:spcPts val="0"/>
              </a:spcAft>
              <a:buSzPts val="2400"/>
              <a:buFont typeface="Times New Roman"/>
              <a:buChar char="•"/>
            </a:pPr>
            <a:r>
              <a:rPr lang="en-US" sz="2400">
                <a:latin typeface="Times New Roman"/>
                <a:ea typeface="Times New Roman"/>
                <a:cs typeface="Times New Roman"/>
                <a:sym typeface="Times New Roman"/>
              </a:rPr>
              <a:t>difficult for a computer</a:t>
            </a:r>
            <a:endParaRPr sz="2400">
              <a:latin typeface="Times New Roman"/>
              <a:ea typeface="Times New Roman"/>
              <a:cs typeface="Times New Roman"/>
              <a:sym typeface="Times New Roman"/>
            </a:endParaRPr>
          </a:p>
          <a:p>
            <a:pPr indent="-286385" lvl="1" marL="756285" rtl="0" algn="l">
              <a:lnSpc>
                <a:spcPct val="100000"/>
              </a:lnSpc>
              <a:spcBef>
                <a:spcPts val="1200"/>
              </a:spcBef>
              <a:spcAft>
                <a:spcPts val="0"/>
              </a:spcAft>
              <a:buSzPts val="2250"/>
              <a:buFont typeface="Times New Roman"/>
              <a:buChar char="–"/>
            </a:pPr>
            <a:r>
              <a:rPr lang="en-US" sz="2400">
                <a:latin typeface="Times New Roman"/>
                <a:ea typeface="Times New Roman"/>
                <a:cs typeface="Times New Roman"/>
                <a:sym typeface="Times New Roman"/>
              </a:rPr>
              <a:t>Computers are very bad at performing simple </a:t>
            </a:r>
            <a:r>
              <a:rPr b="1" lang="en-US" sz="2400">
                <a:latin typeface="Times New Roman"/>
                <a:ea typeface="Times New Roman"/>
                <a:cs typeface="Times New Roman"/>
                <a:sym typeface="Times New Roman"/>
              </a:rPr>
              <a:t>visual tasks</a:t>
            </a: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sp>
        <p:nvSpPr>
          <p:cNvPr descr="$PPTXTitle" id="60" name="Google Shape;60;p9"/>
          <p:cNvSpPr txBox="1"/>
          <p:nvPr>
            <p:ph type="title"/>
          </p:nvPr>
        </p:nvSpPr>
        <p:spPr>
          <a:xfrm>
            <a:off x="1033373" y="293319"/>
            <a:ext cx="5934709" cy="728649"/>
          </a:xfrm>
          <a:prstGeom prst="rect">
            <a:avLst/>
          </a:prstGeom>
          <a:noFill/>
          <a:ln>
            <a:noFill/>
          </a:ln>
        </p:spPr>
        <p:txBody>
          <a:bodyPr anchorCtr="0" anchor="t" bIns="0" lIns="0" spcFirstLastPara="1" rIns="0" wrap="square" tIns="13325">
            <a:spAutoFit/>
          </a:bodyPr>
          <a:lstStyle/>
          <a:p>
            <a:pPr indent="0" lvl="0" marL="1751330" rtl="0" algn="l">
              <a:lnSpc>
                <a:spcPct val="100000"/>
              </a:lnSpc>
              <a:spcBef>
                <a:spcPts val="0"/>
              </a:spcBef>
              <a:spcAft>
                <a:spcPts val="0"/>
              </a:spcAft>
              <a:buNone/>
            </a:pPr>
            <a:r>
              <a:rPr lang="en-US"/>
              <a:t>Introduction</a:t>
            </a:r>
            <a:endParaRPr/>
          </a:p>
        </p:txBody>
      </p:sp>
      <p:sp>
        <p:nvSpPr>
          <p:cNvPr id="61" name="Google Shape;61;p9"/>
          <p:cNvSpPr txBox="1"/>
          <p:nvPr/>
        </p:nvSpPr>
        <p:spPr>
          <a:xfrm>
            <a:off x="429564" y="1326591"/>
            <a:ext cx="8202930" cy="3611245"/>
          </a:xfrm>
          <a:prstGeom prst="rect">
            <a:avLst/>
          </a:prstGeom>
          <a:noFill/>
          <a:ln>
            <a:noFill/>
          </a:ln>
        </p:spPr>
        <p:txBody>
          <a:bodyPr anchorCtr="0" anchor="t" bIns="0" lIns="0" spcFirstLastPara="1" rIns="0" wrap="square" tIns="12700">
            <a:spAutoFit/>
          </a:bodyPr>
          <a:lstStyle/>
          <a:p>
            <a:pPr indent="-342265" lvl="0" marL="354965" rtl="0" algn="just">
              <a:lnSpc>
                <a:spcPct val="100000"/>
              </a:lnSpc>
              <a:spcBef>
                <a:spcPts val="0"/>
              </a:spcBef>
              <a:spcAft>
                <a:spcPts val="0"/>
              </a:spcAft>
              <a:buClr>
                <a:srgbClr val="996600"/>
              </a:buClr>
              <a:buSzPts val="2400"/>
              <a:buFont typeface="Noto Sans Symbols"/>
              <a:buChar char="⬥"/>
            </a:pPr>
            <a:r>
              <a:rPr lang="en-US" sz="2400">
                <a:latin typeface="Times New Roman"/>
                <a:ea typeface="Times New Roman"/>
                <a:cs typeface="Times New Roman"/>
                <a:sym typeface="Times New Roman"/>
              </a:rPr>
              <a:t>Human and Computer:</a:t>
            </a:r>
            <a:endParaRPr sz="2400">
              <a:latin typeface="Times New Roman"/>
              <a:ea typeface="Times New Roman"/>
              <a:cs typeface="Times New Roman"/>
              <a:sym typeface="Times New Roman"/>
            </a:endParaRPr>
          </a:p>
          <a:p>
            <a:pPr indent="-287020" lvl="1" marL="756285" marR="5080" rtl="0" algn="just">
              <a:lnSpc>
                <a:spcPct val="140000"/>
              </a:lnSpc>
              <a:spcBef>
                <a:spcPts val="580"/>
              </a:spcBef>
              <a:spcAft>
                <a:spcPts val="0"/>
              </a:spcAft>
              <a:buSzPts val="2250"/>
              <a:buFont typeface="Times New Roman"/>
              <a:buChar char="–"/>
            </a:pPr>
            <a:r>
              <a:rPr lang="en-US" sz="2400">
                <a:latin typeface="Times New Roman"/>
                <a:ea typeface="Times New Roman"/>
                <a:cs typeface="Times New Roman"/>
                <a:sym typeface="Times New Roman"/>
              </a:rPr>
              <a:t>After 30 years of high-quality research, are </a:t>
            </a:r>
            <a:r>
              <a:rPr b="1" lang="en-US" sz="2400">
                <a:latin typeface="Times New Roman"/>
                <a:ea typeface="Times New Roman"/>
                <a:cs typeface="Times New Roman"/>
                <a:sym typeface="Times New Roman"/>
              </a:rPr>
              <a:t>not </a:t>
            </a:r>
            <a:r>
              <a:rPr lang="en-US" sz="2400">
                <a:latin typeface="Times New Roman"/>
                <a:ea typeface="Times New Roman"/>
                <a:cs typeface="Times New Roman"/>
                <a:sym typeface="Times New Roman"/>
              </a:rPr>
              <a:t>sufficient to allow  them  to  make  the  claim  that  they  have  computer systems that are artificially intelligent in any general sense that we would recognize.</a:t>
            </a:r>
            <a:endParaRPr sz="2400">
              <a:latin typeface="Times New Roman"/>
              <a:ea typeface="Times New Roman"/>
              <a:cs typeface="Times New Roman"/>
              <a:sym typeface="Times New Roman"/>
            </a:endParaRPr>
          </a:p>
          <a:p>
            <a:pPr indent="-287020" lvl="1" marL="756285" marR="6350" rtl="0" algn="just">
              <a:lnSpc>
                <a:spcPct val="140100"/>
              </a:lnSpc>
              <a:spcBef>
                <a:spcPts val="570"/>
              </a:spcBef>
              <a:spcAft>
                <a:spcPts val="0"/>
              </a:spcAft>
              <a:buSzPts val="2250"/>
              <a:buFont typeface="Times New Roman"/>
              <a:buChar char="–"/>
            </a:pPr>
            <a:r>
              <a:rPr lang="en-US" sz="2400">
                <a:latin typeface="Times New Roman"/>
                <a:ea typeface="Times New Roman"/>
                <a:cs typeface="Times New Roman"/>
                <a:sym typeface="Times New Roman"/>
              </a:rPr>
              <a:t>The </a:t>
            </a:r>
            <a:r>
              <a:rPr b="1" lang="en-US" sz="2400">
                <a:latin typeface="Times New Roman"/>
                <a:ea typeface="Times New Roman"/>
                <a:cs typeface="Times New Roman"/>
                <a:sym typeface="Times New Roman"/>
              </a:rPr>
              <a:t>aim </a:t>
            </a:r>
            <a:r>
              <a:rPr lang="en-US" sz="2400">
                <a:latin typeface="Times New Roman"/>
                <a:ea typeface="Times New Roman"/>
                <a:cs typeface="Times New Roman"/>
                <a:sym typeface="Times New Roman"/>
              </a:rPr>
              <a:t>of artificial intelligence could be summed up as trying to make computers behave as they do in the </a:t>
            </a:r>
            <a:r>
              <a:rPr b="1" lang="en-US" sz="2400">
                <a:latin typeface="Times New Roman"/>
                <a:ea typeface="Times New Roman"/>
                <a:cs typeface="Times New Roman"/>
                <a:sym typeface="Times New Roman"/>
              </a:rPr>
              <a:t>movies.</a:t>
            </a:r>
            <a:endParaRPr sz="24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 name="Shape 65"/>
        <p:cNvGrpSpPr/>
        <p:nvPr/>
      </p:nvGrpSpPr>
      <p:grpSpPr>
        <a:xfrm>
          <a:off x="0" y="0"/>
          <a:ext cx="0" cy="0"/>
          <a:chOff x="0" y="0"/>
          <a:chExt cx="0" cy="0"/>
        </a:xfrm>
      </p:grpSpPr>
      <p:sp>
        <p:nvSpPr>
          <p:cNvPr descr="$PPTXTitle" id="66" name="Google Shape;66;p10"/>
          <p:cNvSpPr txBox="1"/>
          <p:nvPr>
            <p:ph type="title"/>
          </p:nvPr>
        </p:nvSpPr>
        <p:spPr>
          <a:xfrm>
            <a:off x="1033373" y="293319"/>
            <a:ext cx="5934709" cy="728649"/>
          </a:xfrm>
          <a:prstGeom prst="rect">
            <a:avLst/>
          </a:prstGeom>
          <a:noFill/>
          <a:ln>
            <a:noFill/>
          </a:ln>
        </p:spPr>
        <p:txBody>
          <a:bodyPr anchorCtr="0" anchor="t" bIns="0" lIns="0" spcFirstLastPara="1" rIns="0" wrap="square" tIns="13325">
            <a:spAutoFit/>
          </a:bodyPr>
          <a:lstStyle/>
          <a:p>
            <a:pPr indent="0" lvl="0" marL="1751330" rtl="0" algn="l">
              <a:lnSpc>
                <a:spcPct val="100000"/>
              </a:lnSpc>
              <a:spcBef>
                <a:spcPts val="0"/>
              </a:spcBef>
              <a:spcAft>
                <a:spcPts val="0"/>
              </a:spcAft>
              <a:buNone/>
            </a:pPr>
            <a:r>
              <a:rPr lang="en-US"/>
              <a:t>Introduction</a:t>
            </a:r>
            <a:endParaRPr/>
          </a:p>
        </p:txBody>
      </p:sp>
      <p:sp>
        <p:nvSpPr>
          <p:cNvPr id="67" name="Google Shape;67;p10"/>
          <p:cNvSpPr txBox="1"/>
          <p:nvPr/>
        </p:nvSpPr>
        <p:spPr>
          <a:xfrm>
            <a:off x="471627" y="1112646"/>
            <a:ext cx="8202930" cy="5309235"/>
          </a:xfrm>
          <a:prstGeom prst="rect">
            <a:avLst/>
          </a:prstGeom>
          <a:noFill/>
          <a:ln>
            <a:noFill/>
          </a:ln>
        </p:spPr>
        <p:txBody>
          <a:bodyPr anchorCtr="0" anchor="t" bIns="0" lIns="0" spcFirstLastPara="1" rIns="0" wrap="square" tIns="12700">
            <a:spAutoFit/>
          </a:bodyPr>
          <a:lstStyle/>
          <a:p>
            <a:pPr indent="-342265" lvl="0" marL="354965" rtl="0" algn="l">
              <a:lnSpc>
                <a:spcPct val="100000"/>
              </a:lnSpc>
              <a:spcBef>
                <a:spcPts val="0"/>
              </a:spcBef>
              <a:spcAft>
                <a:spcPts val="0"/>
              </a:spcAft>
              <a:buClr>
                <a:srgbClr val="996600"/>
              </a:buClr>
              <a:buSzPts val="2400"/>
              <a:buFont typeface="Noto Sans Symbols"/>
              <a:buChar char="⬥"/>
            </a:pPr>
            <a:r>
              <a:rPr lang="en-US" sz="2400">
                <a:latin typeface="Times New Roman"/>
                <a:ea typeface="Times New Roman"/>
                <a:cs typeface="Times New Roman"/>
                <a:sym typeface="Times New Roman"/>
              </a:rPr>
              <a:t>Human and Computer:</a:t>
            </a:r>
            <a:endParaRPr sz="2400">
              <a:latin typeface="Times New Roman"/>
              <a:ea typeface="Times New Roman"/>
              <a:cs typeface="Times New Roman"/>
              <a:sym typeface="Times New Roman"/>
            </a:endParaRPr>
          </a:p>
          <a:p>
            <a:pPr indent="-286385" lvl="1" marL="756285" rtl="0" algn="l">
              <a:lnSpc>
                <a:spcPct val="100000"/>
              </a:lnSpc>
              <a:spcBef>
                <a:spcPts val="1730"/>
              </a:spcBef>
              <a:spcAft>
                <a:spcPts val="0"/>
              </a:spcAft>
              <a:buSzPts val="2250"/>
              <a:buFont typeface="Times New Roman"/>
              <a:buChar char="–"/>
            </a:pPr>
            <a:r>
              <a:rPr lang="en-US" sz="2400">
                <a:latin typeface="Times New Roman"/>
                <a:ea typeface="Times New Roman"/>
                <a:cs typeface="Times New Roman"/>
                <a:sym typeface="Times New Roman"/>
              </a:rPr>
              <a:t>Why then can’t computers do the things that we do?</a:t>
            </a:r>
            <a:endParaRPr sz="2400">
              <a:latin typeface="Times New Roman"/>
              <a:ea typeface="Times New Roman"/>
              <a:cs typeface="Times New Roman"/>
              <a:sym typeface="Times New Roman"/>
            </a:endParaRPr>
          </a:p>
          <a:p>
            <a:pPr indent="-227965" lvl="2" marL="1155065" rtl="0" algn="l">
              <a:lnSpc>
                <a:spcPct val="100000"/>
              </a:lnSpc>
              <a:spcBef>
                <a:spcPts val="1725"/>
              </a:spcBef>
              <a:spcAft>
                <a:spcPts val="0"/>
              </a:spcAft>
              <a:buSzPts val="2400"/>
              <a:buFont typeface="Times New Roman"/>
              <a:buChar char="•"/>
            </a:pPr>
            <a:r>
              <a:rPr b="1" lang="en-US" sz="2400">
                <a:latin typeface="Times New Roman"/>
                <a:ea typeface="Times New Roman"/>
                <a:cs typeface="Times New Roman"/>
                <a:sym typeface="Times New Roman"/>
              </a:rPr>
              <a:t>The nature of their design</a:t>
            </a:r>
            <a:endParaRPr sz="2400">
              <a:latin typeface="Times New Roman"/>
              <a:ea typeface="Times New Roman"/>
              <a:cs typeface="Times New Roman"/>
              <a:sym typeface="Times New Roman"/>
            </a:endParaRPr>
          </a:p>
          <a:p>
            <a:pPr indent="-227965" lvl="2" marL="1155065" rtl="0" algn="l">
              <a:lnSpc>
                <a:spcPct val="100000"/>
              </a:lnSpc>
              <a:spcBef>
                <a:spcPts val="1730"/>
              </a:spcBef>
              <a:spcAft>
                <a:spcPts val="0"/>
              </a:spcAft>
              <a:buSzPts val="2400"/>
              <a:buFont typeface="Times New Roman"/>
              <a:buChar char="•"/>
            </a:pPr>
            <a:r>
              <a:rPr b="1" lang="en-US" sz="2400">
                <a:latin typeface="Times New Roman"/>
                <a:ea typeface="Times New Roman"/>
                <a:cs typeface="Times New Roman"/>
                <a:sym typeface="Times New Roman"/>
              </a:rPr>
              <a:t>Brain:  </a:t>
            </a:r>
            <a:r>
              <a:rPr lang="en-US" sz="2400">
                <a:latin typeface="Times New Roman"/>
                <a:ea typeface="Times New Roman"/>
                <a:cs typeface="Times New Roman"/>
                <a:sym typeface="Times New Roman"/>
              </a:rPr>
              <a:t>slow,  highly  parallel;  </a:t>
            </a:r>
            <a:r>
              <a:rPr b="1" lang="en-US" sz="2400">
                <a:latin typeface="Times New Roman"/>
                <a:ea typeface="Times New Roman"/>
                <a:cs typeface="Times New Roman"/>
                <a:sym typeface="Times New Roman"/>
              </a:rPr>
              <a:t>Computer</a:t>
            </a:r>
            <a:r>
              <a:rPr lang="en-US" sz="2400">
                <a:latin typeface="Times New Roman"/>
                <a:ea typeface="Times New Roman"/>
                <a:cs typeface="Times New Roman"/>
                <a:sym typeface="Times New Roman"/>
              </a:rPr>
              <a:t>:  high-speed,</a:t>
            </a:r>
            <a:endParaRPr sz="2400">
              <a:latin typeface="Times New Roman"/>
              <a:ea typeface="Times New Roman"/>
              <a:cs typeface="Times New Roman"/>
              <a:sym typeface="Times New Roman"/>
            </a:endParaRPr>
          </a:p>
          <a:p>
            <a:pPr indent="0" lvl="0" marL="1155700" rtl="0" algn="l">
              <a:lnSpc>
                <a:spcPct val="100000"/>
              </a:lnSpc>
              <a:spcBef>
                <a:spcPts val="1155"/>
              </a:spcBef>
              <a:spcAft>
                <a:spcPts val="0"/>
              </a:spcAft>
              <a:buNone/>
            </a:pPr>
            <a:r>
              <a:rPr lang="en-US" sz="2400">
                <a:latin typeface="Times New Roman"/>
                <a:ea typeface="Times New Roman"/>
                <a:cs typeface="Times New Roman"/>
                <a:sym typeface="Times New Roman"/>
              </a:rPr>
              <a:t>serial machine</a:t>
            </a:r>
            <a:endParaRPr sz="2400">
              <a:latin typeface="Times New Roman"/>
              <a:ea typeface="Times New Roman"/>
              <a:cs typeface="Times New Roman"/>
              <a:sym typeface="Times New Roman"/>
            </a:endParaRPr>
          </a:p>
          <a:p>
            <a:pPr indent="-228600" lvl="2" marL="1155700" marR="7620" rtl="0" algn="l">
              <a:lnSpc>
                <a:spcPct val="140000"/>
              </a:lnSpc>
              <a:spcBef>
                <a:spcPts val="575"/>
              </a:spcBef>
              <a:spcAft>
                <a:spcPts val="0"/>
              </a:spcAft>
              <a:buSzPts val="2400"/>
              <a:buFont typeface="Times New Roman"/>
              <a:buChar char="•"/>
            </a:pPr>
            <a:r>
              <a:rPr lang="en-US" sz="2400">
                <a:latin typeface="Times New Roman"/>
                <a:ea typeface="Times New Roman"/>
                <a:cs typeface="Times New Roman"/>
                <a:sym typeface="Times New Roman"/>
              </a:rPr>
              <a:t>Counting	is	an	essentially	serial	activity	(Computer winner)</a:t>
            </a:r>
            <a:endParaRPr sz="2400">
              <a:latin typeface="Times New Roman"/>
              <a:ea typeface="Times New Roman"/>
              <a:cs typeface="Times New Roman"/>
              <a:sym typeface="Times New Roman"/>
            </a:endParaRPr>
          </a:p>
          <a:p>
            <a:pPr indent="-227965" lvl="2" marL="1155065" rtl="0" algn="l">
              <a:lnSpc>
                <a:spcPct val="100000"/>
              </a:lnSpc>
              <a:spcBef>
                <a:spcPts val="1730"/>
              </a:spcBef>
              <a:spcAft>
                <a:spcPts val="0"/>
              </a:spcAft>
              <a:buSzPts val="2400"/>
              <a:buFont typeface="Times New Roman"/>
              <a:buChar char="•"/>
            </a:pPr>
            <a:r>
              <a:rPr b="1" lang="en-US" sz="2400">
                <a:latin typeface="Times New Roman"/>
                <a:ea typeface="Times New Roman"/>
                <a:cs typeface="Times New Roman"/>
                <a:sym typeface="Times New Roman"/>
              </a:rPr>
              <a:t>vision or speech recognition (Brain Winner)</a:t>
            </a:r>
            <a:endParaRPr sz="2400">
              <a:latin typeface="Times New Roman"/>
              <a:ea typeface="Times New Roman"/>
              <a:cs typeface="Times New Roman"/>
              <a:sym typeface="Times New Roman"/>
            </a:endParaRPr>
          </a:p>
          <a:p>
            <a:pPr indent="-342900" lvl="0" marL="354965" marR="6350" rtl="0" algn="just">
              <a:lnSpc>
                <a:spcPct val="140000"/>
              </a:lnSpc>
              <a:spcBef>
                <a:spcPts val="555"/>
              </a:spcBef>
              <a:spcAft>
                <a:spcPts val="0"/>
              </a:spcAft>
              <a:buClr>
                <a:srgbClr val="996600"/>
              </a:buClr>
              <a:buSzPts val="1400"/>
              <a:buFont typeface="Noto Sans Symbols"/>
              <a:buChar char="⬥"/>
            </a:pPr>
            <a:r>
              <a:rPr b="1" lang="en-US" sz="1400">
                <a:latin typeface="Times New Roman"/>
                <a:ea typeface="Times New Roman"/>
                <a:cs typeface="Times New Roman"/>
                <a:sym typeface="Times New Roman"/>
              </a:rPr>
              <a:t>[Note: </a:t>
            </a:r>
            <a:r>
              <a:rPr lang="en-US" sz="1400">
                <a:latin typeface="Times New Roman"/>
                <a:ea typeface="Times New Roman"/>
                <a:cs typeface="Times New Roman"/>
                <a:sym typeface="Times New Roman"/>
              </a:rPr>
              <a:t>Computers are designed to carry out one instruction after another, extremely rapidly, whereas our </a:t>
            </a:r>
            <a:r>
              <a:rPr b="1" lang="en-US" sz="1400">
                <a:latin typeface="Times New Roman"/>
                <a:ea typeface="Times New Roman"/>
                <a:cs typeface="Times New Roman"/>
                <a:sym typeface="Times New Roman"/>
              </a:rPr>
              <a:t>brains work with many more slower units</a:t>
            </a:r>
            <a:r>
              <a:rPr lang="en-US" sz="1400">
                <a:latin typeface="Times New Roman"/>
                <a:ea typeface="Times New Roman"/>
                <a:cs typeface="Times New Roman"/>
                <a:sym typeface="Times New Roman"/>
              </a:rPr>
              <a:t>. Whereas a computer can typically carry out </a:t>
            </a:r>
            <a:r>
              <a:rPr b="1" lang="en-US" sz="1400">
                <a:latin typeface="Times New Roman"/>
                <a:ea typeface="Times New Roman"/>
                <a:cs typeface="Times New Roman"/>
                <a:sym typeface="Times New Roman"/>
              </a:rPr>
              <a:t>a few million operations </a:t>
            </a:r>
            <a:r>
              <a:rPr lang="en-US" sz="1400">
                <a:latin typeface="Times New Roman"/>
                <a:ea typeface="Times New Roman"/>
                <a:cs typeface="Times New Roman"/>
                <a:sym typeface="Times New Roman"/>
              </a:rPr>
              <a:t>every second, the units in the brain respond about </a:t>
            </a:r>
            <a:r>
              <a:rPr b="1" lang="en-US" sz="1400">
                <a:latin typeface="Times New Roman"/>
                <a:ea typeface="Times New Roman"/>
                <a:cs typeface="Times New Roman"/>
                <a:sym typeface="Times New Roman"/>
              </a:rPr>
              <a:t>ten times per second</a:t>
            </a:r>
            <a:r>
              <a:rPr lang="en-US"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 name="Shape 71"/>
        <p:cNvGrpSpPr/>
        <p:nvPr/>
      </p:nvGrpSpPr>
      <p:grpSpPr>
        <a:xfrm>
          <a:off x="0" y="0"/>
          <a:ext cx="0" cy="0"/>
          <a:chOff x="0" y="0"/>
          <a:chExt cx="0" cy="0"/>
        </a:xfrm>
      </p:grpSpPr>
      <p:sp>
        <p:nvSpPr>
          <p:cNvPr descr="$PPTXTitle" id="72" name="Google Shape;72;p11"/>
          <p:cNvSpPr txBox="1"/>
          <p:nvPr>
            <p:ph type="title"/>
          </p:nvPr>
        </p:nvSpPr>
        <p:spPr>
          <a:xfrm>
            <a:off x="1033373" y="293319"/>
            <a:ext cx="5934709" cy="728649"/>
          </a:xfrm>
          <a:prstGeom prst="rect">
            <a:avLst/>
          </a:prstGeom>
          <a:noFill/>
          <a:ln>
            <a:noFill/>
          </a:ln>
        </p:spPr>
        <p:txBody>
          <a:bodyPr anchorCtr="0" anchor="t" bIns="0" lIns="0" spcFirstLastPara="1" rIns="0" wrap="square" tIns="13325">
            <a:spAutoFit/>
          </a:bodyPr>
          <a:lstStyle/>
          <a:p>
            <a:pPr indent="0" lvl="0" marL="1751330" rtl="0" algn="l">
              <a:lnSpc>
                <a:spcPct val="100000"/>
              </a:lnSpc>
              <a:spcBef>
                <a:spcPts val="0"/>
              </a:spcBef>
              <a:spcAft>
                <a:spcPts val="0"/>
              </a:spcAft>
              <a:buNone/>
            </a:pPr>
            <a:r>
              <a:rPr lang="en-US"/>
              <a:t>Introduction</a:t>
            </a:r>
            <a:endParaRPr/>
          </a:p>
        </p:txBody>
      </p:sp>
      <p:sp>
        <p:nvSpPr>
          <p:cNvPr id="73" name="Google Shape;73;p11"/>
          <p:cNvSpPr txBox="1"/>
          <p:nvPr/>
        </p:nvSpPr>
        <p:spPr>
          <a:xfrm>
            <a:off x="429564" y="1326591"/>
            <a:ext cx="6061075" cy="2148205"/>
          </a:xfrm>
          <a:prstGeom prst="rect">
            <a:avLst/>
          </a:prstGeom>
          <a:noFill/>
          <a:ln>
            <a:noFill/>
          </a:ln>
        </p:spPr>
        <p:txBody>
          <a:bodyPr anchorCtr="0" anchor="t" bIns="0" lIns="0" spcFirstLastPara="1" rIns="0" wrap="square" tIns="12700">
            <a:spAutoFit/>
          </a:bodyPr>
          <a:lstStyle/>
          <a:p>
            <a:pPr indent="-342265" lvl="0" marL="354965" rtl="0" algn="l">
              <a:lnSpc>
                <a:spcPct val="100000"/>
              </a:lnSpc>
              <a:spcBef>
                <a:spcPts val="0"/>
              </a:spcBef>
              <a:spcAft>
                <a:spcPts val="0"/>
              </a:spcAft>
              <a:buClr>
                <a:srgbClr val="996600"/>
              </a:buClr>
              <a:buSzPts val="2400"/>
              <a:buFont typeface="Noto Sans Symbols"/>
              <a:buChar char="⬥"/>
            </a:pPr>
            <a:r>
              <a:rPr lang="en-US" sz="2400">
                <a:latin typeface="Times New Roman"/>
                <a:ea typeface="Times New Roman"/>
                <a:cs typeface="Times New Roman"/>
                <a:sym typeface="Times New Roman"/>
              </a:rPr>
              <a:t>For Computer:</a:t>
            </a:r>
            <a:endParaRPr sz="2400">
              <a:latin typeface="Times New Roman"/>
              <a:ea typeface="Times New Roman"/>
              <a:cs typeface="Times New Roman"/>
              <a:sym typeface="Times New Roman"/>
            </a:endParaRPr>
          </a:p>
          <a:p>
            <a:pPr indent="-286385" lvl="1" marL="756285" rtl="0" algn="l">
              <a:lnSpc>
                <a:spcPct val="100000"/>
              </a:lnSpc>
              <a:spcBef>
                <a:spcPts val="1730"/>
              </a:spcBef>
              <a:spcAft>
                <a:spcPts val="0"/>
              </a:spcAft>
              <a:buSzPts val="2250"/>
              <a:buFont typeface="Times New Roman"/>
              <a:buChar char="–"/>
            </a:pPr>
            <a:r>
              <a:rPr b="1" lang="en-US" sz="2400">
                <a:latin typeface="Times New Roman"/>
                <a:ea typeface="Times New Roman"/>
                <a:cs typeface="Times New Roman"/>
                <a:sym typeface="Times New Roman"/>
              </a:rPr>
              <a:t>Represent Complex information</a:t>
            </a:r>
            <a:endParaRPr sz="2400">
              <a:latin typeface="Times New Roman"/>
              <a:ea typeface="Times New Roman"/>
              <a:cs typeface="Times New Roman"/>
              <a:sym typeface="Times New Roman"/>
            </a:endParaRPr>
          </a:p>
          <a:p>
            <a:pPr indent="-286385" lvl="1" marL="756285" rtl="0" algn="l">
              <a:lnSpc>
                <a:spcPct val="100000"/>
              </a:lnSpc>
              <a:spcBef>
                <a:spcPts val="1730"/>
              </a:spcBef>
              <a:spcAft>
                <a:spcPts val="0"/>
              </a:spcAft>
              <a:buSzPts val="2250"/>
              <a:buFont typeface="Times New Roman"/>
              <a:buChar char="–"/>
            </a:pPr>
            <a:r>
              <a:rPr b="1" lang="en-US" sz="2400">
                <a:latin typeface="Times New Roman"/>
                <a:ea typeface="Times New Roman"/>
                <a:cs typeface="Times New Roman"/>
                <a:sym typeface="Times New Roman"/>
              </a:rPr>
              <a:t>Design Learning Algorithm</a:t>
            </a:r>
            <a:endParaRPr sz="2400">
              <a:latin typeface="Times New Roman"/>
              <a:ea typeface="Times New Roman"/>
              <a:cs typeface="Times New Roman"/>
              <a:sym typeface="Times New Roman"/>
            </a:endParaRPr>
          </a:p>
          <a:p>
            <a:pPr indent="-286385" lvl="1" marL="756285" rtl="0" algn="l">
              <a:lnSpc>
                <a:spcPct val="100000"/>
              </a:lnSpc>
              <a:spcBef>
                <a:spcPts val="1730"/>
              </a:spcBef>
              <a:spcAft>
                <a:spcPts val="0"/>
              </a:spcAft>
              <a:buSzPts val="2250"/>
              <a:buFont typeface="Times New Roman"/>
              <a:buChar char="–"/>
            </a:pPr>
            <a:r>
              <a:rPr b="1" lang="en-US" sz="2400">
                <a:latin typeface="Times New Roman"/>
                <a:ea typeface="Times New Roman"/>
                <a:cs typeface="Times New Roman"/>
                <a:sym typeface="Times New Roman"/>
              </a:rPr>
              <a:t>Find the technique of parallel processing</a:t>
            </a:r>
            <a:endParaRPr sz="24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7" name="Shape 77"/>
        <p:cNvGrpSpPr/>
        <p:nvPr/>
      </p:nvGrpSpPr>
      <p:grpSpPr>
        <a:xfrm>
          <a:off x="0" y="0"/>
          <a:ext cx="0" cy="0"/>
          <a:chOff x="0" y="0"/>
          <a:chExt cx="0" cy="0"/>
        </a:xfrm>
      </p:grpSpPr>
      <p:sp>
        <p:nvSpPr>
          <p:cNvPr descr="$PPTXTitle" id="78" name="Google Shape;78;p12"/>
          <p:cNvSpPr txBox="1"/>
          <p:nvPr>
            <p:ph type="title"/>
          </p:nvPr>
        </p:nvSpPr>
        <p:spPr>
          <a:xfrm>
            <a:off x="1164437" y="293319"/>
            <a:ext cx="5669915" cy="51435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The Structure Of The Brain</a:t>
            </a:r>
            <a:endParaRPr/>
          </a:p>
        </p:txBody>
      </p:sp>
      <p:pic>
        <p:nvPicPr>
          <p:cNvPr id="79" name="Google Shape;79;p12"/>
          <p:cNvPicPr preferRelativeResize="0"/>
          <p:nvPr/>
        </p:nvPicPr>
        <p:blipFill rotWithShape="1">
          <a:blip r:embed="rId3">
            <a:alphaModFix/>
          </a:blip>
          <a:srcRect b="0" l="0" r="0" t="0"/>
          <a:stretch/>
        </p:blipFill>
        <p:spPr>
          <a:xfrm>
            <a:off x="57351" y="1540130"/>
            <a:ext cx="5327358" cy="3924354"/>
          </a:xfrm>
          <a:prstGeom prst="rect">
            <a:avLst/>
          </a:prstGeom>
          <a:noFill/>
          <a:ln>
            <a:noFill/>
          </a:ln>
        </p:spPr>
      </p:pic>
      <p:sp>
        <p:nvSpPr>
          <p:cNvPr id="80" name="Google Shape;80;p12"/>
          <p:cNvSpPr txBox="1"/>
          <p:nvPr/>
        </p:nvSpPr>
        <p:spPr>
          <a:xfrm>
            <a:off x="5515736" y="990346"/>
            <a:ext cx="3437254" cy="5513070"/>
          </a:xfrm>
          <a:prstGeom prst="rect">
            <a:avLst/>
          </a:prstGeom>
          <a:noFill/>
          <a:ln>
            <a:noFill/>
          </a:ln>
        </p:spPr>
        <p:txBody>
          <a:bodyPr anchorCtr="0" anchor="t" bIns="0" lIns="0" spcFirstLastPara="1" rIns="0" wrap="square" tIns="12700">
            <a:spAutoFit/>
          </a:bodyPr>
          <a:lstStyle/>
          <a:p>
            <a:pPr indent="0" lvl="0" marL="12700" marR="89535" rtl="0" algn="l">
              <a:lnSpc>
                <a:spcPct val="100000"/>
              </a:lnSpc>
              <a:spcBef>
                <a:spcPts val="0"/>
              </a:spcBef>
              <a:spcAft>
                <a:spcPts val="0"/>
              </a:spcAft>
              <a:buNone/>
            </a:pPr>
            <a:r>
              <a:rPr lang="en-US" sz="2400">
                <a:latin typeface="Times New Roman"/>
                <a:ea typeface="Times New Roman"/>
                <a:cs typeface="Times New Roman"/>
                <a:sym typeface="Times New Roman"/>
              </a:rPr>
              <a:t>The human brain is very complex and not fully understood, but we know it has about </a:t>
            </a:r>
            <a:r>
              <a:rPr b="1" lang="en-US" sz="2400">
                <a:latin typeface="Times New Roman"/>
                <a:ea typeface="Times New Roman"/>
                <a:cs typeface="Times New Roman"/>
                <a:sym typeface="Times New Roman"/>
              </a:rPr>
              <a:t>10 billion neurons</a:t>
            </a:r>
            <a:r>
              <a:rPr lang="en-US" sz="2400">
                <a:latin typeface="Times New Roman"/>
                <a:ea typeface="Times New Roman"/>
                <a:cs typeface="Times New Roman"/>
                <a:sym typeface="Times New Roman"/>
              </a:rPr>
              <a:t>, each linked to around </a:t>
            </a:r>
            <a:r>
              <a:rPr b="1" lang="en-US" sz="2400">
                <a:latin typeface="Times New Roman"/>
                <a:ea typeface="Times New Roman"/>
                <a:cs typeface="Times New Roman"/>
                <a:sym typeface="Times New Roman"/>
              </a:rPr>
              <a:t>10,000 others</a:t>
            </a: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indent="0" lvl="0" marL="12700" marR="5080" rtl="0" algn="l">
              <a:lnSpc>
                <a:spcPct val="100000"/>
              </a:lnSpc>
              <a:spcBef>
                <a:spcPts val="0"/>
              </a:spcBef>
              <a:spcAft>
                <a:spcPts val="0"/>
              </a:spcAft>
              <a:buNone/>
            </a:pPr>
            <a:r>
              <a:rPr lang="en-US" sz="2400">
                <a:latin typeface="Times New Roman"/>
                <a:ea typeface="Times New Roman"/>
                <a:cs typeface="Times New Roman"/>
                <a:sym typeface="Times New Roman"/>
              </a:rPr>
              <a:t>Neurons are tiny processing units that receive signals through </a:t>
            </a:r>
            <a:r>
              <a:rPr b="1" lang="en-US" sz="2400">
                <a:latin typeface="Times New Roman"/>
                <a:ea typeface="Times New Roman"/>
                <a:cs typeface="Times New Roman"/>
                <a:sym typeface="Times New Roman"/>
              </a:rPr>
              <a:t>dendrites</a:t>
            </a:r>
            <a:r>
              <a:rPr lang="en-US" sz="2400">
                <a:latin typeface="Times New Roman"/>
                <a:ea typeface="Times New Roman"/>
                <a:cs typeface="Times New Roman"/>
                <a:sym typeface="Times New Roman"/>
              </a:rPr>
              <a:t>. If enough input is received, the neuron </a:t>
            </a:r>
            <a:r>
              <a:rPr b="1" lang="en-US" sz="2400">
                <a:latin typeface="Times New Roman"/>
                <a:ea typeface="Times New Roman"/>
                <a:cs typeface="Times New Roman"/>
                <a:sym typeface="Times New Roman"/>
              </a:rPr>
              <a:t>fires </a:t>
            </a:r>
            <a:r>
              <a:rPr lang="en-US" sz="2400">
                <a:latin typeface="Times New Roman"/>
                <a:ea typeface="Times New Roman"/>
                <a:cs typeface="Times New Roman"/>
                <a:sym typeface="Times New Roman"/>
              </a:rPr>
              <a:t>a signal.</a:t>
            </a:r>
            <a:endParaRPr sz="2400">
              <a:latin typeface="Times New Roman"/>
              <a:ea typeface="Times New Roman"/>
              <a:cs typeface="Times New Roman"/>
              <a:sym typeface="Times New Roman"/>
            </a:endParaRPr>
          </a:p>
          <a:p>
            <a:pPr indent="0" lvl="0" marL="12700" marR="205740" rtl="0" algn="l">
              <a:lnSpc>
                <a:spcPct val="100000"/>
              </a:lnSpc>
              <a:spcBef>
                <a:spcPts val="5"/>
              </a:spcBef>
              <a:spcAft>
                <a:spcPts val="0"/>
              </a:spcAft>
              <a:buNone/>
            </a:pPr>
            <a:r>
              <a:rPr lang="en-US" sz="2400">
                <a:latin typeface="Times New Roman"/>
                <a:ea typeface="Times New Roman"/>
                <a:cs typeface="Times New Roman"/>
                <a:sym typeface="Times New Roman"/>
              </a:rPr>
              <a:t>There are two types: some connect nearby neurons, and others link different brain or body parts.</a:t>
            </a:r>
            <a:endParaRPr sz="24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4" name="Shape 84"/>
        <p:cNvGrpSpPr/>
        <p:nvPr/>
      </p:nvGrpSpPr>
      <p:grpSpPr>
        <a:xfrm>
          <a:off x="0" y="0"/>
          <a:ext cx="0" cy="0"/>
          <a:chOff x="0" y="0"/>
          <a:chExt cx="0" cy="0"/>
        </a:xfrm>
      </p:grpSpPr>
      <p:sp>
        <p:nvSpPr>
          <p:cNvPr descr="$PPTXTitle" id="85" name="Google Shape;85;p13"/>
          <p:cNvSpPr txBox="1"/>
          <p:nvPr>
            <p:ph type="title"/>
          </p:nvPr>
        </p:nvSpPr>
        <p:spPr>
          <a:xfrm>
            <a:off x="1033373" y="293319"/>
            <a:ext cx="5934709" cy="728649"/>
          </a:xfrm>
          <a:prstGeom prst="rect">
            <a:avLst/>
          </a:prstGeom>
          <a:noFill/>
          <a:ln>
            <a:noFill/>
          </a:ln>
        </p:spPr>
        <p:txBody>
          <a:bodyPr anchorCtr="0" anchor="t" bIns="0" lIns="0" spcFirstLastPara="1" rIns="0" wrap="square" tIns="13325">
            <a:spAutoFit/>
          </a:bodyPr>
          <a:lstStyle/>
          <a:p>
            <a:pPr indent="0" lvl="0" marL="143510" rtl="0" algn="l">
              <a:lnSpc>
                <a:spcPct val="100000"/>
              </a:lnSpc>
              <a:spcBef>
                <a:spcPts val="0"/>
              </a:spcBef>
              <a:spcAft>
                <a:spcPts val="0"/>
              </a:spcAft>
              <a:buNone/>
            </a:pPr>
            <a:r>
              <a:rPr lang="en-US"/>
              <a:t>The Structure Of The Brain</a:t>
            </a:r>
            <a:endParaRPr/>
          </a:p>
        </p:txBody>
      </p:sp>
      <p:pic>
        <p:nvPicPr>
          <p:cNvPr id="86" name="Google Shape;86;p13"/>
          <p:cNvPicPr preferRelativeResize="0"/>
          <p:nvPr/>
        </p:nvPicPr>
        <p:blipFill rotWithShape="1">
          <a:blip r:embed="rId3">
            <a:alphaModFix/>
          </a:blip>
          <a:srcRect b="0" l="0" r="0" t="0"/>
          <a:stretch/>
        </p:blipFill>
        <p:spPr>
          <a:xfrm>
            <a:off x="279699" y="2171617"/>
            <a:ext cx="3856902" cy="3200700"/>
          </a:xfrm>
          <a:prstGeom prst="rect">
            <a:avLst/>
          </a:prstGeom>
          <a:noFill/>
          <a:ln>
            <a:noFill/>
          </a:ln>
        </p:spPr>
      </p:pic>
      <p:sp>
        <p:nvSpPr>
          <p:cNvPr id="87" name="Google Shape;87;p13"/>
          <p:cNvSpPr txBox="1"/>
          <p:nvPr/>
        </p:nvSpPr>
        <p:spPr>
          <a:xfrm>
            <a:off x="4495927" y="1509140"/>
            <a:ext cx="4415155" cy="1122680"/>
          </a:xfrm>
          <a:prstGeom prst="rect">
            <a:avLst/>
          </a:prstGeom>
          <a:noFill/>
          <a:ln>
            <a:noFill/>
          </a:ln>
        </p:spPr>
        <p:txBody>
          <a:bodyPr anchorCtr="0" anchor="t" bIns="0" lIns="0" spcFirstLastPara="1" rIns="0" wrap="square" tIns="12700">
            <a:spAutoFit/>
          </a:bodyPr>
          <a:lstStyle/>
          <a:p>
            <a:pPr indent="0" lvl="0" marL="12700" marR="6350" rtl="0" algn="l">
              <a:lnSpc>
                <a:spcPct val="100000"/>
              </a:lnSpc>
              <a:spcBef>
                <a:spcPts val="0"/>
              </a:spcBef>
              <a:spcAft>
                <a:spcPts val="0"/>
              </a:spcAft>
              <a:buNone/>
            </a:pPr>
            <a:r>
              <a:rPr lang="en-US" sz="2400">
                <a:latin typeface="Times New Roman"/>
                <a:ea typeface="Times New Roman"/>
                <a:cs typeface="Times New Roman"/>
                <a:sym typeface="Times New Roman"/>
              </a:rPr>
              <a:t>The  image  shows  how  a  neuron works using a threshold.</a:t>
            </a:r>
            <a:endParaRPr sz="2400">
              <a:latin typeface="Times New Roman"/>
              <a:ea typeface="Times New Roman"/>
              <a:cs typeface="Times New Roman"/>
              <a:sym typeface="Times New Roman"/>
            </a:endParaRPr>
          </a:p>
          <a:p>
            <a:pPr indent="0" lvl="0" marL="12700" rtl="0" algn="l">
              <a:lnSpc>
                <a:spcPct val="100000"/>
              </a:lnSpc>
              <a:spcBef>
                <a:spcPts val="0"/>
              </a:spcBef>
              <a:spcAft>
                <a:spcPts val="0"/>
              </a:spcAft>
              <a:buNone/>
            </a:pPr>
            <a:r>
              <a:rPr lang="en-US" sz="2400">
                <a:latin typeface="Times New Roman"/>
                <a:ea typeface="Times New Roman"/>
                <a:cs typeface="Times New Roman"/>
                <a:sym typeface="Times New Roman"/>
              </a:rPr>
              <a:t>As the input increases, the neuron</a:t>
            </a:r>
            <a:endParaRPr sz="2400">
              <a:latin typeface="Times New Roman"/>
              <a:ea typeface="Times New Roman"/>
              <a:cs typeface="Times New Roman"/>
              <a:sym typeface="Times New Roman"/>
            </a:endParaRPr>
          </a:p>
        </p:txBody>
      </p:sp>
      <p:sp>
        <p:nvSpPr>
          <p:cNvPr id="88" name="Google Shape;88;p13"/>
          <p:cNvSpPr txBox="1"/>
          <p:nvPr/>
        </p:nvSpPr>
        <p:spPr>
          <a:xfrm>
            <a:off x="4495927" y="2972561"/>
            <a:ext cx="3533775" cy="391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latin typeface="Times New Roman"/>
                <a:ea typeface="Times New Roman"/>
                <a:cs typeface="Times New Roman"/>
                <a:sym typeface="Times New Roman"/>
              </a:rPr>
              <a:t>above	a	certain	level</a:t>
            </a:r>
            <a:endParaRPr sz="2400">
              <a:latin typeface="Times New Roman"/>
              <a:ea typeface="Times New Roman"/>
              <a:cs typeface="Times New Roman"/>
              <a:sym typeface="Times New Roman"/>
            </a:endParaRPr>
          </a:p>
        </p:txBody>
      </p:sp>
      <p:sp>
        <p:nvSpPr>
          <p:cNvPr id="89" name="Google Shape;89;p13"/>
          <p:cNvSpPr txBox="1"/>
          <p:nvPr/>
        </p:nvSpPr>
        <p:spPr>
          <a:xfrm>
            <a:off x="4495927" y="2606116"/>
            <a:ext cx="4415155" cy="758190"/>
          </a:xfrm>
          <a:prstGeom prst="rect">
            <a:avLst/>
          </a:prstGeom>
          <a:noFill/>
          <a:ln>
            <a:noFill/>
          </a:ln>
        </p:spPr>
        <p:txBody>
          <a:bodyPr anchorCtr="0" anchor="t" bIns="0" lIns="0" spcFirstLastPara="1" rIns="0" wrap="square" tIns="12700">
            <a:spAutoFit/>
          </a:bodyPr>
          <a:lstStyle/>
          <a:p>
            <a:pPr indent="0" lvl="0" marL="0" marR="5715" rtl="0" algn="r">
              <a:lnSpc>
                <a:spcPct val="100000"/>
              </a:lnSpc>
              <a:spcBef>
                <a:spcPts val="0"/>
              </a:spcBef>
              <a:spcAft>
                <a:spcPts val="0"/>
              </a:spcAft>
              <a:buNone/>
            </a:pPr>
            <a:r>
              <a:rPr lang="en-US" sz="2400">
                <a:latin typeface="Times New Roman"/>
                <a:ea typeface="Times New Roman"/>
                <a:cs typeface="Times New Roman"/>
                <a:sym typeface="Times New Roman"/>
              </a:rPr>
              <a:t>stays	"off"	until	the	input	goes</a:t>
            </a:r>
            <a:endParaRPr sz="2400">
              <a:latin typeface="Times New Roman"/>
              <a:ea typeface="Times New Roman"/>
              <a:cs typeface="Times New Roman"/>
              <a:sym typeface="Times New Roman"/>
            </a:endParaRPr>
          </a:p>
          <a:p>
            <a:pPr indent="0" lvl="0" marL="0" marR="5080" rtl="0" algn="r">
              <a:lnSpc>
                <a:spcPct val="100000"/>
              </a:lnSpc>
              <a:spcBef>
                <a:spcPts val="5"/>
              </a:spcBef>
              <a:spcAft>
                <a:spcPts val="0"/>
              </a:spcAft>
              <a:buNone/>
            </a:pPr>
            <a:r>
              <a:rPr lang="en-US" sz="2400">
                <a:latin typeface="Times New Roman"/>
                <a:ea typeface="Times New Roman"/>
                <a:cs typeface="Times New Roman"/>
                <a:sym typeface="Times New Roman"/>
              </a:rPr>
              <a:t>(the</a:t>
            </a:r>
            <a:endParaRPr sz="2400">
              <a:latin typeface="Times New Roman"/>
              <a:ea typeface="Times New Roman"/>
              <a:cs typeface="Times New Roman"/>
              <a:sym typeface="Times New Roman"/>
            </a:endParaRPr>
          </a:p>
        </p:txBody>
      </p:sp>
      <p:sp>
        <p:nvSpPr>
          <p:cNvPr id="90" name="Google Shape;90;p13"/>
          <p:cNvSpPr txBox="1"/>
          <p:nvPr/>
        </p:nvSpPr>
        <p:spPr>
          <a:xfrm>
            <a:off x="4495927" y="3338321"/>
            <a:ext cx="4415790" cy="295211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400">
                <a:latin typeface="Times New Roman"/>
                <a:ea typeface="Times New Roman"/>
                <a:cs typeface="Times New Roman"/>
                <a:sym typeface="Times New Roman"/>
              </a:rPr>
              <a:t>threshold).</a:t>
            </a:r>
            <a:endParaRPr sz="2400">
              <a:latin typeface="Times New Roman"/>
              <a:ea typeface="Times New Roman"/>
              <a:cs typeface="Times New Roman"/>
              <a:sym typeface="Times New Roman"/>
            </a:endParaRPr>
          </a:p>
          <a:p>
            <a:pPr indent="0" lvl="0" marL="12700" marR="5715" rtl="0" algn="just">
              <a:lnSpc>
                <a:spcPct val="100000"/>
              </a:lnSpc>
              <a:spcBef>
                <a:spcPts val="0"/>
              </a:spcBef>
              <a:spcAft>
                <a:spcPts val="0"/>
              </a:spcAft>
              <a:buNone/>
            </a:pPr>
            <a:r>
              <a:rPr lang="en-US" sz="2400">
                <a:latin typeface="Times New Roman"/>
                <a:ea typeface="Times New Roman"/>
                <a:cs typeface="Times New Roman"/>
                <a:sym typeface="Times New Roman"/>
              </a:rPr>
              <a:t>Once the input is high enough, the neuron  turns  "on"  and  sends  a signal.</a:t>
            </a:r>
            <a:endParaRPr sz="2400">
              <a:latin typeface="Times New Roman"/>
              <a:ea typeface="Times New Roman"/>
              <a:cs typeface="Times New Roman"/>
              <a:sym typeface="Times New Roman"/>
            </a:endParaRPr>
          </a:p>
          <a:p>
            <a:pPr indent="0" lvl="0" marL="12700" marR="5080" rtl="0" algn="just">
              <a:lnSpc>
                <a:spcPct val="100000"/>
              </a:lnSpc>
              <a:spcBef>
                <a:spcPts val="0"/>
              </a:spcBef>
              <a:spcAft>
                <a:spcPts val="0"/>
              </a:spcAft>
              <a:buNone/>
            </a:pPr>
            <a:r>
              <a:rPr lang="en-US" sz="2400">
                <a:latin typeface="Times New Roman"/>
                <a:ea typeface="Times New Roman"/>
                <a:cs typeface="Times New Roman"/>
                <a:sym typeface="Times New Roman"/>
              </a:rPr>
              <a:t>This  means  a  neuron  only  reacts when the input is strong enough — like a switch that only flips when pushed hard enough.</a:t>
            </a:r>
            <a:endParaRPr sz="2400">
              <a:latin typeface="Times New Roman"/>
              <a:ea typeface="Times New Roman"/>
              <a:cs typeface="Times New Roman"/>
              <a:sym typeface="Times New Roman"/>
            </a:endParaRPr>
          </a:p>
        </p:txBody>
      </p:sp>
      <p:sp>
        <p:nvSpPr>
          <p:cNvPr id="91" name="Google Shape;91;p13"/>
          <p:cNvSpPr txBox="1"/>
          <p:nvPr/>
        </p:nvSpPr>
        <p:spPr>
          <a:xfrm>
            <a:off x="520395" y="5537098"/>
            <a:ext cx="3756660" cy="33083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000">
                <a:latin typeface="Times New Roman"/>
                <a:ea typeface="Times New Roman"/>
                <a:cs typeface="Times New Roman"/>
                <a:sym typeface="Times New Roman"/>
              </a:rPr>
              <a:t>Fig</a:t>
            </a:r>
            <a:r>
              <a:rPr lang="en-US" sz="2000">
                <a:latin typeface="Times New Roman"/>
                <a:ea typeface="Times New Roman"/>
                <a:cs typeface="Times New Roman"/>
                <a:sym typeface="Times New Roman"/>
              </a:rPr>
              <a:t>: The input to the neuron body</a:t>
            </a:r>
            <a:endParaRPr sz="2000">
              <a:latin typeface="Times New Roman"/>
              <a:ea typeface="Times New Roman"/>
              <a:cs typeface="Times New Roman"/>
              <a:sym typeface="Times New Roman"/>
            </a:endParaRPr>
          </a:p>
        </p:txBody>
      </p:sp>
      <p:sp>
        <p:nvSpPr>
          <p:cNvPr id="92" name="Google Shape;92;p13"/>
          <p:cNvSpPr txBox="1"/>
          <p:nvPr/>
        </p:nvSpPr>
        <p:spPr>
          <a:xfrm>
            <a:off x="520395" y="5841593"/>
            <a:ext cx="3756025" cy="33147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2000">
                <a:latin typeface="Times New Roman"/>
                <a:ea typeface="Times New Roman"/>
                <a:cs typeface="Times New Roman"/>
                <a:sym typeface="Times New Roman"/>
              </a:rPr>
              <a:t>must	exceed	a	certain	threshold</a:t>
            </a:r>
            <a:endParaRPr sz="2000">
              <a:latin typeface="Times New Roman"/>
              <a:ea typeface="Times New Roman"/>
              <a:cs typeface="Times New Roman"/>
              <a:sym typeface="Times New Roman"/>
            </a:endParaRPr>
          </a:p>
        </p:txBody>
      </p:sp>
      <p:sp>
        <p:nvSpPr>
          <p:cNvPr id="93" name="Google Shape;93;p13"/>
          <p:cNvSpPr txBox="1"/>
          <p:nvPr/>
        </p:nvSpPr>
        <p:spPr>
          <a:xfrm>
            <a:off x="1578645" y="6173078"/>
            <a:ext cx="2413500" cy="320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2000">
                <a:latin typeface="Times New Roman"/>
                <a:ea typeface="Times New Roman"/>
                <a:cs typeface="Times New Roman"/>
                <a:sym typeface="Times New Roman"/>
              </a:rPr>
              <a:t>before the cell will fire.</a:t>
            </a:r>
            <a:endParaRPr sz="20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7" name="Shape 97"/>
        <p:cNvGrpSpPr/>
        <p:nvPr/>
      </p:nvGrpSpPr>
      <p:grpSpPr>
        <a:xfrm>
          <a:off x="0" y="0"/>
          <a:ext cx="0" cy="0"/>
          <a:chOff x="0" y="0"/>
          <a:chExt cx="0" cy="0"/>
        </a:xfrm>
      </p:grpSpPr>
      <p:sp>
        <p:nvSpPr>
          <p:cNvPr descr="$PPTXTitle" id="98" name="Google Shape;98;p14"/>
          <p:cNvSpPr txBox="1"/>
          <p:nvPr>
            <p:ph type="title"/>
          </p:nvPr>
        </p:nvSpPr>
        <p:spPr>
          <a:xfrm>
            <a:off x="1033373" y="293319"/>
            <a:ext cx="5934709" cy="728649"/>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Learning in Biological Systems</a:t>
            </a:r>
            <a:endParaRPr/>
          </a:p>
        </p:txBody>
      </p:sp>
      <p:pic>
        <p:nvPicPr>
          <p:cNvPr id="99" name="Google Shape;99;p14"/>
          <p:cNvPicPr preferRelativeResize="0"/>
          <p:nvPr/>
        </p:nvPicPr>
        <p:blipFill rotWithShape="1">
          <a:blip r:embed="rId3">
            <a:alphaModFix/>
          </a:blip>
          <a:srcRect b="0" l="0" r="0" t="0"/>
          <a:stretch/>
        </p:blipFill>
        <p:spPr>
          <a:xfrm>
            <a:off x="395616" y="1302321"/>
            <a:ext cx="4361741" cy="4428831"/>
          </a:xfrm>
          <a:prstGeom prst="rect">
            <a:avLst/>
          </a:prstGeom>
          <a:noFill/>
          <a:ln>
            <a:noFill/>
          </a:ln>
        </p:spPr>
      </p:pic>
      <p:sp>
        <p:nvSpPr>
          <p:cNvPr id="100" name="Google Shape;100;p14"/>
          <p:cNvSpPr txBox="1"/>
          <p:nvPr/>
        </p:nvSpPr>
        <p:spPr>
          <a:xfrm>
            <a:off x="5175884" y="1287526"/>
            <a:ext cx="3543300" cy="5147310"/>
          </a:xfrm>
          <a:prstGeom prst="rect">
            <a:avLst/>
          </a:prstGeom>
          <a:noFill/>
          <a:ln>
            <a:noFill/>
          </a:ln>
        </p:spPr>
        <p:txBody>
          <a:bodyPr anchorCtr="0" anchor="t" bIns="0" lIns="0" spcFirstLastPara="1" rIns="0" wrap="square" tIns="12700">
            <a:spAutoFit/>
          </a:bodyPr>
          <a:lstStyle/>
          <a:p>
            <a:pPr indent="0" lvl="0" marL="12700" marR="9525" rtl="0" algn="l">
              <a:lnSpc>
                <a:spcPct val="100000"/>
              </a:lnSpc>
              <a:spcBef>
                <a:spcPts val="0"/>
              </a:spcBef>
              <a:spcAft>
                <a:spcPts val="0"/>
              </a:spcAft>
              <a:buNone/>
            </a:pPr>
            <a:r>
              <a:rPr lang="en-US" sz="2400">
                <a:latin typeface="Times New Roman"/>
                <a:ea typeface="Times New Roman"/>
                <a:cs typeface="Times New Roman"/>
                <a:sym typeface="Times New Roman"/>
              </a:rPr>
              <a:t>When a signal reaches the end of a neuron (the </a:t>
            </a:r>
            <a:r>
              <a:rPr b="1" lang="en-US" sz="2400">
                <a:latin typeface="Times New Roman"/>
                <a:ea typeface="Times New Roman"/>
                <a:cs typeface="Times New Roman"/>
                <a:sym typeface="Times New Roman"/>
              </a:rPr>
              <a:t>axon terminal</a:t>
            </a:r>
            <a:r>
              <a:rPr lang="en-US" sz="2400">
                <a:latin typeface="Times New Roman"/>
                <a:ea typeface="Times New Roman"/>
                <a:cs typeface="Times New Roman"/>
                <a:sym typeface="Times New Roman"/>
              </a:rPr>
              <a:t>), it causes small sacs called </a:t>
            </a:r>
            <a:r>
              <a:rPr b="1" lang="en-US" sz="2400">
                <a:latin typeface="Times New Roman"/>
                <a:ea typeface="Times New Roman"/>
                <a:cs typeface="Times New Roman"/>
                <a:sym typeface="Times New Roman"/>
              </a:rPr>
              <a:t>synaptic vesicles </a:t>
            </a:r>
            <a:r>
              <a:rPr lang="en-US" sz="2400">
                <a:latin typeface="Times New Roman"/>
                <a:ea typeface="Times New Roman"/>
                <a:cs typeface="Times New Roman"/>
                <a:sym typeface="Times New Roman"/>
              </a:rPr>
              <a:t>to release </a:t>
            </a:r>
            <a:r>
              <a:rPr b="1" lang="en-US" sz="2400">
                <a:latin typeface="Times New Roman"/>
                <a:ea typeface="Times New Roman"/>
                <a:cs typeface="Times New Roman"/>
                <a:sym typeface="Times New Roman"/>
              </a:rPr>
              <a:t>neurotransmitters </a:t>
            </a:r>
            <a:r>
              <a:rPr lang="en-US" sz="2400">
                <a:latin typeface="Times New Roman"/>
                <a:ea typeface="Times New Roman"/>
                <a:cs typeface="Times New Roman"/>
                <a:sym typeface="Times New Roman"/>
              </a:rPr>
              <a:t>(chemical messengers).</a:t>
            </a:r>
            <a:endParaRPr sz="2400">
              <a:latin typeface="Times New Roman"/>
              <a:ea typeface="Times New Roman"/>
              <a:cs typeface="Times New Roman"/>
              <a:sym typeface="Times New Roman"/>
            </a:endParaRPr>
          </a:p>
          <a:p>
            <a:pPr indent="0" lvl="0" marL="12700" marR="5080" rtl="0" algn="l">
              <a:lnSpc>
                <a:spcPct val="100000"/>
              </a:lnSpc>
              <a:spcBef>
                <a:spcPts val="0"/>
              </a:spcBef>
              <a:spcAft>
                <a:spcPts val="0"/>
              </a:spcAft>
              <a:buNone/>
            </a:pPr>
            <a:r>
              <a:rPr lang="en-US" sz="2400">
                <a:latin typeface="Times New Roman"/>
                <a:ea typeface="Times New Roman"/>
                <a:cs typeface="Times New Roman"/>
                <a:sym typeface="Times New Roman"/>
              </a:rPr>
              <a:t>These chemicals travel across a tiny gap called the </a:t>
            </a:r>
            <a:r>
              <a:rPr b="1" lang="en-US" sz="2400">
                <a:latin typeface="Times New Roman"/>
                <a:ea typeface="Times New Roman"/>
                <a:cs typeface="Times New Roman"/>
                <a:sym typeface="Times New Roman"/>
              </a:rPr>
              <a:t>synaptic cleft </a:t>
            </a:r>
            <a:r>
              <a:rPr lang="en-US" sz="2400">
                <a:latin typeface="Times New Roman"/>
                <a:ea typeface="Times New Roman"/>
                <a:cs typeface="Times New Roman"/>
                <a:sym typeface="Times New Roman"/>
              </a:rPr>
              <a:t>and bind to </a:t>
            </a:r>
            <a:r>
              <a:rPr b="1" lang="en-US" sz="2400">
                <a:latin typeface="Times New Roman"/>
                <a:ea typeface="Times New Roman"/>
                <a:cs typeface="Times New Roman"/>
                <a:sym typeface="Times New Roman"/>
              </a:rPr>
              <a:t>receptors </a:t>
            </a:r>
            <a:r>
              <a:rPr lang="en-US" sz="2400">
                <a:latin typeface="Times New Roman"/>
                <a:ea typeface="Times New Roman"/>
                <a:cs typeface="Times New Roman"/>
                <a:sym typeface="Times New Roman"/>
              </a:rPr>
              <a:t>on the surface of the next neuron's </a:t>
            </a:r>
            <a:r>
              <a:rPr b="1" lang="en-US" sz="2400">
                <a:latin typeface="Times New Roman"/>
                <a:ea typeface="Times New Roman"/>
                <a:cs typeface="Times New Roman"/>
                <a:sym typeface="Times New Roman"/>
              </a:rPr>
              <a:t>dendrite</a:t>
            </a:r>
            <a:r>
              <a:rPr lang="en-US" sz="2400">
                <a:latin typeface="Times New Roman"/>
                <a:ea typeface="Times New Roman"/>
                <a:cs typeface="Times New Roman"/>
                <a:sym typeface="Times New Roman"/>
              </a:rPr>
              <a:t>. This triggers the next neuron to continue the signal.</a:t>
            </a:r>
            <a:endParaRPr sz="2400">
              <a:latin typeface="Times New Roman"/>
              <a:ea typeface="Times New Roman"/>
              <a:cs typeface="Times New Roman"/>
              <a:sym typeface="Times New Roman"/>
            </a:endParaRPr>
          </a:p>
        </p:txBody>
      </p:sp>
      <p:sp>
        <p:nvSpPr>
          <p:cNvPr id="101" name="Google Shape;101;p14"/>
          <p:cNvSpPr txBox="1"/>
          <p:nvPr/>
        </p:nvSpPr>
        <p:spPr>
          <a:xfrm>
            <a:off x="380491" y="5844946"/>
            <a:ext cx="4051300" cy="63627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000">
                <a:latin typeface="Times New Roman"/>
                <a:ea typeface="Times New Roman"/>
                <a:cs typeface="Times New Roman"/>
                <a:sym typeface="Times New Roman"/>
              </a:rPr>
              <a:t>Fig: </a:t>
            </a:r>
            <a:r>
              <a:rPr lang="en-US" sz="2000">
                <a:latin typeface="Times New Roman"/>
                <a:ea typeface="Times New Roman"/>
                <a:cs typeface="Times New Roman"/>
                <a:sym typeface="Times New Roman"/>
              </a:rPr>
              <a:t>How Neurons Communicate at the</a:t>
            </a:r>
            <a:endParaRPr sz="2000">
              <a:latin typeface="Times New Roman"/>
              <a:ea typeface="Times New Roman"/>
              <a:cs typeface="Times New Roman"/>
              <a:sym typeface="Times New Roman"/>
            </a:endParaRPr>
          </a:p>
          <a:p>
            <a:pPr indent="0" lvl="0" marL="12700" rtl="0" algn="l">
              <a:lnSpc>
                <a:spcPct val="100000"/>
              </a:lnSpc>
              <a:spcBef>
                <a:spcPts val="0"/>
              </a:spcBef>
              <a:spcAft>
                <a:spcPts val="0"/>
              </a:spcAft>
              <a:buNone/>
            </a:pPr>
            <a:r>
              <a:rPr lang="en-US" sz="2000">
                <a:latin typeface="Times New Roman"/>
                <a:ea typeface="Times New Roman"/>
                <a:cs typeface="Times New Roman"/>
                <a:sym typeface="Times New Roman"/>
              </a:rPr>
              <a:t>Synapse</a:t>
            </a:r>
            <a:endParaRPr sz="20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graphicFrame>
        <p:nvGraphicFramePr>
          <p:cNvPr id="106" name="Google Shape;106;p15"/>
          <p:cNvGraphicFramePr/>
          <p:nvPr/>
        </p:nvGraphicFramePr>
        <p:xfrm>
          <a:off x="461187" y="3168904"/>
          <a:ext cx="3000000" cy="3000000"/>
        </p:xfrm>
        <a:graphic>
          <a:graphicData uri="http://schemas.openxmlformats.org/drawingml/2006/table">
            <a:tbl>
              <a:tblPr bandRow="1" firstRow="1">
                <a:noFill/>
                <a:tableStyleId>{6211660B-B0A4-4930-BB1B-A1DAF7E0C33F}</a:tableStyleId>
              </a:tblPr>
              <a:tblGrid>
                <a:gridCol w="4106550"/>
                <a:gridCol w="4394825"/>
              </a:tblGrid>
              <a:tr h="365750">
                <a:tc>
                  <a:txBody>
                    <a:bodyPr/>
                    <a:lstStyle/>
                    <a:p>
                      <a:pPr indent="0" lvl="0" marL="1175385" marR="0" rtl="0" algn="l">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Biological Neuron</a:t>
                      </a:r>
                      <a:endParaRPr sz="1800" u="none" cap="none" strike="noStrike">
                        <a:latin typeface="Times New Roman"/>
                        <a:ea typeface="Times New Roman"/>
                        <a:cs typeface="Times New Roman"/>
                        <a:sym typeface="Times New Roman"/>
                      </a:endParaRPr>
                    </a:p>
                  </a:txBody>
                  <a:tcPr marT="38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1270" marR="0" rtl="0" algn="ctr">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Artificial Neuron</a:t>
                      </a:r>
                      <a:endParaRPr sz="1800" u="none" cap="none" strike="noStrike">
                        <a:latin typeface="Times New Roman"/>
                        <a:ea typeface="Times New Roman"/>
                        <a:cs typeface="Times New Roman"/>
                        <a:sym typeface="Times New Roman"/>
                      </a:endParaRPr>
                    </a:p>
                  </a:txBody>
                  <a:tcPr marT="38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40075">
                <a:tc>
                  <a:txBody>
                    <a:bodyPr/>
                    <a:lstStyle/>
                    <a:p>
                      <a:pPr indent="0" lvl="0" marL="91440" marR="615315" rtl="0" algn="l">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Dendrites </a:t>
                      </a:r>
                      <a:r>
                        <a:rPr lang="en-US" sz="1800" u="none" cap="none" strike="noStrike">
                          <a:latin typeface="Times New Roman"/>
                          <a:ea typeface="Times New Roman"/>
                          <a:cs typeface="Times New Roman"/>
                          <a:sym typeface="Times New Roman"/>
                        </a:rPr>
                        <a:t>receive signals from other neurons.</a:t>
                      </a:r>
                      <a:endParaRPr sz="1800" u="none" cap="none" strike="noStrike">
                        <a:latin typeface="Times New Roman"/>
                        <a:ea typeface="Times New Roman"/>
                        <a:cs typeface="Times New Roman"/>
                        <a:sym typeface="Times New Roman"/>
                      </a:endParaRPr>
                    </a:p>
                  </a:txBody>
                  <a:tcPr marT="38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Inputs (x₁, x₂, ..., xₙ) </a:t>
                      </a:r>
                      <a:r>
                        <a:rPr lang="en-US" sz="1800" u="none" cap="none" strike="noStrike">
                          <a:latin typeface="Times New Roman"/>
                          <a:ea typeface="Times New Roman"/>
                          <a:cs typeface="Times New Roman"/>
                          <a:sym typeface="Times New Roman"/>
                        </a:rPr>
                        <a:t>receive data or signals.</a:t>
                      </a:r>
                      <a:endParaRPr sz="1800" u="none" cap="none" strike="noStrike">
                        <a:latin typeface="Times New Roman"/>
                        <a:ea typeface="Times New Roman"/>
                        <a:cs typeface="Times New Roman"/>
                        <a:sym typeface="Times New Roman"/>
                      </a:endParaRPr>
                    </a:p>
                  </a:txBody>
                  <a:tcPr marT="1759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40075">
                <a:tc>
                  <a:txBody>
                    <a:bodyPr/>
                    <a:lstStyle/>
                    <a:p>
                      <a:pPr indent="0" lvl="0" marL="91440" marR="0" rtl="0" algn="l">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Nucleus </a:t>
                      </a:r>
                      <a:r>
                        <a:rPr lang="en-US" sz="1800" u="none" cap="none" strike="noStrike">
                          <a:latin typeface="Times New Roman"/>
                          <a:ea typeface="Times New Roman"/>
                          <a:cs typeface="Times New Roman"/>
                          <a:sym typeface="Times New Roman"/>
                        </a:rPr>
                        <a:t>processes the signal inside the</a:t>
                      </a:r>
                      <a:endParaRPr sz="1800" u="none" cap="none" strike="noStrike">
                        <a:latin typeface="Times New Roman"/>
                        <a:ea typeface="Times New Roman"/>
                        <a:cs typeface="Times New Roman"/>
                        <a:sym typeface="Times New Roman"/>
                      </a:endParaRPr>
                    </a:p>
                    <a:p>
                      <a:pPr indent="0" lvl="0" marL="91440" marR="0" rtl="0" algn="l">
                        <a:lnSpc>
                          <a:spcPct val="100000"/>
                        </a:lnSpc>
                        <a:spcBef>
                          <a:spcPts val="0"/>
                        </a:spcBef>
                        <a:spcAft>
                          <a:spcPts val="0"/>
                        </a:spcAft>
                        <a:buNone/>
                      </a:pPr>
                      <a:r>
                        <a:rPr lang="en-US" sz="1800" u="none" cap="none" strike="noStrike">
                          <a:latin typeface="Times New Roman"/>
                          <a:ea typeface="Times New Roman"/>
                          <a:cs typeface="Times New Roman"/>
                          <a:sym typeface="Times New Roman"/>
                        </a:rPr>
                        <a:t>cell body.</a:t>
                      </a:r>
                      <a:endParaRPr sz="1800" u="none" cap="none" strike="noStrike">
                        <a:latin typeface="Times New Roman"/>
                        <a:ea typeface="Times New Roman"/>
                        <a:cs typeface="Times New Roman"/>
                        <a:sym typeface="Times New Roman"/>
                      </a:endParaRPr>
                    </a:p>
                  </a:txBody>
                  <a:tcPr marT="38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Linear function (z) </a:t>
                      </a:r>
                      <a:r>
                        <a:rPr lang="en-US" sz="1800" u="none" cap="none" strike="noStrike">
                          <a:latin typeface="Times New Roman"/>
                          <a:ea typeface="Times New Roman"/>
                          <a:cs typeface="Times New Roman"/>
                          <a:sym typeface="Times New Roman"/>
                        </a:rPr>
                        <a:t>processes the weighted</a:t>
                      </a:r>
                      <a:endParaRPr sz="1800" u="none" cap="none" strike="noStrike">
                        <a:latin typeface="Times New Roman"/>
                        <a:ea typeface="Times New Roman"/>
                        <a:cs typeface="Times New Roman"/>
                        <a:sym typeface="Times New Roman"/>
                      </a:endParaRPr>
                    </a:p>
                    <a:p>
                      <a:pPr indent="0" lvl="0" marL="92075" marR="0" rtl="0" algn="l">
                        <a:lnSpc>
                          <a:spcPct val="100000"/>
                        </a:lnSpc>
                        <a:spcBef>
                          <a:spcPts val="0"/>
                        </a:spcBef>
                        <a:spcAft>
                          <a:spcPts val="0"/>
                        </a:spcAft>
                        <a:buNone/>
                      </a:pPr>
                      <a:r>
                        <a:rPr lang="en-US" sz="1800" u="none" cap="none" strike="noStrike">
                          <a:latin typeface="Times New Roman"/>
                          <a:ea typeface="Times New Roman"/>
                          <a:cs typeface="Times New Roman"/>
                          <a:sym typeface="Times New Roman"/>
                        </a:rPr>
                        <a:t>sum of inputs.</a:t>
                      </a:r>
                      <a:endParaRPr sz="1800" u="none" cap="none" strike="noStrike">
                        <a:latin typeface="Times New Roman"/>
                        <a:ea typeface="Times New Roman"/>
                        <a:cs typeface="Times New Roman"/>
                        <a:sym typeface="Times New Roman"/>
                      </a:endParaRPr>
                    </a:p>
                  </a:txBody>
                  <a:tcPr marT="38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39450">
                <a:tc>
                  <a:txBody>
                    <a:bodyPr/>
                    <a:lstStyle/>
                    <a:p>
                      <a:pPr indent="0" lvl="0" marL="91440" marR="0" rtl="0" algn="l">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Axon </a:t>
                      </a:r>
                      <a:r>
                        <a:rPr lang="en-US" sz="1800" u="none" cap="none" strike="noStrike">
                          <a:latin typeface="Times New Roman"/>
                          <a:ea typeface="Times New Roman"/>
                          <a:cs typeface="Times New Roman"/>
                          <a:sym typeface="Times New Roman"/>
                        </a:rPr>
                        <a:t>sends the signal to the next neuron.</a:t>
                      </a:r>
                      <a:endParaRPr sz="1800" u="none" cap="none" strike="noStrike">
                        <a:latin typeface="Times New Roman"/>
                        <a:ea typeface="Times New Roman"/>
                        <a:cs typeface="Times New Roman"/>
                        <a:sym typeface="Times New Roman"/>
                      </a:endParaRPr>
                    </a:p>
                  </a:txBody>
                  <a:tcPr marT="175900"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2075" marR="599440" rtl="0" algn="l">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Output (y) </a:t>
                      </a:r>
                      <a:r>
                        <a:rPr lang="en-US" sz="1800" u="none" cap="none" strike="noStrike">
                          <a:latin typeface="Times New Roman"/>
                          <a:ea typeface="Times New Roman"/>
                          <a:cs typeface="Times New Roman"/>
                          <a:sym typeface="Times New Roman"/>
                        </a:rPr>
                        <a:t>is passed to the next layer or neuron.</a:t>
                      </a:r>
                      <a:endParaRPr sz="1800" u="none" cap="none" strike="noStrike">
                        <a:latin typeface="Times New Roman"/>
                        <a:ea typeface="Times New Roman"/>
                        <a:cs typeface="Times New Roman"/>
                        <a:sym typeface="Times New Roman"/>
                      </a:endParaRPr>
                    </a:p>
                  </a:txBody>
                  <a:tcPr marT="38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39450">
                <a:tc>
                  <a:txBody>
                    <a:bodyPr/>
                    <a:lstStyle/>
                    <a:p>
                      <a:pPr indent="0" lvl="0" marL="91440" marR="297815" rtl="0" algn="l">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Synapse </a:t>
                      </a:r>
                      <a:r>
                        <a:rPr lang="en-US" sz="1800" u="none" cap="none" strike="noStrike">
                          <a:latin typeface="Times New Roman"/>
                          <a:ea typeface="Times New Roman"/>
                          <a:cs typeface="Times New Roman"/>
                          <a:sym typeface="Times New Roman"/>
                        </a:rPr>
                        <a:t>adjusts signal strength between neurons.</a:t>
                      </a:r>
                      <a:endParaRPr sz="1800" u="none" cap="none" strike="noStrike">
                        <a:latin typeface="Times New Roman"/>
                        <a:ea typeface="Times New Roman"/>
                        <a:cs typeface="Times New Roman"/>
                        <a:sym typeface="Times New Roman"/>
                      </a:endParaRPr>
                    </a:p>
                  </a:txBody>
                  <a:tcPr marT="38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2075" marR="576580" rtl="0" algn="l">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Weights (w₁, w₂, ..., wₙ) </a:t>
                      </a:r>
                      <a:r>
                        <a:rPr lang="en-US" sz="1800" u="none" cap="none" strike="noStrike">
                          <a:latin typeface="Times New Roman"/>
                          <a:ea typeface="Times New Roman"/>
                          <a:cs typeface="Times New Roman"/>
                          <a:sym typeface="Times New Roman"/>
                        </a:rPr>
                        <a:t>determine input importance.</a:t>
                      </a:r>
                      <a:endParaRPr sz="1800" u="none" cap="none" strike="noStrike">
                        <a:latin typeface="Times New Roman"/>
                        <a:ea typeface="Times New Roman"/>
                        <a:cs typeface="Times New Roman"/>
                        <a:sym typeface="Times New Roman"/>
                      </a:endParaRPr>
                    </a:p>
                  </a:txBody>
                  <a:tcPr marT="38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40075">
                <a:tc>
                  <a:txBody>
                    <a:bodyPr/>
                    <a:lstStyle/>
                    <a:p>
                      <a:pPr indent="0" lvl="0" marL="91440" marR="0" rtl="0" algn="l">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Neural firing </a:t>
                      </a:r>
                      <a:r>
                        <a:rPr lang="en-US" sz="1800" u="none" cap="none" strike="noStrike">
                          <a:latin typeface="Times New Roman"/>
                          <a:ea typeface="Times New Roman"/>
                          <a:cs typeface="Times New Roman"/>
                          <a:sym typeface="Times New Roman"/>
                        </a:rPr>
                        <a:t>depends on a threshold.</a:t>
                      </a:r>
                      <a:endParaRPr sz="1800" u="none" cap="none" strike="noStrike">
                        <a:latin typeface="Times New Roman"/>
                        <a:ea typeface="Times New Roman"/>
                        <a:cs typeface="Times New Roman"/>
                        <a:sym typeface="Times New Roman"/>
                      </a:endParaRPr>
                    </a:p>
                  </a:txBody>
                  <a:tcPr marT="1765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92075" marR="0" rtl="0" algn="l">
                        <a:lnSpc>
                          <a:spcPct val="100000"/>
                        </a:lnSpc>
                        <a:spcBef>
                          <a:spcPts val="0"/>
                        </a:spcBef>
                        <a:spcAft>
                          <a:spcPts val="0"/>
                        </a:spcAft>
                        <a:buNone/>
                      </a:pPr>
                      <a:r>
                        <a:rPr b="1" lang="en-US" sz="1800" u="none" cap="none" strike="noStrike">
                          <a:latin typeface="Times New Roman"/>
                          <a:ea typeface="Times New Roman"/>
                          <a:cs typeface="Times New Roman"/>
                          <a:sym typeface="Times New Roman"/>
                        </a:rPr>
                        <a:t>Activation function (f) </a:t>
                      </a:r>
                      <a:r>
                        <a:rPr lang="en-US" sz="1800" u="none" cap="none" strike="noStrike">
                          <a:latin typeface="Times New Roman"/>
                          <a:ea typeface="Times New Roman"/>
                          <a:cs typeface="Times New Roman"/>
                          <a:sym typeface="Times New Roman"/>
                        </a:rPr>
                        <a:t>decides whether to</a:t>
                      </a:r>
                      <a:endParaRPr sz="1800" u="none" cap="none" strike="noStrike">
                        <a:latin typeface="Times New Roman"/>
                        <a:ea typeface="Times New Roman"/>
                        <a:cs typeface="Times New Roman"/>
                        <a:sym typeface="Times New Roman"/>
                      </a:endParaRPr>
                    </a:p>
                    <a:p>
                      <a:pPr indent="0" lvl="0" marL="92075" marR="0" rtl="0" algn="l">
                        <a:lnSpc>
                          <a:spcPct val="100000"/>
                        </a:lnSpc>
                        <a:spcBef>
                          <a:spcPts val="5"/>
                        </a:spcBef>
                        <a:spcAft>
                          <a:spcPts val="0"/>
                        </a:spcAft>
                        <a:buNone/>
                      </a:pPr>
                      <a:r>
                        <a:rPr lang="en-US" sz="1800" u="none" cap="none" strike="noStrike">
                          <a:latin typeface="Times New Roman"/>
                          <a:ea typeface="Times New Roman"/>
                          <a:cs typeface="Times New Roman"/>
                          <a:sym typeface="Times New Roman"/>
                        </a:rPr>
                        <a:t>"fire" (output a value).</a:t>
                      </a:r>
                      <a:endParaRPr sz="1800" u="none" cap="none" strike="noStrike">
                        <a:latin typeface="Times New Roman"/>
                        <a:ea typeface="Times New Roman"/>
                        <a:cs typeface="Times New Roman"/>
                        <a:sym typeface="Times New Roman"/>
                      </a:endParaRPr>
                    </a:p>
                  </a:txBody>
                  <a:tcPr marT="38725" marB="0" marR="0" marL="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0" name="Shape 110"/>
        <p:cNvGrpSpPr/>
        <p:nvPr/>
      </p:nvGrpSpPr>
      <p:grpSpPr>
        <a:xfrm>
          <a:off x="0" y="0"/>
          <a:ext cx="0" cy="0"/>
          <a:chOff x="0" y="0"/>
          <a:chExt cx="0" cy="0"/>
        </a:xfrm>
      </p:grpSpPr>
      <p:sp>
        <p:nvSpPr>
          <p:cNvPr descr="$PPTXTitle" id="111" name="Google Shape;111;p16"/>
          <p:cNvSpPr txBox="1"/>
          <p:nvPr>
            <p:ph type="title"/>
          </p:nvPr>
        </p:nvSpPr>
        <p:spPr>
          <a:xfrm>
            <a:off x="1033373" y="293319"/>
            <a:ext cx="5934709" cy="728649"/>
          </a:xfrm>
          <a:prstGeom prst="rect">
            <a:avLst/>
          </a:prstGeom>
          <a:noFill/>
          <a:ln>
            <a:noFill/>
          </a:ln>
        </p:spPr>
        <p:txBody>
          <a:bodyPr anchorCtr="0" anchor="t" bIns="0" lIns="0" spcFirstLastPara="1" rIns="0" wrap="square" tIns="228250">
            <a:spAutoFit/>
          </a:bodyPr>
          <a:lstStyle/>
          <a:p>
            <a:pPr indent="0" lvl="0" marL="1440815" rtl="0" algn="l">
              <a:lnSpc>
                <a:spcPct val="100000"/>
              </a:lnSpc>
              <a:spcBef>
                <a:spcPts val="0"/>
              </a:spcBef>
              <a:spcAft>
                <a:spcPts val="0"/>
              </a:spcAft>
              <a:buNone/>
            </a:pPr>
            <a:r>
              <a:rPr lang="en-US"/>
              <a:t>Learning In Machines</a:t>
            </a:r>
            <a:endParaRPr/>
          </a:p>
        </p:txBody>
      </p:sp>
      <p:sp>
        <p:nvSpPr>
          <p:cNvPr id="112" name="Google Shape;112;p16"/>
          <p:cNvSpPr txBox="1"/>
          <p:nvPr/>
        </p:nvSpPr>
        <p:spPr>
          <a:xfrm>
            <a:off x="429564" y="1236675"/>
            <a:ext cx="8204200" cy="5074285"/>
          </a:xfrm>
          <a:prstGeom prst="rect">
            <a:avLst/>
          </a:prstGeom>
          <a:noFill/>
          <a:ln>
            <a:noFill/>
          </a:ln>
        </p:spPr>
        <p:txBody>
          <a:bodyPr anchorCtr="0" anchor="t" bIns="0" lIns="0" spcFirstLastPara="1" rIns="0" wrap="square" tIns="12700">
            <a:spAutoFit/>
          </a:bodyPr>
          <a:lstStyle/>
          <a:p>
            <a:pPr indent="-342265" lvl="0" marL="354965" rtl="0" algn="just">
              <a:lnSpc>
                <a:spcPct val="100000"/>
              </a:lnSpc>
              <a:spcBef>
                <a:spcPts val="0"/>
              </a:spcBef>
              <a:spcAft>
                <a:spcPts val="0"/>
              </a:spcAft>
              <a:buClr>
                <a:srgbClr val="996600"/>
              </a:buClr>
              <a:buSzPts val="2400"/>
              <a:buFont typeface="Noto Sans Symbols"/>
              <a:buChar char="⬥"/>
            </a:pPr>
            <a:r>
              <a:rPr lang="en-US" sz="2400">
                <a:latin typeface="Times New Roman"/>
                <a:ea typeface="Times New Roman"/>
                <a:cs typeface="Times New Roman"/>
                <a:sym typeface="Times New Roman"/>
              </a:rPr>
              <a:t>Learning isn't just something living things do — machines can</a:t>
            </a:r>
            <a:endParaRPr sz="2400">
              <a:latin typeface="Times New Roman"/>
              <a:ea typeface="Times New Roman"/>
              <a:cs typeface="Times New Roman"/>
              <a:sym typeface="Times New Roman"/>
            </a:endParaRPr>
          </a:p>
          <a:p>
            <a:pPr indent="0" lvl="0" marL="355600" rtl="0" algn="just">
              <a:lnSpc>
                <a:spcPct val="100000"/>
              </a:lnSpc>
              <a:spcBef>
                <a:spcPts val="5"/>
              </a:spcBef>
              <a:spcAft>
                <a:spcPts val="0"/>
              </a:spcAft>
              <a:buNone/>
            </a:pPr>
            <a:r>
              <a:rPr lang="en-US" sz="2400">
                <a:latin typeface="Times New Roman"/>
                <a:ea typeface="Times New Roman"/>
                <a:cs typeface="Times New Roman"/>
                <a:sym typeface="Times New Roman"/>
              </a:rPr>
              <a:t>learn too.</a:t>
            </a:r>
            <a:endParaRPr sz="2400">
              <a:latin typeface="Times New Roman"/>
              <a:ea typeface="Times New Roman"/>
              <a:cs typeface="Times New Roman"/>
              <a:sym typeface="Times New Roman"/>
            </a:endParaRPr>
          </a:p>
          <a:p>
            <a:pPr indent="-342900" lvl="0" marL="355600" marR="5715" rtl="0" algn="just">
              <a:lnSpc>
                <a:spcPct val="100000"/>
              </a:lnSpc>
              <a:spcBef>
                <a:spcPts val="575"/>
              </a:spcBef>
              <a:spcAft>
                <a:spcPts val="0"/>
              </a:spcAft>
              <a:buClr>
                <a:srgbClr val="996600"/>
              </a:buClr>
              <a:buSzPts val="2400"/>
              <a:buFont typeface="Noto Sans Symbols"/>
              <a:buChar char="⬥"/>
            </a:pPr>
            <a:r>
              <a:rPr lang="en-US" sz="2400">
                <a:latin typeface="Times New Roman"/>
                <a:ea typeface="Times New Roman"/>
                <a:cs typeface="Times New Roman"/>
                <a:sym typeface="Times New Roman"/>
              </a:rPr>
              <a:t>This challenges the common idea that computers only do what they're told and can't adapt.</a:t>
            </a:r>
            <a:endParaRPr sz="2400">
              <a:latin typeface="Times New Roman"/>
              <a:ea typeface="Times New Roman"/>
              <a:cs typeface="Times New Roman"/>
              <a:sym typeface="Times New Roman"/>
            </a:endParaRPr>
          </a:p>
          <a:p>
            <a:pPr indent="-342900" lvl="0" marL="355600" marR="5715" rtl="0" algn="just">
              <a:lnSpc>
                <a:spcPct val="100000"/>
              </a:lnSpc>
              <a:spcBef>
                <a:spcPts val="575"/>
              </a:spcBef>
              <a:spcAft>
                <a:spcPts val="0"/>
              </a:spcAft>
              <a:buClr>
                <a:srgbClr val="996600"/>
              </a:buClr>
              <a:buSzPts val="2400"/>
              <a:buFont typeface="Noto Sans Symbols"/>
              <a:buChar char="⬥"/>
            </a:pPr>
            <a:r>
              <a:rPr lang="en-US" sz="2400">
                <a:latin typeface="Times New Roman"/>
                <a:ea typeface="Times New Roman"/>
                <a:cs typeface="Times New Roman"/>
                <a:sym typeface="Times New Roman"/>
              </a:rPr>
              <a:t>While it's true that machines follow programs, they can still behave  in  ways  that  seem  intelligent  by  learning  from experience.</a:t>
            </a:r>
            <a:endParaRPr sz="2400">
              <a:latin typeface="Times New Roman"/>
              <a:ea typeface="Times New Roman"/>
              <a:cs typeface="Times New Roman"/>
              <a:sym typeface="Times New Roman"/>
            </a:endParaRPr>
          </a:p>
          <a:p>
            <a:pPr indent="-342900" lvl="0" marL="355600" marR="8255" rtl="0" algn="just">
              <a:lnSpc>
                <a:spcPct val="100000"/>
              </a:lnSpc>
              <a:spcBef>
                <a:spcPts val="580"/>
              </a:spcBef>
              <a:spcAft>
                <a:spcPts val="0"/>
              </a:spcAft>
              <a:buClr>
                <a:srgbClr val="996600"/>
              </a:buClr>
              <a:buSzPts val="2400"/>
              <a:buFont typeface="Noto Sans Symbols"/>
              <a:buChar char="⬥"/>
            </a:pPr>
            <a:r>
              <a:rPr lang="en-US" sz="2400">
                <a:latin typeface="Times New Roman"/>
                <a:ea typeface="Times New Roman"/>
                <a:cs typeface="Times New Roman"/>
                <a:sym typeface="Times New Roman"/>
              </a:rPr>
              <a:t>To  explain  this,  the  section  talks  about  a  simple  learning machine called </a:t>
            </a:r>
            <a:r>
              <a:rPr b="1" lang="en-US" sz="2400">
                <a:latin typeface="Times New Roman"/>
                <a:ea typeface="Times New Roman"/>
                <a:cs typeface="Times New Roman"/>
                <a:sym typeface="Times New Roman"/>
              </a:rPr>
              <a:t>MENACE </a:t>
            </a:r>
            <a:r>
              <a:rPr lang="en-US" sz="2400">
                <a:latin typeface="Times New Roman"/>
                <a:ea typeface="Times New Roman"/>
                <a:cs typeface="Times New Roman"/>
                <a:sym typeface="Times New Roman"/>
              </a:rPr>
              <a:t>(Matchbox Educable Noughts And Crosses Engine), created by </a:t>
            </a:r>
            <a:r>
              <a:rPr b="1" lang="en-US" sz="2400">
                <a:latin typeface="Times New Roman"/>
                <a:ea typeface="Times New Roman"/>
                <a:cs typeface="Times New Roman"/>
                <a:sym typeface="Times New Roman"/>
              </a:rPr>
              <a:t>Donald Michie </a:t>
            </a:r>
            <a:r>
              <a:rPr lang="en-US" sz="2400">
                <a:latin typeface="Times New Roman"/>
                <a:ea typeface="Times New Roman"/>
                <a:cs typeface="Times New Roman"/>
                <a:sym typeface="Times New Roman"/>
              </a:rPr>
              <a:t>in the 1960s.</a:t>
            </a:r>
            <a:endParaRPr sz="2400">
              <a:latin typeface="Times New Roman"/>
              <a:ea typeface="Times New Roman"/>
              <a:cs typeface="Times New Roman"/>
              <a:sym typeface="Times New Roman"/>
            </a:endParaRPr>
          </a:p>
          <a:p>
            <a:pPr indent="-342900" lvl="0" marL="355600" marR="5080" rtl="0" algn="just">
              <a:lnSpc>
                <a:spcPct val="100000"/>
              </a:lnSpc>
              <a:spcBef>
                <a:spcPts val="575"/>
              </a:spcBef>
              <a:spcAft>
                <a:spcPts val="0"/>
              </a:spcAft>
              <a:buClr>
                <a:srgbClr val="996600"/>
              </a:buClr>
              <a:buSzPts val="2400"/>
              <a:buFont typeface="Noto Sans Symbols"/>
              <a:buChar char="⬥"/>
            </a:pPr>
            <a:r>
              <a:rPr lang="en-US" sz="2400">
                <a:latin typeface="Times New Roman"/>
                <a:ea typeface="Times New Roman"/>
                <a:cs typeface="Times New Roman"/>
                <a:sym typeface="Times New Roman"/>
              </a:rPr>
              <a:t>MENACE learns to play the game of </a:t>
            </a:r>
            <a:r>
              <a:rPr b="1" lang="en-US" sz="2400">
                <a:latin typeface="Times New Roman"/>
                <a:ea typeface="Times New Roman"/>
                <a:cs typeface="Times New Roman"/>
                <a:sym typeface="Times New Roman"/>
              </a:rPr>
              <a:t>noughts and crosses (tic-tac-toe)  </a:t>
            </a:r>
            <a:r>
              <a:rPr lang="en-US" sz="2400">
                <a:latin typeface="Times New Roman"/>
                <a:ea typeface="Times New Roman"/>
                <a:cs typeface="Times New Roman"/>
                <a:sym typeface="Times New Roman"/>
              </a:rPr>
              <a:t>using  just  </a:t>
            </a:r>
            <a:r>
              <a:rPr b="1" lang="en-US" sz="2400">
                <a:latin typeface="Times New Roman"/>
                <a:ea typeface="Times New Roman"/>
                <a:cs typeface="Times New Roman"/>
                <a:sym typeface="Times New Roman"/>
              </a:rPr>
              <a:t>matchboxes  and  beads  </a:t>
            </a:r>
            <a:r>
              <a:rPr lang="en-US" sz="2400">
                <a:latin typeface="Times New Roman"/>
                <a:ea typeface="Times New Roman"/>
                <a:cs typeface="Times New Roman"/>
                <a:sym typeface="Times New Roman"/>
              </a:rPr>
              <a:t>—  no  fancy technology.</a:t>
            </a:r>
            <a:endParaRPr sz="24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6" name="Shape 116"/>
        <p:cNvGrpSpPr/>
        <p:nvPr/>
      </p:nvGrpSpPr>
      <p:grpSpPr>
        <a:xfrm>
          <a:off x="0" y="0"/>
          <a:ext cx="0" cy="0"/>
          <a:chOff x="0" y="0"/>
          <a:chExt cx="0" cy="0"/>
        </a:xfrm>
      </p:grpSpPr>
      <p:sp>
        <p:nvSpPr>
          <p:cNvPr descr="$PPTXTitle" id="117" name="Google Shape;117;p17"/>
          <p:cNvSpPr txBox="1"/>
          <p:nvPr>
            <p:ph type="title"/>
          </p:nvPr>
        </p:nvSpPr>
        <p:spPr>
          <a:xfrm>
            <a:off x="1033373" y="293319"/>
            <a:ext cx="5934709" cy="728649"/>
          </a:xfrm>
          <a:prstGeom prst="rect">
            <a:avLst/>
          </a:prstGeom>
          <a:noFill/>
          <a:ln>
            <a:noFill/>
          </a:ln>
        </p:spPr>
        <p:txBody>
          <a:bodyPr anchorCtr="0" anchor="t" bIns="0" lIns="0" spcFirstLastPara="1" rIns="0" wrap="square" tIns="228250">
            <a:spAutoFit/>
          </a:bodyPr>
          <a:lstStyle/>
          <a:p>
            <a:pPr indent="0" lvl="0" marL="1440815" rtl="0" algn="l">
              <a:lnSpc>
                <a:spcPct val="100000"/>
              </a:lnSpc>
              <a:spcBef>
                <a:spcPts val="0"/>
              </a:spcBef>
              <a:spcAft>
                <a:spcPts val="0"/>
              </a:spcAft>
              <a:buNone/>
            </a:pPr>
            <a:r>
              <a:rPr lang="en-US"/>
              <a:t>Learning In Machines</a:t>
            </a:r>
            <a:endParaRPr/>
          </a:p>
        </p:txBody>
      </p:sp>
      <p:sp>
        <p:nvSpPr>
          <p:cNvPr id="118" name="Google Shape;118;p17"/>
          <p:cNvSpPr txBox="1"/>
          <p:nvPr/>
        </p:nvSpPr>
        <p:spPr>
          <a:xfrm>
            <a:off x="471627" y="1163256"/>
            <a:ext cx="8202930" cy="5367655"/>
          </a:xfrm>
          <a:prstGeom prst="rect">
            <a:avLst/>
          </a:prstGeom>
          <a:noFill/>
          <a:ln>
            <a:noFill/>
          </a:ln>
        </p:spPr>
        <p:txBody>
          <a:bodyPr anchorCtr="0" anchor="t" bIns="0" lIns="0" spcFirstLastPara="1" rIns="0" wrap="square" tIns="86350">
            <a:spAutoFit/>
          </a:bodyPr>
          <a:lstStyle/>
          <a:p>
            <a:pPr indent="0" lvl="0" marL="12700" rtl="0" algn="l">
              <a:lnSpc>
                <a:spcPct val="100000"/>
              </a:lnSpc>
              <a:spcBef>
                <a:spcPts val="0"/>
              </a:spcBef>
              <a:spcAft>
                <a:spcPts val="0"/>
              </a:spcAft>
              <a:buNone/>
            </a:pPr>
            <a:r>
              <a:rPr lang="en-US" sz="2400">
                <a:latin typeface="Times New Roman"/>
                <a:ea typeface="Times New Roman"/>
                <a:cs typeface="Times New Roman"/>
                <a:sym typeface="Times New Roman"/>
              </a:rPr>
              <a:t>Here’s how it works:</a:t>
            </a:r>
            <a:endParaRPr sz="2400">
              <a:latin typeface="Times New Roman"/>
              <a:ea typeface="Times New Roman"/>
              <a:cs typeface="Times New Roman"/>
              <a:sym typeface="Times New Roman"/>
            </a:endParaRPr>
          </a:p>
          <a:p>
            <a:pPr indent="-342900" lvl="0" marL="354965" marR="5080" rtl="0" algn="l">
              <a:lnSpc>
                <a:spcPct val="100000"/>
              </a:lnSpc>
              <a:spcBef>
                <a:spcPts val="575"/>
              </a:spcBef>
              <a:spcAft>
                <a:spcPts val="0"/>
              </a:spcAft>
              <a:buClr>
                <a:srgbClr val="996600"/>
              </a:buClr>
              <a:buSzPts val="2400"/>
              <a:buFont typeface="Noto Sans Symbols"/>
              <a:buChar char="⬥"/>
            </a:pPr>
            <a:r>
              <a:rPr lang="en-US" sz="2400">
                <a:latin typeface="Times New Roman"/>
                <a:ea typeface="Times New Roman"/>
                <a:cs typeface="Times New Roman"/>
                <a:sym typeface="Times New Roman"/>
              </a:rPr>
              <a:t>MENACE has 288 matchboxes, each representing a different game situation.</a:t>
            </a:r>
            <a:endParaRPr sz="2400">
              <a:latin typeface="Times New Roman"/>
              <a:ea typeface="Times New Roman"/>
              <a:cs typeface="Times New Roman"/>
              <a:sym typeface="Times New Roman"/>
            </a:endParaRPr>
          </a:p>
          <a:p>
            <a:pPr indent="-342900" lvl="0" marL="354965" marR="7620" rtl="0" algn="l">
              <a:lnSpc>
                <a:spcPct val="100000"/>
              </a:lnSpc>
              <a:spcBef>
                <a:spcPts val="580"/>
              </a:spcBef>
              <a:spcAft>
                <a:spcPts val="0"/>
              </a:spcAft>
              <a:buClr>
                <a:srgbClr val="996600"/>
              </a:buClr>
              <a:buSzPts val="2400"/>
              <a:buFont typeface="Noto Sans Symbols"/>
              <a:buChar char="⬥"/>
            </a:pPr>
            <a:r>
              <a:rPr lang="en-US" sz="2400">
                <a:latin typeface="Times New Roman"/>
                <a:ea typeface="Times New Roman"/>
                <a:cs typeface="Times New Roman"/>
                <a:sym typeface="Times New Roman"/>
              </a:rPr>
              <a:t>Each box has colored beads, with each color representing a possible move.</a:t>
            </a:r>
            <a:endParaRPr sz="2400">
              <a:latin typeface="Times New Roman"/>
              <a:ea typeface="Times New Roman"/>
              <a:cs typeface="Times New Roman"/>
              <a:sym typeface="Times New Roman"/>
            </a:endParaRPr>
          </a:p>
          <a:p>
            <a:pPr indent="-342900" lvl="0" marL="354965" marR="6985" rtl="0" algn="l">
              <a:lnSpc>
                <a:spcPct val="100000"/>
              </a:lnSpc>
              <a:spcBef>
                <a:spcPts val="575"/>
              </a:spcBef>
              <a:spcAft>
                <a:spcPts val="0"/>
              </a:spcAft>
              <a:buClr>
                <a:srgbClr val="996600"/>
              </a:buClr>
              <a:buSzPts val="2400"/>
              <a:buFont typeface="Noto Sans Symbols"/>
              <a:buChar char="⬥"/>
            </a:pPr>
            <a:r>
              <a:rPr lang="en-US" sz="2400">
                <a:latin typeface="Times New Roman"/>
                <a:ea typeface="Times New Roman"/>
                <a:cs typeface="Times New Roman"/>
                <a:sym typeface="Times New Roman"/>
              </a:rPr>
              <a:t>To make a move, MENACE randomly picks a bead from the box that matches the current game state.</a:t>
            </a:r>
            <a:endParaRPr sz="2400">
              <a:latin typeface="Times New Roman"/>
              <a:ea typeface="Times New Roman"/>
              <a:cs typeface="Times New Roman"/>
              <a:sym typeface="Times New Roman"/>
            </a:endParaRPr>
          </a:p>
          <a:p>
            <a:pPr indent="-342265" lvl="0" marL="354965" rtl="0" algn="l">
              <a:lnSpc>
                <a:spcPct val="100000"/>
              </a:lnSpc>
              <a:spcBef>
                <a:spcPts val="580"/>
              </a:spcBef>
              <a:spcAft>
                <a:spcPts val="0"/>
              </a:spcAft>
              <a:buClr>
                <a:srgbClr val="996600"/>
              </a:buClr>
              <a:buSzPts val="2400"/>
              <a:buFont typeface="Noto Sans Symbols"/>
              <a:buChar char="⬥"/>
            </a:pPr>
            <a:r>
              <a:rPr lang="en-US" sz="2400">
                <a:latin typeface="Times New Roman"/>
                <a:ea typeface="Times New Roman"/>
                <a:cs typeface="Times New Roman"/>
                <a:sym typeface="Times New Roman"/>
              </a:rPr>
              <a:t>After the game ends, MENACE is updated based on the result:</a:t>
            </a:r>
            <a:endParaRPr sz="2400">
              <a:latin typeface="Times New Roman"/>
              <a:ea typeface="Times New Roman"/>
              <a:cs typeface="Times New Roman"/>
              <a:sym typeface="Times New Roman"/>
            </a:endParaRPr>
          </a:p>
          <a:p>
            <a:pPr indent="-287020" lvl="1" marL="756285" marR="6350" rtl="0" algn="l">
              <a:lnSpc>
                <a:spcPct val="100000"/>
              </a:lnSpc>
              <a:spcBef>
                <a:spcPts val="575"/>
              </a:spcBef>
              <a:spcAft>
                <a:spcPts val="0"/>
              </a:spcAft>
              <a:buSzPts val="2250"/>
              <a:buFont typeface="Times New Roman"/>
              <a:buChar char="–"/>
            </a:pPr>
            <a:r>
              <a:rPr lang="en-US" sz="2400">
                <a:latin typeface="Times New Roman"/>
                <a:ea typeface="Times New Roman"/>
                <a:cs typeface="Times New Roman"/>
                <a:sym typeface="Times New Roman"/>
              </a:rPr>
              <a:t>If it wins, more beads of the successful moves are added (rewarding good moves).</a:t>
            </a:r>
            <a:endParaRPr sz="2400">
              <a:latin typeface="Times New Roman"/>
              <a:ea typeface="Times New Roman"/>
              <a:cs typeface="Times New Roman"/>
              <a:sym typeface="Times New Roman"/>
            </a:endParaRPr>
          </a:p>
          <a:p>
            <a:pPr indent="-287020" lvl="1" marL="756285" marR="5080" rtl="0" algn="l">
              <a:lnSpc>
                <a:spcPct val="100000"/>
              </a:lnSpc>
              <a:spcBef>
                <a:spcPts val="575"/>
              </a:spcBef>
              <a:spcAft>
                <a:spcPts val="0"/>
              </a:spcAft>
              <a:buSzPts val="2250"/>
              <a:buFont typeface="Times New Roman"/>
              <a:buChar char="–"/>
            </a:pPr>
            <a:r>
              <a:rPr lang="en-US" sz="2400">
                <a:latin typeface="Times New Roman"/>
                <a:ea typeface="Times New Roman"/>
                <a:cs typeface="Times New Roman"/>
                <a:sym typeface="Times New Roman"/>
              </a:rPr>
              <a:t>If it loses, beads for the bad moves are removed (punishing bad choices).</a:t>
            </a:r>
            <a:endParaRPr sz="2400">
              <a:latin typeface="Times New Roman"/>
              <a:ea typeface="Times New Roman"/>
              <a:cs typeface="Times New Roman"/>
              <a:sym typeface="Times New Roman"/>
            </a:endParaRPr>
          </a:p>
          <a:p>
            <a:pPr indent="-286385" lvl="1" marL="756285" rtl="0" algn="l">
              <a:lnSpc>
                <a:spcPct val="100000"/>
              </a:lnSpc>
              <a:spcBef>
                <a:spcPts val="580"/>
              </a:spcBef>
              <a:spcAft>
                <a:spcPts val="0"/>
              </a:spcAft>
              <a:buSzPts val="2250"/>
              <a:buFont typeface="Times New Roman"/>
              <a:buChar char="–"/>
            </a:pPr>
            <a:r>
              <a:rPr lang="en-US" sz="2400">
                <a:latin typeface="Times New Roman"/>
                <a:ea typeface="Times New Roman"/>
                <a:cs typeface="Times New Roman"/>
                <a:sym typeface="Times New Roman"/>
              </a:rPr>
              <a:t>If it’s a draw, nothing changes.</a:t>
            </a:r>
            <a:endParaRPr sz="24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2" name="Shape 122"/>
        <p:cNvGrpSpPr/>
        <p:nvPr/>
      </p:nvGrpSpPr>
      <p:grpSpPr>
        <a:xfrm>
          <a:off x="0" y="0"/>
          <a:ext cx="0" cy="0"/>
          <a:chOff x="0" y="0"/>
          <a:chExt cx="0" cy="0"/>
        </a:xfrm>
      </p:grpSpPr>
      <p:sp>
        <p:nvSpPr>
          <p:cNvPr descr="$PPTXTitle" id="123" name="Google Shape;123;p18"/>
          <p:cNvSpPr txBox="1"/>
          <p:nvPr>
            <p:ph type="title"/>
          </p:nvPr>
        </p:nvSpPr>
        <p:spPr>
          <a:xfrm>
            <a:off x="1033373" y="293319"/>
            <a:ext cx="5934709" cy="728649"/>
          </a:xfrm>
          <a:prstGeom prst="rect">
            <a:avLst/>
          </a:prstGeom>
          <a:noFill/>
          <a:ln>
            <a:noFill/>
          </a:ln>
        </p:spPr>
        <p:txBody>
          <a:bodyPr anchorCtr="0" anchor="t" bIns="0" lIns="0" spcFirstLastPara="1" rIns="0" wrap="square" tIns="228250">
            <a:spAutoFit/>
          </a:bodyPr>
          <a:lstStyle/>
          <a:p>
            <a:pPr indent="0" lvl="0" marL="1440815" rtl="0" algn="l">
              <a:lnSpc>
                <a:spcPct val="100000"/>
              </a:lnSpc>
              <a:spcBef>
                <a:spcPts val="0"/>
              </a:spcBef>
              <a:spcAft>
                <a:spcPts val="0"/>
              </a:spcAft>
              <a:buNone/>
            </a:pPr>
            <a:r>
              <a:rPr lang="en-US"/>
              <a:t>Learning In Machines</a:t>
            </a:r>
            <a:endParaRPr/>
          </a:p>
        </p:txBody>
      </p:sp>
      <p:sp>
        <p:nvSpPr>
          <p:cNvPr id="124" name="Google Shape;124;p18"/>
          <p:cNvSpPr txBox="1"/>
          <p:nvPr>
            <p:ph idx="1" type="body"/>
          </p:nvPr>
        </p:nvSpPr>
        <p:spPr>
          <a:xfrm>
            <a:off x="470077" y="1355216"/>
            <a:ext cx="8203844" cy="3714115"/>
          </a:xfrm>
          <a:prstGeom prst="rect">
            <a:avLst/>
          </a:prstGeom>
          <a:noFill/>
          <a:ln>
            <a:noFill/>
          </a:ln>
        </p:spPr>
        <p:txBody>
          <a:bodyPr anchorCtr="0" anchor="t" bIns="0" lIns="0" spcFirstLastPara="1" rIns="0" wrap="square" tIns="165100">
            <a:spAutoFit/>
          </a:bodyPr>
          <a:lstStyle/>
          <a:p>
            <a:pPr indent="0" lvl="0" marL="13970" rtl="0" algn="l">
              <a:lnSpc>
                <a:spcPct val="100000"/>
              </a:lnSpc>
              <a:spcBef>
                <a:spcPts val="0"/>
              </a:spcBef>
              <a:spcAft>
                <a:spcPts val="0"/>
              </a:spcAft>
              <a:buNone/>
            </a:pPr>
            <a:r>
              <a:rPr lang="en-US"/>
              <a:t>What's special about MENACE:</a:t>
            </a:r>
            <a:endParaRPr/>
          </a:p>
          <a:p>
            <a:pPr indent="-342265" lvl="0" marL="356235" rtl="0" algn="l">
              <a:lnSpc>
                <a:spcPct val="100000"/>
              </a:lnSpc>
              <a:spcBef>
                <a:spcPts val="1200"/>
              </a:spcBef>
              <a:spcAft>
                <a:spcPts val="0"/>
              </a:spcAft>
              <a:buClr>
                <a:srgbClr val="996600"/>
              </a:buClr>
              <a:buSzPts val="2400"/>
              <a:buFont typeface="Noto Sans Symbols"/>
              <a:buChar char="⬥"/>
            </a:pPr>
            <a:r>
              <a:rPr lang="en-US"/>
              <a:t>It learns from experience, not instructions.</a:t>
            </a:r>
            <a:endParaRPr/>
          </a:p>
          <a:p>
            <a:pPr indent="-342900" lvl="0" marL="356235" marR="5080" rtl="0" algn="l">
              <a:lnSpc>
                <a:spcPct val="100000"/>
              </a:lnSpc>
              <a:spcBef>
                <a:spcPts val="1200"/>
              </a:spcBef>
              <a:spcAft>
                <a:spcPts val="0"/>
              </a:spcAft>
              <a:buClr>
                <a:srgbClr val="996600"/>
              </a:buClr>
              <a:buSzPts val="2400"/>
              <a:buFont typeface="Noto Sans Symbols"/>
              <a:buChar char="⬥"/>
            </a:pPr>
            <a:r>
              <a:rPr lang="en-US"/>
              <a:t>The "knowledge" is not stored in one place, but spread out in the bead choices across all boxes.</a:t>
            </a:r>
            <a:endParaRPr/>
          </a:p>
          <a:p>
            <a:pPr indent="-342900" lvl="0" marL="356235" marR="5080" rtl="0" algn="l">
              <a:lnSpc>
                <a:spcPct val="100000"/>
              </a:lnSpc>
              <a:spcBef>
                <a:spcPts val="1200"/>
              </a:spcBef>
              <a:spcAft>
                <a:spcPts val="0"/>
              </a:spcAft>
              <a:buClr>
                <a:srgbClr val="996600"/>
              </a:buClr>
              <a:buSzPts val="2400"/>
              <a:buFont typeface="Noto Sans Symbols"/>
              <a:buChar char="⬥"/>
            </a:pPr>
            <a:r>
              <a:rPr lang="en-US"/>
              <a:t>It solves the big problem (winning the game) by learning from many small situations.</a:t>
            </a:r>
            <a:endParaRPr/>
          </a:p>
          <a:p>
            <a:pPr indent="-342265" lvl="0" marL="356235" rtl="0" algn="l">
              <a:lnSpc>
                <a:spcPct val="100000"/>
              </a:lnSpc>
              <a:spcBef>
                <a:spcPts val="1200"/>
              </a:spcBef>
              <a:spcAft>
                <a:spcPts val="0"/>
              </a:spcAft>
              <a:buClr>
                <a:srgbClr val="996600"/>
              </a:buClr>
              <a:buSzPts val="2400"/>
              <a:buFont typeface="Noto Sans Symbols"/>
              <a:buChar char="⬥"/>
            </a:pPr>
            <a:r>
              <a:rPr lang="en-US"/>
              <a:t>Even though each matchbox acts alone, together they help the</a:t>
            </a:r>
            <a:endParaRPr/>
          </a:p>
          <a:p>
            <a:pPr indent="0" lvl="0" marL="356235" rtl="0" algn="l">
              <a:lnSpc>
                <a:spcPct val="100000"/>
              </a:lnSpc>
              <a:spcBef>
                <a:spcPts val="5"/>
              </a:spcBef>
              <a:spcAft>
                <a:spcPts val="0"/>
              </a:spcAft>
              <a:buNone/>
            </a:pPr>
            <a:r>
              <a:rPr lang="en-US"/>
              <a:t>machine improve.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8" name="Shape 128"/>
        <p:cNvGrpSpPr/>
        <p:nvPr/>
      </p:nvGrpSpPr>
      <p:grpSpPr>
        <a:xfrm>
          <a:off x="0" y="0"/>
          <a:ext cx="0" cy="0"/>
          <a:chOff x="0" y="0"/>
          <a:chExt cx="0" cy="0"/>
        </a:xfrm>
      </p:grpSpPr>
      <p:sp>
        <p:nvSpPr>
          <p:cNvPr descr="$PPTXTitle" id="129" name="Google Shape;129;p19"/>
          <p:cNvSpPr txBox="1"/>
          <p:nvPr>
            <p:ph type="title"/>
          </p:nvPr>
        </p:nvSpPr>
        <p:spPr>
          <a:xfrm>
            <a:off x="1033373" y="293319"/>
            <a:ext cx="5934709" cy="728649"/>
          </a:xfrm>
          <a:prstGeom prst="rect">
            <a:avLst/>
          </a:prstGeom>
          <a:noFill/>
          <a:ln>
            <a:noFill/>
          </a:ln>
        </p:spPr>
        <p:txBody>
          <a:bodyPr anchorCtr="0" anchor="t" bIns="0" lIns="0" spcFirstLastPara="1" rIns="0" wrap="square" tIns="13325">
            <a:spAutoFit/>
          </a:bodyPr>
          <a:lstStyle/>
          <a:p>
            <a:pPr indent="0" lvl="0" marL="1346200" rtl="0" algn="l">
              <a:lnSpc>
                <a:spcPct val="100000"/>
              </a:lnSpc>
              <a:spcBef>
                <a:spcPts val="0"/>
              </a:spcBef>
              <a:spcAft>
                <a:spcPts val="0"/>
              </a:spcAft>
              <a:buNone/>
            </a:pPr>
            <a:r>
              <a:rPr lang="en-US"/>
              <a:t>The Differences</a:t>
            </a:r>
            <a:endParaRPr/>
          </a:p>
        </p:txBody>
      </p:sp>
      <p:sp>
        <p:nvSpPr>
          <p:cNvPr id="130" name="Google Shape;130;p19"/>
          <p:cNvSpPr txBox="1"/>
          <p:nvPr/>
        </p:nvSpPr>
        <p:spPr>
          <a:xfrm>
            <a:off x="711504" y="1191226"/>
            <a:ext cx="7921625" cy="4782185"/>
          </a:xfrm>
          <a:prstGeom prst="rect">
            <a:avLst/>
          </a:prstGeom>
          <a:noFill/>
          <a:ln>
            <a:noFill/>
          </a:ln>
        </p:spPr>
        <p:txBody>
          <a:bodyPr anchorCtr="0" anchor="t" bIns="0" lIns="0" spcFirstLastPara="1" rIns="0" wrap="square" tIns="12700">
            <a:spAutoFit/>
          </a:bodyPr>
          <a:lstStyle/>
          <a:p>
            <a:pPr indent="-342265" lvl="0" marL="354330" marR="5080" rtl="0" algn="just">
              <a:lnSpc>
                <a:spcPct val="140100"/>
              </a:lnSpc>
              <a:spcBef>
                <a:spcPts val="0"/>
              </a:spcBef>
              <a:spcAft>
                <a:spcPts val="0"/>
              </a:spcAft>
              <a:buSzPts val="1900"/>
              <a:buFont typeface="Noto Sans Symbols"/>
              <a:buChar char="⮚"/>
            </a:pPr>
            <a:r>
              <a:rPr lang="en-US" sz="2000">
                <a:latin typeface="Times New Roman"/>
                <a:ea typeface="Times New Roman"/>
                <a:cs typeface="Times New Roman"/>
                <a:sym typeface="Times New Roman"/>
              </a:rPr>
              <a:t>The brain is excellent at tasks like vision, speech, and learning because it 	uses  many  simple  parts  (neurons)  working  together  in  parallel.  This 	structure makes it flexible, able to learn, and tolerant of small failures—if 	some  neurons  stop  working,  others  take  over.  This  is  called  </a:t>
            </a:r>
            <a:r>
              <a:rPr b="1" lang="en-US" sz="2000">
                <a:latin typeface="Times New Roman"/>
                <a:ea typeface="Times New Roman"/>
                <a:cs typeface="Times New Roman"/>
                <a:sym typeface="Times New Roman"/>
              </a:rPr>
              <a:t>fault 	tolerance </a:t>
            </a:r>
            <a:r>
              <a:rPr lang="en-US" sz="2000">
                <a:latin typeface="Times New Roman"/>
                <a:ea typeface="Times New Roman"/>
                <a:cs typeface="Times New Roman"/>
                <a:sym typeface="Times New Roman"/>
              </a:rPr>
              <a:t>and </a:t>
            </a:r>
            <a:r>
              <a:rPr b="1" lang="en-US" sz="2000">
                <a:latin typeface="Times New Roman"/>
                <a:ea typeface="Times New Roman"/>
                <a:cs typeface="Times New Roman"/>
                <a:sym typeface="Times New Roman"/>
              </a:rPr>
              <a:t>graceful degradation</a:t>
            </a: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indent="-343535" lvl="0" marL="355600" marR="5080" rtl="0" algn="just">
              <a:lnSpc>
                <a:spcPct val="140000"/>
              </a:lnSpc>
              <a:spcBef>
                <a:spcPts val="480"/>
              </a:spcBef>
              <a:spcAft>
                <a:spcPts val="0"/>
              </a:spcAft>
              <a:buSzPts val="1900"/>
              <a:buFont typeface="Noto Sans Symbols"/>
              <a:buChar char="⮚"/>
            </a:pPr>
            <a:r>
              <a:rPr lang="en-US" sz="2000">
                <a:latin typeface="Times New Roman"/>
                <a:ea typeface="Times New Roman"/>
                <a:cs typeface="Times New Roman"/>
                <a:sym typeface="Times New Roman"/>
              </a:rPr>
              <a:t>In  contrast,  traditional  computers  rely  on  one  or  a  few  very  fast processors. They are great at simple calculations but are not good at handling  complex,  varied  data  like  the  brain  does.  If  a  computer’s processor fails, the whole system often crashes. That’s why scientists are now  trying  to  build  computers  that  work  more  like  the  brain:  using simple, connected parts that share the work.</a:t>
            </a:r>
            <a:endParaRPr sz="20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4" name="Shape 134"/>
        <p:cNvGrpSpPr/>
        <p:nvPr/>
      </p:nvGrpSpPr>
      <p:grpSpPr>
        <a:xfrm>
          <a:off x="0" y="0"/>
          <a:ext cx="0" cy="0"/>
          <a:chOff x="0" y="0"/>
          <a:chExt cx="0" cy="0"/>
        </a:xfrm>
      </p:grpSpPr>
      <p:sp>
        <p:nvSpPr>
          <p:cNvPr descr="$PPTXTitle" id="135" name="Google Shape;135;p20"/>
          <p:cNvSpPr txBox="1"/>
          <p:nvPr>
            <p:ph type="title"/>
          </p:nvPr>
        </p:nvSpPr>
        <p:spPr>
          <a:xfrm>
            <a:off x="1033373" y="293319"/>
            <a:ext cx="5934709" cy="728649"/>
          </a:xfrm>
          <a:prstGeom prst="rect">
            <a:avLst/>
          </a:prstGeom>
          <a:noFill/>
          <a:ln>
            <a:noFill/>
          </a:ln>
        </p:spPr>
        <p:txBody>
          <a:bodyPr anchorCtr="0" anchor="t" bIns="0" lIns="0" spcFirstLastPara="1" rIns="0" wrap="square" tIns="13325">
            <a:spAutoFit/>
          </a:bodyPr>
          <a:lstStyle/>
          <a:p>
            <a:pPr indent="0" lvl="0" marL="2080895" rtl="0" algn="l">
              <a:lnSpc>
                <a:spcPct val="100000"/>
              </a:lnSpc>
              <a:spcBef>
                <a:spcPts val="0"/>
              </a:spcBef>
              <a:spcAft>
                <a:spcPts val="0"/>
              </a:spcAft>
              <a:buNone/>
            </a:pPr>
            <a:r>
              <a:rPr lang="en-US"/>
              <a:t>Summary</a:t>
            </a:r>
            <a:endParaRPr/>
          </a:p>
        </p:txBody>
      </p:sp>
      <p:sp>
        <p:nvSpPr>
          <p:cNvPr id="136" name="Google Shape;136;p20"/>
          <p:cNvSpPr txBox="1"/>
          <p:nvPr/>
        </p:nvSpPr>
        <p:spPr>
          <a:xfrm>
            <a:off x="389737" y="1183385"/>
            <a:ext cx="7940040" cy="4690110"/>
          </a:xfrm>
          <a:prstGeom prst="rect">
            <a:avLst/>
          </a:prstGeom>
          <a:noFill/>
          <a:ln>
            <a:noFill/>
          </a:ln>
        </p:spPr>
        <p:txBody>
          <a:bodyPr anchorCtr="0" anchor="t" bIns="0" lIns="0" spcFirstLastPara="1" rIns="0" wrap="square" tIns="12700">
            <a:spAutoFit/>
          </a:bodyPr>
          <a:lstStyle/>
          <a:p>
            <a:pPr indent="-342265" lvl="0" marL="367665" rtl="0" algn="l">
              <a:lnSpc>
                <a:spcPct val="100000"/>
              </a:lnSpc>
              <a:spcBef>
                <a:spcPts val="0"/>
              </a:spcBef>
              <a:spcAft>
                <a:spcPts val="0"/>
              </a:spcAft>
              <a:buSzPts val="2400"/>
              <a:buFont typeface="Noto Sans Symbols"/>
              <a:buChar char="⬥"/>
            </a:pPr>
            <a:r>
              <a:rPr lang="en-US" sz="2400">
                <a:latin typeface="Times New Roman"/>
                <a:ea typeface="Times New Roman"/>
                <a:cs typeface="Times New Roman"/>
                <a:sym typeface="Times New Roman"/>
              </a:rPr>
              <a:t>Brain is </a:t>
            </a:r>
            <a:r>
              <a:rPr b="1" lang="en-US" sz="2400">
                <a:latin typeface="Times New Roman"/>
                <a:ea typeface="Times New Roman"/>
                <a:cs typeface="Times New Roman"/>
                <a:sym typeface="Times New Roman"/>
              </a:rPr>
              <a:t>parallel, distributed processing system</a:t>
            </a: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indent="-342265" lvl="0" marL="367665" rtl="0" algn="l">
              <a:lnSpc>
                <a:spcPct val="100000"/>
              </a:lnSpc>
              <a:spcBef>
                <a:spcPts val="1800"/>
              </a:spcBef>
              <a:spcAft>
                <a:spcPts val="0"/>
              </a:spcAft>
              <a:buSzPts val="2400"/>
              <a:buFont typeface="Noto Sans Symbols"/>
              <a:buChar char="⬥"/>
            </a:pPr>
            <a:r>
              <a:rPr lang="en-US" sz="2400">
                <a:latin typeface="Times New Roman"/>
                <a:ea typeface="Times New Roman"/>
                <a:cs typeface="Times New Roman"/>
                <a:sym typeface="Times New Roman"/>
              </a:rPr>
              <a:t>Basic processing unit called the </a:t>
            </a:r>
            <a:r>
              <a:rPr b="1" lang="en-US" sz="2400">
                <a:latin typeface="Times New Roman"/>
                <a:ea typeface="Times New Roman"/>
                <a:cs typeface="Times New Roman"/>
                <a:sym typeface="Times New Roman"/>
              </a:rPr>
              <a:t>neuron</a:t>
            </a: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indent="-342265" lvl="0" marL="367665" rtl="0" algn="l">
              <a:lnSpc>
                <a:spcPct val="100000"/>
              </a:lnSpc>
              <a:spcBef>
                <a:spcPts val="1800"/>
              </a:spcBef>
              <a:spcAft>
                <a:spcPts val="0"/>
              </a:spcAft>
              <a:buSzPts val="2400"/>
              <a:buFont typeface="Noto Sans Symbols"/>
              <a:buChar char="⬥"/>
            </a:pPr>
            <a:r>
              <a:rPr lang="en-US" sz="2400">
                <a:latin typeface="Times New Roman"/>
                <a:ea typeface="Times New Roman"/>
                <a:cs typeface="Times New Roman"/>
                <a:sym typeface="Times New Roman"/>
              </a:rPr>
              <a:t>Approximately 10</a:t>
            </a:r>
            <a:r>
              <a:rPr baseline="30000" lang="en-US" sz="2400">
                <a:latin typeface="Times New Roman"/>
                <a:ea typeface="Times New Roman"/>
                <a:cs typeface="Times New Roman"/>
                <a:sym typeface="Times New Roman"/>
              </a:rPr>
              <a:t>10 </a:t>
            </a:r>
            <a:r>
              <a:rPr lang="en-US" sz="2400">
                <a:latin typeface="Times New Roman"/>
                <a:ea typeface="Times New Roman"/>
                <a:cs typeface="Times New Roman"/>
                <a:sym typeface="Times New Roman"/>
              </a:rPr>
              <a:t>neurons each connected to </a:t>
            </a:r>
            <a:r>
              <a:rPr b="1" lang="en-US" sz="2400">
                <a:latin typeface="Times New Roman"/>
                <a:ea typeface="Times New Roman"/>
                <a:cs typeface="Times New Roman"/>
                <a:sym typeface="Times New Roman"/>
              </a:rPr>
              <a:t>10</a:t>
            </a:r>
            <a:r>
              <a:rPr b="1" baseline="30000" lang="en-US" sz="2400">
                <a:latin typeface="Times New Roman"/>
                <a:ea typeface="Times New Roman"/>
                <a:cs typeface="Times New Roman"/>
                <a:sym typeface="Times New Roman"/>
              </a:rPr>
              <a:t>4 </a:t>
            </a:r>
            <a:r>
              <a:rPr lang="en-US" sz="2400">
                <a:latin typeface="Times New Roman"/>
                <a:ea typeface="Times New Roman"/>
                <a:cs typeface="Times New Roman"/>
                <a:sym typeface="Times New Roman"/>
              </a:rPr>
              <a:t>others.</a:t>
            </a:r>
            <a:endParaRPr sz="2400">
              <a:latin typeface="Times New Roman"/>
              <a:ea typeface="Times New Roman"/>
              <a:cs typeface="Times New Roman"/>
              <a:sym typeface="Times New Roman"/>
            </a:endParaRPr>
          </a:p>
          <a:p>
            <a:pPr indent="-342900" lvl="0" marL="368300" marR="17780" rtl="0" algn="just">
              <a:lnSpc>
                <a:spcPct val="100000"/>
              </a:lnSpc>
              <a:spcBef>
                <a:spcPts val="1800"/>
              </a:spcBef>
              <a:spcAft>
                <a:spcPts val="0"/>
              </a:spcAft>
              <a:buSzPts val="2400"/>
              <a:buFont typeface="Noto Sans Symbols"/>
              <a:buChar char="⬥"/>
            </a:pPr>
            <a:r>
              <a:rPr b="1" lang="en-US" sz="2400">
                <a:latin typeface="Times New Roman"/>
                <a:ea typeface="Times New Roman"/>
                <a:cs typeface="Times New Roman"/>
                <a:sym typeface="Times New Roman"/>
              </a:rPr>
              <a:t>Operation of neuron: </a:t>
            </a:r>
            <a:r>
              <a:rPr lang="en-US" sz="2400">
                <a:latin typeface="Times New Roman"/>
                <a:ea typeface="Times New Roman"/>
                <a:cs typeface="Times New Roman"/>
                <a:sym typeface="Times New Roman"/>
              </a:rPr>
              <a:t>fires pulse down axon when sufficient input  received  from  dendrites.  Connections  via  chemical junctions called synapses.</a:t>
            </a:r>
            <a:endParaRPr sz="2400">
              <a:latin typeface="Times New Roman"/>
              <a:ea typeface="Times New Roman"/>
              <a:cs typeface="Times New Roman"/>
              <a:sym typeface="Times New Roman"/>
            </a:endParaRPr>
          </a:p>
          <a:p>
            <a:pPr indent="-342265" lvl="0" marL="367665" rtl="0" algn="l">
              <a:lnSpc>
                <a:spcPct val="100000"/>
              </a:lnSpc>
              <a:spcBef>
                <a:spcPts val="1805"/>
              </a:spcBef>
              <a:spcAft>
                <a:spcPts val="0"/>
              </a:spcAft>
              <a:buSzPts val="2400"/>
              <a:buFont typeface="Noto Sans Symbols"/>
              <a:buChar char="⬥"/>
            </a:pPr>
            <a:r>
              <a:rPr b="1" lang="en-US" sz="2400">
                <a:latin typeface="Times New Roman"/>
                <a:ea typeface="Times New Roman"/>
                <a:cs typeface="Times New Roman"/>
                <a:sym typeface="Times New Roman"/>
              </a:rPr>
              <a:t>Learning </a:t>
            </a:r>
            <a:r>
              <a:rPr lang="en-US" sz="2400">
                <a:latin typeface="Times New Roman"/>
                <a:ea typeface="Times New Roman"/>
                <a:cs typeface="Times New Roman"/>
                <a:sym typeface="Times New Roman"/>
              </a:rPr>
              <a:t>increases efficacy of synaptic junction.</a:t>
            </a:r>
            <a:endParaRPr sz="2400">
              <a:latin typeface="Times New Roman"/>
              <a:ea typeface="Times New Roman"/>
              <a:cs typeface="Times New Roman"/>
              <a:sym typeface="Times New Roman"/>
            </a:endParaRPr>
          </a:p>
          <a:p>
            <a:pPr indent="-342265" lvl="0" marL="367665" rtl="0" algn="l">
              <a:lnSpc>
                <a:spcPct val="100000"/>
              </a:lnSpc>
              <a:spcBef>
                <a:spcPts val="1800"/>
              </a:spcBef>
              <a:spcAft>
                <a:spcPts val="0"/>
              </a:spcAft>
              <a:buSzPts val="2400"/>
              <a:buFont typeface="Noto Sans Symbols"/>
              <a:buChar char="⬥"/>
            </a:pPr>
            <a:r>
              <a:rPr lang="en-US" sz="2400">
                <a:latin typeface="Times New Roman"/>
                <a:ea typeface="Times New Roman"/>
                <a:cs typeface="Times New Roman"/>
                <a:sym typeface="Times New Roman"/>
              </a:rPr>
              <a:t>Machines can learn through </a:t>
            </a:r>
            <a:r>
              <a:rPr b="1" lang="en-US" sz="2400">
                <a:latin typeface="Times New Roman"/>
                <a:ea typeface="Times New Roman"/>
                <a:cs typeface="Times New Roman"/>
                <a:sym typeface="Times New Roman"/>
              </a:rPr>
              <a:t>positive reinforcement</a:t>
            </a: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indent="-342265" lvl="0" marL="367665" rtl="0" algn="l">
              <a:lnSpc>
                <a:spcPct val="100000"/>
              </a:lnSpc>
              <a:spcBef>
                <a:spcPts val="1800"/>
              </a:spcBef>
              <a:spcAft>
                <a:spcPts val="0"/>
              </a:spcAft>
              <a:buSzPts val="2400"/>
              <a:buFont typeface="Noto Sans Symbols"/>
              <a:buChar char="⬥"/>
            </a:pPr>
            <a:r>
              <a:rPr b="1" lang="en-US" sz="2400">
                <a:latin typeface="Times New Roman"/>
                <a:ea typeface="Times New Roman"/>
                <a:cs typeface="Times New Roman"/>
                <a:sym typeface="Times New Roman"/>
              </a:rPr>
              <a:t>Cerebral cortex </a:t>
            </a:r>
            <a:r>
              <a:rPr lang="en-US" sz="2400">
                <a:latin typeface="Times New Roman"/>
                <a:ea typeface="Times New Roman"/>
                <a:cs typeface="Times New Roman"/>
                <a:sym typeface="Times New Roman"/>
              </a:rPr>
              <a:t>shows local areas of specialized function.</a:t>
            </a:r>
            <a:endParaRPr sz="24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