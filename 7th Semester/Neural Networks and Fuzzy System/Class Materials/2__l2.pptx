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9144000" cy="51435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1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7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7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8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8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9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9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0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0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1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1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2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2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3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3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f526598733_0_2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f526598733_0_2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384725" y="505248"/>
            <a:ext cx="464883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body"/>
          </p:nvPr>
        </p:nvSpPr>
        <p:spPr>
          <a:xfrm>
            <a:off x="384725" y="1175208"/>
            <a:ext cx="4318000" cy="1592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subTitle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384725" y="505248"/>
            <a:ext cx="464883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384725" y="505248"/>
            <a:ext cx="464883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84725" y="505248"/>
            <a:ext cx="464883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84725" y="1175208"/>
            <a:ext cx="4318000" cy="1592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1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43" name="Google Shape;43;p7"/>
          <p:cNvSpPr txBox="1"/>
          <p:nvPr>
            <p:ph type="title"/>
          </p:nvPr>
        </p:nvSpPr>
        <p:spPr>
          <a:xfrm>
            <a:off x="459246" y="672911"/>
            <a:ext cx="8146500" cy="14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2113915" lvl="0" marL="2125980" marR="5080" rtl="0" algn="ctr">
              <a:lnSpc>
                <a:spcPct val="100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50"/>
              <a:t>Neural Network and </a:t>
            </a:r>
            <a:endParaRPr sz="4650"/>
          </a:p>
          <a:p>
            <a:pPr indent="-2113915" lvl="0" marL="2125980" marR="5080" rtl="0" algn="ctr">
              <a:lnSpc>
                <a:spcPct val="100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50"/>
              <a:t>   Fuzzy Systems</a:t>
            </a:r>
            <a:endParaRPr sz="4650"/>
          </a:p>
        </p:txBody>
      </p:sp>
      <p:sp>
        <p:nvSpPr>
          <p:cNvPr id="44" name="Google Shape;44;p7"/>
          <p:cNvSpPr txBox="1"/>
          <p:nvPr/>
        </p:nvSpPr>
        <p:spPr>
          <a:xfrm>
            <a:off x="1546766" y="3789588"/>
            <a:ext cx="6222900" cy="11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6825">
            <a:spAutoFit/>
          </a:bodyPr>
          <a:lstStyle/>
          <a:p>
            <a:pPr indent="0" lvl="0" marL="12700" marR="127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Sakurah Ismail</a:t>
            </a:r>
            <a:endParaRPr sz="20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12700" marR="127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Lecturer, Dept. of CSE NBIU</a:t>
            </a:r>
            <a:endParaRPr sz="20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ctr">
              <a:lnSpc>
                <a:spcPct val="976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50">
              <a:solidFill>
                <a:srgbClr val="595959"/>
              </a:solidFill>
            </a:endParaRPr>
          </a:p>
        </p:txBody>
      </p:sp>
      <p:sp>
        <p:nvSpPr>
          <p:cNvPr id="45" name="Google Shape;45;p7"/>
          <p:cNvSpPr txBox="1"/>
          <p:nvPr/>
        </p:nvSpPr>
        <p:spPr>
          <a:xfrm>
            <a:off x="3178525" y="2666275"/>
            <a:ext cx="25674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CSE 0613-4221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50" name="Google Shape;50;p8"/>
          <p:cNvSpPr txBox="1"/>
          <p:nvPr>
            <p:ph type="title"/>
          </p:nvPr>
        </p:nvSpPr>
        <p:spPr>
          <a:xfrm>
            <a:off x="384725" y="505248"/>
            <a:ext cx="464883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Artificial Neuron</a:t>
            </a:r>
            <a:endParaRPr/>
          </a:p>
        </p:txBody>
      </p:sp>
      <p:sp>
        <p:nvSpPr>
          <p:cNvPr id="51" name="Google Shape;51;p8"/>
          <p:cNvSpPr txBox="1"/>
          <p:nvPr>
            <p:ph idx="1" type="body"/>
          </p:nvPr>
        </p:nvSpPr>
        <p:spPr>
          <a:xfrm>
            <a:off x="384725" y="1175208"/>
            <a:ext cx="4318000" cy="1592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Artificial neuron is nothing but a composite function, </a:t>
            </a:r>
            <a:r>
              <a:rPr lang="en-US">
                <a:solidFill>
                  <a:srgbClr val="980000"/>
                </a:solidFill>
              </a:rPr>
              <a:t>(𝒈	𝒇)(𝒙)</a:t>
            </a:r>
            <a:endParaRPr/>
          </a:p>
          <a:p>
            <a:pPr indent="0" lvl="0" marL="1092200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980000"/>
                </a:solidFill>
              </a:rPr>
              <a:t>𝒖 = 𝒇(𝒙)</a:t>
            </a:r>
            <a:endParaRPr/>
          </a:p>
          <a:p>
            <a:pPr indent="0" lvl="0" marL="1054100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980000"/>
                </a:solidFill>
              </a:rPr>
              <a:t>𝒚 = 𝒈(𝒖)</a:t>
            </a:r>
            <a:endParaRPr/>
          </a:p>
        </p:txBody>
      </p:sp>
      <p:sp>
        <p:nvSpPr>
          <p:cNvPr id="52" name="Google Shape;52;p8"/>
          <p:cNvSpPr txBox="1"/>
          <p:nvPr/>
        </p:nvSpPr>
        <p:spPr>
          <a:xfrm>
            <a:off x="384725" y="2935428"/>
            <a:ext cx="64833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where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8"/>
          <p:cNvSpPr txBox="1"/>
          <p:nvPr/>
        </p:nvSpPr>
        <p:spPr>
          <a:xfrm>
            <a:off x="475249" y="3362148"/>
            <a:ext cx="4063365" cy="9721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3325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𝒙 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is input and </a:t>
            </a:r>
            <a:r>
              <a:rPr lang="en-US" sz="18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𝒚 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is output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𝒇(𝒙) 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is a linear function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𝒈(𝒖) 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is generally a nonlinear function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4" name="Google Shape;54;p8"/>
          <p:cNvGrpSpPr/>
          <p:nvPr/>
        </p:nvGrpSpPr>
        <p:grpSpPr>
          <a:xfrm>
            <a:off x="6040499" y="1655699"/>
            <a:ext cx="1327150" cy="1317625"/>
            <a:chOff x="6040499" y="1655699"/>
            <a:chExt cx="1327150" cy="1317625"/>
          </a:xfrm>
        </p:grpSpPr>
        <p:sp>
          <p:nvSpPr>
            <p:cNvPr id="55" name="Google Shape;55;p8"/>
            <p:cNvSpPr/>
            <p:nvPr/>
          </p:nvSpPr>
          <p:spPr>
            <a:xfrm>
              <a:off x="6040499" y="1655699"/>
              <a:ext cx="1327150" cy="1317625"/>
            </a:xfrm>
            <a:custGeom>
              <a:rect b="b" l="l" r="r" t="t"/>
              <a:pathLst>
                <a:path extrusionOk="0" h="1317625" w="1327150">
                  <a:moveTo>
                    <a:pt x="663299" y="1316999"/>
                  </a:moveTo>
                  <a:lnTo>
                    <a:pt x="615929" y="1315346"/>
                  </a:lnTo>
                  <a:lnTo>
                    <a:pt x="569458" y="1310460"/>
                  </a:lnTo>
                  <a:lnTo>
                    <a:pt x="523998" y="1302453"/>
                  </a:lnTo>
                  <a:lnTo>
                    <a:pt x="479661" y="1291437"/>
                  </a:lnTo>
                  <a:lnTo>
                    <a:pt x="436560" y="1277522"/>
                  </a:lnTo>
                  <a:lnTo>
                    <a:pt x="394807" y="1260821"/>
                  </a:lnTo>
                  <a:lnTo>
                    <a:pt x="354515" y="1241444"/>
                  </a:lnTo>
                  <a:lnTo>
                    <a:pt x="315794" y="1219503"/>
                  </a:lnTo>
                  <a:lnTo>
                    <a:pt x="278758" y="1195110"/>
                  </a:lnTo>
                  <a:lnTo>
                    <a:pt x="243519" y="1168376"/>
                  </a:lnTo>
                  <a:lnTo>
                    <a:pt x="210189" y="1139412"/>
                  </a:lnTo>
                  <a:lnTo>
                    <a:pt x="178881" y="1108331"/>
                  </a:lnTo>
                  <a:lnTo>
                    <a:pt x="149706" y="1075242"/>
                  </a:lnTo>
                  <a:lnTo>
                    <a:pt x="122777" y="1040258"/>
                  </a:lnTo>
                  <a:lnTo>
                    <a:pt x="98206" y="1003490"/>
                  </a:lnTo>
                  <a:lnTo>
                    <a:pt x="76106" y="965050"/>
                  </a:lnTo>
                  <a:lnTo>
                    <a:pt x="56588" y="925049"/>
                  </a:lnTo>
                  <a:lnTo>
                    <a:pt x="39765" y="883598"/>
                  </a:lnTo>
                  <a:lnTo>
                    <a:pt x="25748" y="840809"/>
                  </a:lnTo>
                  <a:lnTo>
                    <a:pt x="14652" y="796793"/>
                  </a:lnTo>
                  <a:lnTo>
                    <a:pt x="6586" y="751662"/>
                  </a:lnTo>
                  <a:lnTo>
                    <a:pt x="1665" y="705527"/>
                  </a:lnTo>
                  <a:lnTo>
                    <a:pt x="0" y="658499"/>
                  </a:lnTo>
                  <a:lnTo>
                    <a:pt x="1665" y="611472"/>
                  </a:lnTo>
                  <a:lnTo>
                    <a:pt x="6586" y="565337"/>
                  </a:lnTo>
                  <a:lnTo>
                    <a:pt x="14652" y="520206"/>
                  </a:lnTo>
                  <a:lnTo>
                    <a:pt x="25748" y="476190"/>
                  </a:lnTo>
                  <a:lnTo>
                    <a:pt x="39765" y="433401"/>
                  </a:lnTo>
                  <a:lnTo>
                    <a:pt x="56588" y="391950"/>
                  </a:lnTo>
                  <a:lnTo>
                    <a:pt x="76106" y="351949"/>
                  </a:lnTo>
                  <a:lnTo>
                    <a:pt x="98206" y="313509"/>
                  </a:lnTo>
                  <a:lnTo>
                    <a:pt x="122777" y="276741"/>
                  </a:lnTo>
                  <a:lnTo>
                    <a:pt x="149706" y="241757"/>
                  </a:lnTo>
                  <a:lnTo>
                    <a:pt x="178881" y="208668"/>
                  </a:lnTo>
                  <a:lnTo>
                    <a:pt x="210189" y="177587"/>
                  </a:lnTo>
                  <a:lnTo>
                    <a:pt x="243519" y="148623"/>
                  </a:lnTo>
                  <a:lnTo>
                    <a:pt x="278758" y="121889"/>
                  </a:lnTo>
                  <a:lnTo>
                    <a:pt x="315794" y="97496"/>
                  </a:lnTo>
                  <a:lnTo>
                    <a:pt x="354515" y="75555"/>
                  </a:lnTo>
                  <a:lnTo>
                    <a:pt x="394807" y="56178"/>
                  </a:lnTo>
                  <a:lnTo>
                    <a:pt x="436560" y="39477"/>
                  </a:lnTo>
                  <a:lnTo>
                    <a:pt x="479661" y="25562"/>
                  </a:lnTo>
                  <a:lnTo>
                    <a:pt x="523998" y="14546"/>
                  </a:lnTo>
                  <a:lnTo>
                    <a:pt x="569458" y="6539"/>
                  </a:lnTo>
                  <a:lnTo>
                    <a:pt x="615929" y="1653"/>
                  </a:lnTo>
                  <a:lnTo>
                    <a:pt x="663299" y="0"/>
                  </a:lnTo>
                  <a:lnTo>
                    <a:pt x="709526" y="1653"/>
                  </a:lnTo>
                  <a:lnTo>
                    <a:pt x="710557" y="1653"/>
                  </a:lnTo>
                  <a:lnTo>
                    <a:pt x="758317" y="6788"/>
                  </a:lnTo>
                  <a:lnTo>
                    <a:pt x="804872" y="15171"/>
                  </a:lnTo>
                  <a:lnTo>
                    <a:pt x="850567" y="26787"/>
                  </a:lnTo>
                  <a:lnTo>
                    <a:pt x="895236" y="41569"/>
                  </a:lnTo>
                  <a:lnTo>
                    <a:pt x="938711" y="59446"/>
                  </a:lnTo>
                  <a:lnTo>
                    <a:pt x="980825" y="80351"/>
                  </a:lnTo>
                  <a:lnTo>
                    <a:pt x="1021411" y="104215"/>
                  </a:lnTo>
                  <a:lnTo>
                    <a:pt x="1060301" y="130969"/>
                  </a:lnTo>
                  <a:lnTo>
                    <a:pt x="1097327" y="160543"/>
                  </a:lnTo>
                  <a:lnTo>
                    <a:pt x="1132324" y="192870"/>
                  </a:lnTo>
                  <a:lnTo>
                    <a:pt x="1167991" y="231201"/>
                  </a:lnTo>
                  <a:lnTo>
                    <a:pt x="1200295" y="271950"/>
                  </a:lnTo>
                  <a:lnTo>
                    <a:pt x="1229145" y="314898"/>
                  </a:lnTo>
                  <a:lnTo>
                    <a:pt x="1254447" y="359822"/>
                  </a:lnTo>
                  <a:lnTo>
                    <a:pt x="1276109" y="406502"/>
                  </a:lnTo>
                  <a:lnTo>
                    <a:pt x="1294040" y="454717"/>
                  </a:lnTo>
                  <a:lnTo>
                    <a:pt x="1308146" y="504245"/>
                  </a:lnTo>
                  <a:lnTo>
                    <a:pt x="1318337" y="554866"/>
                  </a:lnTo>
                  <a:lnTo>
                    <a:pt x="1324518" y="606357"/>
                  </a:lnTo>
                  <a:lnTo>
                    <a:pt x="1326599" y="658499"/>
                  </a:lnTo>
                  <a:lnTo>
                    <a:pt x="1324934" y="705527"/>
                  </a:lnTo>
                  <a:lnTo>
                    <a:pt x="1320013" y="751662"/>
                  </a:lnTo>
                  <a:lnTo>
                    <a:pt x="1311947" y="796793"/>
                  </a:lnTo>
                  <a:lnTo>
                    <a:pt x="1300851" y="840809"/>
                  </a:lnTo>
                  <a:lnTo>
                    <a:pt x="1286834" y="883598"/>
                  </a:lnTo>
                  <a:lnTo>
                    <a:pt x="1270011" y="925049"/>
                  </a:lnTo>
                  <a:lnTo>
                    <a:pt x="1250493" y="965050"/>
                  </a:lnTo>
                  <a:lnTo>
                    <a:pt x="1228393" y="1003490"/>
                  </a:lnTo>
                  <a:lnTo>
                    <a:pt x="1203822" y="1040258"/>
                  </a:lnTo>
                  <a:lnTo>
                    <a:pt x="1176893" y="1075242"/>
                  </a:lnTo>
                  <a:lnTo>
                    <a:pt x="1147718" y="1108331"/>
                  </a:lnTo>
                  <a:lnTo>
                    <a:pt x="1116410" y="1139412"/>
                  </a:lnTo>
                  <a:lnTo>
                    <a:pt x="1083080" y="1168376"/>
                  </a:lnTo>
                  <a:lnTo>
                    <a:pt x="1047841" y="1195110"/>
                  </a:lnTo>
                  <a:lnTo>
                    <a:pt x="1010805" y="1219503"/>
                  </a:lnTo>
                  <a:lnTo>
                    <a:pt x="972084" y="1241444"/>
                  </a:lnTo>
                  <a:lnTo>
                    <a:pt x="931792" y="1260821"/>
                  </a:lnTo>
                  <a:lnTo>
                    <a:pt x="890039" y="1277522"/>
                  </a:lnTo>
                  <a:lnTo>
                    <a:pt x="846938" y="1291437"/>
                  </a:lnTo>
                  <a:lnTo>
                    <a:pt x="802601" y="1302453"/>
                  </a:lnTo>
                  <a:lnTo>
                    <a:pt x="757141" y="1310460"/>
                  </a:lnTo>
                  <a:lnTo>
                    <a:pt x="710670" y="1315346"/>
                  </a:lnTo>
                  <a:lnTo>
                    <a:pt x="663299" y="1316999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>
              <a:off x="6040499" y="1655699"/>
              <a:ext cx="1327150" cy="1317625"/>
            </a:xfrm>
            <a:custGeom>
              <a:rect b="b" l="l" r="r" t="t"/>
              <a:pathLst>
                <a:path extrusionOk="0" h="1317625" w="1327150">
                  <a:moveTo>
                    <a:pt x="0" y="658499"/>
                  </a:moveTo>
                  <a:lnTo>
                    <a:pt x="1665" y="611472"/>
                  </a:lnTo>
                  <a:lnTo>
                    <a:pt x="6586" y="565337"/>
                  </a:lnTo>
                  <a:lnTo>
                    <a:pt x="14652" y="520206"/>
                  </a:lnTo>
                  <a:lnTo>
                    <a:pt x="25748" y="476190"/>
                  </a:lnTo>
                  <a:lnTo>
                    <a:pt x="39765" y="433401"/>
                  </a:lnTo>
                  <a:lnTo>
                    <a:pt x="56588" y="391950"/>
                  </a:lnTo>
                  <a:lnTo>
                    <a:pt x="76106" y="351949"/>
                  </a:lnTo>
                  <a:lnTo>
                    <a:pt x="98206" y="313509"/>
                  </a:lnTo>
                  <a:lnTo>
                    <a:pt x="122777" y="276741"/>
                  </a:lnTo>
                  <a:lnTo>
                    <a:pt x="149706" y="241757"/>
                  </a:lnTo>
                  <a:lnTo>
                    <a:pt x="178881" y="208668"/>
                  </a:lnTo>
                  <a:lnTo>
                    <a:pt x="210189" y="177587"/>
                  </a:lnTo>
                  <a:lnTo>
                    <a:pt x="243519" y="148623"/>
                  </a:lnTo>
                  <a:lnTo>
                    <a:pt x="278758" y="121889"/>
                  </a:lnTo>
                  <a:lnTo>
                    <a:pt x="315794" y="97496"/>
                  </a:lnTo>
                  <a:lnTo>
                    <a:pt x="354515" y="75555"/>
                  </a:lnTo>
                  <a:lnTo>
                    <a:pt x="394807" y="56178"/>
                  </a:lnTo>
                  <a:lnTo>
                    <a:pt x="436560" y="39477"/>
                  </a:lnTo>
                  <a:lnTo>
                    <a:pt x="479661" y="25562"/>
                  </a:lnTo>
                  <a:lnTo>
                    <a:pt x="523998" y="14546"/>
                  </a:lnTo>
                  <a:lnTo>
                    <a:pt x="569458" y="6539"/>
                  </a:lnTo>
                  <a:lnTo>
                    <a:pt x="615929" y="1653"/>
                  </a:lnTo>
                  <a:lnTo>
                    <a:pt x="663299" y="0"/>
                  </a:lnTo>
                  <a:lnTo>
                    <a:pt x="711071" y="1708"/>
                  </a:lnTo>
                  <a:lnTo>
                    <a:pt x="758317" y="6788"/>
                  </a:lnTo>
                  <a:lnTo>
                    <a:pt x="804872" y="15171"/>
                  </a:lnTo>
                  <a:lnTo>
                    <a:pt x="850567" y="26787"/>
                  </a:lnTo>
                  <a:lnTo>
                    <a:pt x="895236" y="41569"/>
                  </a:lnTo>
                  <a:lnTo>
                    <a:pt x="938711" y="59446"/>
                  </a:lnTo>
                  <a:lnTo>
                    <a:pt x="980825" y="80351"/>
                  </a:lnTo>
                  <a:lnTo>
                    <a:pt x="1021411" y="104215"/>
                  </a:lnTo>
                  <a:lnTo>
                    <a:pt x="1060301" y="130969"/>
                  </a:lnTo>
                  <a:lnTo>
                    <a:pt x="1097327" y="160543"/>
                  </a:lnTo>
                  <a:lnTo>
                    <a:pt x="1132324" y="192870"/>
                  </a:lnTo>
                  <a:lnTo>
                    <a:pt x="1167991" y="231201"/>
                  </a:lnTo>
                  <a:lnTo>
                    <a:pt x="1200295" y="271950"/>
                  </a:lnTo>
                  <a:lnTo>
                    <a:pt x="1229145" y="314898"/>
                  </a:lnTo>
                  <a:lnTo>
                    <a:pt x="1254447" y="359822"/>
                  </a:lnTo>
                  <a:lnTo>
                    <a:pt x="1276109" y="406502"/>
                  </a:lnTo>
                  <a:lnTo>
                    <a:pt x="1294040" y="454717"/>
                  </a:lnTo>
                  <a:lnTo>
                    <a:pt x="1308146" y="504245"/>
                  </a:lnTo>
                  <a:lnTo>
                    <a:pt x="1318337" y="554866"/>
                  </a:lnTo>
                  <a:lnTo>
                    <a:pt x="1324518" y="606357"/>
                  </a:lnTo>
                  <a:lnTo>
                    <a:pt x="1326599" y="658499"/>
                  </a:lnTo>
                  <a:lnTo>
                    <a:pt x="1324934" y="705527"/>
                  </a:lnTo>
                  <a:lnTo>
                    <a:pt x="1320013" y="751662"/>
                  </a:lnTo>
                  <a:lnTo>
                    <a:pt x="1311947" y="796793"/>
                  </a:lnTo>
                  <a:lnTo>
                    <a:pt x="1300851" y="840809"/>
                  </a:lnTo>
                  <a:lnTo>
                    <a:pt x="1286834" y="883598"/>
                  </a:lnTo>
                  <a:lnTo>
                    <a:pt x="1270011" y="925049"/>
                  </a:lnTo>
                  <a:lnTo>
                    <a:pt x="1250493" y="965050"/>
                  </a:lnTo>
                  <a:lnTo>
                    <a:pt x="1228393" y="1003490"/>
                  </a:lnTo>
                  <a:lnTo>
                    <a:pt x="1203822" y="1040258"/>
                  </a:lnTo>
                  <a:lnTo>
                    <a:pt x="1176893" y="1075242"/>
                  </a:lnTo>
                  <a:lnTo>
                    <a:pt x="1147718" y="1108331"/>
                  </a:lnTo>
                  <a:lnTo>
                    <a:pt x="1116410" y="1139412"/>
                  </a:lnTo>
                  <a:lnTo>
                    <a:pt x="1083080" y="1168376"/>
                  </a:lnTo>
                  <a:lnTo>
                    <a:pt x="1047841" y="1195110"/>
                  </a:lnTo>
                  <a:lnTo>
                    <a:pt x="1010805" y="1219503"/>
                  </a:lnTo>
                  <a:lnTo>
                    <a:pt x="972084" y="1241444"/>
                  </a:lnTo>
                  <a:lnTo>
                    <a:pt x="931792" y="1260821"/>
                  </a:lnTo>
                  <a:lnTo>
                    <a:pt x="890039" y="1277522"/>
                  </a:lnTo>
                  <a:lnTo>
                    <a:pt x="846938" y="1291437"/>
                  </a:lnTo>
                  <a:lnTo>
                    <a:pt x="802601" y="1302453"/>
                  </a:lnTo>
                  <a:lnTo>
                    <a:pt x="757141" y="1310460"/>
                  </a:lnTo>
                  <a:lnTo>
                    <a:pt x="710670" y="1315346"/>
                  </a:lnTo>
                  <a:lnTo>
                    <a:pt x="663299" y="1316999"/>
                  </a:lnTo>
                  <a:lnTo>
                    <a:pt x="615929" y="1315346"/>
                  </a:lnTo>
                  <a:lnTo>
                    <a:pt x="569458" y="1310460"/>
                  </a:lnTo>
                  <a:lnTo>
                    <a:pt x="523998" y="1302453"/>
                  </a:lnTo>
                  <a:lnTo>
                    <a:pt x="479661" y="1291437"/>
                  </a:lnTo>
                  <a:lnTo>
                    <a:pt x="436560" y="1277522"/>
                  </a:lnTo>
                  <a:lnTo>
                    <a:pt x="394807" y="1260821"/>
                  </a:lnTo>
                  <a:lnTo>
                    <a:pt x="354515" y="1241444"/>
                  </a:lnTo>
                  <a:lnTo>
                    <a:pt x="315794" y="1219503"/>
                  </a:lnTo>
                  <a:lnTo>
                    <a:pt x="278758" y="1195110"/>
                  </a:lnTo>
                  <a:lnTo>
                    <a:pt x="243519" y="1168376"/>
                  </a:lnTo>
                  <a:lnTo>
                    <a:pt x="210189" y="1139412"/>
                  </a:lnTo>
                  <a:lnTo>
                    <a:pt x="178881" y="1108331"/>
                  </a:lnTo>
                  <a:lnTo>
                    <a:pt x="149706" y="1075242"/>
                  </a:lnTo>
                  <a:lnTo>
                    <a:pt x="122777" y="1040258"/>
                  </a:lnTo>
                  <a:lnTo>
                    <a:pt x="98206" y="1003490"/>
                  </a:lnTo>
                  <a:lnTo>
                    <a:pt x="76106" y="965050"/>
                  </a:lnTo>
                  <a:lnTo>
                    <a:pt x="56588" y="925049"/>
                  </a:lnTo>
                  <a:lnTo>
                    <a:pt x="39765" y="883598"/>
                  </a:lnTo>
                  <a:lnTo>
                    <a:pt x="25748" y="840809"/>
                  </a:lnTo>
                  <a:lnTo>
                    <a:pt x="14652" y="796793"/>
                  </a:lnTo>
                  <a:lnTo>
                    <a:pt x="6586" y="751662"/>
                  </a:lnTo>
                  <a:lnTo>
                    <a:pt x="1665" y="705527"/>
                  </a:lnTo>
                  <a:lnTo>
                    <a:pt x="0" y="658499"/>
                  </a:lnTo>
                  <a:close/>
                </a:path>
                <a:path extrusionOk="0" h="1317625" w="1327150">
                  <a:moveTo>
                    <a:pt x="663299" y="0"/>
                  </a:moveTo>
                  <a:lnTo>
                    <a:pt x="663299" y="1316999"/>
                  </a:ln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/>
        </p:nvSpPr>
        <p:spPr>
          <a:xfrm>
            <a:off x="6216999" y="2160781"/>
            <a:ext cx="36830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𝒇(𝒙)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8" name="Google Shape;58;p8"/>
          <p:cNvGrpSpPr/>
          <p:nvPr/>
        </p:nvGrpSpPr>
        <p:grpSpPr>
          <a:xfrm>
            <a:off x="5429024" y="2365051"/>
            <a:ext cx="2535950" cy="31750"/>
            <a:chOff x="5429024" y="2365051"/>
            <a:chExt cx="2535950" cy="31750"/>
          </a:xfrm>
        </p:grpSpPr>
        <p:sp>
          <p:nvSpPr>
            <p:cNvPr id="59" name="Google Shape;59;p8"/>
            <p:cNvSpPr/>
            <p:nvPr/>
          </p:nvSpPr>
          <p:spPr>
            <a:xfrm>
              <a:off x="5429024" y="2370675"/>
              <a:ext cx="581660" cy="10160"/>
            </a:xfrm>
            <a:custGeom>
              <a:rect b="b" l="l" r="r" t="t"/>
              <a:pathLst>
                <a:path extrusionOk="0" h="10160" w="581660">
                  <a:moveTo>
                    <a:pt x="0" y="0"/>
                  </a:moveTo>
                  <a:lnTo>
                    <a:pt x="581558" y="10106"/>
                  </a:ln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8"/>
            <p:cNvSpPr/>
            <p:nvPr/>
          </p:nvSpPr>
          <p:spPr>
            <a:xfrm>
              <a:off x="6010309" y="2365051"/>
              <a:ext cx="43815" cy="31750"/>
            </a:xfrm>
            <a:custGeom>
              <a:rect b="b" l="l" r="r" t="t"/>
              <a:pathLst>
                <a:path extrusionOk="0" h="31750" w="43814">
                  <a:moveTo>
                    <a:pt x="0" y="31460"/>
                  </a:moveTo>
                  <a:lnTo>
                    <a:pt x="546" y="0"/>
                  </a:lnTo>
                  <a:lnTo>
                    <a:pt x="43492" y="16481"/>
                  </a:lnTo>
                  <a:lnTo>
                    <a:pt x="0" y="3146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8"/>
            <p:cNvSpPr/>
            <p:nvPr/>
          </p:nvSpPr>
          <p:spPr>
            <a:xfrm>
              <a:off x="6010309" y="2365051"/>
              <a:ext cx="43815" cy="31750"/>
            </a:xfrm>
            <a:custGeom>
              <a:rect b="b" l="l" r="r" t="t"/>
              <a:pathLst>
                <a:path extrusionOk="0" h="31750" w="43814">
                  <a:moveTo>
                    <a:pt x="0" y="31460"/>
                  </a:moveTo>
                  <a:lnTo>
                    <a:pt x="43492" y="16481"/>
                  </a:lnTo>
                  <a:lnTo>
                    <a:pt x="546" y="0"/>
                  </a:lnTo>
                  <a:lnTo>
                    <a:pt x="0" y="31460"/>
                  </a:lnTo>
                  <a:close/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8"/>
            <p:cNvSpPr/>
            <p:nvPr/>
          </p:nvSpPr>
          <p:spPr>
            <a:xfrm>
              <a:off x="7339874" y="2370675"/>
              <a:ext cx="581660" cy="10160"/>
            </a:xfrm>
            <a:custGeom>
              <a:rect b="b" l="l" r="r" t="t"/>
              <a:pathLst>
                <a:path extrusionOk="0" h="10160" w="581659">
                  <a:moveTo>
                    <a:pt x="0" y="0"/>
                  </a:moveTo>
                  <a:lnTo>
                    <a:pt x="581558" y="10106"/>
                  </a:ln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8"/>
            <p:cNvSpPr/>
            <p:nvPr/>
          </p:nvSpPr>
          <p:spPr>
            <a:xfrm>
              <a:off x="7921159" y="2365051"/>
              <a:ext cx="43815" cy="31750"/>
            </a:xfrm>
            <a:custGeom>
              <a:rect b="b" l="l" r="r" t="t"/>
              <a:pathLst>
                <a:path extrusionOk="0" h="31750" w="43815">
                  <a:moveTo>
                    <a:pt x="0" y="31460"/>
                  </a:moveTo>
                  <a:lnTo>
                    <a:pt x="546" y="0"/>
                  </a:lnTo>
                  <a:lnTo>
                    <a:pt x="43492" y="16481"/>
                  </a:lnTo>
                  <a:lnTo>
                    <a:pt x="0" y="3146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8"/>
            <p:cNvSpPr/>
            <p:nvPr/>
          </p:nvSpPr>
          <p:spPr>
            <a:xfrm>
              <a:off x="7921159" y="2365051"/>
              <a:ext cx="43815" cy="31750"/>
            </a:xfrm>
            <a:custGeom>
              <a:rect b="b" l="l" r="r" t="t"/>
              <a:pathLst>
                <a:path extrusionOk="0" h="31750" w="43815">
                  <a:moveTo>
                    <a:pt x="0" y="31460"/>
                  </a:moveTo>
                  <a:lnTo>
                    <a:pt x="43492" y="16481"/>
                  </a:lnTo>
                  <a:lnTo>
                    <a:pt x="546" y="0"/>
                  </a:lnTo>
                  <a:lnTo>
                    <a:pt x="0" y="31460"/>
                  </a:lnTo>
                  <a:close/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5" name="Google Shape;65;p8"/>
          <p:cNvSpPr txBox="1"/>
          <p:nvPr/>
        </p:nvSpPr>
        <p:spPr>
          <a:xfrm>
            <a:off x="5165250" y="2100424"/>
            <a:ext cx="165100" cy="360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𝒙</a:t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8"/>
          <p:cNvSpPr txBox="1"/>
          <p:nvPr/>
        </p:nvSpPr>
        <p:spPr>
          <a:xfrm>
            <a:off x="6799600" y="2178731"/>
            <a:ext cx="41910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𝒈(𝒖)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8"/>
          <p:cNvSpPr txBox="1"/>
          <p:nvPr/>
        </p:nvSpPr>
        <p:spPr>
          <a:xfrm>
            <a:off x="8051600" y="2131023"/>
            <a:ext cx="149860" cy="360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𝒚</a:t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8"/>
          <p:cNvSpPr txBox="1"/>
          <p:nvPr/>
        </p:nvSpPr>
        <p:spPr>
          <a:xfrm>
            <a:off x="6113524" y="3038612"/>
            <a:ext cx="1280160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Artificial Neuron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8"/>
          <p:cNvSpPr txBox="1"/>
          <p:nvPr/>
        </p:nvSpPr>
        <p:spPr>
          <a:xfrm>
            <a:off x="8852129" y="4766036"/>
            <a:ext cx="9652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0" name="Google Shape;7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1837" y="1651237"/>
            <a:ext cx="74624" cy="85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75" name="Google Shape;75;p9"/>
          <p:cNvSpPr txBox="1"/>
          <p:nvPr>
            <p:ph type="title"/>
          </p:nvPr>
        </p:nvSpPr>
        <p:spPr>
          <a:xfrm>
            <a:off x="384725" y="505248"/>
            <a:ext cx="464883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Artificial Neuron</a:t>
            </a:r>
            <a:endParaRPr/>
          </a:p>
        </p:txBody>
      </p:sp>
      <p:sp>
        <p:nvSpPr>
          <p:cNvPr id="76" name="Google Shape;76;p9"/>
          <p:cNvSpPr txBox="1"/>
          <p:nvPr/>
        </p:nvSpPr>
        <p:spPr>
          <a:xfrm>
            <a:off x="384725" y="1216355"/>
            <a:ext cx="5012690" cy="588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775">
            <a:spAutoFit/>
          </a:bodyPr>
          <a:lstStyle/>
          <a:p>
            <a:pPr indent="0" lvl="0" marL="12700" marR="5080" rtl="0" algn="l">
              <a:lnSpc>
                <a:spcPct val="126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In an artificial neuron, at first input is multiplied by a weight and summed with bias.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9"/>
          <p:cNvSpPr txBox="1"/>
          <p:nvPr/>
        </p:nvSpPr>
        <p:spPr>
          <a:xfrm>
            <a:off x="1718485" y="1944827"/>
            <a:ext cx="1657985" cy="740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501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𝒚 = 𝒈(𝒇(𝒙))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305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𝒖 = 𝒇(𝒙) = 𝒘𝒙 + 𝒃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9"/>
          <p:cNvSpPr txBox="1"/>
          <p:nvPr/>
        </p:nvSpPr>
        <p:spPr>
          <a:xfrm>
            <a:off x="384725" y="2825699"/>
            <a:ext cx="64833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where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9"/>
          <p:cNvSpPr txBox="1"/>
          <p:nvPr/>
        </p:nvSpPr>
        <p:spPr>
          <a:xfrm>
            <a:off x="475249" y="3027597"/>
            <a:ext cx="6918325" cy="14027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3475">
            <a:spAutoFit/>
          </a:bodyPr>
          <a:lstStyle/>
          <a:p>
            <a:pPr indent="0" lvl="0" marL="0" marR="508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Artificial Neuron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67030" lvl="0" marL="379095" marR="2823210" rtl="0" algn="l">
              <a:lnSpc>
                <a:spcPct val="1050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𝒘 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is weight which decides how much influence </a:t>
            </a:r>
            <a:r>
              <a:rPr lang="en-US" sz="18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𝒙 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will have on </a:t>
            </a:r>
            <a:r>
              <a:rPr lang="en-US" sz="18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𝒖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7030" lvl="0" marL="379095" marR="1920239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𝒃 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is bias which ensures that </a:t>
            </a:r>
            <a:r>
              <a:rPr lang="en-US" sz="18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𝒖 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is not too big or too small on average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0" name="Google Shape;80;p9"/>
          <p:cNvGrpSpPr/>
          <p:nvPr/>
        </p:nvGrpSpPr>
        <p:grpSpPr>
          <a:xfrm>
            <a:off x="6040499" y="1655699"/>
            <a:ext cx="1327150" cy="1317625"/>
            <a:chOff x="6040499" y="1655699"/>
            <a:chExt cx="1327150" cy="1317625"/>
          </a:xfrm>
        </p:grpSpPr>
        <p:sp>
          <p:nvSpPr>
            <p:cNvPr id="81" name="Google Shape;81;p9"/>
            <p:cNvSpPr/>
            <p:nvPr/>
          </p:nvSpPr>
          <p:spPr>
            <a:xfrm>
              <a:off x="6040499" y="1655699"/>
              <a:ext cx="1327150" cy="1317625"/>
            </a:xfrm>
            <a:custGeom>
              <a:rect b="b" l="l" r="r" t="t"/>
              <a:pathLst>
                <a:path extrusionOk="0" h="1317625" w="1327150">
                  <a:moveTo>
                    <a:pt x="663299" y="1316999"/>
                  </a:moveTo>
                  <a:lnTo>
                    <a:pt x="615929" y="1315346"/>
                  </a:lnTo>
                  <a:lnTo>
                    <a:pt x="569458" y="1310460"/>
                  </a:lnTo>
                  <a:lnTo>
                    <a:pt x="523998" y="1302453"/>
                  </a:lnTo>
                  <a:lnTo>
                    <a:pt x="479661" y="1291437"/>
                  </a:lnTo>
                  <a:lnTo>
                    <a:pt x="436560" y="1277522"/>
                  </a:lnTo>
                  <a:lnTo>
                    <a:pt x="394807" y="1260821"/>
                  </a:lnTo>
                  <a:lnTo>
                    <a:pt x="354515" y="1241444"/>
                  </a:lnTo>
                  <a:lnTo>
                    <a:pt x="315794" y="1219503"/>
                  </a:lnTo>
                  <a:lnTo>
                    <a:pt x="278758" y="1195110"/>
                  </a:lnTo>
                  <a:lnTo>
                    <a:pt x="243519" y="1168376"/>
                  </a:lnTo>
                  <a:lnTo>
                    <a:pt x="210189" y="1139412"/>
                  </a:lnTo>
                  <a:lnTo>
                    <a:pt x="178881" y="1108331"/>
                  </a:lnTo>
                  <a:lnTo>
                    <a:pt x="149706" y="1075242"/>
                  </a:lnTo>
                  <a:lnTo>
                    <a:pt x="122777" y="1040258"/>
                  </a:lnTo>
                  <a:lnTo>
                    <a:pt x="98206" y="1003490"/>
                  </a:lnTo>
                  <a:lnTo>
                    <a:pt x="76106" y="965050"/>
                  </a:lnTo>
                  <a:lnTo>
                    <a:pt x="56588" y="925049"/>
                  </a:lnTo>
                  <a:lnTo>
                    <a:pt x="39765" y="883598"/>
                  </a:lnTo>
                  <a:lnTo>
                    <a:pt x="25748" y="840809"/>
                  </a:lnTo>
                  <a:lnTo>
                    <a:pt x="14652" y="796793"/>
                  </a:lnTo>
                  <a:lnTo>
                    <a:pt x="6586" y="751662"/>
                  </a:lnTo>
                  <a:lnTo>
                    <a:pt x="1665" y="705527"/>
                  </a:lnTo>
                  <a:lnTo>
                    <a:pt x="0" y="658499"/>
                  </a:lnTo>
                  <a:lnTo>
                    <a:pt x="1665" y="611472"/>
                  </a:lnTo>
                  <a:lnTo>
                    <a:pt x="6586" y="565337"/>
                  </a:lnTo>
                  <a:lnTo>
                    <a:pt x="14652" y="520206"/>
                  </a:lnTo>
                  <a:lnTo>
                    <a:pt x="25748" y="476190"/>
                  </a:lnTo>
                  <a:lnTo>
                    <a:pt x="39765" y="433401"/>
                  </a:lnTo>
                  <a:lnTo>
                    <a:pt x="56588" y="391950"/>
                  </a:lnTo>
                  <a:lnTo>
                    <a:pt x="76106" y="351949"/>
                  </a:lnTo>
                  <a:lnTo>
                    <a:pt x="98206" y="313509"/>
                  </a:lnTo>
                  <a:lnTo>
                    <a:pt x="122777" y="276741"/>
                  </a:lnTo>
                  <a:lnTo>
                    <a:pt x="149706" y="241757"/>
                  </a:lnTo>
                  <a:lnTo>
                    <a:pt x="178881" y="208668"/>
                  </a:lnTo>
                  <a:lnTo>
                    <a:pt x="210189" y="177587"/>
                  </a:lnTo>
                  <a:lnTo>
                    <a:pt x="243519" y="148623"/>
                  </a:lnTo>
                  <a:lnTo>
                    <a:pt x="278758" y="121889"/>
                  </a:lnTo>
                  <a:lnTo>
                    <a:pt x="315794" y="97496"/>
                  </a:lnTo>
                  <a:lnTo>
                    <a:pt x="354515" y="75555"/>
                  </a:lnTo>
                  <a:lnTo>
                    <a:pt x="394807" y="56178"/>
                  </a:lnTo>
                  <a:lnTo>
                    <a:pt x="436560" y="39477"/>
                  </a:lnTo>
                  <a:lnTo>
                    <a:pt x="479661" y="25562"/>
                  </a:lnTo>
                  <a:lnTo>
                    <a:pt x="523998" y="14546"/>
                  </a:lnTo>
                  <a:lnTo>
                    <a:pt x="569458" y="6539"/>
                  </a:lnTo>
                  <a:lnTo>
                    <a:pt x="615929" y="1653"/>
                  </a:lnTo>
                  <a:lnTo>
                    <a:pt x="663299" y="0"/>
                  </a:lnTo>
                  <a:lnTo>
                    <a:pt x="709526" y="1653"/>
                  </a:lnTo>
                  <a:lnTo>
                    <a:pt x="710557" y="1653"/>
                  </a:lnTo>
                  <a:lnTo>
                    <a:pt x="758317" y="6788"/>
                  </a:lnTo>
                  <a:lnTo>
                    <a:pt x="804872" y="15171"/>
                  </a:lnTo>
                  <a:lnTo>
                    <a:pt x="850567" y="26787"/>
                  </a:lnTo>
                  <a:lnTo>
                    <a:pt x="895236" y="41569"/>
                  </a:lnTo>
                  <a:lnTo>
                    <a:pt x="938711" y="59446"/>
                  </a:lnTo>
                  <a:lnTo>
                    <a:pt x="980825" y="80351"/>
                  </a:lnTo>
                  <a:lnTo>
                    <a:pt x="1021411" y="104215"/>
                  </a:lnTo>
                  <a:lnTo>
                    <a:pt x="1060301" y="130969"/>
                  </a:lnTo>
                  <a:lnTo>
                    <a:pt x="1097327" y="160543"/>
                  </a:lnTo>
                  <a:lnTo>
                    <a:pt x="1132324" y="192870"/>
                  </a:lnTo>
                  <a:lnTo>
                    <a:pt x="1167991" y="231201"/>
                  </a:lnTo>
                  <a:lnTo>
                    <a:pt x="1200295" y="271950"/>
                  </a:lnTo>
                  <a:lnTo>
                    <a:pt x="1229145" y="314898"/>
                  </a:lnTo>
                  <a:lnTo>
                    <a:pt x="1254447" y="359822"/>
                  </a:lnTo>
                  <a:lnTo>
                    <a:pt x="1276109" y="406502"/>
                  </a:lnTo>
                  <a:lnTo>
                    <a:pt x="1294040" y="454717"/>
                  </a:lnTo>
                  <a:lnTo>
                    <a:pt x="1308146" y="504245"/>
                  </a:lnTo>
                  <a:lnTo>
                    <a:pt x="1318337" y="554866"/>
                  </a:lnTo>
                  <a:lnTo>
                    <a:pt x="1324518" y="606357"/>
                  </a:lnTo>
                  <a:lnTo>
                    <a:pt x="1326599" y="658499"/>
                  </a:lnTo>
                  <a:lnTo>
                    <a:pt x="1324934" y="705527"/>
                  </a:lnTo>
                  <a:lnTo>
                    <a:pt x="1320013" y="751662"/>
                  </a:lnTo>
                  <a:lnTo>
                    <a:pt x="1311947" y="796793"/>
                  </a:lnTo>
                  <a:lnTo>
                    <a:pt x="1300851" y="840809"/>
                  </a:lnTo>
                  <a:lnTo>
                    <a:pt x="1286834" y="883598"/>
                  </a:lnTo>
                  <a:lnTo>
                    <a:pt x="1270011" y="925049"/>
                  </a:lnTo>
                  <a:lnTo>
                    <a:pt x="1250493" y="965050"/>
                  </a:lnTo>
                  <a:lnTo>
                    <a:pt x="1228393" y="1003490"/>
                  </a:lnTo>
                  <a:lnTo>
                    <a:pt x="1203822" y="1040258"/>
                  </a:lnTo>
                  <a:lnTo>
                    <a:pt x="1176893" y="1075242"/>
                  </a:lnTo>
                  <a:lnTo>
                    <a:pt x="1147718" y="1108331"/>
                  </a:lnTo>
                  <a:lnTo>
                    <a:pt x="1116410" y="1139412"/>
                  </a:lnTo>
                  <a:lnTo>
                    <a:pt x="1083080" y="1168376"/>
                  </a:lnTo>
                  <a:lnTo>
                    <a:pt x="1047841" y="1195110"/>
                  </a:lnTo>
                  <a:lnTo>
                    <a:pt x="1010805" y="1219503"/>
                  </a:lnTo>
                  <a:lnTo>
                    <a:pt x="972084" y="1241444"/>
                  </a:lnTo>
                  <a:lnTo>
                    <a:pt x="931792" y="1260821"/>
                  </a:lnTo>
                  <a:lnTo>
                    <a:pt x="890039" y="1277522"/>
                  </a:lnTo>
                  <a:lnTo>
                    <a:pt x="846938" y="1291437"/>
                  </a:lnTo>
                  <a:lnTo>
                    <a:pt x="802601" y="1302453"/>
                  </a:lnTo>
                  <a:lnTo>
                    <a:pt x="757141" y="1310460"/>
                  </a:lnTo>
                  <a:lnTo>
                    <a:pt x="710670" y="1315346"/>
                  </a:lnTo>
                  <a:lnTo>
                    <a:pt x="663299" y="1316999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9"/>
            <p:cNvSpPr/>
            <p:nvPr/>
          </p:nvSpPr>
          <p:spPr>
            <a:xfrm>
              <a:off x="6040499" y="1655699"/>
              <a:ext cx="1327150" cy="1317625"/>
            </a:xfrm>
            <a:custGeom>
              <a:rect b="b" l="l" r="r" t="t"/>
              <a:pathLst>
                <a:path extrusionOk="0" h="1317625" w="1327150">
                  <a:moveTo>
                    <a:pt x="0" y="658499"/>
                  </a:moveTo>
                  <a:lnTo>
                    <a:pt x="1665" y="611472"/>
                  </a:lnTo>
                  <a:lnTo>
                    <a:pt x="6586" y="565337"/>
                  </a:lnTo>
                  <a:lnTo>
                    <a:pt x="14652" y="520206"/>
                  </a:lnTo>
                  <a:lnTo>
                    <a:pt x="25748" y="476190"/>
                  </a:lnTo>
                  <a:lnTo>
                    <a:pt x="39765" y="433401"/>
                  </a:lnTo>
                  <a:lnTo>
                    <a:pt x="56588" y="391950"/>
                  </a:lnTo>
                  <a:lnTo>
                    <a:pt x="76106" y="351949"/>
                  </a:lnTo>
                  <a:lnTo>
                    <a:pt x="98206" y="313509"/>
                  </a:lnTo>
                  <a:lnTo>
                    <a:pt x="122777" y="276741"/>
                  </a:lnTo>
                  <a:lnTo>
                    <a:pt x="149706" y="241757"/>
                  </a:lnTo>
                  <a:lnTo>
                    <a:pt x="178881" y="208668"/>
                  </a:lnTo>
                  <a:lnTo>
                    <a:pt x="210189" y="177587"/>
                  </a:lnTo>
                  <a:lnTo>
                    <a:pt x="243519" y="148623"/>
                  </a:lnTo>
                  <a:lnTo>
                    <a:pt x="278758" y="121889"/>
                  </a:lnTo>
                  <a:lnTo>
                    <a:pt x="315794" y="97496"/>
                  </a:lnTo>
                  <a:lnTo>
                    <a:pt x="354515" y="75555"/>
                  </a:lnTo>
                  <a:lnTo>
                    <a:pt x="394807" y="56178"/>
                  </a:lnTo>
                  <a:lnTo>
                    <a:pt x="436560" y="39477"/>
                  </a:lnTo>
                  <a:lnTo>
                    <a:pt x="479661" y="25562"/>
                  </a:lnTo>
                  <a:lnTo>
                    <a:pt x="523998" y="14546"/>
                  </a:lnTo>
                  <a:lnTo>
                    <a:pt x="569458" y="6539"/>
                  </a:lnTo>
                  <a:lnTo>
                    <a:pt x="615929" y="1653"/>
                  </a:lnTo>
                  <a:lnTo>
                    <a:pt x="663299" y="0"/>
                  </a:lnTo>
                  <a:lnTo>
                    <a:pt x="711071" y="1708"/>
                  </a:lnTo>
                  <a:lnTo>
                    <a:pt x="758317" y="6788"/>
                  </a:lnTo>
                  <a:lnTo>
                    <a:pt x="804872" y="15171"/>
                  </a:lnTo>
                  <a:lnTo>
                    <a:pt x="850567" y="26787"/>
                  </a:lnTo>
                  <a:lnTo>
                    <a:pt x="895236" y="41569"/>
                  </a:lnTo>
                  <a:lnTo>
                    <a:pt x="938711" y="59446"/>
                  </a:lnTo>
                  <a:lnTo>
                    <a:pt x="980825" y="80351"/>
                  </a:lnTo>
                  <a:lnTo>
                    <a:pt x="1021411" y="104215"/>
                  </a:lnTo>
                  <a:lnTo>
                    <a:pt x="1060301" y="130969"/>
                  </a:lnTo>
                  <a:lnTo>
                    <a:pt x="1097327" y="160543"/>
                  </a:lnTo>
                  <a:lnTo>
                    <a:pt x="1132324" y="192870"/>
                  </a:lnTo>
                  <a:lnTo>
                    <a:pt x="1167991" y="231201"/>
                  </a:lnTo>
                  <a:lnTo>
                    <a:pt x="1200295" y="271950"/>
                  </a:lnTo>
                  <a:lnTo>
                    <a:pt x="1229145" y="314898"/>
                  </a:lnTo>
                  <a:lnTo>
                    <a:pt x="1254447" y="359822"/>
                  </a:lnTo>
                  <a:lnTo>
                    <a:pt x="1276109" y="406502"/>
                  </a:lnTo>
                  <a:lnTo>
                    <a:pt x="1294040" y="454717"/>
                  </a:lnTo>
                  <a:lnTo>
                    <a:pt x="1308146" y="504245"/>
                  </a:lnTo>
                  <a:lnTo>
                    <a:pt x="1318337" y="554866"/>
                  </a:lnTo>
                  <a:lnTo>
                    <a:pt x="1324518" y="606357"/>
                  </a:lnTo>
                  <a:lnTo>
                    <a:pt x="1326599" y="658499"/>
                  </a:lnTo>
                  <a:lnTo>
                    <a:pt x="1324934" y="705527"/>
                  </a:lnTo>
                  <a:lnTo>
                    <a:pt x="1320013" y="751662"/>
                  </a:lnTo>
                  <a:lnTo>
                    <a:pt x="1311947" y="796793"/>
                  </a:lnTo>
                  <a:lnTo>
                    <a:pt x="1300851" y="840809"/>
                  </a:lnTo>
                  <a:lnTo>
                    <a:pt x="1286834" y="883598"/>
                  </a:lnTo>
                  <a:lnTo>
                    <a:pt x="1270011" y="925049"/>
                  </a:lnTo>
                  <a:lnTo>
                    <a:pt x="1250493" y="965050"/>
                  </a:lnTo>
                  <a:lnTo>
                    <a:pt x="1228393" y="1003490"/>
                  </a:lnTo>
                  <a:lnTo>
                    <a:pt x="1203822" y="1040258"/>
                  </a:lnTo>
                  <a:lnTo>
                    <a:pt x="1176893" y="1075242"/>
                  </a:lnTo>
                  <a:lnTo>
                    <a:pt x="1147718" y="1108331"/>
                  </a:lnTo>
                  <a:lnTo>
                    <a:pt x="1116410" y="1139412"/>
                  </a:lnTo>
                  <a:lnTo>
                    <a:pt x="1083080" y="1168376"/>
                  </a:lnTo>
                  <a:lnTo>
                    <a:pt x="1047841" y="1195110"/>
                  </a:lnTo>
                  <a:lnTo>
                    <a:pt x="1010805" y="1219503"/>
                  </a:lnTo>
                  <a:lnTo>
                    <a:pt x="972084" y="1241444"/>
                  </a:lnTo>
                  <a:lnTo>
                    <a:pt x="931792" y="1260821"/>
                  </a:lnTo>
                  <a:lnTo>
                    <a:pt x="890039" y="1277522"/>
                  </a:lnTo>
                  <a:lnTo>
                    <a:pt x="846938" y="1291437"/>
                  </a:lnTo>
                  <a:lnTo>
                    <a:pt x="802601" y="1302453"/>
                  </a:lnTo>
                  <a:lnTo>
                    <a:pt x="757141" y="1310460"/>
                  </a:lnTo>
                  <a:lnTo>
                    <a:pt x="710670" y="1315346"/>
                  </a:lnTo>
                  <a:lnTo>
                    <a:pt x="663299" y="1316999"/>
                  </a:lnTo>
                  <a:lnTo>
                    <a:pt x="615929" y="1315346"/>
                  </a:lnTo>
                  <a:lnTo>
                    <a:pt x="569458" y="1310460"/>
                  </a:lnTo>
                  <a:lnTo>
                    <a:pt x="523998" y="1302453"/>
                  </a:lnTo>
                  <a:lnTo>
                    <a:pt x="479661" y="1291437"/>
                  </a:lnTo>
                  <a:lnTo>
                    <a:pt x="436560" y="1277522"/>
                  </a:lnTo>
                  <a:lnTo>
                    <a:pt x="394807" y="1260821"/>
                  </a:lnTo>
                  <a:lnTo>
                    <a:pt x="354515" y="1241444"/>
                  </a:lnTo>
                  <a:lnTo>
                    <a:pt x="315794" y="1219503"/>
                  </a:lnTo>
                  <a:lnTo>
                    <a:pt x="278758" y="1195110"/>
                  </a:lnTo>
                  <a:lnTo>
                    <a:pt x="243519" y="1168376"/>
                  </a:lnTo>
                  <a:lnTo>
                    <a:pt x="210189" y="1139412"/>
                  </a:lnTo>
                  <a:lnTo>
                    <a:pt x="178881" y="1108331"/>
                  </a:lnTo>
                  <a:lnTo>
                    <a:pt x="149706" y="1075242"/>
                  </a:lnTo>
                  <a:lnTo>
                    <a:pt x="122777" y="1040258"/>
                  </a:lnTo>
                  <a:lnTo>
                    <a:pt x="98206" y="1003490"/>
                  </a:lnTo>
                  <a:lnTo>
                    <a:pt x="76106" y="965050"/>
                  </a:lnTo>
                  <a:lnTo>
                    <a:pt x="56588" y="925049"/>
                  </a:lnTo>
                  <a:lnTo>
                    <a:pt x="39765" y="883598"/>
                  </a:lnTo>
                  <a:lnTo>
                    <a:pt x="25748" y="840809"/>
                  </a:lnTo>
                  <a:lnTo>
                    <a:pt x="14652" y="796793"/>
                  </a:lnTo>
                  <a:lnTo>
                    <a:pt x="6586" y="751662"/>
                  </a:lnTo>
                  <a:lnTo>
                    <a:pt x="1665" y="705527"/>
                  </a:lnTo>
                  <a:lnTo>
                    <a:pt x="0" y="658499"/>
                  </a:lnTo>
                  <a:close/>
                </a:path>
                <a:path extrusionOk="0" h="1317625" w="1327150">
                  <a:moveTo>
                    <a:pt x="663299" y="0"/>
                  </a:moveTo>
                  <a:lnTo>
                    <a:pt x="663299" y="1316999"/>
                  </a:ln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3" name="Google Shape;83;p9"/>
          <p:cNvSpPr txBox="1"/>
          <p:nvPr/>
        </p:nvSpPr>
        <p:spPr>
          <a:xfrm>
            <a:off x="6216999" y="2160781"/>
            <a:ext cx="36830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𝒇(𝒙)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4" name="Google Shape;84;p9"/>
          <p:cNvGrpSpPr/>
          <p:nvPr/>
        </p:nvGrpSpPr>
        <p:grpSpPr>
          <a:xfrm>
            <a:off x="5429024" y="2365051"/>
            <a:ext cx="2535950" cy="31750"/>
            <a:chOff x="5429024" y="2365051"/>
            <a:chExt cx="2535950" cy="31750"/>
          </a:xfrm>
        </p:grpSpPr>
        <p:sp>
          <p:nvSpPr>
            <p:cNvPr id="85" name="Google Shape;85;p9"/>
            <p:cNvSpPr/>
            <p:nvPr/>
          </p:nvSpPr>
          <p:spPr>
            <a:xfrm>
              <a:off x="5429024" y="2370675"/>
              <a:ext cx="581660" cy="10160"/>
            </a:xfrm>
            <a:custGeom>
              <a:rect b="b" l="l" r="r" t="t"/>
              <a:pathLst>
                <a:path extrusionOk="0" h="10160" w="581660">
                  <a:moveTo>
                    <a:pt x="0" y="0"/>
                  </a:moveTo>
                  <a:lnTo>
                    <a:pt x="581558" y="10106"/>
                  </a:ln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9"/>
            <p:cNvSpPr/>
            <p:nvPr/>
          </p:nvSpPr>
          <p:spPr>
            <a:xfrm>
              <a:off x="6010309" y="2365051"/>
              <a:ext cx="43815" cy="31750"/>
            </a:xfrm>
            <a:custGeom>
              <a:rect b="b" l="l" r="r" t="t"/>
              <a:pathLst>
                <a:path extrusionOk="0" h="31750" w="43814">
                  <a:moveTo>
                    <a:pt x="0" y="31460"/>
                  </a:moveTo>
                  <a:lnTo>
                    <a:pt x="546" y="0"/>
                  </a:lnTo>
                  <a:lnTo>
                    <a:pt x="43492" y="16481"/>
                  </a:lnTo>
                  <a:lnTo>
                    <a:pt x="0" y="3146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9"/>
            <p:cNvSpPr/>
            <p:nvPr/>
          </p:nvSpPr>
          <p:spPr>
            <a:xfrm>
              <a:off x="6010309" y="2365051"/>
              <a:ext cx="43815" cy="31750"/>
            </a:xfrm>
            <a:custGeom>
              <a:rect b="b" l="l" r="r" t="t"/>
              <a:pathLst>
                <a:path extrusionOk="0" h="31750" w="43814">
                  <a:moveTo>
                    <a:pt x="0" y="31460"/>
                  </a:moveTo>
                  <a:lnTo>
                    <a:pt x="43492" y="16481"/>
                  </a:lnTo>
                  <a:lnTo>
                    <a:pt x="546" y="0"/>
                  </a:lnTo>
                  <a:lnTo>
                    <a:pt x="0" y="31460"/>
                  </a:lnTo>
                  <a:close/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9"/>
            <p:cNvSpPr/>
            <p:nvPr/>
          </p:nvSpPr>
          <p:spPr>
            <a:xfrm>
              <a:off x="7339874" y="2370675"/>
              <a:ext cx="581660" cy="10160"/>
            </a:xfrm>
            <a:custGeom>
              <a:rect b="b" l="l" r="r" t="t"/>
              <a:pathLst>
                <a:path extrusionOk="0" h="10160" w="581659">
                  <a:moveTo>
                    <a:pt x="0" y="0"/>
                  </a:moveTo>
                  <a:lnTo>
                    <a:pt x="581558" y="10106"/>
                  </a:ln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9"/>
            <p:cNvSpPr/>
            <p:nvPr/>
          </p:nvSpPr>
          <p:spPr>
            <a:xfrm>
              <a:off x="7921159" y="2365051"/>
              <a:ext cx="43815" cy="31750"/>
            </a:xfrm>
            <a:custGeom>
              <a:rect b="b" l="l" r="r" t="t"/>
              <a:pathLst>
                <a:path extrusionOk="0" h="31750" w="43815">
                  <a:moveTo>
                    <a:pt x="0" y="31460"/>
                  </a:moveTo>
                  <a:lnTo>
                    <a:pt x="546" y="0"/>
                  </a:lnTo>
                  <a:lnTo>
                    <a:pt x="43492" y="16481"/>
                  </a:lnTo>
                  <a:lnTo>
                    <a:pt x="0" y="3146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9"/>
            <p:cNvSpPr/>
            <p:nvPr/>
          </p:nvSpPr>
          <p:spPr>
            <a:xfrm>
              <a:off x="7921159" y="2365051"/>
              <a:ext cx="43815" cy="31750"/>
            </a:xfrm>
            <a:custGeom>
              <a:rect b="b" l="l" r="r" t="t"/>
              <a:pathLst>
                <a:path extrusionOk="0" h="31750" w="43815">
                  <a:moveTo>
                    <a:pt x="0" y="31460"/>
                  </a:moveTo>
                  <a:lnTo>
                    <a:pt x="43492" y="16481"/>
                  </a:lnTo>
                  <a:lnTo>
                    <a:pt x="546" y="0"/>
                  </a:lnTo>
                  <a:lnTo>
                    <a:pt x="0" y="31460"/>
                  </a:lnTo>
                  <a:close/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1" name="Google Shape;91;p9"/>
          <p:cNvSpPr txBox="1"/>
          <p:nvPr/>
        </p:nvSpPr>
        <p:spPr>
          <a:xfrm>
            <a:off x="5165250" y="2100424"/>
            <a:ext cx="165100" cy="360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𝒙</a:t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9"/>
          <p:cNvSpPr txBox="1"/>
          <p:nvPr/>
        </p:nvSpPr>
        <p:spPr>
          <a:xfrm>
            <a:off x="6799600" y="2178731"/>
            <a:ext cx="41910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𝒈(𝒖)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9"/>
          <p:cNvSpPr txBox="1"/>
          <p:nvPr/>
        </p:nvSpPr>
        <p:spPr>
          <a:xfrm>
            <a:off x="8051600" y="2131023"/>
            <a:ext cx="149860" cy="360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𝒚</a:t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9"/>
          <p:cNvSpPr txBox="1"/>
          <p:nvPr/>
        </p:nvSpPr>
        <p:spPr>
          <a:xfrm>
            <a:off x="5617650" y="2084706"/>
            <a:ext cx="17843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𝒘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5" name="Google Shape;95;p9"/>
          <p:cNvGrpSpPr/>
          <p:nvPr/>
        </p:nvGrpSpPr>
        <p:grpSpPr>
          <a:xfrm>
            <a:off x="6430056" y="930025"/>
            <a:ext cx="31750" cy="753319"/>
            <a:chOff x="6430056" y="930025"/>
            <a:chExt cx="31750" cy="753319"/>
          </a:xfrm>
        </p:grpSpPr>
        <p:sp>
          <p:nvSpPr>
            <p:cNvPr id="96" name="Google Shape;96;p9"/>
            <p:cNvSpPr/>
            <p:nvPr/>
          </p:nvSpPr>
          <p:spPr>
            <a:xfrm>
              <a:off x="6439125" y="930025"/>
              <a:ext cx="6985" cy="709930"/>
            </a:xfrm>
            <a:custGeom>
              <a:rect b="b" l="l" r="r" t="t"/>
              <a:pathLst>
                <a:path extrusionOk="0" h="709930" w="6985">
                  <a:moveTo>
                    <a:pt x="0" y="0"/>
                  </a:moveTo>
                  <a:lnTo>
                    <a:pt x="6663" y="709652"/>
                  </a:ln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9"/>
            <p:cNvSpPr/>
            <p:nvPr/>
          </p:nvSpPr>
          <p:spPr>
            <a:xfrm>
              <a:off x="6430056" y="1639529"/>
              <a:ext cx="31750" cy="43815"/>
            </a:xfrm>
            <a:custGeom>
              <a:rect b="b" l="l" r="r" t="t"/>
              <a:pathLst>
                <a:path extrusionOk="0" h="43814" w="31750">
                  <a:moveTo>
                    <a:pt x="16137" y="43371"/>
                  </a:moveTo>
                  <a:lnTo>
                    <a:pt x="0" y="295"/>
                  </a:lnTo>
                  <a:lnTo>
                    <a:pt x="31463" y="0"/>
                  </a:lnTo>
                  <a:lnTo>
                    <a:pt x="16137" y="43371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9"/>
            <p:cNvSpPr/>
            <p:nvPr/>
          </p:nvSpPr>
          <p:spPr>
            <a:xfrm>
              <a:off x="6430056" y="1639529"/>
              <a:ext cx="31750" cy="43815"/>
            </a:xfrm>
            <a:custGeom>
              <a:rect b="b" l="l" r="r" t="t"/>
              <a:pathLst>
                <a:path extrusionOk="0" h="43814" w="31750">
                  <a:moveTo>
                    <a:pt x="0" y="295"/>
                  </a:moveTo>
                  <a:lnTo>
                    <a:pt x="16137" y="43371"/>
                  </a:lnTo>
                  <a:lnTo>
                    <a:pt x="31463" y="0"/>
                  </a:lnTo>
                  <a:lnTo>
                    <a:pt x="0" y="295"/>
                  </a:lnTo>
                  <a:close/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9" name="Google Shape;99;p9"/>
          <p:cNvSpPr txBox="1"/>
          <p:nvPr/>
        </p:nvSpPr>
        <p:spPr>
          <a:xfrm>
            <a:off x="6496075" y="1201243"/>
            <a:ext cx="13970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𝒃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9"/>
          <p:cNvSpPr txBox="1"/>
          <p:nvPr/>
        </p:nvSpPr>
        <p:spPr>
          <a:xfrm>
            <a:off x="8852129" y="4766036"/>
            <a:ext cx="9652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105" name="Google Shape;105;p10"/>
          <p:cNvSpPr txBox="1"/>
          <p:nvPr>
            <p:ph type="title"/>
          </p:nvPr>
        </p:nvSpPr>
        <p:spPr>
          <a:xfrm>
            <a:off x="384725" y="505248"/>
            <a:ext cx="464883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Artificial Neuron</a:t>
            </a:r>
            <a:endParaRPr/>
          </a:p>
        </p:txBody>
      </p:sp>
      <p:sp>
        <p:nvSpPr>
          <p:cNvPr id="106" name="Google Shape;106;p10"/>
          <p:cNvSpPr txBox="1"/>
          <p:nvPr/>
        </p:nvSpPr>
        <p:spPr>
          <a:xfrm>
            <a:off x="344575" y="948471"/>
            <a:ext cx="5107800" cy="28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marR="3048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495300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𝒖 = 𝒇(𝒙)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685165" rtl="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= 𝒘</a:t>
            </a:r>
            <a:r>
              <a:rPr baseline="-25000" lang="en-US" sz="1800">
                <a:latin typeface="Arial"/>
                <a:ea typeface="Arial"/>
                <a:cs typeface="Arial"/>
                <a:sym typeface="Arial"/>
              </a:rPr>
              <a:t>1 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𝒙</a:t>
            </a:r>
            <a:r>
              <a:rPr baseline="-25000" lang="en-US" sz="1800">
                <a:latin typeface="Arial"/>
                <a:ea typeface="Arial"/>
                <a:cs typeface="Arial"/>
                <a:sym typeface="Arial"/>
              </a:rPr>
              <a:t>1 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+ 𝒘</a:t>
            </a:r>
            <a:r>
              <a:rPr baseline="-25000" lang="en-US" sz="1800"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𝒙</a:t>
            </a:r>
            <a:r>
              <a:rPr baseline="-25000" lang="en-US" sz="1800"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+ 𝒘</a:t>
            </a:r>
            <a:r>
              <a:rPr baseline="-25000" lang="en-US" sz="1800">
                <a:latin typeface="Arial"/>
                <a:ea typeface="Arial"/>
                <a:cs typeface="Arial"/>
                <a:sym typeface="Arial"/>
              </a:rPr>
              <a:t>3 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𝒙</a:t>
            </a:r>
            <a:r>
              <a:rPr baseline="-25000" lang="en-US" sz="1800">
                <a:latin typeface="Arial"/>
                <a:ea typeface="Arial"/>
                <a:cs typeface="Arial"/>
                <a:sym typeface="Arial"/>
              </a:rPr>
              <a:t>3 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+ 𝒃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685165" rtl="0" algn="l">
              <a:lnSpc>
                <a:spcPct val="100000"/>
              </a:lnSpc>
              <a:spcBef>
                <a:spcPts val="1525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= 𝒘</a:t>
            </a:r>
            <a:r>
              <a:rPr baseline="30000" lang="en-US" sz="1800"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𝒙 + 𝒃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38100" marR="145415" rtl="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𝒈(𝒖) 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is known as </a:t>
            </a: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activation function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. Generally nonlinear functions are used as activation functions.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7" name="Google Shape;107;p10"/>
          <p:cNvGrpSpPr/>
          <p:nvPr/>
        </p:nvGrpSpPr>
        <p:grpSpPr>
          <a:xfrm>
            <a:off x="6421499" y="1731899"/>
            <a:ext cx="1327150" cy="1317625"/>
            <a:chOff x="6421499" y="1731899"/>
            <a:chExt cx="1327150" cy="1317625"/>
          </a:xfrm>
        </p:grpSpPr>
        <p:sp>
          <p:nvSpPr>
            <p:cNvPr id="108" name="Google Shape;108;p10"/>
            <p:cNvSpPr/>
            <p:nvPr/>
          </p:nvSpPr>
          <p:spPr>
            <a:xfrm>
              <a:off x="6421499" y="1731899"/>
              <a:ext cx="1327150" cy="1317625"/>
            </a:xfrm>
            <a:custGeom>
              <a:rect b="b" l="l" r="r" t="t"/>
              <a:pathLst>
                <a:path extrusionOk="0" h="1317625" w="1327150">
                  <a:moveTo>
                    <a:pt x="663299" y="1316999"/>
                  </a:moveTo>
                  <a:lnTo>
                    <a:pt x="615929" y="1315346"/>
                  </a:lnTo>
                  <a:lnTo>
                    <a:pt x="569458" y="1310460"/>
                  </a:lnTo>
                  <a:lnTo>
                    <a:pt x="523998" y="1302453"/>
                  </a:lnTo>
                  <a:lnTo>
                    <a:pt x="479661" y="1291437"/>
                  </a:lnTo>
                  <a:lnTo>
                    <a:pt x="436560" y="1277522"/>
                  </a:lnTo>
                  <a:lnTo>
                    <a:pt x="394807" y="1260821"/>
                  </a:lnTo>
                  <a:lnTo>
                    <a:pt x="354515" y="1241444"/>
                  </a:lnTo>
                  <a:lnTo>
                    <a:pt x="315794" y="1219503"/>
                  </a:lnTo>
                  <a:lnTo>
                    <a:pt x="278758" y="1195110"/>
                  </a:lnTo>
                  <a:lnTo>
                    <a:pt x="243519" y="1168376"/>
                  </a:lnTo>
                  <a:lnTo>
                    <a:pt x="210189" y="1139412"/>
                  </a:lnTo>
                  <a:lnTo>
                    <a:pt x="178881" y="1108331"/>
                  </a:lnTo>
                  <a:lnTo>
                    <a:pt x="149706" y="1075242"/>
                  </a:lnTo>
                  <a:lnTo>
                    <a:pt x="122777" y="1040258"/>
                  </a:lnTo>
                  <a:lnTo>
                    <a:pt x="98206" y="1003490"/>
                  </a:lnTo>
                  <a:lnTo>
                    <a:pt x="76106" y="965050"/>
                  </a:lnTo>
                  <a:lnTo>
                    <a:pt x="56588" y="925049"/>
                  </a:lnTo>
                  <a:lnTo>
                    <a:pt x="39765" y="883598"/>
                  </a:lnTo>
                  <a:lnTo>
                    <a:pt x="25748" y="840809"/>
                  </a:lnTo>
                  <a:lnTo>
                    <a:pt x="14652" y="796793"/>
                  </a:lnTo>
                  <a:lnTo>
                    <a:pt x="6586" y="751662"/>
                  </a:lnTo>
                  <a:lnTo>
                    <a:pt x="1665" y="705527"/>
                  </a:lnTo>
                  <a:lnTo>
                    <a:pt x="0" y="658499"/>
                  </a:lnTo>
                  <a:lnTo>
                    <a:pt x="1665" y="611472"/>
                  </a:lnTo>
                  <a:lnTo>
                    <a:pt x="6586" y="565337"/>
                  </a:lnTo>
                  <a:lnTo>
                    <a:pt x="14652" y="520206"/>
                  </a:lnTo>
                  <a:lnTo>
                    <a:pt x="25748" y="476190"/>
                  </a:lnTo>
                  <a:lnTo>
                    <a:pt x="39765" y="433401"/>
                  </a:lnTo>
                  <a:lnTo>
                    <a:pt x="56588" y="391950"/>
                  </a:lnTo>
                  <a:lnTo>
                    <a:pt x="76106" y="351949"/>
                  </a:lnTo>
                  <a:lnTo>
                    <a:pt x="98206" y="313509"/>
                  </a:lnTo>
                  <a:lnTo>
                    <a:pt x="122777" y="276741"/>
                  </a:lnTo>
                  <a:lnTo>
                    <a:pt x="149706" y="241757"/>
                  </a:lnTo>
                  <a:lnTo>
                    <a:pt x="178881" y="208668"/>
                  </a:lnTo>
                  <a:lnTo>
                    <a:pt x="210189" y="177587"/>
                  </a:lnTo>
                  <a:lnTo>
                    <a:pt x="243519" y="148623"/>
                  </a:lnTo>
                  <a:lnTo>
                    <a:pt x="278758" y="121889"/>
                  </a:lnTo>
                  <a:lnTo>
                    <a:pt x="315794" y="97496"/>
                  </a:lnTo>
                  <a:lnTo>
                    <a:pt x="354515" y="75555"/>
                  </a:lnTo>
                  <a:lnTo>
                    <a:pt x="394807" y="56178"/>
                  </a:lnTo>
                  <a:lnTo>
                    <a:pt x="436560" y="39477"/>
                  </a:lnTo>
                  <a:lnTo>
                    <a:pt x="479661" y="25562"/>
                  </a:lnTo>
                  <a:lnTo>
                    <a:pt x="523998" y="14546"/>
                  </a:lnTo>
                  <a:lnTo>
                    <a:pt x="569458" y="6539"/>
                  </a:lnTo>
                  <a:lnTo>
                    <a:pt x="615929" y="1653"/>
                  </a:lnTo>
                  <a:lnTo>
                    <a:pt x="663299" y="0"/>
                  </a:lnTo>
                  <a:lnTo>
                    <a:pt x="709526" y="1653"/>
                  </a:lnTo>
                  <a:lnTo>
                    <a:pt x="710557" y="1653"/>
                  </a:lnTo>
                  <a:lnTo>
                    <a:pt x="758317" y="6788"/>
                  </a:lnTo>
                  <a:lnTo>
                    <a:pt x="804872" y="15171"/>
                  </a:lnTo>
                  <a:lnTo>
                    <a:pt x="850567" y="26787"/>
                  </a:lnTo>
                  <a:lnTo>
                    <a:pt x="895236" y="41569"/>
                  </a:lnTo>
                  <a:lnTo>
                    <a:pt x="938711" y="59446"/>
                  </a:lnTo>
                  <a:lnTo>
                    <a:pt x="980825" y="80351"/>
                  </a:lnTo>
                  <a:lnTo>
                    <a:pt x="1021411" y="104215"/>
                  </a:lnTo>
                  <a:lnTo>
                    <a:pt x="1060301" y="130969"/>
                  </a:lnTo>
                  <a:lnTo>
                    <a:pt x="1097327" y="160543"/>
                  </a:lnTo>
                  <a:lnTo>
                    <a:pt x="1132324" y="192870"/>
                  </a:lnTo>
                  <a:lnTo>
                    <a:pt x="1167991" y="231201"/>
                  </a:lnTo>
                  <a:lnTo>
                    <a:pt x="1200295" y="271950"/>
                  </a:lnTo>
                  <a:lnTo>
                    <a:pt x="1229145" y="314898"/>
                  </a:lnTo>
                  <a:lnTo>
                    <a:pt x="1254447" y="359822"/>
                  </a:lnTo>
                  <a:lnTo>
                    <a:pt x="1276109" y="406502"/>
                  </a:lnTo>
                  <a:lnTo>
                    <a:pt x="1294040" y="454717"/>
                  </a:lnTo>
                  <a:lnTo>
                    <a:pt x="1308146" y="504245"/>
                  </a:lnTo>
                  <a:lnTo>
                    <a:pt x="1318337" y="554866"/>
                  </a:lnTo>
                  <a:lnTo>
                    <a:pt x="1324518" y="606357"/>
                  </a:lnTo>
                  <a:lnTo>
                    <a:pt x="1326599" y="658499"/>
                  </a:lnTo>
                  <a:lnTo>
                    <a:pt x="1324934" y="705527"/>
                  </a:lnTo>
                  <a:lnTo>
                    <a:pt x="1320013" y="751662"/>
                  </a:lnTo>
                  <a:lnTo>
                    <a:pt x="1311947" y="796793"/>
                  </a:lnTo>
                  <a:lnTo>
                    <a:pt x="1300851" y="840809"/>
                  </a:lnTo>
                  <a:lnTo>
                    <a:pt x="1286834" y="883598"/>
                  </a:lnTo>
                  <a:lnTo>
                    <a:pt x="1270011" y="925049"/>
                  </a:lnTo>
                  <a:lnTo>
                    <a:pt x="1250493" y="965050"/>
                  </a:lnTo>
                  <a:lnTo>
                    <a:pt x="1228393" y="1003490"/>
                  </a:lnTo>
                  <a:lnTo>
                    <a:pt x="1203822" y="1040258"/>
                  </a:lnTo>
                  <a:lnTo>
                    <a:pt x="1176893" y="1075242"/>
                  </a:lnTo>
                  <a:lnTo>
                    <a:pt x="1147718" y="1108331"/>
                  </a:lnTo>
                  <a:lnTo>
                    <a:pt x="1116410" y="1139412"/>
                  </a:lnTo>
                  <a:lnTo>
                    <a:pt x="1083080" y="1168376"/>
                  </a:lnTo>
                  <a:lnTo>
                    <a:pt x="1047841" y="1195110"/>
                  </a:lnTo>
                  <a:lnTo>
                    <a:pt x="1010805" y="1219503"/>
                  </a:lnTo>
                  <a:lnTo>
                    <a:pt x="972084" y="1241444"/>
                  </a:lnTo>
                  <a:lnTo>
                    <a:pt x="931792" y="1260821"/>
                  </a:lnTo>
                  <a:lnTo>
                    <a:pt x="890039" y="1277522"/>
                  </a:lnTo>
                  <a:lnTo>
                    <a:pt x="846938" y="1291437"/>
                  </a:lnTo>
                  <a:lnTo>
                    <a:pt x="802601" y="1302453"/>
                  </a:lnTo>
                  <a:lnTo>
                    <a:pt x="757141" y="1310460"/>
                  </a:lnTo>
                  <a:lnTo>
                    <a:pt x="710670" y="1315346"/>
                  </a:lnTo>
                  <a:lnTo>
                    <a:pt x="663299" y="1316999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0"/>
            <p:cNvSpPr/>
            <p:nvPr/>
          </p:nvSpPr>
          <p:spPr>
            <a:xfrm>
              <a:off x="6421499" y="1731899"/>
              <a:ext cx="1327150" cy="1317625"/>
            </a:xfrm>
            <a:custGeom>
              <a:rect b="b" l="l" r="r" t="t"/>
              <a:pathLst>
                <a:path extrusionOk="0" h="1317625" w="1327150">
                  <a:moveTo>
                    <a:pt x="0" y="658499"/>
                  </a:moveTo>
                  <a:lnTo>
                    <a:pt x="1665" y="611472"/>
                  </a:lnTo>
                  <a:lnTo>
                    <a:pt x="6586" y="565337"/>
                  </a:lnTo>
                  <a:lnTo>
                    <a:pt x="14652" y="520206"/>
                  </a:lnTo>
                  <a:lnTo>
                    <a:pt x="25748" y="476190"/>
                  </a:lnTo>
                  <a:lnTo>
                    <a:pt x="39765" y="433401"/>
                  </a:lnTo>
                  <a:lnTo>
                    <a:pt x="56588" y="391950"/>
                  </a:lnTo>
                  <a:lnTo>
                    <a:pt x="76106" y="351949"/>
                  </a:lnTo>
                  <a:lnTo>
                    <a:pt x="98206" y="313509"/>
                  </a:lnTo>
                  <a:lnTo>
                    <a:pt x="122777" y="276741"/>
                  </a:lnTo>
                  <a:lnTo>
                    <a:pt x="149706" y="241757"/>
                  </a:lnTo>
                  <a:lnTo>
                    <a:pt x="178881" y="208668"/>
                  </a:lnTo>
                  <a:lnTo>
                    <a:pt x="210189" y="177587"/>
                  </a:lnTo>
                  <a:lnTo>
                    <a:pt x="243519" y="148623"/>
                  </a:lnTo>
                  <a:lnTo>
                    <a:pt x="278758" y="121889"/>
                  </a:lnTo>
                  <a:lnTo>
                    <a:pt x="315794" y="97496"/>
                  </a:lnTo>
                  <a:lnTo>
                    <a:pt x="354515" y="75555"/>
                  </a:lnTo>
                  <a:lnTo>
                    <a:pt x="394807" y="56178"/>
                  </a:lnTo>
                  <a:lnTo>
                    <a:pt x="436560" y="39477"/>
                  </a:lnTo>
                  <a:lnTo>
                    <a:pt x="479661" y="25562"/>
                  </a:lnTo>
                  <a:lnTo>
                    <a:pt x="523998" y="14546"/>
                  </a:lnTo>
                  <a:lnTo>
                    <a:pt x="569458" y="6539"/>
                  </a:lnTo>
                  <a:lnTo>
                    <a:pt x="615929" y="1653"/>
                  </a:lnTo>
                  <a:lnTo>
                    <a:pt x="663299" y="0"/>
                  </a:lnTo>
                  <a:lnTo>
                    <a:pt x="711071" y="1708"/>
                  </a:lnTo>
                  <a:lnTo>
                    <a:pt x="758317" y="6788"/>
                  </a:lnTo>
                  <a:lnTo>
                    <a:pt x="804872" y="15171"/>
                  </a:lnTo>
                  <a:lnTo>
                    <a:pt x="850567" y="26787"/>
                  </a:lnTo>
                  <a:lnTo>
                    <a:pt x="895236" y="41569"/>
                  </a:lnTo>
                  <a:lnTo>
                    <a:pt x="938711" y="59446"/>
                  </a:lnTo>
                  <a:lnTo>
                    <a:pt x="980825" y="80351"/>
                  </a:lnTo>
                  <a:lnTo>
                    <a:pt x="1021411" y="104215"/>
                  </a:lnTo>
                  <a:lnTo>
                    <a:pt x="1060301" y="130969"/>
                  </a:lnTo>
                  <a:lnTo>
                    <a:pt x="1097327" y="160543"/>
                  </a:lnTo>
                  <a:lnTo>
                    <a:pt x="1132324" y="192870"/>
                  </a:lnTo>
                  <a:lnTo>
                    <a:pt x="1167991" y="231201"/>
                  </a:lnTo>
                  <a:lnTo>
                    <a:pt x="1200295" y="271950"/>
                  </a:lnTo>
                  <a:lnTo>
                    <a:pt x="1229145" y="314898"/>
                  </a:lnTo>
                  <a:lnTo>
                    <a:pt x="1254447" y="359822"/>
                  </a:lnTo>
                  <a:lnTo>
                    <a:pt x="1276109" y="406502"/>
                  </a:lnTo>
                  <a:lnTo>
                    <a:pt x="1294040" y="454717"/>
                  </a:lnTo>
                  <a:lnTo>
                    <a:pt x="1308146" y="504245"/>
                  </a:lnTo>
                  <a:lnTo>
                    <a:pt x="1318337" y="554866"/>
                  </a:lnTo>
                  <a:lnTo>
                    <a:pt x="1324518" y="606357"/>
                  </a:lnTo>
                  <a:lnTo>
                    <a:pt x="1326599" y="658499"/>
                  </a:lnTo>
                  <a:lnTo>
                    <a:pt x="1324934" y="705527"/>
                  </a:lnTo>
                  <a:lnTo>
                    <a:pt x="1320013" y="751662"/>
                  </a:lnTo>
                  <a:lnTo>
                    <a:pt x="1311947" y="796793"/>
                  </a:lnTo>
                  <a:lnTo>
                    <a:pt x="1300851" y="840809"/>
                  </a:lnTo>
                  <a:lnTo>
                    <a:pt x="1286834" y="883598"/>
                  </a:lnTo>
                  <a:lnTo>
                    <a:pt x="1270011" y="925049"/>
                  </a:lnTo>
                  <a:lnTo>
                    <a:pt x="1250493" y="965050"/>
                  </a:lnTo>
                  <a:lnTo>
                    <a:pt x="1228393" y="1003490"/>
                  </a:lnTo>
                  <a:lnTo>
                    <a:pt x="1203822" y="1040258"/>
                  </a:lnTo>
                  <a:lnTo>
                    <a:pt x="1176893" y="1075242"/>
                  </a:lnTo>
                  <a:lnTo>
                    <a:pt x="1147718" y="1108331"/>
                  </a:lnTo>
                  <a:lnTo>
                    <a:pt x="1116410" y="1139412"/>
                  </a:lnTo>
                  <a:lnTo>
                    <a:pt x="1083080" y="1168376"/>
                  </a:lnTo>
                  <a:lnTo>
                    <a:pt x="1047841" y="1195110"/>
                  </a:lnTo>
                  <a:lnTo>
                    <a:pt x="1010805" y="1219503"/>
                  </a:lnTo>
                  <a:lnTo>
                    <a:pt x="972084" y="1241444"/>
                  </a:lnTo>
                  <a:lnTo>
                    <a:pt x="931792" y="1260821"/>
                  </a:lnTo>
                  <a:lnTo>
                    <a:pt x="890039" y="1277522"/>
                  </a:lnTo>
                  <a:lnTo>
                    <a:pt x="846938" y="1291437"/>
                  </a:lnTo>
                  <a:lnTo>
                    <a:pt x="802601" y="1302453"/>
                  </a:lnTo>
                  <a:lnTo>
                    <a:pt x="757141" y="1310460"/>
                  </a:lnTo>
                  <a:lnTo>
                    <a:pt x="710670" y="1315346"/>
                  </a:lnTo>
                  <a:lnTo>
                    <a:pt x="663299" y="1316999"/>
                  </a:lnTo>
                  <a:lnTo>
                    <a:pt x="615929" y="1315346"/>
                  </a:lnTo>
                  <a:lnTo>
                    <a:pt x="569458" y="1310460"/>
                  </a:lnTo>
                  <a:lnTo>
                    <a:pt x="523998" y="1302453"/>
                  </a:lnTo>
                  <a:lnTo>
                    <a:pt x="479661" y="1291437"/>
                  </a:lnTo>
                  <a:lnTo>
                    <a:pt x="436560" y="1277522"/>
                  </a:lnTo>
                  <a:lnTo>
                    <a:pt x="394807" y="1260821"/>
                  </a:lnTo>
                  <a:lnTo>
                    <a:pt x="354515" y="1241444"/>
                  </a:lnTo>
                  <a:lnTo>
                    <a:pt x="315794" y="1219503"/>
                  </a:lnTo>
                  <a:lnTo>
                    <a:pt x="278758" y="1195110"/>
                  </a:lnTo>
                  <a:lnTo>
                    <a:pt x="243519" y="1168376"/>
                  </a:lnTo>
                  <a:lnTo>
                    <a:pt x="210189" y="1139412"/>
                  </a:lnTo>
                  <a:lnTo>
                    <a:pt x="178881" y="1108331"/>
                  </a:lnTo>
                  <a:lnTo>
                    <a:pt x="149706" y="1075242"/>
                  </a:lnTo>
                  <a:lnTo>
                    <a:pt x="122777" y="1040258"/>
                  </a:lnTo>
                  <a:lnTo>
                    <a:pt x="98206" y="1003490"/>
                  </a:lnTo>
                  <a:lnTo>
                    <a:pt x="76106" y="965050"/>
                  </a:lnTo>
                  <a:lnTo>
                    <a:pt x="56588" y="925049"/>
                  </a:lnTo>
                  <a:lnTo>
                    <a:pt x="39765" y="883598"/>
                  </a:lnTo>
                  <a:lnTo>
                    <a:pt x="25748" y="840809"/>
                  </a:lnTo>
                  <a:lnTo>
                    <a:pt x="14652" y="796793"/>
                  </a:lnTo>
                  <a:lnTo>
                    <a:pt x="6586" y="751662"/>
                  </a:lnTo>
                  <a:lnTo>
                    <a:pt x="1665" y="705527"/>
                  </a:lnTo>
                  <a:lnTo>
                    <a:pt x="0" y="658499"/>
                  </a:lnTo>
                  <a:close/>
                </a:path>
                <a:path extrusionOk="0" h="1317625" w="1327150">
                  <a:moveTo>
                    <a:pt x="663299" y="0"/>
                  </a:moveTo>
                  <a:lnTo>
                    <a:pt x="663299" y="1316999"/>
                  </a:ln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0" name="Google Shape;110;p10"/>
          <p:cNvSpPr txBox="1"/>
          <p:nvPr/>
        </p:nvSpPr>
        <p:spPr>
          <a:xfrm>
            <a:off x="6598000" y="2236981"/>
            <a:ext cx="36830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𝒇(𝒙)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1" name="Google Shape;111;p10"/>
          <p:cNvGrpSpPr/>
          <p:nvPr/>
        </p:nvGrpSpPr>
        <p:grpSpPr>
          <a:xfrm>
            <a:off x="5810024" y="2441251"/>
            <a:ext cx="625100" cy="31750"/>
            <a:chOff x="5810024" y="2441251"/>
            <a:chExt cx="625100" cy="31750"/>
          </a:xfrm>
        </p:grpSpPr>
        <p:sp>
          <p:nvSpPr>
            <p:cNvPr id="112" name="Google Shape;112;p10"/>
            <p:cNvSpPr/>
            <p:nvPr/>
          </p:nvSpPr>
          <p:spPr>
            <a:xfrm>
              <a:off x="5810024" y="2446875"/>
              <a:ext cx="581660" cy="10160"/>
            </a:xfrm>
            <a:custGeom>
              <a:rect b="b" l="l" r="r" t="t"/>
              <a:pathLst>
                <a:path extrusionOk="0" h="10160" w="581660">
                  <a:moveTo>
                    <a:pt x="0" y="0"/>
                  </a:moveTo>
                  <a:lnTo>
                    <a:pt x="581558" y="10106"/>
                  </a:ln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0"/>
            <p:cNvSpPr/>
            <p:nvPr/>
          </p:nvSpPr>
          <p:spPr>
            <a:xfrm>
              <a:off x="6391309" y="2441251"/>
              <a:ext cx="43815" cy="31750"/>
            </a:xfrm>
            <a:custGeom>
              <a:rect b="b" l="l" r="r" t="t"/>
              <a:pathLst>
                <a:path extrusionOk="0" h="31750" w="43814">
                  <a:moveTo>
                    <a:pt x="0" y="31460"/>
                  </a:moveTo>
                  <a:lnTo>
                    <a:pt x="546" y="0"/>
                  </a:lnTo>
                  <a:lnTo>
                    <a:pt x="43492" y="16481"/>
                  </a:lnTo>
                  <a:lnTo>
                    <a:pt x="0" y="3146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0"/>
            <p:cNvSpPr/>
            <p:nvPr/>
          </p:nvSpPr>
          <p:spPr>
            <a:xfrm>
              <a:off x="6391309" y="2441251"/>
              <a:ext cx="43815" cy="31750"/>
            </a:xfrm>
            <a:custGeom>
              <a:rect b="b" l="l" r="r" t="t"/>
              <a:pathLst>
                <a:path extrusionOk="0" h="31750" w="43814">
                  <a:moveTo>
                    <a:pt x="0" y="31460"/>
                  </a:moveTo>
                  <a:lnTo>
                    <a:pt x="43492" y="16481"/>
                  </a:lnTo>
                  <a:lnTo>
                    <a:pt x="546" y="0"/>
                  </a:lnTo>
                  <a:lnTo>
                    <a:pt x="0" y="31460"/>
                  </a:lnTo>
                  <a:close/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5" name="Google Shape;115;p10"/>
          <p:cNvSpPr txBox="1"/>
          <p:nvPr/>
        </p:nvSpPr>
        <p:spPr>
          <a:xfrm>
            <a:off x="5548650" y="2176624"/>
            <a:ext cx="165100" cy="360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𝒙</a:t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0"/>
          <p:cNvSpPr txBox="1"/>
          <p:nvPr/>
        </p:nvSpPr>
        <p:spPr>
          <a:xfrm>
            <a:off x="5688325" y="2374532"/>
            <a:ext cx="129539" cy="248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latin typeface="Arial"/>
                <a:ea typeface="Arial"/>
                <a:cs typeface="Arial"/>
                <a:sym typeface="Arial"/>
              </a:rPr>
              <a:t>2</a:t>
            </a:r>
            <a:endParaRPr sz="1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0"/>
          <p:cNvSpPr txBox="1"/>
          <p:nvPr/>
        </p:nvSpPr>
        <p:spPr>
          <a:xfrm>
            <a:off x="7180600" y="2254931"/>
            <a:ext cx="41910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𝒈(𝒖)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8" name="Google Shape;118;p10"/>
          <p:cNvGrpSpPr/>
          <p:nvPr/>
        </p:nvGrpSpPr>
        <p:grpSpPr>
          <a:xfrm>
            <a:off x="5759200" y="1006225"/>
            <a:ext cx="2586774" cy="2210949"/>
            <a:chOff x="5759200" y="1006225"/>
            <a:chExt cx="2586774" cy="2210949"/>
          </a:xfrm>
        </p:grpSpPr>
        <p:sp>
          <p:nvSpPr>
            <p:cNvPr id="119" name="Google Shape;119;p10"/>
            <p:cNvSpPr/>
            <p:nvPr/>
          </p:nvSpPr>
          <p:spPr>
            <a:xfrm>
              <a:off x="7720875" y="2446874"/>
              <a:ext cx="581660" cy="10160"/>
            </a:xfrm>
            <a:custGeom>
              <a:rect b="b" l="l" r="r" t="t"/>
              <a:pathLst>
                <a:path extrusionOk="0" h="10160" w="581659">
                  <a:moveTo>
                    <a:pt x="0" y="0"/>
                  </a:moveTo>
                  <a:lnTo>
                    <a:pt x="581558" y="10106"/>
                  </a:ln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0"/>
            <p:cNvSpPr/>
            <p:nvPr/>
          </p:nvSpPr>
          <p:spPr>
            <a:xfrm>
              <a:off x="8302159" y="2441251"/>
              <a:ext cx="43815" cy="31750"/>
            </a:xfrm>
            <a:custGeom>
              <a:rect b="b" l="l" r="r" t="t"/>
              <a:pathLst>
                <a:path extrusionOk="0" h="31750" w="43815">
                  <a:moveTo>
                    <a:pt x="0" y="31460"/>
                  </a:moveTo>
                  <a:lnTo>
                    <a:pt x="546" y="0"/>
                  </a:lnTo>
                  <a:lnTo>
                    <a:pt x="43492" y="16481"/>
                  </a:lnTo>
                  <a:lnTo>
                    <a:pt x="0" y="3146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0"/>
            <p:cNvSpPr/>
            <p:nvPr/>
          </p:nvSpPr>
          <p:spPr>
            <a:xfrm>
              <a:off x="8302159" y="2441251"/>
              <a:ext cx="43815" cy="31750"/>
            </a:xfrm>
            <a:custGeom>
              <a:rect b="b" l="l" r="r" t="t"/>
              <a:pathLst>
                <a:path extrusionOk="0" h="31750" w="43815">
                  <a:moveTo>
                    <a:pt x="0" y="31460"/>
                  </a:moveTo>
                  <a:lnTo>
                    <a:pt x="43492" y="16481"/>
                  </a:lnTo>
                  <a:lnTo>
                    <a:pt x="546" y="0"/>
                  </a:lnTo>
                  <a:lnTo>
                    <a:pt x="0" y="31460"/>
                  </a:lnTo>
                  <a:close/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0"/>
            <p:cNvSpPr/>
            <p:nvPr/>
          </p:nvSpPr>
          <p:spPr>
            <a:xfrm>
              <a:off x="6820124" y="1006225"/>
              <a:ext cx="6985" cy="709930"/>
            </a:xfrm>
            <a:custGeom>
              <a:rect b="b" l="l" r="r" t="t"/>
              <a:pathLst>
                <a:path extrusionOk="0" h="709930" w="6984">
                  <a:moveTo>
                    <a:pt x="0" y="0"/>
                  </a:moveTo>
                  <a:lnTo>
                    <a:pt x="6663" y="709652"/>
                  </a:ln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0"/>
            <p:cNvSpPr/>
            <p:nvPr/>
          </p:nvSpPr>
          <p:spPr>
            <a:xfrm>
              <a:off x="6811056" y="1715729"/>
              <a:ext cx="31750" cy="43815"/>
            </a:xfrm>
            <a:custGeom>
              <a:rect b="b" l="l" r="r" t="t"/>
              <a:pathLst>
                <a:path extrusionOk="0" h="43814" w="31750">
                  <a:moveTo>
                    <a:pt x="16138" y="43371"/>
                  </a:moveTo>
                  <a:lnTo>
                    <a:pt x="0" y="295"/>
                  </a:lnTo>
                  <a:lnTo>
                    <a:pt x="31463" y="0"/>
                  </a:lnTo>
                  <a:lnTo>
                    <a:pt x="16138" y="43371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0"/>
            <p:cNvSpPr/>
            <p:nvPr/>
          </p:nvSpPr>
          <p:spPr>
            <a:xfrm>
              <a:off x="6811056" y="1715729"/>
              <a:ext cx="31750" cy="43815"/>
            </a:xfrm>
            <a:custGeom>
              <a:rect b="b" l="l" r="r" t="t"/>
              <a:pathLst>
                <a:path extrusionOk="0" h="43814" w="31750">
                  <a:moveTo>
                    <a:pt x="0" y="295"/>
                  </a:moveTo>
                  <a:lnTo>
                    <a:pt x="16138" y="43371"/>
                  </a:lnTo>
                  <a:lnTo>
                    <a:pt x="31463" y="0"/>
                  </a:lnTo>
                  <a:lnTo>
                    <a:pt x="0" y="295"/>
                  </a:lnTo>
                  <a:close/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0"/>
            <p:cNvSpPr/>
            <p:nvPr/>
          </p:nvSpPr>
          <p:spPr>
            <a:xfrm>
              <a:off x="5834876" y="2879989"/>
              <a:ext cx="729615" cy="337185"/>
            </a:xfrm>
            <a:custGeom>
              <a:rect b="b" l="l" r="r" t="t"/>
              <a:pathLst>
                <a:path extrusionOk="0" h="337185" w="729615">
                  <a:moveTo>
                    <a:pt x="0" y="336640"/>
                  </a:moveTo>
                  <a:lnTo>
                    <a:pt x="729014" y="0"/>
                  </a:ln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0"/>
            <p:cNvSpPr/>
            <p:nvPr/>
          </p:nvSpPr>
          <p:spPr>
            <a:xfrm>
              <a:off x="6557294" y="2861867"/>
              <a:ext cx="46355" cy="33020"/>
            </a:xfrm>
            <a:custGeom>
              <a:rect b="b" l="l" r="r" t="t"/>
              <a:pathLst>
                <a:path extrusionOk="0" h="33019" w="46354">
                  <a:moveTo>
                    <a:pt x="13191" y="32405"/>
                  </a:moveTo>
                  <a:lnTo>
                    <a:pt x="0" y="3838"/>
                  </a:lnTo>
                  <a:lnTo>
                    <a:pt x="45838" y="0"/>
                  </a:lnTo>
                  <a:lnTo>
                    <a:pt x="13191" y="32405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0"/>
            <p:cNvSpPr/>
            <p:nvPr/>
          </p:nvSpPr>
          <p:spPr>
            <a:xfrm>
              <a:off x="6557294" y="2861867"/>
              <a:ext cx="46355" cy="33020"/>
            </a:xfrm>
            <a:custGeom>
              <a:rect b="b" l="l" r="r" t="t"/>
              <a:pathLst>
                <a:path extrusionOk="0" h="33019" w="46354">
                  <a:moveTo>
                    <a:pt x="13191" y="32405"/>
                  </a:moveTo>
                  <a:lnTo>
                    <a:pt x="45838" y="0"/>
                  </a:lnTo>
                  <a:lnTo>
                    <a:pt x="0" y="3838"/>
                  </a:lnTo>
                  <a:lnTo>
                    <a:pt x="13191" y="32405"/>
                  </a:lnTo>
                  <a:close/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0"/>
            <p:cNvSpPr/>
            <p:nvPr/>
          </p:nvSpPr>
          <p:spPr>
            <a:xfrm>
              <a:off x="5759200" y="1863500"/>
              <a:ext cx="723265" cy="120650"/>
            </a:xfrm>
            <a:custGeom>
              <a:rect b="b" l="l" r="r" t="t"/>
              <a:pathLst>
                <a:path extrusionOk="0" h="120650" w="723264">
                  <a:moveTo>
                    <a:pt x="0" y="0"/>
                  </a:moveTo>
                  <a:lnTo>
                    <a:pt x="723027" y="120504"/>
                  </a:lnTo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0"/>
            <p:cNvSpPr/>
            <p:nvPr/>
          </p:nvSpPr>
          <p:spPr>
            <a:xfrm>
              <a:off x="6479641" y="1968486"/>
              <a:ext cx="45720" cy="31115"/>
            </a:xfrm>
            <a:custGeom>
              <a:rect b="b" l="l" r="r" t="t"/>
              <a:pathLst>
                <a:path extrusionOk="0" h="31114" w="45720">
                  <a:moveTo>
                    <a:pt x="0" y="31037"/>
                  </a:moveTo>
                  <a:lnTo>
                    <a:pt x="5172" y="0"/>
                  </a:lnTo>
                  <a:lnTo>
                    <a:pt x="45223" y="22624"/>
                  </a:lnTo>
                  <a:lnTo>
                    <a:pt x="0" y="31037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0"/>
            <p:cNvSpPr/>
            <p:nvPr/>
          </p:nvSpPr>
          <p:spPr>
            <a:xfrm>
              <a:off x="6479641" y="1968486"/>
              <a:ext cx="45720" cy="31115"/>
            </a:xfrm>
            <a:custGeom>
              <a:rect b="b" l="l" r="r" t="t"/>
              <a:pathLst>
                <a:path extrusionOk="0" h="31114" w="45720">
                  <a:moveTo>
                    <a:pt x="0" y="31037"/>
                  </a:moveTo>
                  <a:lnTo>
                    <a:pt x="45223" y="22624"/>
                  </a:lnTo>
                  <a:lnTo>
                    <a:pt x="5172" y="0"/>
                  </a:lnTo>
                  <a:lnTo>
                    <a:pt x="0" y="31037"/>
                  </a:lnTo>
                  <a:close/>
                </a:path>
              </a:pathLst>
            </a:cu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10"/>
          <p:cNvSpPr txBox="1"/>
          <p:nvPr/>
        </p:nvSpPr>
        <p:spPr>
          <a:xfrm>
            <a:off x="8432600" y="2207223"/>
            <a:ext cx="149860" cy="360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𝒚</a:t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0"/>
          <p:cNvSpPr txBox="1"/>
          <p:nvPr/>
        </p:nvSpPr>
        <p:spPr>
          <a:xfrm>
            <a:off x="6494524" y="3343412"/>
            <a:ext cx="1280160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Artificial Neuron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0"/>
          <p:cNvSpPr txBox="1"/>
          <p:nvPr/>
        </p:nvSpPr>
        <p:spPr>
          <a:xfrm>
            <a:off x="6877074" y="1277443"/>
            <a:ext cx="13970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𝒃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0"/>
          <p:cNvSpPr txBox="1"/>
          <p:nvPr/>
        </p:nvSpPr>
        <p:spPr>
          <a:xfrm>
            <a:off x="8852129" y="4766036"/>
            <a:ext cx="9652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0"/>
          <p:cNvSpPr txBox="1"/>
          <p:nvPr/>
        </p:nvSpPr>
        <p:spPr>
          <a:xfrm>
            <a:off x="5548650" y="2938624"/>
            <a:ext cx="165100" cy="360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𝒙</a:t>
            </a:r>
            <a:endParaRPr sz="2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0"/>
          <p:cNvSpPr txBox="1"/>
          <p:nvPr/>
        </p:nvSpPr>
        <p:spPr>
          <a:xfrm>
            <a:off x="5688325" y="3136532"/>
            <a:ext cx="129539" cy="248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latin typeface="Arial"/>
                <a:ea typeface="Arial"/>
                <a:cs typeface="Arial"/>
                <a:sym typeface="Arial"/>
              </a:rPr>
              <a:t>3</a:t>
            </a:r>
            <a:endParaRPr sz="14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0"/>
          <p:cNvSpPr txBox="1"/>
          <p:nvPr/>
        </p:nvSpPr>
        <p:spPr>
          <a:xfrm>
            <a:off x="5447050" y="1567024"/>
            <a:ext cx="320040" cy="360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𝒙</a:t>
            </a:r>
            <a:r>
              <a:rPr baseline="-25000" lang="en-US" sz="2175">
                <a:latin typeface="Arial"/>
                <a:ea typeface="Arial"/>
                <a:cs typeface="Arial"/>
                <a:sym typeface="Arial"/>
              </a:rPr>
              <a:t>1</a:t>
            </a:r>
            <a:endParaRPr baseline="-25000" sz="2175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0"/>
          <p:cNvSpPr txBox="1"/>
          <p:nvPr/>
        </p:nvSpPr>
        <p:spPr>
          <a:xfrm>
            <a:off x="5973250" y="1551306"/>
            <a:ext cx="313690" cy="833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𝒘</a:t>
            </a:r>
            <a:r>
              <a:rPr baseline="-25000" lang="en-US" sz="18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aseline="-25000" sz="1800">
              <a:latin typeface="Arial"/>
              <a:ea typeface="Arial"/>
              <a:cs typeface="Arial"/>
              <a:sym typeface="Arial"/>
            </a:endParaRPr>
          </a:p>
          <a:p>
            <a:pPr indent="0" lvl="0" marL="38100" rtl="0" algn="l">
              <a:lnSpc>
                <a:spcPct val="100000"/>
              </a:lnSpc>
              <a:spcBef>
                <a:spcPts val="2039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𝒘</a:t>
            </a:r>
            <a:r>
              <a:rPr baseline="-25000" lang="en-US" sz="18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aseline="-25000"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0"/>
          <p:cNvSpPr txBox="1"/>
          <p:nvPr/>
        </p:nvSpPr>
        <p:spPr>
          <a:xfrm>
            <a:off x="5957400" y="2645268"/>
            <a:ext cx="17843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𝒘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0"/>
          <p:cNvSpPr txBox="1"/>
          <p:nvPr/>
        </p:nvSpPr>
        <p:spPr>
          <a:xfrm>
            <a:off x="6109875" y="2807193"/>
            <a:ext cx="110489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145" name="Google Shape;145;p11"/>
          <p:cNvSpPr txBox="1"/>
          <p:nvPr>
            <p:ph type="title"/>
          </p:nvPr>
        </p:nvSpPr>
        <p:spPr>
          <a:xfrm>
            <a:off x="384725" y="505248"/>
            <a:ext cx="464883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Artificial Neural Network (ANN)</a:t>
            </a:r>
            <a:endParaRPr/>
          </a:p>
        </p:txBody>
      </p:sp>
      <p:sp>
        <p:nvSpPr>
          <p:cNvPr id="146" name="Google Shape;146;p11"/>
          <p:cNvSpPr txBox="1"/>
          <p:nvPr/>
        </p:nvSpPr>
        <p:spPr>
          <a:xfrm>
            <a:off x="442475" y="1004606"/>
            <a:ext cx="562419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ANN is nothing but a composite of composite functions: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1"/>
          <p:cNvSpPr txBox="1"/>
          <p:nvPr/>
        </p:nvSpPr>
        <p:spPr>
          <a:xfrm>
            <a:off x="417075" y="1472474"/>
            <a:ext cx="274828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(𝒈</a:t>
            </a:r>
            <a:r>
              <a:rPr baseline="-25000" lang="en-US" sz="18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18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o 𝒇</a:t>
            </a:r>
            <a:r>
              <a:rPr baseline="-25000" lang="en-US" sz="18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n…….</a:t>
            </a:r>
            <a:r>
              <a:rPr lang="en-US" sz="18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𝒈</a:t>
            </a:r>
            <a:r>
              <a:rPr baseline="-25000" lang="en-US" sz="18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8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o 𝒇</a:t>
            </a:r>
            <a:r>
              <a:rPr baseline="-25000" lang="en-US" sz="18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en-US" sz="18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o 𝒈</a:t>
            </a:r>
            <a:r>
              <a:rPr baseline="-25000" lang="en-US" sz="18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8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o 𝒇</a:t>
            </a:r>
            <a:r>
              <a:rPr baseline="-25000" lang="en-US" sz="18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8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)(𝒙)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1"/>
          <p:cNvSpPr txBox="1"/>
          <p:nvPr/>
        </p:nvSpPr>
        <p:spPr>
          <a:xfrm>
            <a:off x="8852129" y="4766036"/>
            <a:ext cx="9652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1"/>
          <p:cNvSpPr txBox="1"/>
          <p:nvPr/>
        </p:nvSpPr>
        <p:spPr>
          <a:xfrm>
            <a:off x="442475" y="2728013"/>
            <a:ext cx="1519555" cy="1579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Arial"/>
                <a:ea typeface="Arial"/>
                <a:cs typeface="Arial"/>
                <a:sym typeface="Arial"/>
              </a:rPr>
              <a:t>Number of parameters: weights + bias (optional) + any variables in </a:t>
            </a:r>
            <a:r>
              <a:rPr lang="en-US" sz="17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𝒈(.) </a:t>
            </a:r>
            <a:r>
              <a:rPr lang="en-US" sz="1700">
                <a:latin typeface="Arial"/>
                <a:ea typeface="Arial"/>
                <a:cs typeface="Arial"/>
                <a:sym typeface="Arial"/>
              </a:rPr>
              <a:t>(optional)</a:t>
            </a:r>
            <a:endParaRPr sz="17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0" name="Google Shape;15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01437" y="1529349"/>
            <a:ext cx="5880375" cy="3164487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1"/>
          <p:cNvSpPr txBox="1"/>
          <p:nvPr/>
        </p:nvSpPr>
        <p:spPr>
          <a:xfrm>
            <a:off x="4108534" y="2221079"/>
            <a:ext cx="91440" cy="1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Arial"/>
                <a:ea typeface="Arial"/>
                <a:cs typeface="Arial"/>
                <a:sym typeface="Arial"/>
              </a:rPr>
              <a:t>1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1"/>
          <p:cNvSpPr txBox="1"/>
          <p:nvPr/>
        </p:nvSpPr>
        <p:spPr>
          <a:xfrm>
            <a:off x="4049359" y="2095138"/>
            <a:ext cx="404495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𝒇	𝒈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1"/>
          <p:cNvSpPr txBox="1"/>
          <p:nvPr/>
        </p:nvSpPr>
        <p:spPr>
          <a:xfrm>
            <a:off x="4427840" y="2221079"/>
            <a:ext cx="91440" cy="1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Arial"/>
                <a:ea typeface="Arial"/>
                <a:cs typeface="Arial"/>
                <a:sym typeface="Arial"/>
              </a:rPr>
              <a:t>1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1"/>
          <p:cNvSpPr txBox="1"/>
          <p:nvPr/>
        </p:nvSpPr>
        <p:spPr>
          <a:xfrm>
            <a:off x="3960334" y="3225379"/>
            <a:ext cx="91440" cy="1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Arial"/>
                <a:ea typeface="Arial"/>
                <a:cs typeface="Arial"/>
                <a:sym typeface="Arial"/>
              </a:rPr>
              <a:t>2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1"/>
          <p:cNvSpPr txBox="1"/>
          <p:nvPr/>
        </p:nvSpPr>
        <p:spPr>
          <a:xfrm>
            <a:off x="3901159" y="3099437"/>
            <a:ext cx="404495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𝒇	𝒈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1"/>
          <p:cNvSpPr txBox="1"/>
          <p:nvPr/>
        </p:nvSpPr>
        <p:spPr>
          <a:xfrm>
            <a:off x="4279640" y="3225379"/>
            <a:ext cx="91440" cy="1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Arial"/>
                <a:ea typeface="Arial"/>
                <a:cs typeface="Arial"/>
                <a:sym typeface="Arial"/>
              </a:rPr>
              <a:t>2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1"/>
          <p:cNvSpPr txBox="1"/>
          <p:nvPr/>
        </p:nvSpPr>
        <p:spPr>
          <a:xfrm>
            <a:off x="5931558" y="2394054"/>
            <a:ext cx="91440" cy="1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Arial"/>
                <a:ea typeface="Arial"/>
                <a:cs typeface="Arial"/>
                <a:sym typeface="Arial"/>
              </a:rPr>
              <a:t>4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1"/>
          <p:cNvSpPr txBox="1"/>
          <p:nvPr/>
        </p:nvSpPr>
        <p:spPr>
          <a:xfrm>
            <a:off x="5872384" y="2268113"/>
            <a:ext cx="404495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𝒇	𝒈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1"/>
          <p:cNvSpPr txBox="1"/>
          <p:nvPr/>
        </p:nvSpPr>
        <p:spPr>
          <a:xfrm>
            <a:off x="6250864" y="2394054"/>
            <a:ext cx="91440" cy="1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Arial"/>
                <a:ea typeface="Arial"/>
                <a:cs typeface="Arial"/>
                <a:sym typeface="Arial"/>
              </a:rPr>
              <a:t>4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1"/>
          <p:cNvSpPr txBox="1"/>
          <p:nvPr/>
        </p:nvSpPr>
        <p:spPr>
          <a:xfrm>
            <a:off x="5931558" y="3659579"/>
            <a:ext cx="91440" cy="1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Arial"/>
                <a:ea typeface="Arial"/>
                <a:cs typeface="Arial"/>
                <a:sym typeface="Arial"/>
              </a:rPr>
              <a:t>5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1"/>
          <p:cNvSpPr txBox="1"/>
          <p:nvPr/>
        </p:nvSpPr>
        <p:spPr>
          <a:xfrm>
            <a:off x="5872384" y="3533638"/>
            <a:ext cx="404495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𝒇	𝒈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1"/>
          <p:cNvSpPr txBox="1"/>
          <p:nvPr/>
        </p:nvSpPr>
        <p:spPr>
          <a:xfrm>
            <a:off x="6250864" y="3659579"/>
            <a:ext cx="91440" cy="1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Arial"/>
                <a:ea typeface="Arial"/>
                <a:cs typeface="Arial"/>
                <a:sym typeface="Arial"/>
              </a:rPr>
              <a:t>5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1"/>
          <p:cNvSpPr txBox="1"/>
          <p:nvPr/>
        </p:nvSpPr>
        <p:spPr>
          <a:xfrm>
            <a:off x="7230234" y="2918688"/>
            <a:ext cx="546100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50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𝒇</a:t>
            </a:r>
            <a:r>
              <a:rPr baseline="-25000" lang="en-US" sz="1350">
                <a:latin typeface="Arial"/>
                <a:ea typeface="Arial"/>
                <a:cs typeface="Arial"/>
                <a:sym typeface="Arial"/>
              </a:rPr>
              <a:t>6	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𝒈</a:t>
            </a:r>
            <a:r>
              <a:rPr baseline="-25000" lang="en-US" sz="1350">
                <a:latin typeface="Arial"/>
                <a:ea typeface="Arial"/>
                <a:cs typeface="Arial"/>
                <a:sym typeface="Arial"/>
              </a:rPr>
              <a:t>6</a:t>
            </a:r>
            <a:endParaRPr baseline="-25000" sz="135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1"/>
          <p:cNvSpPr txBox="1"/>
          <p:nvPr/>
        </p:nvSpPr>
        <p:spPr>
          <a:xfrm>
            <a:off x="8460175" y="2835331"/>
            <a:ext cx="12700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𝒚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1"/>
          <p:cNvSpPr txBox="1"/>
          <p:nvPr/>
        </p:nvSpPr>
        <p:spPr>
          <a:xfrm>
            <a:off x="2723092" y="2923218"/>
            <a:ext cx="13970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𝒙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1"/>
          <p:cNvSpPr txBox="1"/>
          <p:nvPr/>
        </p:nvSpPr>
        <p:spPr>
          <a:xfrm>
            <a:off x="3172200" y="2306431"/>
            <a:ext cx="31369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𝒘</a:t>
            </a:r>
            <a:r>
              <a:rPr baseline="-25000" lang="en-US" sz="18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aseline="-25000"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1"/>
          <p:cNvSpPr txBox="1"/>
          <p:nvPr/>
        </p:nvSpPr>
        <p:spPr>
          <a:xfrm>
            <a:off x="3264199" y="3145756"/>
            <a:ext cx="31369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𝒘</a:t>
            </a:r>
            <a:r>
              <a:rPr baseline="-25000" lang="en-US" sz="18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aseline="-25000"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1"/>
          <p:cNvSpPr txBox="1"/>
          <p:nvPr/>
        </p:nvSpPr>
        <p:spPr>
          <a:xfrm>
            <a:off x="3171875" y="3902131"/>
            <a:ext cx="17843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𝒘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1"/>
          <p:cNvSpPr txBox="1"/>
          <p:nvPr/>
        </p:nvSpPr>
        <p:spPr>
          <a:xfrm>
            <a:off x="3324350" y="4064056"/>
            <a:ext cx="110489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1"/>
          <p:cNvSpPr txBox="1"/>
          <p:nvPr/>
        </p:nvSpPr>
        <p:spPr>
          <a:xfrm>
            <a:off x="5147250" y="2225731"/>
            <a:ext cx="17843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𝒘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1"/>
          <p:cNvSpPr txBox="1"/>
          <p:nvPr/>
        </p:nvSpPr>
        <p:spPr>
          <a:xfrm>
            <a:off x="5299726" y="2387656"/>
            <a:ext cx="110489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1"/>
          <p:cNvSpPr txBox="1"/>
          <p:nvPr/>
        </p:nvSpPr>
        <p:spPr>
          <a:xfrm>
            <a:off x="5502850" y="2911531"/>
            <a:ext cx="31369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𝒘</a:t>
            </a:r>
            <a:r>
              <a:rPr baseline="-25000" lang="en-US" sz="18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aseline="-25000"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1"/>
          <p:cNvSpPr txBox="1"/>
          <p:nvPr/>
        </p:nvSpPr>
        <p:spPr>
          <a:xfrm>
            <a:off x="5299650" y="3216331"/>
            <a:ext cx="17843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𝒘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1"/>
          <p:cNvSpPr txBox="1"/>
          <p:nvPr/>
        </p:nvSpPr>
        <p:spPr>
          <a:xfrm>
            <a:off x="5452126" y="3378256"/>
            <a:ext cx="110489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1"/>
          <p:cNvSpPr txBox="1"/>
          <p:nvPr/>
        </p:nvSpPr>
        <p:spPr>
          <a:xfrm>
            <a:off x="5223450" y="2606731"/>
            <a:ext cx="17843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𝒘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1"/>
          <p:cNvSpPr txBox="1"/>
          <p:nvPr/>
        </p:nvSpPr>
        <p:spPr>
          <a:xfrm>
            <a:off x="5375926" y="2768656"/>
            <a:ext cx="110489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1"/>
          <p:cNvSpPr txBox="1"/>
          <p:nvPr/>
        </p:nvSpPr>
        <p:spPr>
          <a:xfrm>
            <a:off x="5452050" y="3902131"/>
            <a:ext cx="17843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𝒘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1"/>
          <p:cNvSpPr txBox="1"/>
          <p:nvPr/>
        </p:nvSpPr>
        <p:spPr>
          <a:xfrm>
            <a:off x="5604526" y="4064056"/>
            <a:ext cx="110489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1"/>
          <p:cNvSpPr txBox="1"/>
          <p:nvPr/>
        </p:nvSpPr>
        <p:spPr>
          <a:xfrm>
            <a:off x="5299650" y="1844731"/>
            <a:ext cx="17843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𝒘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1"/>
          <p:cNvSpPr txBox="1"/>
          <p:nvPr/>
        </p:nvSpPr>
        <p:spPr>
          <a:xfrm>
            <a:off x="5452126" y="2006656"/>
            <a:ext cx="110489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1"/>
          <p:cNvSpPr txBox="1"/>
          <p:nvPr/>
        </p:nvSpPr>
        <p:spPr>
          <a:xfrm>
            <a:off x="6823650" y="3292531"/>
            <a:ext cx="17843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𝒘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1"/>
          <p:cNvSpPr txBox="1"/>
          <p:nvPr/>
        </p:nvSpPr>
        <p:spPr>
          <a:xfrm>
            <a:off x="6976126" y="3454456"/>
            <a:ext cx="184150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1"/>
          <p:cNvSpPr txBox="1"/>
          <p:nvPr/>
        </p:nvSpPr>
        <p:spPr>
          <a:xfrm>
            <a:off x="6823650" y="2378131"/>
            <a:ext cx="17843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𝒘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1"/>
          <p:cNvSpPr txBox="1"/>
          <p:nvPr/>
        </p:nvSpPr>
        <p:spPr>
          <a:xfrm>
            <a:off x="6976126" y="2540056"/>
            <a:ext cx="194945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1"/>
          <p:cNvSpPr txBox="1"/>
          <p:nvPr/>
        </p:nvSpPr>
        <p:spPr>
          <a:xfrm>
            <a:off x="2499399" y="3633588"/>
            <a:ext cx="420370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Input layer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1"/>
          <p:cNvSpPr txBox="1"/>
          <p:nvPr/>
        </p:nvSpPr>
        <p:spPr>
          <a:xfrm>
            <a:off x="3613150" y="4220838"/>
            <a:ext cx="1074420" cy="707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2032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𝒇</a:t>
            </a:r>
            <a:r>
              <a:rPr baseline="-25000" lang="en-US" sz="1350">
                <a:latin typeface="Arial"/>
                <a:ea typeface="Arial"/>
                <a:cs typeface="Arial"/>
                <a:sym typeface="Arial"/>
              </a:rPr>
              <a:t>3	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𝒈</a:t>
            </a:r>
            <a:r>
              <a:rPr baseline="-25000" lang="en-US" sz="1350">
                <a:latin typeface="Arial"/>
                <a:ea typeface="Arial"/>
                <a:cs typeface="Arial"/>
                <a:sym typeface="Arial"/>
              </a:rPr>
              <a:t>3</a:t>
            </a:r>
            <a:endParaRPr baseline="-25000" sz="13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395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Hidden layer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1"/>
          <p:cNvSpPr txBox="1"/>
          <p:nvPr/>
        </p:nvSpPr>
        <p:spPr>
          <a:xfrm>
            <a:off x="5543550" y="4384638"/>
            <a:ext cx="1023619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Hidden layer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1"/>
          <p:cNvSpPr txBox="1"/>
          <p:nvPr/>
        </p:nvSpPr>
        <p:spPr>
          <a:xfrm>
            <a:off x="7219950" y="3546438"/>
            <a:ext cx="558800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Output layer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1"/>
          <p:cNvSpPr txBox="1"/>
          <p:nvPr/>
        </p:nvSpPr>
        <p:spPr>
          <a:xfrm>
            <a:off x="6000750" y="1651230"/>
            <a:ext cx="13970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𝒃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1"/>
          <p:cNvSpPr txBox="1"/>
          <p:nvPr/>
        </p:nvSpPr>
        <p:spPr>
          <a:xfrm>
            <a:off x="6115049" y="1813155"/>
            <a:ext cx="110489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1"/>
          <p:cNvSpPr txBox="1"/>
          <p:nvPr/>
        </p:nvSpPr>
        <p:spPr>
          <a:xfrm>
            <a:off x="5975350" y="2870430"/>
            <a:ext cx="27559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𝒃</a:t>
            </a:r>
            <a:r>
              <a:rPr baseline="-25000" lang="en-US" sz="18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aseline="-25000"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1"/>
          <p:cNvSpPr txBox="1"/>
          <p:nvPr/>
        </p:nvSpPr>
        <p:spPr>
          <a:xfrm>
            <a:off x="7431899" y="2082156"/>
            <a:ext cx="13970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𝒃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1"/>
          <p:cNvSpPr txBox="1"/>
          <p:nvPr/>
        </p:nvSpPr>
        <p:spPr>
          <a:xfrm>
            <a:off x="7546199" y="2244081"/>
            <a:ext cx="110489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1"/>
          <p:cNvSpPr txBox="1"/>
          <p:nvPr/>
        </p:nvSpPr>
        <p:spPr>
          <a:xfrm>
            <a:off x="3739175" y="1515055"/>
            <a:ext cx="27559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𝒃</a:t>
            </a:r>
            <a:r>
              <a:rPr baseline="-25000" lang="en-US" sz="18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aseline="-25000"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1"/>
          <p:cNvSpPr txBox="1"/>
          <p:nvPr/>
        </p:nvSpPr>
        <p:spPr>
          <a:xfrm>
            <a:off x="3617224" y="2577281"/>
            <a:ext cx="13970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𝒃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1"/>
          <p:cNvSpPr txBox="1"/>
          <p:nvPr/>
        </p:nvSpPr>
        <p:spPr>
          <a:xfrm>
            <a:off x="3731524" y="2739206"/>
            <a:ext cx="110489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1"/>
          <p:cNvSpPr txBox="1"/>
          <p:nvPr/>
        </p:nvSpPr>
        <p:spPr>
          <a:xfrm>
            <a:off x="3591824" y="3714231"/>
            <a:ext cx="27559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𝒃</a:t>
            </a:r>
            <a:r>
              <a:rPr baseline="-25000" lang="en-US" sz="18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aseline="-25000"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2"/>
          <p:cNvSpPr txBox="1"/>
          <p:nvPr/>
        </p:nvSpPr>
        <p:spPr>
          <a:xfrm>
            <a:off x="384725" y="505248"/>
            <a:ext cx="8051800" cy="4071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latin typeface="Arial"/>
                <a:ea typeface="Arial"/>
                <a:cs typeface="Arial"/>
                <a:sym typeface="Arial"/>
              </a:rPr>
              <a:t>ANN</a:t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-367030" lvl="0" marL="469900" marR="5080" rtl="0" algn="l">
              <a:lnSpc>
                <a:spcPct val="114999"/>
              </a:lnSpc>
              <a:spcBef>
                <a:spcPts val="225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ANN is a machine learning algorithm that uses a network of interconnected artificial neurons to process data to imitate our human brain.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469265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All ANNs have three kinds of layers: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35915" lvl="1" marL="926465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One 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Input Layer: to receive data.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5" lvl="1" marL="926465" rtl="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One or Multiple 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Hidden Layers: to process data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5" lvl="1" marL="926465" rtl="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One 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Output layer: to produce the output.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66395" lvl="0" marL="469265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Shallow NN is a type of ANN with a few hidden layers, usually one or two.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7030" lvl="0" marL="469900" marR="36195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Deep NN (DNN) is a type of ANN having multiple hidden layers to solve complex problems.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35915" lvl="1" marL="926465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GPT-3: 96 hidden layers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5" lvl="1" marL="926465" rtl="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EfficientNet: 5-400 hidden layers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5" lvl="1" marL="926465" rtl="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ResNet-152: 152 hidden layers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207" name="Google Shape;207;p13"/>
          <p:cNvSpPr txBox="1"/>
          <p:nvPr>
            <p:ph type="title"/>
          </p:nvPr>
        </p:nvSpPr>
        <p:spPr>
          <a:xfrm>
            <a:off x="384725" y="505248"/>
            <a:ext cx="464883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Universal Function Approximator</a:t>
            </a:r>
            <a:endParaRPr/>
          </a:p>
        </p:txBody>
      </p:sp>
      <p:sp>
        <p:nvSpPr>
          <p:cNvPr id="208" name="Google Shape;208;p13"/>
          <p:cNvSpPr txBox="1"/>
          <p:nvPr/>
        </p:nvSpPr>
        <p:spPr>
          <a:xfrm>
            <a:off x="442475" y="1080806"/>
            <a:ext cx="3276600" cy="2494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63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The main strong point of DNN is its universal approximation power.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An DNN can approximate any function no matter how complicated the function is if we can ensure that the network has sufficient number of neurons.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3"/>
          <p:cNvSpPr txBox="1"/>
          <p:nvPr/>
        </p:nvSpPr>
        <p:spPr>
          <a:xfrm>
            <a:off x="8852129" y="4766036"/>
            <a:ext cx="96520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0" name="Google Shape;21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26308" y="1093924"/>
            <a:ext cx="4439708" cy="3815167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3"/>
          <p:cNvSpPr txBox="1"/>
          <p:nvPr/>
        </p:nvSpPr>
        <p:spPr>
          <a:xfrm>
            <a:off x="1257850" y="4769895"/>
            <a:ext cx="2163445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Arial"/>
                <a:ea typeface="Arial"/>
                <a:cs typeface="Arial"/>
                <a:sym typeface="Arial"/>
              </a:rPr>
              <a:t>Image Source: Google Search Engine</a:t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216" name="Google Shape;216;p14"/>
          <p:cNvSpPr txBox="1"/>
          <p:nvPr>
            <p:ph type="title"/>
          </p:nvPr>
        </p:nvSpPr>
        <p:spPr>
          <a:xfrm>
            <a:off x="384725" y="505248"/>
            <a:ext cx="464883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Hidden Layers</a:t>
            </a:r>
            <a:endParaRPr/>
          </a:p>
        </p:txBody>
      </p:sp>
      <p:sp>
        <p:nvSpPr>
          <p:cNvPr id="217" name="Google Shape;217;p14"/>
          <p:cNvSpPr txBox="1"/>
          <p:nvPr/>
        </p:nvSpPr>
        <p:spPr>
          <a:xfrm>
            <a:off x="475249" y="1196108"/>
            <a:ext cx="8278495" cy="3045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30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The number of hidden layers in a DNN depends on the complexity of the data: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Linearly separable data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: No hidden layers are needed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85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Less complex data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: 1–2 hidden layers are sufficient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85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Large data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: 3–5 hidden layers are recommended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85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Complex data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: Additional layers can be helpful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6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Depth of an ANN = the number of hidden layers + the output layer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7030" lvl="0" marL="379095" marR="917575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Sometimes a deeper network has better performance comparing to a shallower network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A DNN has risks of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125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experiencing vanishing gradient problem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85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high sensitivity to input data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having similar performance of a shallow network.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222" name="Google Shape;222;p15"/>
          <p:cNvSpPr txBox="1"/>
          <p:nvPr>
            <p:ph type="title"/>
          </p:nvPr>
        </p:nvSpPr>
        <p:spPr>
          <a:xfrm>
            <a:off x="384725" y="505248"/>
            <a:ext cx="464883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Hidden Layers</a:t>
            </a:r>
            <a:endParaRPr/>
          </a:p>
        </p:txBody>
      </p:sp>
      <p:sp>
        <p:nvSpPr>
          <p:cNvPr id="223" name="Google Shape;223;p15"/>
          <p:cNvSpPr txBox="1"/>
          <p:nvPr/>
        </p:nvSpPr>
        <p:spPr>
          <a:xfrm>
            <a:off x="475249" y="1216355"/>
            <a:ext cx="8115300" cy="33864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Increasing the number of hidden layers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83540" lvl="1" marL="836294" rtl="0" algn="l">
              <a:lnSpc>
                <a:spcPct val="100000"/>
              </a:lnSpc>
              <a:spcBef>
                <a:spcPts val="515"/>
              </a:spcBef>
              <a:spcAft>
                <a:spcPts val="0"/>
              </a:spcAft>
              <a:buSzPts val="2000"/>
              <a:buFont typeface="Arial"/>
              <a:buChar char="○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Can increase the performance of the network.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Adding too many hidden layers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83540" lvl="1" marL="836294" marR="5080" rtl="0" algn="l">
              <a:lnSpc>
                <a:spcPct val="112300"/>
              </a:lnSpc>
              <a:spcBef>
                <a:spcPts val="280"/>
              </a:spcBef>
              <a:spcAft>
                <a:spcPts val="0"/>
              </a:spcAft>
              <a:buSzPts val="2000"/>
              <a:buFont typeface="Arial"/>
              <a:buChar char="○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Can lead to overfitting, where the model memorizes the training data but doesn't generalize well to new data.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13055" lvl="0" marL="379095" rtl="0" algn="l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Reducing the number of hidden layers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13055" lvl="1" marL="836294" marR="421005" rtl="0" algn="l">
              <a:lnSpc>
                <a:spcPct val="106100"/>
              </a:lnSpc>
              <a:spcBef>
                <a:spcPts val="15"/>
              </a:spcBef>
              <a:spcAft>
                <a:spcPts val="0"/>
              </a:spcAft>
              <a:buSzPts val="1100"/>
              <a:buFont typeface="Arial"/>
              <a:buChar char="○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Can directly impact the accuracy of the network. For complex problems, the network might not be trained properly with fewer hidden layers.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58775" lvl="0" marL="379095" rtl="0" algn="l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SzPts val="1700"/>
              <a:buFont typeface="Arial"/>
              <a:buChar char="●"/>
            </a:pPr>
            <a:r>
              <a:rPr b="1" lang="en-US" sz="1700">
                <a:latin typeface="Arial"/>
                <a:ea typeface="Arial"/>
                <a:cs typeface="Arial"/>
                <a:sym typeface="Arial"/>
              </a:rPr>
              <a:t>Optimal number of layers depends on several factors including: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58775" lvl="1" marL="836294" rtl="0" algn="l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SzPts val="1700"/>
              <a:buFont typeface="Arial"/>
              <a:buChar char="○"/>
            </a:pPr>
            <a:r>
              <a:rPr lang="en-US" sz="1700">
                <a:latin typeface="Arial"/>
                <a:ea typeface="Arial"/>
                <a:cs typeface="Arial"/>
                <a:sym typeface="Arial"/>
              </a:rPr>
              <a:t>the data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58775" lvl="1" marL="836294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700"/>
              <a:buFont typeface="Arial"/>
              <a:buChar char="○"/>
            </a:pPr>
            <a:r>
              <a:rPr lang="en-US" sz="1700">
                <a:latin typeface="Arial"/>
                <a:ea typeface="Arial"/>
                <a:cs typeface="Arial"/>
                <a:sym typeface="Arial"/>
              </a:rPr>
              <a:t>the optimizer, and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13055" lvl="1" marL="836294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100"/>
              <a:buFont typeface="Arial"/>
              <a:buChar char="○"/>
            </a:pPr>
            <a:r>
              <a:rPr lang="en-US" sz="1700">
                <a:latin typeface="Arial"/>
                <a:ea typeface="Arial"/>
                <a:cs typeface="Arial"/>
                <a:sym typeface="Arial"/>
              </a:rPr>
              <a:t>the network's architecture</a:t>
            </a:r>
            <a:endParaRPr sz="17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228" name="Google Shape;228;p16"/>
          <p:cNvSpPr txBox="1"/>
          <p:nvPr>
            <p:ph type="title"/>
          </p:nvPr>
        </p:nvSpPr>
        <p:spPr>
          <a:xfrm>
            <a:off x="384725" y="505248"/>
            <a:ext cx="464883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Number of Neurons</a:t>
            </a:r>
            <a:endParaRPr/>
          </a:p>
        </p:txBody>
      </p:sp>
      <p:sp>
        <p:nvSpPr>
          <p:cNvPr id="229" name="Google Shape;229;p16"/>
          <p:cNvSpPr txBox="1"/>
          <p:nvPr/>
        </p:nvSpPr>
        <p:spPr>
          <a:xfrm>
            <a:off x="475249" y="1196108"/>
            <a:ext cx="7949565" cy="30778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3000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Number of neurons in the: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input layer depends on the size of the input data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5" lvl="2" marL="1293495" rtl="0" algn="l">
              <a:lnSpc>
                <a:spcPct val="100000"/>
              </a:lnSpc>
              <a:spcBef>
                <a:spcPts val="85"/>
              </a:spcBef>
              <a:spcAft>
                <a:spcPts val="0"/>
              </a:spcAft>
              <a:buSzPts val="1400"/>
              <a:buFont typeface="Arial"/>
              <a:buChar char="■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for 28x28 input image, 784 neurons in the input layer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85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output layer depends on the size of the output data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5" lvl="2" marL="1293495" rtl="0" algn="l">
              <a:lnSpc>
                <a:spcPct val="100000"/>
              </a:lnSpc>
              <a:spcBef>
                <a:spcPts val="85"/>
              </a:spcBef>
              <a:spcAft>
                <a:spcPts val="0"/>
              </a:spcAft>
              <a:buSzPts val="1400"/>
              <a:buFont typeface="Arial"/>
              <a:buChar char="■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in a binary classifier, one or two neurons in the output layer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5" lvl="2" marL="1293495" rtl="0" algn="l">
              <a:lnSpc>
                <a:spcPct val="100000"/>
              </a:lnSpc>
              <a:spcBef>
                <a:spcPts val="85"/>
              </a:spcBef>
              <a:spcAft>
                <a:spcPts val="0"/>
              </a:spcAft>
              <a:buSzPts val="1400"/>
              <a:buFont typeface="Arial"/>
              <a:buChar char="■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in a 10 class classifier, four or ten neurons in the output layer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hidden layers depends on us, i.e., who design the architecture of the NN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7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More neurons means: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125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more parameters for tuning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85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more time for tuning parameters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5915" lvl="1" marL="836294" rtl="0" algn="l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more data for avoiding overfitting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6550" lvl="1" marL="836294" marR="508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more hardware support, i.e., computational power &amp; memory during parameter tuning, and storage space for saving model.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234" name="Google Shape;234;p17"/>
          <p:cNvSpPr txBox="1"/>
          <p:nvPr>
            <p:ph type="title"/>
          </p:nvPr>
        </p:nvSpPr>
        <p:spPr>
          <a:xfrm>
            <a:off x="384725" y="505248"/>
            <a:ext cx="464883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Parameter Vs Hyperparameter</a:t>
            </a:r>
            <a:endParaRPr/>
          </a:p>
        </p:txBody>
      </p:sp>
      <p:sp>
        <p:nvSpPr>
          <p:cNvPr id="235" name="Google Shape;235;p17"/>
          <p:cNvSpPr txBox="1"/>
          <p:nvPr/>
        </p:nvSpPr>
        <p:spPr>
          <a:xfrm>
            <a:off x="442475" y="1080806"/>
            <a:ext cx="8305800" cy="3081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Parameters: 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which NN will learn from data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469265" rtl="0" algn="l">
              <a:lnSpc>
                <a:spcPct val="100000"/>
              </a:lnSpc>
              <a:spcBef>
                <a:spcPts val="130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-US" sz="18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𝒘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8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𝒃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, any variables in </a:t>
            </a:r>
            <a:r>
              <a:rPr lang="en-US" sz="1800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𝒈(.)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71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5080" rtl="0" algn="l">
              <a:lnSpc>
                <a:spcPct val="107722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Hyperparameters: 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which we need to decide based on our experience, intuition or error-trial such as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469265" rtl="0" algn="l">
              <a:lnSpc>
                <a:spcPct val="100555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number of layers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469265" rtl="0" algn="l">
              <a:lnSpc>
                <a:spcPct val="108055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number of neurons in each layer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469265" rtl="0" algn="l">
              <a:lnSpc>
                <a:spcPct val="108055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activation function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469265" rtl="0" algn="l">
              <a:lnSpc>
                <a:spcPct val="108055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epoch number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469265" rtl="0" algn="l">
              <a:lnSpc>
                <a:spcPct val="113888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learning rate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7"/>
          <p:cNvSpPr txBox="1"/>
          <p:nvPr/>
        </p:nvSpPr>
        <p:spPr>
          <a:xfrm>
            <a:off x="8781525" y="4766036"/>
            <a:ext cx="167005" cy="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$PPTXTitle" id="241" name="Google Shape;241;p18"/>
          <p:cNvSpPr txBox="1"/>
          <p:nvPr>
            <p:ph type="title"/>
          </p:nvPr>
        </p:nvSpPr>
        <p:spPr>
          <a:xfrm>
            <a:off x="384725" y="505248"/>
            <a:ext cx="4648835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2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Keep in Mind</a:t>
            </a:r>
            <a:endParaRPr/>
          </a:p>
        </p:txBody>
      </p:sp>
      <p:sp>
        <p:nvSpPr>
          <p:cNvPr id="242" name="Google Shape;242;p18"/>
          <p:cNvSpPr txBox="1"/>
          <p:nvPr/>
        </p:nvSpPr>
        <p:spPr>
          <a:xfrm>
            <a:off x="475249" y="1168921"/>
            <a:ext cx="8125459" cy="30518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675">
            <a:spAutoFit/>
          </a:bodyPr>
          <a:lstStyle/>
          <a:p>
            <a:pPr indent="-366395" lvl="0" marL="3790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Designing a suitable DNN automatically is not fully explored yet.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36550" lvl="1" marL="836294" marR="502284" rtl="0" algn="l">
              <a:lnSpc>
                <a:spcPct val="114999"/>
              </a:lnSpc>
              <a:spcBef>
                <a:spcPts val="45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Recent Works: Neural Architecture Search—Finding the Best Model Design Automatically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Designing a suitable network architecture is still a error-and-trial process.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Not an architecture optimum for a data will be optimum for all datasets.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7030" lvl="0" marL="379095" marR="5080" rtl="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It is upto us what will be the number of hidden layers and number of neurons in each hidden layer. However, we need to be careful.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6395" lvl="0" marL="379095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We should not design or work with any network which: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51155" lvl="1" marL="836294" rtl="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SzPts val="1600"/>
              <a:buFont typeface="Arial"/>
              <a:buChar char="○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cannot be run in our available hardware support.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51155" lvl="1" marL="836294" rtl="0" algn="l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SzPts val="1600"/>
              <a:buFont typeface="Arial"/>
              <a:buChar char="○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can be easily overfitted on our available training data.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9"/>
          <p:cNvSpPr txBox="1"/>
          <p:nvPr>
            <p:ph type="title"/>
          </p:nvPr>
        </p:nvSpPr>
        <p:spPr>
          <a:xfrm>
            <a:off x="384725" y="505248"/>
            <a:ext cx="4648800" cy="38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Class Work </a:t>
            </a:r>
            <a:endParaRPr/>
          </a:p>
        </p:txBody>
      </p:sp>
      <p:sp>
        <p:nvSpPr>
          <p:cNvPr id="248" name="Google Shape;248;p19"/>
          <p:cNvSpPr txBox="1"/>
          <p:nvPr>
            <p:ph idx="1" type="body"/>
          </p:nvPr>
        </p:nvSpPr>
        <p:spPr>
          <a:xfrm>
            <a:off x="384725" y="1175200"/>
            <a:ext cx="6779100" cy="1785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-US" sz="1600"/>
              <a:t>Design a simple Artificial Neural Network (ANN) that can recognize handwritten digits from </a:t>
            </a:r>
            <a:r>
              <a:rPr b="1" lang="en-US" sz="1600"/>
              <a:t>0 to 9</a:t>
            </a:r>
            <a:r>
              <a:rPr lang="en-US" sz="1600"/>
              <a:t>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-US" sz="1600"/>
              <a:t>Design a simple Artificial Neural Network (ANN) that can recognize handwritten digits from </a:t>
            </a:r>
            <a:r>
              <a:rPr b="1" lang="en-US" sz="1600"/>
              <a:t>0 to 9</a:t>
            </a:r>
            <a:r>
              <a:rPr lang="en-US" sz="1600"/>
              <a:t>. Input Image (56x56)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-US" sz="1600"/>
              <a:t>What is overfitting ?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-US" sz="1600"/>
              <a:t>Why </a:t>
            </a:r>
            <a:r>
              <a:rPr lang="en-US"/>
              <a:t>Generally nonlinear functions are used as activation functions.</a:t>
            </a:r>
            <a:endParaRPr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