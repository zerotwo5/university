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y="5143500" cx="9144000"/>
  <p:notesSz cx="9144000" cy="5143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3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3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3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3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4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5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5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5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5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5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5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5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5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5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5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6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7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7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7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7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7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7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7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7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7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7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7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7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7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7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7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7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8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8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8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8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8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8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8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8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9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9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9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9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9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9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9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9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0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0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0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0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0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0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0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07: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08: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08: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09: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09: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0: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10: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11: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11: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12: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12: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13: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13: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14: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14: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115: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15: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16: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16: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17: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17: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118: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18: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19: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19: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20: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20: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23: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23: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f93e09d844_0_0: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f93e09d844_0_0: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f62c6e7be4_0_1: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f62c6e7be4_0_1: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f62c6e7be4_0_7: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f62c6e7be4_0_7: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f62c6e7be4_0_14: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f62c6e7be4_0_14: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f62c6e7be4_0_20: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f62c6e7be4_0_20: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f7631379c8_0_0: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f7631379c8_0_0:notes"/>
          <p:cNvSpPr txBox="1"/>
          <p:nvPr>
            <p:ph idx="1" type="body"/>
          </p:nvPr>
        </p:nvSpPr>
        <p:spPr>
          <a:xfrm>
            <a:off x="914400" y="2443150"/>
            <a:ext cx="7315200" cy="23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384724" y="505247"/>
            <a:ext cx="8287384" cy="4095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5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384724" y="1216356"/>
            <a:ext cx="7871459" cy="335152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160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 name="Google Shape;14;p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2" type="sldNum"/>
          </p:nvPr>
        </p:nvSpPr>
        <p:spPr>
          <a:xfrm>
            <a:off x="8756108" y="4778061"/>
            <a:ext cx="230623" cy="167639"/>
          </a:xfrm>
          <a:prstGeom prst="rect">
            <a:avLst/>
          </a:prstGeom>
          <a:noFill/>
          <a:ln>
            <a:noFill/>
          </a:ln>
        </p:spPr>
        <p:txBody>
          <a:bodyPr anchorCtr="0" anchor="t" bIns="0" lIns="0" spcFirstLastPara="1" rIns="0" wrap="square" tIns="0">
            <a:spAutoFit/>
          </a:bodyPr>
          <a:lstStyle>
            <a:lvl1pPr indent="0" lvl="0" marL="108585">
              <a:lnSpc>
                <a:spcPct val="100000"/>
              </a:lnSpc>
              <a:spcBef>
                <a:spcPts val="0"/>
              </a:spcBef>
              <a:buNone/>
              <a:defRPr b="0" i="0" sz="1000">
                <a:solidFill>
                  <a:srgbClr val="595959"/>
                </a:solidFill>
                <a:latin typeface="Arial"/>
                <a:ea typeface="Arial"/>
                <a:cs typeface="Arial"/>
                <a:sym typeface="Arial"/>
              </a:defRPr>
            </a:lvl1pPr>
            <a:lvl2pPr indent="0" lvl="1" marL="108585">
              <a:lnSpc>
                <a:spcPct val="100000"/>
              </a:lnSpc>
              <a:spcBef>
                <a:spcPts val="0"/>
              </a:spcBef>
              <a:buNone/>
              <a:defRPr b="0" i="0" sz="1000">
                <a:solidFill>
                  <a:srgbClr val="595959"/>
                </a:solidFill>
                <a:latin typeface="Arial"/>
                <a:ea typeface="Arial"/>
                <a:cs typeface="Arial"/>
                <a:sym typeface="Arial"/>
              </a:defRPr>
            </a:lvl2pPr>
            <a:lvl3pPr indent="0" lvl="2" marL="108585">
              <a:lnSpc>
                <a:spcPct val="100000"/>
              </a:lnSpc>
              <a:spcBef>
                <a:spcPts val="0"/>
              </a:spcBef>
              <a:buNone/>
              <a:defRPr b="0" i="0" sz="1000">
                <a:solidFill>
                  <a:srgbClr val="595959"/>
                </a:solidFill>
                <a:latin typeface="Arial"/>
                <a:ea typeface="Arial"/>
                <a:cs typeface="Arial"/>
                <a:sym typeface="Arial"/>
              </a:defRPr>
            </a:lvl3pPr>
            <a:lvl4pPr indent="0" lvl="3" marL="108585">
              <a:lnSpc>
                <a:spcPct val="100000"/>
              </a:lnSpc>
              <a:spcBef>
                <a:spcPts val="0"/>
              </a:spcBef>
              <a:buNone/>
              <a:defRPr b="0" i="0" sz="1000">
                <a:solidFill>
                  <a:srgbClr val="595959"/>
                </a:solidFill>
                <a:latin typeface="Arial"/>
                <a:ea typeface="Arial"/>
                <a:cs typeface="Arial"/>
                <a:sym typeface="Arial"/>
              </a:defRPr>
            </a:lvl4pPr>
            <a:lvl5pPr indent="0" lvl="4" marL="108585">
              <a:lnSpc>
                <a:spcPct val="100000"/>
              </a:lnSpc>
              <a:spcBef>
                <a:spcPts val="0"/>
              </a:spcBef>
              <a:buNone/>
              <a:defRPr b="0" i="0" sz="1000">
                <a:solidFill>
                  <a:srgbClr val="595959"/>
                </a:solidFill>
                <a:latin typeface="Arial"/>
                <a:ea typeface="Arial"/>
                <a:cs typeface="Arial"/>
                <a:sym typeface="Arial"/>
              </a:defRPr>
            </a:lvl5pPr>
            <a:lvl6pPr indent="0" lvl="5" marL="108585">
              <a:lnSpc>
                <a:spcPct val="100000"/>
              </a:lnSpc>
              <a:spcBef>
                <a:spcPts val="0"/>
              </a:spcBef>
              <a:buNone/>
              <a:defRPr b="0" i="0" sz="1000">
                <a:solidFill>
                  <a:srgbClr val="595959"/>
                </a:solidFill>
                <a:latin typeface="Arial"/>
                <a:ea typeface="Arial"/>
                <a:cs typeface="Arial"/>
                <a:sym typeface="Arial"/>
              </a:defRPr>
            </a:lvl6pPr>
            <a:lvl7pPr indent="0" lvl="6" marL="108585">
              <a:lnSpc>
                <a:spcPct val="100000"/>
              </a:lnSpc>
              <a:spcBef>
                <a:spcPts val="0"/>
              </a:spcBef>
              <a:buNone/>
              <a:defRPr b="0" i="0" sz="1000">
                <a:solidFill>
                  <a:srgbClr val="595959"/>
                </a:solidFill>
                <a:latin typeface="Arial"/>
                <a:ea typeface="Arial"/>
                <a:cs typeface="Arial"/>
                <a:sym typeface="Arial"/>
              </a:defRPr>
            </a:lvl7pPr>
            <a:lvl8pPr indent="0" lvl="7" marL="108585">
              <a:lnSpc>
                <a:spcPct val="100000"/>
              </a:lnSpc>
              <a:spcBef>
                <a:spcPts val="0"/>
              </a:spcBef>
              <a:buNone/>
              <a:defRPr b="0" i="0" sz="1000">
                <a:solidFill>
                  <a:srgbClr val="595959"/>
                </a:solidFill>
                <a:latin typeface="Arial"/>
                <a:ea typeface="Arial"/>
                <a:cs typeface="Arial"/>
                <a:sym typeface="Arial"/>
              </a:defRPr>
            </a:lvl8pPr>
            <a:lvl9pPr indent="0" lvl="8" marL="108585">
              <a:lnSpc>
                <a:spcPct val="100000"/>
              </a:lnSpc>
              <a:spcBef>
                <a:spcPts val="0"/>
              </a:spcBef>
              <a:buNone/>
              <a:defRPr b="0" i="0" sz="1000">
                <a:solidFill>
                  <a:srgbClr val="595959"/>
                </a:solidFill>
                <a:latin typeface="Arial"/>
                <a:ea typeface="Arial"/>
                <a:cs typeface="Arial"/>
                <a:sym typeface="Arial"/>
              </a:defRPr>
            </a:lvl9pPr>
          </a:lstStyle>
          <a:p>
            <a:pPr indent="0" lvl="0" marL="10858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7" name="Shape 17"/>
        <p:cNvGrpSpPr/>
        <p:nvPr/>
      </p:nvGrpSpPr>
      <p:grpSpPr>
        <a:xfrm>
          <a:off x="0" y="0"/>
          <a:ext cx="0" cy="0"/>
          <a:chOff x="0" y="0"/>
          <a:chExt cx="0" cy="0"/>
        </a:xfrm>
      </p:grpSpPr>
      <p:sp>
        <p:nvSpPr>
          <p:cNvPr id="18" name="Google Shape;18;p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2" type="sldNum"/>
          </p:nvPr>
        </p:nvSpPr>
        <p:spPr>
          <a:xfrm>
            <a:off x="8756108" y="4778061"/>
            <a:ext cx="230623" cy="167639"/>
          </a:xfrm>
          <a:prstGeom prst="rect">
            <a:avLst/>
          </a:prstGeom>
          <a:noFill/>
          <a:ln>
            <a:noFill/>
          </a:ln>
        </p:spPr>
        <p:txBody>
          <a:bodyPr anchorCtr="0" anchor="t" bIns="0" lIns="0" spcFirstLastPara="1" rIns="0" wrap="square" tIns="0">
            <a:spAutoFit/>
          </a:bodyPr>
          <a:lstStyle>
            <a:lvl1pPr indent="0" lvl="0" marL="108585">
              <a:lnSpc>
                <a:spcPct val="100000"/>
              </a:lnSpc>
              <a:spcBef>
                <a:spcPts val="0"/>
              </a:spcBef>
              <a:buNone/>
              <a:defRPr b="0" i="0" sz="1000">
                <a:solidFill>
                  <a:srgbClr val="595959"/>
                </a:solidFill>
                <a:latin typeface="Arial"/>
                <a:ea typeface="Arial"/>
                <a:cs typeface="Arial"/>
                <a:sym typeface="Arial"/>
              </a:defRPr>
            </a:lvl1pPr>
            <a:lvl2pPr indent="0" lvl="1" marL="108585">
              <a:lnSpc>
                <a:spcPct val="100000"/>
              </a:lnSpc>
              <a:spcBef>
                <a:spcPts val="0"/>
              </a:spcBef>
              <a:buNone/>
              <a:defRPr b="0" i="0" sz="1000">
                <a:solidFill>
                  <a:srgbClr val="595959"/>
                </a:solidFill>
                <a:latin typeface="Arial"/>
                <a:ea typeface="Arial"/>
                <a:cs typeface="Arial"/>
                <a:sym typeface="Arial"/>
              </a:defRPr>
            </a:lvl2pPr>
            <a:lvl3pPr indent="0" lvl="2" marL="108585">
              <a:lnSpc>
                <a:spcPct val="100000"/>
              </a:lnSpc>
              <a:spcBef>
                <a:spcPts val="0"/>
              </a:spcBef>
              <a:buNone/>
              <a:defRPr b="0" i="0" sz="1000">
                <a:solidFill>
                  <a:srgbClr val="595959"/>
                </a:solidFill>
                <a:latin typeface="Arial"/>
                <a:ea typeface="Arial"/>
                <a:cs typeface="Arial"/>
                <a:sym typeface="Arial"/>
              </a:defRPr>
            </a:lvl3pPr>
            <a:lvl4pPr indent="0" lvl="3" marL="108585">
              <a:lnSpc>
                <a:spcPct val="100000"/>
              </a:lnSpc>
              <a:spcBef>
                <a:spcPts val="0"/>
              </a:spcBef>
              <a:buNone/>
              <a:defRPr b="0" i="0" sz="1000">
                <a:solidFill>
                  <a:srgbClr val="595959"/>
                </a:solidFill>
                <a:latin typeface="Arial"/>
                <a:ea typeface="Arial"/>
                <a:cs typeface="Arial"/>
                <a:sym typeface="Arial"/>
              </a:defRPr>
            </a:lvl4pPr>
            <a:lvl5pPr indent="0" lvl="4" marL="108585">
              <a:lnSpc>
                <a:spcPct val="100000"/>
              </a:lnSpc>
              <a:spcBef>
                <a:spcPts val="0"/>
              </a:spcBef>
              <a:buNone/>
              <a:defRPr b="0" i="0" sz="1000">
                <a:solidFill>
                  <a:srgbClr val="595959"/>
                </a:solidFill>
                <a:latin typeface="Arial"/>
                <a:ea typeface="Arial"/>
                <a:cs typeface="Arial"/>
                <a:sym typeface="Arial"/>
              </a:defRPr>
            </a:lvl5pPr>
            <a:lvl6pPr indent="0" lvl="5" marL="108585">
              <a:lnSpc>
                <a:spcPct val="100000"/>
              </a:lnSpc>
              <a:spcBef>
                <a:spcPts val="0"/>
              </a:spcBef>
              <a:buNone/>
              <a:defRPr b="0" i="0" sz="1000">
                <a:solidFill>
                  <a:srgbClr val="595959"/>
                </a:solidFill>
                <a:latin typeface="Arial"/>
                <a:ea typeface="Arial"/>
                <a:cs typeface="Arial"/>
                <a:sym typeface="Arial"/>
              </a:defRPr>
            </a:lvl6pPr>
            <a:lvl7pPr indent="0" lvl="6" marL="108585">
              <a:lnSpc>
                <a:spcPct val="100000"/>
              </a:lnSpc>
              <a:spcBef>
                <a:spcPts val="0"/>
              </a:spcBef>
              <a:buNone/>
              <a:defRPr b="0" i="0" sz="1000">
                <a:solidFill>
                  <a:srgbClr val="595959"/>
                </a:solidFill>
                <a:latin typeface="Arial"/>
                <a:ea typeface="Arial"/>
                <a:cs typeface="Arial"/>
                <a:sym typeface="Arial"/>
              </a:defRPr>
            </a:lvl7pPr>
            <a:lvl8pPr indent="0" lvl="7" marL="108585">
              <a:lnSpc>
                <a:spcPct val="100000"/>
              </a:lnSpc>
              <a:spcBef>
                <a:spcPts val="0"/>
              </a:spcBef>
              <a:buNone/>
              <a:defRPr b="0" i="0" sz="1000">
                <a:solidFill>
                  <a:srgbClr val="595959"/>
                </a:solidFill>
                <a:latin typeface="Arial"/>
                <a:ea typeface="Arial"/>
                <a:cs typeface="Arial"/>
                <a:sym typeface="Arial"/>
              </a:defRPr>
            </a:lvl8pPr>
            <a:lvl9pPr indent="0" lvl="8" marL="108585">
              <a:lnSpc>
                <a:spcPct val="100000"/>
              </a:lnSpc>
              <a:spcBef>
                <a:spcPts val="0"/>
              </a:spcBef>
              <a:buNone/>
              <a:defRPr b="0" i="0" sz="1000">
                <a:solidFill>
                  <a:srgbClr val="595959"/>
                </a:solidFill>
                <a:latin typeface="Arial"/>
                <a:ea typeface="Arial"/>
                <a:cs typeface="Arial"/>
                <a:sym typeface="Arial"/>
              </a:defRPr>
            </a:lvl9pPr>
          </a:lstStyle>
          <a:p>
            <a:pPr indent="0" lvl="0" marL="10858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1" name="Shape 21"/>
        <p:cNvGrpSpPr/>
        <p:nvPr/>
      </p:nvGrpSpPr>
      <p:grpSpPr>
        <a:xfrm>
          <a:off x="0" y="0"/>
          <a:ext cx="0" cy="0"/>
          <a:chOff x="0" y="0"/>
          <a:chExt cx="0" cy="0"/>
        </a:xfrm>
      </p:grpSpPr>
      <p:sp>
        <p:nvSpPr>
          <p:cNvPr id="22" name="Google Shape;22;p4"/>
          <p:cNvSpPr txBox="1"/>
          <p:nvPr>
            <p:ph type="ctrTitle"/>
          </p:nvPr>
        </p:nvSpPr>
        <p:spPr>
          <a:xfrm>
            <a:off x="384724" y="505247"/>
            <a:ext cx="7348855" cy="4095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5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6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2" type="sldNum"/>
          </p:nvPr>
        </p:nvSpPr>
        <p:spPr>
          <a:xfrm>
            <a:off x="8756108" y="4778061"/>
            <a:ext cx="230623" cy="167639"/>
          </a:xfrm>
          <a:prstGeom prst="rect">
            <a:avLst/>
          </a:prstGeom>
          <a:noFill/>
          <a:ln>
            <a:noFill/>
          </a:ln>
        </p:spPr>
        <p:txBody>
          <a:bodyPr anchorCtr="0" anchor="t" bIns="0" lIns="0" spcFirstLastPara="1" rIns="0" wrap="square" tIns="0">
            <a:spAutoFit/>
          </a:bodyPr>
          <a:lstStyle>
            <a:lvl1pPr indent="0" lvl="0" marL="108585">
              <a:lnSpc>
                <a:spcPct val="100000"/>
              </a:lnSpc>
              <a:spcBef>
                <a:spcPts val="0"/>
              </a:spcBef>
              <a:buNone/>
              <a:defRPr b="0" i="0" sz="1000">
                <a:solidFill>
                  <a:srgbClr val="595959"/>
                </a:solidFill>
                <a:latin typeface="Arial"/>
                <a:ea typeface="Arial"/>
                <a:cs typeface="Arial"/>
                <a:sym typeface="Arial"/>
              </a:defRPr>
            </a:lvl1pPr>
            <a:lvl2pPr indent="0" lvl="1" marL="108585">
              <a:lnSpc>
                <a:spcPct val="100000"/>
              </a:lnSpc>
              <a:spcBef>
                <a:spcPts val="0"/>
              </a:spcBef>
              <a:buNone/>
              <a:defRPr b="0" i="0" sz="1000">
                <a:solidFill>
                  <a:srgbClr val="595959"/>
                </a:solidFill>
                <a:latin typeface="Arial"/>
                <a:ea typeface="Arial"/>
                <a:cs typeface="Arial"/>
                <a:sym typeface="Arial"/>
              </a:defRPr>
            </a:lvl2pPr>
            <a:lvl3pPr indent="0" lvl="2" marL="108585">
              <a:lnSpc>
                <a:spcPct val="100000"/>
              </a:lnSpc>
              <a:spcBef>
                <a:spcPts val="0"/>
              </a:spcBef>
              <a:buNone/>
              <a:defRPr b="0" i="0" sz="1000">
                <a:solidFill>
                  <a:srgbClr val="595959"/>
                </a:solidFill>
                <a:latin typeface="Arial"/>
                <a:ea typeface="Arial"/>
                <a:cs typeface="Arial"/>
                <a:sym typeface="Arial"/>
              </a:defRPr>
            </a:lvl3pPr>
            <a:lvl4pPr indent="0" lvl="3" marL="108585">
              <a:lnSpc>
                <a:spcPct val="100000"/>
              </a:lnSpc>
              <a:spcBef>
                <a:spcPts val="0"/>
              </a:spcBef>
              <a:buNone/>
              <a:defRPr b="0" i="0" sz="1000">
                <a:solidFill>
                  <a:srgbClr val="595959"/>
                </a:solidFill>
                <a:latin typeface="Arial"/>
                <a:ea typeface="Arial"/>
                <a:cs typeface="Arial"/>
                <a:sym typeface="Arial"/>
              </a:defRPr>
            </a:lvl4pPr>
            <a:lvl5pPr indent="0" lvl="4" marL="108585">
              <a:lnSpc>
                <a:spcPct val="100000"/>
              </a:lnSpc>
              <a:spcBef>
                <a:spcPts val="0"/>
              </a:spcBef>
              <a:buNone/>
              <a:defRPr b="0" i="0" sz="1000">
                <a:solidFill>
                  <a:srgbClr val="595959"/>
                </a:solidFill>
                <a:latin typeface="Arial"/>
                <a:ea typeface="Arial"/>
                <a:cs typeface="Arial"/>
                <a:sym typeface="Arial"/>
              </a:defRPr>
            </a:lvl5pPr>
            <a:lvl6pPr indent="0" lvl="5" marL="108585">
              <a:lnSpc>
                <a:spcPct val="100000"/>
              </a:lnSpc>
              <a:spcBef>
                <a:spcPts val="0"/>
              </a:spcBef>
              <a:buNone/>
              <a:defRPr b="0" i="0" sz="1000">
                <a:solidFill>
                  <a:srgbClr val="595959"/>
                </a:solidFill>
                <a:latin typeface="Arial"/>
                <a:ea typeface="Arial"/>
                <a:cs typeface="Arial"/>
                <a:sym typeface="Arial"/>
              </a:defRPr>
            </a:lvl6pPr>
            <a:lvl7pPr indent="0" lvl="6" marL="108585">
              <a:lnSpc>
                <a:spcPct val="100000"/>
              </a:lnSpc>
              <a:spcBef>
                <a:spcPts val="0"/>
              </a:spcBef>
              <a:buNone/>
              <a:defRPr b="0" i="0" sz="1000">
                <a:solidFill>
                  <a:srgbClr val="595959"/>
                </a:solidFill>
                <a:latin typeface="Arial"/>
                <a:ea typeface="Arial"/>
                <a:cs typeface="Arial"/>
                <a:sym typeface="Arial"/>
              </a:defRPr>
            </a:lvl7pPr>
            <a:lvl8pPr indent="0" lvl="7" marL="108585">
              <a:lnSpc>
                <a:spcPct val="100000"/>
              </a:lnSpc>
              <a:spcBef>
                <a:spcPts val="0"/>
              </a:spcBef>
              <a:buNone/>
              <a:defRPr b="0" i="0" sz="1000">
                <a:solidFill>
                  <a:srgbClr val="595959"/>
                </a:solidFill>
                <a:latin typeface="Arial"/>
                <a:ea typeface="Arial"/>
                <a:cs typeface="Arial"/>
                <a:sym typeface="Arial"/>
              </a:defRPr>
            </a:lvl8pPr>
            <a:lvl9pPr indent="0" lvl="8" marL="108585">
              <a:lnSpc>
                <a:spcPct val="100000"/>
              </a:lnSpc>
              <a:spcBef>
                <a:spcPts val="0"/>
              </a:spcBef>
              <a:buNone/>
              <a:defRPr b="0" i="0" sz="1000">
                <a:solidFill>
                  <a:srgbClr val="595959"/>
                </a:solidFill>
                <a:latin typeface="Arial"/>
                <a:ea typeface="Arial"/>
                <a:cs typeface="Arial"/>
                <a:sym typeface="Arial"/>
              </a:defRPr>
            </a:lvl9pPr>
          </a:lstStyle>
          <a:p>
            <a:pPr indent="0" lvl="0" marL="10858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7" name="Shape 27"/>
        <p:cNvGrpSpPr/>
        <p:nvPr/>
      </p:nvGrpSpPr>
      <p:grpSpPr>
        <a:xfrm>
          <a:off x="0" y="0"/>
          <a:ext cx="0" cy="0"/>
          <a:chOff x="0" y="0"/>
          <a:chExt cx="0" cy="0"/>
        </a:xfrm>
      </p:grpSpPr>
      <p:sp>
        <p:nvSpPr>
          <p:cNvPr id="28" name="Google Shape;28;p5"/>
          <p:cNvSpPr txBox="1"/>
          <p:nvPr>
            <p:ph type="title"/>
          </p:nvPr>
        </p:nvSpPr>
        <p:spPr>
          <a:xfrm>
            <a:off x="384724" y="505247"/>
            <a:ext cx="8287384" cy="4095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5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2" type="sldNum"/>
          </p:nvPr>
        </p:nvSpPr>
        <p:spPr>
          <a:xfrm>
            <a:off x="8756108" y="4778061"/>
            <a:ext cx="230623" cy="167639"/>
          </a:xfrm>
          <a:prstGeom prst="rect">
            <a:avLst/>
          </a:prstGeom>
          <a:noFill/>
          <a:ln>
            <a:noFill/>
          </a:ln>
        </p:spPr>
        <p:txBody>
          <a:bodyPr anchorCtr="0" anchor="t" bIns="0" lIns="0" spcFirstLastPara="1" rIns="0" wrap="square" tIns="0">
            <a:spAutoFit/>
          </a:bodyPr>
          <a:lstStyle>
            <a:lvl1pPr indent="0" lvl="0" marL="108585">
              <a:lnSpc>
                <a:spcPct val="100000"/>
              </a:lnSpc>
              <a:spcBef>
                <a:spcPts val="0"/>
              </a:spcBef>
              <a:buNone/>
              <a:defRPr b="0" i="0" sz="1000">
                <a:solidFill>
                  <a:srgbClr val="595959"/>
                </a:solidFill>
                <a:latin typeface="Arial"/>
                <a:ea typeface="Arial"/>
                <a:cs typeface="Arial"/>
                <a:sym typeface="Arial"/>
              </a:defRPr>
            </a:lvl1pPr>
            <a:lvl2pPr indent="0" lvl="1" marL="108585">
              <a:lnSpc>
                <a:spcPct val="100000"/>
              </a:lnSpc>
              <a:spcBef>
                <a:spcPts val="0"/>
              </a:spcBef>
              <a:buNone/>
              <a:defRPr b="0" i="0" sz="1000">
                <a:solidFill>
                  <a:srgbClr val="595959"/>
                </a:solidFill>
                <a:latin typeface="Arial"/>
                <a:ea typeface="Arial"/>
                <a:cs typeface="Arial"/>
                <a:sym typeface="Arial"/>
              </a:defRPr>
            </a:lvl2pPr>
            <a:lvl3pPr indent="0" lvl="2" marL="108585">
              <a:lnSpc>
                <a:spcPct val="100000"/>
              </a:lnSpc>
              <a:spcBef>
                <a:spcPts val="0"/>
              </a:spcBef>
              <a:buNone/>
              <a:defRPr b="0" i="0" sz="1000">
                <a:solidFill>
                  <a:srgbClr val="595959"/>
                </a:solidFill>
                <a:latin typeface="Arial"/>
                <a:ea typeface="Arial"/>
                <a:cs typeface="Arial"/>
                <a:sym typeface="Arial"/>
              </a:defRPr>
            </a:lvl3pPr>
            <a:lvl4pPr indent="0" lvl="3" marL="108585">
              <a:lnSpc>
                <a:spcPct val="100000"/>
              </a:lnSpc>
              <a:spcBef>
                <a:spcPts val="0"/>
              </a:spcBef>
              <a:buNone/>
              <a:defRPr b="0" i="0" sz="1000">
                <a:solidFill>
                  <a:srgbClr val="595959"/>
                </a:solidFill>
                <a:latin typeface="Arial"/>
                <a:ea typeface="Arial"/>
                <a:cs typeface="Arial"/>
                <a:sym typeface="Arial"/>
              </a:defRPr>
            </a:lvl4pPr>
            <a:lvl5pPr indent="0" lvl="4" marL="108585">
              <a:lnSpc>
                <a:spcPct val="100000"/>
              </a:lnSpc>
              <a:spcBef>
                <a:spcPts val="0"/>
              </a:spcBef>
              <a:buNone/>
              <a:defRPr b="0" i="0" sz="1000">
                <a:solidFill>
                  <a:srgbClr val="595959"/>
                </a:solidFill>
                <a:latin typeface="Arial"/>
                <a:ea typeface="Arial"/>
                <a:cs typeface="Arial"/>
                <a:sym typeface="Arial"/>
              </a:defRPr>
            </a:lvl5pPr>
            <a:lvl6pPr indent="0" lvl="5" marL="108585">
              <a:lnSpc>
                <a:spcPct val="100000"/>
              </a:lnSpc>
              <a:spcBef>
                <a:spcPts val="0"/>
              </a:spcBef>
              <a:buNone/>
              <a:defRPr b="0" i="0" sz="1000">
                <a:solidFill>
                  <a:srgbClr val="595959"/>
                </a:solidFill>
                <a:latin typeface="Arial"/>
                <a:ea typeface="Arial"/>
                <a:cs typeface="Arial"/>
                <a:sym typeface="Arial"/>
              </a:defRPr>
            </a:lvl6pPr>
            <a:lvl7pPr indent="0" lvl="6" marL="108585">
              <a:lnSpc>
                <a:spcPct val="100000"/>
              </a:lnSpc>
              <a:spcBef>
                <a:spcPts val="0"/>
              </a:spcBef>
              <a:buNone/>
              <a:defRPr b="0" i="0" sz="1000">
                <a:solidFill>
                  <a:srgbClr val="595959"/>
                </a:solidFill>
                <a:latin typeface="Arial"/>
                <a:ea typeface="Arial"/>
                <a:cs typeface="Arial"/>
                <a:sym typeface="Arial"/>
              </a:defRPr>
            </a:lvl7pPr>
            <a:lvl8pPr indent="0" lvl="7" marL="108585">
              <a:lnSpc>
                <a:spcPct val="100000"/>
              </a:lnSpc>
              <a:spcBef>
                <a:spcPts val="0"/>
              </a:spcBef>
              <a:buNone/>
              <a:defRPr b="0" i="0" sz="1000">
                <a:solidFill>
                  <a:srgbClr val="595959"/>
                </a:solidFill>
                <a:latin typeface="Arial"/>
                <a:ea typeface="Arial"/>
                <a:cs typeface="Arial"/>
                <a:sym typeface="Arial"/>
              </a:defRPr>
            </a:lvl8pPr>
            <a:lvl9pPr indent="0" lvl="8" marL="108585">
              <a:lnSpc>
                <a:spcPct val="100000"/>
              </a:lnSpc>
              <a:spcBef>
                <a:spcPts val="0"/>
              </a:spcBef>
              <a:buNone/>
              <a:defRPr b="0" i="0" sz="1000">
                <a:solidFill>
                  <a:srgbClr val="595959"/>
                </a:solidFill>
                <a:latin typeface="Arial"/>
                <a:ea typeface="Arial"/>
                <a:cs typeface="Arial"/>
                <a:sym typeface="Arial"/>
              </a:defRPr>
            </a:lvl9pPr>
          </a:lstStyle>
          <a:p>
            <a:pPr indent="0" lvl="0" marL="10858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2" name="Shape 32"/>
        <p:cNvGrpSpPr/>
        <p:nvPr/>
      </p:nvGrpSpPr>
      <p:grpSpPr>
        <a:xfrm>
          <a:off x="0" y="0"/>
          <a:ext cx="0" cy="0"/>
          <a:chOff x="0" y="0"/>
          <a:chExt cx="0" cy="0"/>
        </a:xfrm>
      </p:grpSpPr>
      <p:sp>
        <p:nvSpPr>
          <p:cNvPr id="33" name="Google Shape;33;p6"/>
          <p:cNvSpPr txBox="1"/>
          <p:nvPr>
            <p:ph type="title"/>
          </p:nvPr>
        </p:nvSpPr>
        <p:spPr>
          <a:xfrm>
            <a:off x="384724" y="505247"/>
            <a:ext cx="8287384" cy="4095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5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311699" y="1152472"/>
            <a:ext cx="3420110" cy="34169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6"/>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2" type="sldNum"/>
          </p:nvPr>
        </p:nvSpPr>
        <p:spPr>
          <a:xfrm>
            <a:off x="8756108" y="4778061"/>
            <a:ext cx="230623" cy="167639"/>
          </a:xfrm>
          <a:prstGeom prst="rect">
            <a:avLst/>
          </a:prstGeom>
          <a:noFill/>
          <a:ln>
            <a:noFill/>
          </a:ln>
        </p:spPr>
        <p:txBody>
          <a:bodyPr anchorCtr="0" anchor="t" bIns="0" lIns="0" spcFirstLastPara="1" rIns="0" wrap="square" tIns="0">
            <a:spAutoFit/>
          </a:bodyPr>
          <a:lstStyle>
            <a:lvl1pPr indent="0" lvl="0" marL="108585">
              <a:lnSpc>
                <a:spcPct val="100000"/>
              </a:lnSpc>
              <a:spcBef>
                <a:spcPts val="0"/>
              </a:spcBef>
              <a:buNone/>
              <a:defRPr b="0" i="0" sz="1000">
                <a:solidFill>
                  <a:srgbClr val="595959"/>
                </a:solidFill>
                <a:latin typeface="Arial"/>
                <a:ea typeface="Arial"/>
                <a:cs typeface="Arial"/>
                <a:sym typeface="Arial"/>
              </a:defRPr>
            </a:lvl1pPr>
            <a:lvl2pPr indent="0" lvl="1" marL="108585">
              <a:lnSpc>
                <a:spcPct val="100000"/>
              </a:lnSpc>
              <a:spcBef>
                <a:spcPts val="0"/>
              </a:spcBef>
              <a:buNone/>
              <a:defRPr b="0" i="0" sz="1000">
                <a:solidFill>
                  <a:srgbClr val="595959"/>
                </a:solidFill>
                <a:latin typeface="Arial"/>
                <a:ea typeface="Arial"/>
                <a:cs typeface="Arial"/>
                <a:sym typeface="Arial"/>
              </a:defRPr>
            </a:lvl2pPr>
            <a:lvl3pPr indent="0" lvl="2" marL="108585">
              <a:lnSpc>
                <a:spcPct val="100000"/>
              </a:lnSpc>
              <a:spcBef>
                <a:spcPts val="0"/>
              </a:spcBef>
              <a:buNone/>
              <a:defRPr b="0" i="0" sz="1000">
                <a:solidFill>
                  <a:srgbClr val="595959"/>
                </a:solidFill>
                <a:latin typeface="Arial"/>
                <a:ea typeface="Arial"/>
                <a:cs typeface="Arial"/>
                <a:sym typeface="Arial"/>
              </a:defRPr>
            </a:lvl3pPr>
            <a:lvl4pPr indent="0" lvl="3" marL="108585">
              <a:lnSpc>
                <a:spcPct val="100000"/>
              </a:lnSpc>
              <a:spcBef>
                <a:spcPts val="0"/>
              </a:spcBef>
              <a:buNone/>
              <a:defRPr b="0" i="0" sz="1000">
                <a:solidFill>
                  <a:srgbClr val="595959"/>
                </a:solidFill>
                <a:latin typeface="Arial"/>
                <a:ea typeface="Arial"/>
                <a:cs typeface="Arial"/>
                <a:sym typeface="Arial"/>
              </a:defRPr>
            </a:lvl4pPr>
            <a:lvl5pPr indent="0" lvl="4" marL="108585">
              <a:lnSpc>
                <a:spcPct val="100000"/>
              </a:lnSpc>
              <a:spcBef>
                <a:spcPts val="0"/>
              </a:spcBef>
              <a:buNone/>
              <a:defRPr b="0" i="0" sz="1000">
                <a:solidFill>
                  <a:srgbClr val="595959"/>
                </a:solidFill>
                <a:latin typeface="Arial"/>
                <a:ea typeface="Arial"/>
                <a:cs typeface="Arial"/>
                <a:sym typeface="Arial"/>
              </a:defRPr>
            </a:lvl5pPr>
            <a:lvl6pPr indent="0" lvl="5" marL="108585">
              <a:lnSpc>
                <a:spcPct val="100000"/>
              </a:lnSpc>
              <a:spcBef>
                <a:spcPts val="0"/>
              </a:spcBef>
              <a:buNone/>
              <a:defRPr b="0" i="0" sz="1000">
                <a:solidFill>
                  <a:srgbClr val="595959"/>
                </a:solidFill>
                <a:latin typeface="Arial"/>
                <a:ea typeface="Arial"/>
                <a:cs typeface="Arial"/>
                <a:sym typeface="Arial"/>
              </a:defRPr>
            </a:lvl6pPr>
            <a:lvl7pPr indent="0" lvl="6" marL="108585">
              <a:lnSpc>
                <a:spcPct val="100000"/>
              </a:lnSpc>
              <a:spcBef>
                <a:spcPts val="0"/>
              </a:spcBef>
              <a:buNone/>
              <a:defRPr b="0" i="0" sz="1000">
                <a:solidFill>
                  <a:srgbClr val="595959"/>
                </a:solidFill>
                <a:latin typeface="Arial"/>
                <a:ea typeface="Arial"/>
                <a:cs typeface="Arial"/>
                <a:sym typeface="Arial"/>
              </a:defRPr>
            </a:lvl7pPr>
            <a:lvl8pPr indent="0" lvl="7" marL="108585">
              <a:lnSpc>
                <a:spcPct val="100000"/>
              </a:lnSpc>
              <a:spcBef>
                <a:spcPts val="0"/>
              </a:spcBef>
              <a:buNone/>
              <a:defRPr b="0" i="0" sz="1000">
                <a:solidFill>
                  <a:srgbClr val="595959"/>
                </a:solidFill>
                <a:latin typeface="Arial"/>
                <a:ea typeface="Arial"/>
                <a:cs typeface="Arial"/>
                <a:sym typeface="Arial"/>
              </a:defRPr>
            </a:lvl8pPr>
            <a:lvl9pPr indent="0" lvl="8" marL="108585">
              <a:lnSpc>
                <a:spcPct val="100000"/>
              </a:lnSpc>
              <a:spcBef>
                <a:spcPts val="0"/>
              </a:spcBef>
              <a:buNone/>
              <a:defRPr b="0" i="0" sz="1000">
                <a:solidFill>
                  <a:srgbClr val="595959"/>
                </a:solidFill>
                <a:latin typeface="Arial"/>
                <a:ea typeface="Arial"/>
                <a:cs typeface="Arial"/>
                <a:sym typeface="Arial"/>
              </a:defRPr>
            </a:lvl9pPr>
          </a:lstStyle>
          <a:p>
            <a:pPr indent="0" lvl="0" marL="108585"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4724" y="505247"/>
            <a:ext cx="8287384" cy="4095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5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384724" y="1216356"/>
            <a:ext cx="7871459" cy="335152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1" i="0" sz="16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2" type="sldNum"/>
          </p:nvPr>
        </p:nvSpPr>
        <p:spPr>
          <a:xfrm>
            <a:off x="8756108" y="4778061"/>
            <a:ext cx="230623" cy="167639"/>
          </a:xfrm>
          <a:prstGeom prst="rect">
            <a:avLst/>
          </a:prstGeom>
          <a:noFill/>
          <a:ln>
            <a:noFill/>
          </a:ln>
        </p:spPr>
        <p:txBody>
          <a:bodyPr anchorCtr="0" anchor="t" bIns="0" lIns="0" spcFirstLastPara="1" rIns="0" wrap="square" tIns="0">
            <a:spAutoFit/>
          </a:bodyPr>
          <a:lstStyle>
            <a:lvl1pPr indent="0" lvl="0" marL="108585">
              <a:lnSpc>
                <a:spcPct val="100000"/>
              </a:lnSpc>
              <a:spcBef>
                <a:spcPts val="0"/>
              </a:spcBef>
              <a:buNone/>
              <a:defRPr b="0" i="0" sz="1000">
                <a:solidFill>
                  <a:srgbClr val="595959"/>
                </a:solidFill>
                <a:latin typeface="Arial"/>
                <a:ea typeface="Arial"/>
                <a:cs typeface="Arial"/>
                <a:sym typeface="Arial"/>
              </a:defRPr>
            </a:lvl1pPr>
            <a:lvl2pPr indent="0" lvl="1" marL="108585">
              <a:lnSpc>
                <a:spcPct val="100000"/>
              </a:lnSpc>
              <a:spcBef>
                <a:spcPts val="0"/>
              </a:spcBef>
              <a:buNone/>
              <a:defRPr b="0" i="0" sz="1000">
                <a:solidFill>
                  <a:srgbClr val="595959"/>
                </a:solidFill>
                <a:latin typeface="Arial"/>
                <a:ea typeface="Arial"/>
                <a:cs typeface="Arial"/>
                <a:sym typeface="Arial"/>
              </a:defRPr>
            </a:lvl2pPr>
            <a:lvl3pPr indent="0" lvl="2" marL="108585">
              <a:lnSpc>
                <a:spcPct val="100000"/>
              </a:lnSpc>
              <a:spcBef>
                <a:spcPts val="0"/>
              </a:spcBef>
              <a:buNone/>
              <a:defRPr b="0" i="0" sz="1000">
                <a:solidFill>
                  <a:srgbClr val="595959"/>
                </a:solidFill>
                <a:latin typeface="Arial"/>
                <a:ea typeface="Arial"/>
                <a:cs typeface="Arial"/>
                <a:sym typeface="Arial"/>
              </a:defRPr>
            </a:lvl3pPr>
            <a:lvl4pPr indent="0" lvl="3" marL="108585">
              <a:lnSpc>
                <a:spcPct val="100000"/>
              </a:lnSpc>
              <a:spcBef>
                <a:spcPts val="0"/>
              </a:spcBef>
              <a:buNone/>
              <a:defRPr b="0" i="0" sz="1000">
                <a:solidFill>
                  <a:srgbClr val="595959"/>
                </a:solidFill>
                <a:latin typeface="Arial"/>
                <a:ea typeface="Arial"/>
                <a:cs typeface="Arial"/>
                <a:sym typeface="Arial"/>
              </a:defRPr>
            </a:lvl4pPr>
            <a:lvl5pPr indent="0" lvl="4" marL="108585">
              <a:lnSpc>
                <a:spcPct val="100000"/>
              </a:lnSpc>
              <a:spcBef>
                <a:spcPts val="0"/>
              </a:spcBef>
              <a:buNone/>
              <a:defRPr b="0" i="0" sz="1000">
                <a:solidFill>
                  <a:srgbClr val="595959"/>
                </a:solidFill>
                <a:latin typeface="Arial"/>
                <a:ea typeface="Arial"/>
                <a:cs typeface="Arial"/>
                <a:sym typeface="Arial"/>
              </a:defRPr>
            </a:lvl5pPr>
            <a:lvl6pPr indent="0" lvl="5" marL="108585">
              <a:lnSpc>
                <a:spcPct val="100000"/>
              </a:lnSpc>
              <a:spcBef>
                <a:spcPts val="0"/>
              </a:spcBef>
              <a:buNone/>
              <a:defRPr b="0" i="0" sz="1000">
                <a:solidFill>
                  <a:srgbClr val="595959"/>
                </a:solidFill>
                <a:latin typeface="Arial"/>
                <a:ea typeface="Arial"/>
                <a:cs typeface="Arial"/>
                <a:sym typeface="Arial"/>
              </a:defRPr>
            </a:lvl6pPr>
            <a:lvl7pPr indent="0" lvl="6" marL="108585">
              <a:lnSpc>
                <a:spcPct val="100000"/>
              </a:lnSpc>
              <a:spcBef>
                <a:spcPts val="0"/>
              </a:spcBef>
              <a:buNone/>
              <a:defRPr b="0" i="0" sz="1000">
                <a:solidFill>
                  <a:srgbClr val="595959"/>
                </a:solidFill>
                <a:latin typeface="Arial"/>
                <a:ea typeface="Arial"/>
                <a:cs typeface="Arial"/>
                <a:sym typeface="Arial"/>
              </a:defRPr>
            </a:lvl7pPr>
            <a:lvl8pPr indent="0" lvl="7" marL="108585">
              <a:lnSpc>
                <a:spcPct val="100000"/>
              </a:lnSpc>
              <a:spcBef>
                <a:spcPts val="0"/>
              </a:spcBef>
              <a:buNone/>
              <a:defRPr b="0" i="0" sz="1000">
                <a:solidFill>
                  <a:srgbClr val="595959"/>
                </a:solidFill>
                <a:latin typeface="Arial"/>
                <a:ea typeface="Arial"/>
                <a:cs typeface="Arial"/>
                <a:sym typeface="Arial"/>
              </a:defRPr>
            </a:lvl8pPr>
            <a:lvl9pPr indent="0" lvl="8" marL="108585">
              <a:lnSpc>
                <a:spcPct val="100000"/>
              </a:lnSpc>
              <a:spcBef>
                <a:spcPts val="0"/>
              </a:spcBef>
              <a:buNone/>
              <a:defRPr b="0" i="0" sz="1000">
                <a:solidFill>
                  <a:srgbClr val="595959"/>
                </a:solidFill>
                <a:latin typeface="Arial"/>
                <a:ea typeface="Arial"/>
                <a:cs typeface="Arial"/>
                <a:sym typeface="Arial"/>
              </a:defRPr>
            </a:lvl9pPr>
          </a:lstStyle>
          <a:p>
            <a:pPr indent="0" lvl="0" marL="108585"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2.png"/><Relationship Id="rId13" Type="http://schemas.openxmlformats.org/officeDocument/2006/relationships/image" Target="../media/image3.png"/><Relationship Id="rId12"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16.png"/><Relationship Id="rId9" Type="http://schemas.openxmlformats.org/officeDocument/2006/relationships/image" Target="../media/image15.png"/><Relationship Id="rId15" Type="http://schemas.openxmlformats.org/officeDocument/2006/relationships/image" Target="../media/image4.png"/><Relationship Id="rId14" Type="http://schemas.openxmlformats.org/officeDocument/2006/relationships/image" Target="../media/image1.jpg"/><Relationship Id="rId17" Type="http://schemas.openxmlformats.org/officeDocument/2006/relationships/image" Target="../media/image10.png"/><Relationship Id="rId16" Type="http://schemas.openxmlformats.org/officeDocument/2006/relationships/image" Target="../media/image8.jpg"/><Relationship Id="rId5" Type="http://schemas.openxmlformats.org/officeDocument/2006/relationships/image" Target="../media/image14.jpg"/><Relationship Id="rId6" Type="http://schemas.openxmlformats.org/officeDocument/2006/relationships/image" Target="../media/image18.png"/><Relationship Id="rId18" Type="http://schemas.openxmlformats.org/officeDocument/2006/relationships/image" Target="../media/image11.png"/><Relationship Id="rId7" Type="http://schemas.openxmlformats.org/officeDocument/2006/relationships/image" Target="../media/image6.png"/><Relationship Id="rId8"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8.jpg"/><Relationship Id="rId4" Type="http://schemas.openxmlformats.org/officeDocument/2006/relationships/image" Target="../media/image2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0.jpg"/><Relationship Id="rId4" Type="http://schemas.openxmlformats.org/officeDocument/2006/relationships/image" Target="../media/image3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7.jpg"/><Relationship Id="rId4" Type="http://schemas.openxmlformats.org/officeDocument/2006/relationships/image" Target="../media/image4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9.jpg"/><Relationship Id="rId4" Type="http://schemas.openxmlformats.org/officeDocument/2006/relationships/image" Target="../media/image3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40.jpg"/><Relationship Id="rId4" Type="http://schemas.openxmlformats.org/officeDocument/2006/relationships/image" Target="../media/image3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4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6.jpg"/><Relationship Id="rId4" Type="http://schemas.openxmlformats.org/officeDocument/2006/relationships/hyperlink" Target="https://www.mathworks.com/discovery/overfitting.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0.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6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hyperlink" Target="https://www.youtube.com/watch?v=wNdYpD2YhSk&amp;t=331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5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54.jpg"/><Relationship Id="rId4" Type="http://schemas.openxmlformats.org/officeDocument/2006/relationships/image" Target="../media/image5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9.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53.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55.jpg"/><Relationship Id="rId4" Type="http://schemas.openxmlformats.org/officeDocument/2006/relationships/image" Target="../media/image59.jpg"/><Relationship Id="rId5" Type="http://schemas.openxmlformats.org/officeDocument/2006/relationships/image" Target="../media/image60.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62.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64.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65.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5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6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66.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56.jpg"/><Relationship Id="rId4" Type="http://schemas.openxmlformats.org/officeDocument/2006/relationships/image" Target="../media/image69.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56.jpg"/><Relationship Id="rId4" Type="http://schemas.openxmlformats.org/officeDocument/2006/relationships/image" Target="../media/image69.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6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7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6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7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7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 name="Shape 42"/>
        <p:cNvGrpSpPr/>
        <p:nvPr/>
      </p:nvGrpSpPr>
      <p:grpSpPr>
        <a:xfrm>
          <a:off x="0" y="0"/>
          <a:ext cx="0" cy="0"/>
          <a:chOff x="0" y="0"/>
          <a:chExt cx="0" cy="0"/>
        </a:xfrm>
      </p:grpSpPr>
      <p:sp>
        <p:nvSpPr>
          <p:cNvPr descr="$PPTXTitle" id="43" name="Google Shape;43;p7"/>
          <p:cNvSpPr txBox="1"/>
          <p:nvPr>
            <p:ph type="ctrTitle"/>
          </p:nvPr>
        </p:nvSpPr>
        <p:spPr>
          <a:xfrm>
            <a:off x="384724" y="505247"/>
            <a:ext cx="7348855"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Regression Vs. Classification</a:t>
            </a:r>
            <a:endParaRPr/>
          </a:p>
        </p:txBody>
      </p:sp>
      <p:sp>
        <p:nvSpPr>
          <p:cNvPr id="44" name="Google Shape;44;p7"/>
          <p:cNvSpPr txBox="1"/>
          <p:nvPr/>
        </p:nvSpPr>
        <p:spPr>
          <a:xfrm>
            <a:off x="302424" y="1205829"/>
            <a:ext cx="8046084" cy="548640"/>
          </a:xfrm>
          <a:prstGeom prst="rect">
            <a:avLst/>
          </a:prstGeom>
          <a:noFill/>
          <a:ln>
            <a:noFill/>
          </a:ln>
        </p:spPr>
        <p:txBody>
          <a:bodyPr anchorCtr="0" anchor="t" bIns="0" lIns="0" spcFirstLastPara="1" rIns="0" wrap="square" tIns="31750">
            <a:spAutoFit/>
          </a:bodyPr>
          <a:lstStyle/>
          <a:p>
            <a:pPr indent="0" lvl="0" marL="12700" marR="5080" rtl="0" algn="l">
              <a:lnSpc>
                <a:spcPct val="114857"/>
              </a:lnSpc>
              <a:spcBef>
                <a:spcPts val="0"/>
              </a:spcBef>
              <a:spcAft>
                <a:spcPts val="0"/>
              </a:spcAft>
              <a:buNone/>
            </a:pPr>
            <a:r>
              <a:rPr lang="en-US" sz="1750">
                <a:latin typeface="Arial"/>
                <a:ea typeface="Arial"/>
                <a:cs typeface="Arial"/>
                <a:sym typeface="Arial"/>
              </a:rPr>
              <a:t>Regression is a problem of predicting a continuous numeric value (e.g., a price, a temperature, a score) based on input data.</a:t>
            </a:r>
            <a:endParaRPr sz="1750">
              <a:latin typeface="Arial"/>
              <a:ea typeface="Arial"/>
              <a:cs typeface="Arial"/>
              <a:sym typeface="Arial"/>
            </a:endParaRPr>
          </a:p>
        </p:txBody>
      </p:sp>
      <p:pic>
        <p:nvPicPr>
          <p:cNvPr id="45" name="Google Shape;45;p7"/>
          <p:cNvPicPr preferRelativeResize="0"/>
          <p:nvPr/>
        </p:nvPicPr>
        <p:blipFill rotWithShape="1">
          <a:blip r:embed="rId3">
            <a:alphaModFix/>
          </a:blip>
          <a:srcRect b="0" l="0" r="0" t="0"/>
          <a:stretch/>
        </p:blipFill>
        <p:spPr>
          <a:xfrm>
            <a:off x="1199486" y="1846671"/>
            <a:ext cx="6693018" cy="2957992"/>
          </a:xfrm>
          <a:prstGeom prst="rect">
            <a:avLst/>
          </a:prstGeom>
          <a:noFill/>
          <a:ln>
            <a:noFill/>
          </a:ln>
        </p:spPr>
      </p:pic>
      <p:sp>
        <p:nvSpPr>
          <p:cNvPr id="46" name="Google Shape;46;p7"/>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 name="Shape 50"/>
        <p:cNvGrpSpPr/>
        <p:nvPr/>
      </p:nvGrpSpPr>
      <p:grpSpPr>
        <a:xfrm>
          <a:off x="0" y="0"/>
          <a:ext cx="0" cy="0"/>
          <a:chOff x="0" y="0"/>
          <a:chExt cx="0" cy="0"/>
        </a:xfrm>
      </p:grpSpPr>
      <p:sp>
        <p:nvSpPr>
          <p:cNvPr descr="$PPTXTitle" id="51" name="Google Shape;51;p8"/>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Computer Vision Tasks</a:t>
            </a:r>
            <a:endParaRPr/>
          </a:p>
        </p:txBody>
      </p:sp>
      <p:pic>
        <p:nvPicPr>
          <p:cNvPr id="52" name="Google Shape;52;p8"/>
          <p:cNvPicPr preferRelativeResize="0"/>
          <p:nvPr/>
        </p:nvPicPr>
        <p:blipFill rotWithShape="1">
          <a:blip r:embed="rId3">
            <a:alphaModFix/>
          </a:blip>
          <a:srcRect b="0" l="0" r="0" t="0"/>
          <a:stretch/>
        </p:blipFill>
        <p:spPr>
          <a:xfrm>
            <a:off x="576523" y="1204236"/>
            <a:ext cx="8066483" cy="3364629"/>
          </a:xfrm>
          <a:prstGeom prst="rect">
            <a:avLst/>
          </a:prstGeom>
          <a:noFill/>
          <a:ln>
            <a:noFill/>
          </a:ln>
        </p:spPr>
      </p:pic>
      <p:sp>
        <p:nvSpPr>
          <p:cNvPr id="53" name="Google Shape;53;p8"/>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 name="Shape 57"/>
        <p:cNvGrpSpPr/>
        <p:nvPr/>
      </p:nvGrpSpPr>
      <p:grpSpPr>
        <a:xfrm>
          <a:off x="0" y="0"/>
          <a:ext cx="0" cy="0"/>
          <a:chOff x="0" y="0"/>
          <a:chExt cx="0" cy="0"/>
        </a:xfrm>
      </p:grpSpPr>
      <p:sp>
        <p:nvSpPr>
          <p:cNvPr descr="$PPTXTitle" id="58" name="Google Shape;58;p9"/>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Classification</a:t>
            </a:r>
            <a:endParaRPr/>
          </a:p>
        </p:txBody>
      </p:sp>
      <p:grpSp>
        <p:nvGrpSpPr>
          <p:cNvPr id="59" name="Google Shape;59;p9"/>
          <p:cNvGrpSpPr/>
          <p:nvPr/>
        </p:nvGrpSpPr>
        <p:grpSpPr>
          <a:xfrm>
            <a:off x="431649" y="1831696"/>
            <a:ext cx="1140712" cy="1916945"/>
            <a:chOff x="431649" y="1831696"/>
            <a:chExt cx="1140712" cy="1916945"/>
          </a:xfrm>
        </p:grpSpPr>
        <p:pic>
          <p:nvPicPr>
            <p:cNvPr id="60" name="Google Shape;60;p9"/>
            <p:cNvPicPr preferRelativeResize="0"/>
            <p:nvPr/>
          </p:nvPicPr>
          <p:blipFill rotWithShape="1">
            <a:blip r:embed="rId3">
              <a:alphaModFix/>
            </a:blip>
            <a:srcRect b="0" l="0" r="0" t="0"/>
            <a:stretch/>
          </p:blipFill>
          <p:spPr>
            <a:xfrm>
              <a:off x="431649" y="1831696"/>
              <a:ext cx="752958" cy="688373"/>
            </a:xfrm>
            <a:prstGeom prst="rect">
              <a:avLst/>
            </a:prstGeom>
            <a:noFill/>
            <a:ln>
              <a:noFill/>
            </a:ln>
          </p:spPr>
        </p:pic>
        <p:sp>
          <p:nvSpPr>
            <p:cNvPr id="61" name="Google Shape;61;p9"/>
            <p:cNvSpPr/>
            <p:nvPr/>
          </p:nvSpPr>
          <p:spPr>
            <a:xfrm>
              <a:off x="1184722" y="2222970"/>
              <a:ext cx="195580" cy="449580"/>
            </a:xfrm>
            <a:custGeom>
              <a:rect b="b" l="l" r="r" t="t"/>
              <a:pathLst>
                <a:path extrusionOk="0" h="449580" w="195580">
                  <a:moveTo>
                    <a:pt x="0" y="0"/>
                  </a:moveTo>
                  <a:lnTo>
                    <a:pt x="2318" y="50755"/>
                  </a:lnTo>
                  <a:lnTo>
                    <a:pt x="9076" y="101114"/>
                  </a:lnTo>
                  <a:lnTo>
                    <a:pt x="19977" y="150678"/>
                  </a:lnTo>
                  <a:lnTo>
                    <a:pt x="34727" y="199052"/>
                  </a:lnTo>
                  <a:lnTo>
                    <a:pt x="53027" y="245838"/>
                  </a:lnTo>
                  <a:lnTo>
                    <a:pt x="74584" y="290639"/>
                  </a:lnTo>
                  <a:lnTo>
                    <a:pt x="99100" y="333058"/>
                  </a:lnTo>
                  <a:lnTo>
                    <a:pt x="126279" y="372699"/>
                  </a:lnTo>
                  <a:lnTo>
                    <a:pt x="155828" y="409155"/>
                  </a:lnTo>
                  <a:lnTo>
                    <a:pt x="187447" y="442049"/>
                  </a:lnTo>
                  <a:lnTo>
                    <a:pt x="188804" y="443324"/>
                  </a:lnTo>
                  <a:lnTo>
                    <a:pt x="190164" y="444624"/>
                  </a:lnTo>
                  <a:lnTo>
                    <a:pt x="191532" y="445874"/>
                  </a:lnTo>
                  <a:lnTo>
                    <a:pt x="195202" y="449249"/>
                  </a:lnTo>
                </a:path>
              </a:pathLst>
            </a:custGeom>
            <a:noFill/>
            <a:ln cap="flat" cmpd="sng" w="38075">
              <a:solidFill>
                <a:srgbClr val="FF99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2" name="Google Shape;62;p9"/>
            <p:cNvPicPr preferRelativeResize="0"/>
            <p:nvPr/>
          </p:nvPicPr>
          <p:blipFill rotWithShape="1">
            <a:blip r:embed="rId4">
              <a:alphaModFix/>
            </a:blip>
            <a:srcRect b="0" l="0" r="0" t="0"/>
            <a:stretch/>
          </p:blipFill>
          <p:spPr>
            <a:xfrm>
              <a:off x="1335314" y="2595669"/>
              <a:ext cx="221659" cy="165824"/>
            </a:xfrm>
            <a:prstGeom prst="rect">
              <a:avLst/>
            </a:prstGeom>
            <a:noFill/>
            <a:ln>
              <a:noFill/>
            </a:ln>
          </p:spPr>
        </p:pic>
        <p:pic>
          <p:nvPicPr>
            <p:cNvPr id="63" name="Google Shape;63;p9"/>
            <p:cNvPicPr preferRelativeResize="0"/>
            <p:nvPr/>
          </p:nvPicPr>
          <p:blipFill rotWithShape="1">
            <a:blip r:embed="rId5">
              <a:alphaModFix/>
            </a:blip>
            <a:srcRect b="0" l="0" r="0" t="0"/>
            <a:stretch/>
          </p:blipFill>
          <p:spPr>
            <a:xfrm>
              <a:off x="442924" y="2720669"/>
              <a:ext cx="752948" cy="1027972"/>
            </a:xfrm>
            <a:prstGeom prst="rect">
              <a:avLst/>
            </a:prstGeom>
            <a:noFill/>
            <a:ln>
              <a:noFill/>
            </a:ln>
          </p:spPr>
        </p:pic>
        <p:pic>
          <p:nvPicPr>
            <p:cNvPr id="64" name="Google Shape;64;p9"/>
            <p:cNvPicPr preferRelativeResize="0"/>
            <p:nvPr/>
          </p:nvPicPr>
          <p:blipFill rotWithShape="1">
            <a:blip r:embed="rId6">
              <a:alphaModFix/>
            </a:blip>
            <a:srcRect b="0" l="0" r="0" t="0"/>
            <a:stretch/>
          </p:blipFill>
          <p:spPr>
            <a:xfrm>
              <a:off x="1176822" y="3053568"/>
              <a:ext cx="395539" cy="200149"/>
            </a:xfrm>
            <a:prstGeom prst="rect">
              <a:avLst/>
            </a:prstGeom>
            <a:noFill/>
            <a:ln>
              <a:noFill/>
            </a:ln>
          </p:spPr>
        </p:pic>
      </p:grpSp>
      <p:sp>
        <p:nvSpPr>
          <p:cNvPr id="65" name="Google Shape;65;p9"/>
          <p:cNvSpPr txBox="1"/>
          <p:nvPr/>
        </p:nvSpPr>
        <p:spPr>
          <a:xfrm>
            <a:off x="1588821" y="2335920"/>
            <a:ext cx="1241425" cy="858519"/>
          </a:xfrm>
          <a:prstGeom prst="rect">
            <a:avLst/>
          </a:prstGeom>
          <a:solidFill>
            <a:srgbClr val="EDEDED"/>
          </a:solidFill>
          <a:ln cap="flat" cmpd="sng" w="9525">
            <a:solidFill>
              <a:srgbClr val="595959"/>
            </a:solidFill>
            <a:prstDash val="solid"/>
            <a:round/>
            <a:headEnd len="sm" w="sm" type="none"/>
            <a:tailEnd len="sm" w="sm" type="none"/>
          </a:ln>
        </p:spPr>
        <p:txBody>
          <a:bodyPr anchorCtr="0" anchor="t" bIns="0" lIns="0" spcFirstLastPara="1" rIns="0" wrap="square" tIns="141600">
            <a:spAutoFit/>
          </a:bodyPr>
          <a:lstStyle/>
          <a:p>
            <a:pPr indent="145415" lvl="0" marL="149860" marR="142240" rtl="0" algn="l">
              <a:lnSpc>
                <a:spcPct val="100699"/>
              </a:lnSpc>
              <a:spcBef>
                <a:spcPts val="0"/>
              </a:spcBef>
              <a:spcAft>
                <a:spcPts val="0"/>
              </a:spcAft>
              <a:buNone/>
            </a:pPr>
            <a:r>
              <a:rPr lang="en-US" sz="1800">
                <a:latin typeface="Arial"/>
                <a:ea typeface="Arial"/>
                <a:cs typeface="Arial"/>
                <a:sym typeface="Arial"/>
              </a:rPr>
              <a:t>Binary Classifier</a:t>
            </a:r>
            <a:endParaRPr sz="1800">
              <a:latin typeface="Arial"/>
              <a:ea typeface="Arial"/>
              <a:cs typeface="Arial"/>
              <a:sym typeface="Arial"/>
            </a:endParaRPr>
          </a:p>
        </p:txBody>
      </p:sp>
      <p:sp>
        <p:nvSpPr>
          <p:cNvPr id="66" name="Google Shape;66;p9"/>
          <p:cNvSpPr txBox="1"/>
          <p:nvPr/>
        </p:nvSpPr>
        <p:spPr>
          <a:xfrm>
            <a:off x="3270208" y="2186675"/>
            <a:ext cx="38100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595959"/>
                </a:solidFill>
                <a:latin typeface="Arial"/>
                <a:ea typeface="Arial"/>
                <a:cs typeface="Arial"/>
                <a:sym typeface="Arial"/>
              </a:rPr>
              <a:t>Cat</a:t>
            </a:r>
            <a:endParaRPr sz="1800">
              <a:latin typeface="Arial"/>
              <a:ea typeface="Arial"/>
              <a:cs typeface="Arial"/>
              <a:sym typeface="Arial"/>
            </a:endParaRPr>
          </a:p>
        </p:txBody>
      </p:sp>
      <p:grpSp>
        <p:nvGrpSpPr>
          <p:cNvPr id="67" name="Google Shape;67;p9"/>
          <p:cNvGrpSpPr/>
          <p:nvPr/>
        </p:nvGrpSpPr>
        <p:grpSpPr>
          <a:xfrm>
            <a:off x="2872894" y="2382065"/>
            <a:ext cx="294574" cy="438542"/>
            <a:chOff x="2872894" y="2382065"/>
            <a:chExt cx="294574" cy="438542"/>
          </a:xfrm>
        </p:grpSpPr>
        <p:sp>
          <p:nvSpPr>
            <p:cNvPr id="68" name="Google Shape;68;p9"/>
            <p:cNvSpPr/>
            <p:nvPr/>
          </p:nvSpPr>
          <p:spPr>
            <a:xfrm>
              <a:off x="2872894" y="2484692"/>
              <a:ext cx="124460" cy="335915"/>
            </a:xfrm>
            <a:custGeom>
              <a:rect b="b" l="l" r="r" t="t"/>
              <a:pathLst>
                <a:path extrusionOk="0" h="335914" w="124460">
                  <a:moveTo>
                    <a:pt x="0" y="335901"/>
                  </a:moveTo>
                  <a:lnTo>
                    <a:pt x="2422" y="288154"/>
                  </a:lnTo>
                  <a:lnTo>
                    <a:pt x="9452" y="240895"/>
                  </a:lnTo>
                  <a:lnTo>
                    <a:pt x="20736" y="194612"/>
                  </a:lnTo>
                  <a:lnTo>
                    <a:pt x="35919" y="149793"/>
                  </a:lnTo>
                  <a:lnTo>
                    <a:pt x="54648" y="106927"/>
                  </a:lnTo>
                  <a:lnTo>
                    <a:pt x="76568" y="66500"/>
                  </a:lnTo>
                  <a:lnTo>
                    <a:pt x="101324" y="29002"/>
                  </a:lnTo>
                  <a:lnTo>
                    <a:pt x="121999" y="2572"/>
                  </a:lnTo>
                  <a:lnTo>
                    <a:pt x="124174" y="0"/>
                  </a:lnTo>
                </a:path>
              </a:pathLst>
            </a:custGeom>
            <a:noFill/>
            <a:ln cap="flat" cmpd="sng" w="38075">
              <a:solidFill>
                <a:srgbClr val="FF99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9" name="Google Shape;69;p9"/>
            <p:cNvPicPr preferRelativeResize="0"/>
            <p:nvPr/>
          </p:nvPicPr>
          <p:blipFill rotWithShape="1">
            <a:blip r:embed="rId7">
              <a:alphaModFix/>
            </a:blip>
            <a:srcRect b="0" l="0" r="0" t="0"/>
            <a:stretch/>
          </p:blipFill>
          <p:spPr>
            <a:xfrm>
              <a:off x="2947594" y="2382065"/>
              <a:ext cx="219874" cy="176779"/>
            </a:xfrm>
            <a:prstGeom prst="rect">
              <a:avLst/>
            </a:prstGeom>
            <a:noFill/>
            <a:ln>
              <a:noFill/>
            </a:ln>
          </p:spPr>
        </p:pic>
      </p:grpSp>
      <p:sp>
        <p:nvSpPr>
          <p:cNvPr id="70" name="Google Shape;70;p9"/>
          <p:cNvSpPr txBox="1"/>
          <p:nvPr/>
        </p:nvSpPr>
        <p:spPr>
          <a:xfrm>
            <a:off x="3384489" y="3113151"/>
            <a:ext cx="445134"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595959"/>
                </a:solidFill>
                <a:latin typeface="Arial"/>
                <a:ea typeface="Arial"/>
                <a:cs typeface="Arial"/>
                <a:sym typeface="Arial"/>
              </a:rPr>
              <a:t>Dog</a:t>
            </a:r>
            <a:endParaRPr sz="1800">
              <a:latin typeface="Arial"/>
              <a:ea typeface="Arial"/>
              <a:cs typeface="Arial"/>
              <a:sym typeface="Arial"/>
            </a:endParaRPr>
          </a:p>
        </p:txBody>
      </p:sp>
      <p:grpSp>
        <p:nvGrpSpPr>
          <p:cNvPr id="71" name="Google Shape;71;p9"/>
          <p:cNvGrpSpPr/>
          <p:nvPr/>
        </p:nvGrpSpPr>
        <p:grpSpPr>
          <a:xfrm>
            <a:off x="2871644" y="2938344"/>
            <a:ext cx="449911" cy="332861"/>
            <a:chOff x="2871644" y="2938344"/>
            <a:chExt cx="449911" cy="332861"/>
          </a:xfrm>
        </p:grpSpPr>
        <p:sp>
          <p:nvSpPr>
            <p:cNvPr id="72" name="Google Shape;72;p9"/>
            <p:cNvSpPr/>
            <p:nvPr/>
          </p:nvSpPr>
          <p:spPr>
            <a:xfrm>
              <a:off x="2871644" y="2938344"/>
              <a:ext cx="316865" cy="267970"/>
            </a:xfrm>
            <a:custGeom>
              <a:rect b="b" l="l" r="r" t="t"/>
              <a:pathLst>
                <a:path extrusionOk="0" h="267969" w="316864">
                  <a:moveTo>
                    <a:pt x="0" y="0"/>
                  </a:moveTo>
                  <a:lnTo>
                    <a:pt x="54586" y="6591"/>
                  </a:lnTo>
                  <a:lnTo>
                    <a:pt x="100944" y="24816"/>
                  </a:lnTo>
                  <a:lnTo>
                    <a:pt x="140718" y="52349"/>
                  </a:lnTo>
                  <a:lnTo>
                    <a:pt x="175555" y="86866"/>
                  </a:lnTo>
                  <a:lnTo>
                    <a:pt x="207100" y="126041"/>
                  </a:lnTo>
                  <a:lnTo>
                    <a:pt x="236999" y="167549"/>
                  </a:lnTo>
                  <a:lnTo>
                    <a:pt x="248128" y="183226"/>
                  </a:lnTo>
                  <a:lnTo>
                    <a:pt x="259340" y="198787"/>
                  </a:lnTo>
                  <a:lnTo>
                    <a:pt x="288310" y="236354"/>
                  </a:lnTo>
                  <a:lnTo>
                    <a:pt x="313174" y="264024"/>
                  </a:lnTo>
                  <a:lnTo>
                    <a:pt x="314249" y="265124"/>
                  </a:lnTo>
                  <a:lnTo>
                    <a:pt x="315349" y="266199"/>
                  </a:lnTo>
                  <a:lnTo>
                    <a:pt x="316424" y="267274"/>
                  </a:lnTo>
                </a:path>
              </a:pathLst>
            </a:custGeom>
            <a:noFill/>
            <a:ln cap="flat" cmpd="sng" w="28550">
              <a:solidFill>
                <a:srgbClr val="0000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3" name="Google Shape;73;p9"/>
            <p:cNvPicPr preferRelativeResize="0"/>
            <p:nvPr/>
          </p:nvPicPr>
          <p:blipFill rotWithShape="1">
            <a:blip r:embed="rId8">
              <a:alphaModFix/>
            </a:blip>
            <a:srcRect b="0" l="0" r="0" t="0"/>
            <a:stretch/>
          </p:blipFill>
          <p:spPr>
            <a:xfrm>
              <a:off x="3155206" y="3148031"/>
              <a:ext cx="166349" cy="123174"/>
            </a:xfrm>
            <a:prstGeom prst="rect">
              <a:avLst/>
            </a:prstGeom>
            <a:noFill/>
            <a:ln>
              <a:noFill/>
            </a:ln>
          </p:spPr>
        </p:pic>
      </p:grpSp>
      <p:grpSp>
        <p:nvGrpSpPr>
          <p:cNvPr id="74" name="Google Shape;74;p9"/>
          <p:cNvGrpSpPr/>
          <p:nvPr/>
        </p:nvGrpSpPr>
        <p:grpSpPr>
          <a:xfrm>
            <a:off x="4474941" y="1791121"/>
            <a:ext cx="1255884" cy="1280997"/>
            <a:chOff x="4474941" y="1791121"/>
            <a:chExt cx="1255884" cy="1280997"/>
          </a:xfrm>
        </p:grpSpPr>
        <p:pic>
          <p:nvPicPr>
            <p:cNvPr id="75" name="Google Shape;75;p9"/>
            <p:cNvPicPr preferRelativeResize="0"/>
            <p:nvPr/>
          </p:nvPicPr>
          <p:blipFill rotWithShape="1">
            <a:blip r:embed="rId3">
              <a:alphaModFix/>
            </a:blip>
            <a:srcRect b="0" l="0" r="0" t="0"/>
            <a:stretch/>
          </p:blipFill>
          <p:spPr>
            <a:xfrm>
              <a:off x="4481266" y="1791121"/>
              <a:ext cx="647098" cy="591603"/>
            </a:xfrm>
            <a:prstGeom prst="rect">
              <a:avLst/>
            </a:prstGeom>
            <a:noFill/>
            <a:ln>
              <a:noFill/>
            </a:ln>
          </p:spPr>
        </p:pic>
        <p:sp>
          <p:nvSpPr>
            <p:cNvPr id="76" name="Google Shape;76;p9"/>
            <p:cNvSpPr/>
            <p:nvPr/>
          </p:nvSpPr>
          <p:spPr>
            <a:xfrm>
              <a:off x="5128364" y="2086923"/>
              <a:ext cx="541655" cy="501650"/>
            </a:xfrm>
            <a:custGeom>
              <a:rect b="b" l="l" r="r" t="t"/>
              <a:pathLst>
                <a:path extrusionOk="0" h="501650" w="541654">
                  <a:moveTo>
                    <a:pt x="0" y="0"/>
                  </a:moveTo>
                  <a:lnTo>
                    <a:pt x="47001" y="3049"/>
                  </a:lnTo>
                  <a:lnTo>
                    <a:pt x="93712" y="11967"/>
                  </a:lnTo>
                  <a:lnTo>
                    <a:pt x="139843" y="26408"/>
                  </a:lnTo>
                  <a:lnTo>
                    <a:pt x="185102" y="46028"/>
                  </a:lnTo>
                  <a:lnTo>
                    <a:pt x="229201" y="70481"/>
                  </a:lnTo>
                  <a:lnTo>
                    <a:pt x="271847" y="99421"/>
                  </a:lnTo>
                  <a:lnTo>
                    <a:pt x="312752" y="132504"/>
                  </a:lnTo>
                  <a:lnTo>
                    <a:pt x="351624" y="169384"/>
                  </a:lnTo>
                  <a:lnTo>
                    <a:pt x="388174" y="209717"/>
                  </a:lnTo>
                  <a:lnTo>
                    <a:pt x="418834" y="248683"/>
                  </a:lnTo>
                  <a:lnTo>
                    <a:pt x="447166" y="289913"/>
                  </a:lnTo>
                  <a:lnTo>
                    <a:pt x="472957" y="333156"/>
                  </a:lnTo>
                  <a:lnTo>
                    <a:pt x="495997" y="378159"/>
                  </a:lnTo>
                  <a:lnTo>
                    <a:pt x="516073" y="424671"/>
                  </a:lnTo>
                  <a:lnTo>
                    <a:pt x="532031" y="469436"/>
                  </a:lnTo>
                  <a:lnTo>
                    <a:pt x="541023" y="499796"/>
                  </a:lnTo>
                  <a:lnTo>
                    <a:pt x="541398" y="501221"/>
                  </a:lnTo>
                </a:path>
              </a:pathLst>
            </a:custGeom>
            <a:noFill/>
            <a:ln cap="flat" cmpd="sng" w="28550">
              <a:solidFill>
                <a:srgbClr val="FF99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7" name="Google Shape;77;p9"/>
            <p:cNvPicPr preferRelativeResize="0"/>
            <p:nvPr/>
          </p:nvPicPr>
          <p:blipFill rotWithShape="1">
            <a:blip r:embed="rId9">
              <a:alphaModFix/>
            </a:blip>
            <a:srcRect b="0" l="0" r="0" t="0"/>
            <a:stretch/>
          </p:blipFill>
          <p:spPr>
            <a:xfrm>
              <a:off x="5608701" y="2567482"/>
              <a:ext cx="122124" cy="163424"/>
            </a:xfrm>
            <a:prstGeom prst="rect">
              <a:avLst/>
            </a:prstGeom>
            <a:noFill/>
            <a:ln>
              <a:noFill/>
            </a:ln>
          </p:spPr>
        </p:pic>
        <p:pic>
          <p:nvPicPr>
            <p:cNvPr id="78" name="Google Shape;78;p9"/>
            <p:cNvPicPr preferRelativeResize="0"/>
            <p:nvPr/>
          </p:nvPicPr>
          <p:blipFill rotWithShape="1">
            <a:blip r:embed="rId5">
              <a:alphaModFix/>
            </a:blip>
            <a:srcRect b="0" l="0" r="0" t="0"/>
            <a:stretch/>
          </p:blipFill>
          <p:spPr>
            <a:xfrm>
              <a:off x="4474941" y="2458027"/>
              <a:ext cx="671698" cy="614091"/>
            </a:xfrm>
            <a:prstGeom prst="rect">
              <a:avLst/>
            </a:prstGeom>
            <a:noFill/>
            <a:ln>
              <a:noFill/>
            </a:ln>
          </p:spPr>
        </p:pic>
        <p:sp>
          <p:nvSpPr>
            <p:cNvPr id="79" name="Google Shape;79;p9"/>
            <p:cNvSpPr/>
            <p:nvPr/>
          </p:nvSpPr>
          <p:spPr>
            <a:xfrm>
              <a:off x="5141364" y="2747994"/>
              <a:ext cx="323215" cy="113030"/>
            </a:xfrm>
            <a:custGeom>
              <a:rect b="b" l="l" r="r" t="t"/>
              <a:pathLst>
                <a:path extrusionOk="0" h="113030" w="323214">
                  <a:moveTo>
                    <a:pt x="0" y="0"/>
                  </a:moveTo>
                  <a:lnTo>
                    <a:pt x="66869" y="4023"/>
                  </a:lnTo>
                  <a:lnTo>
                    <a:pt x="121937" y="14944"/>
                  </a:lnTo>
                  <a:lnTo>
                    <a:pt x="168155" y="31039"/>
                  </a:lnTo>
                  <a:lnTo>
                    <a:pt x="208475" y="50582"/>
                  </a:lnTo>
                  <a:lnTo>
                    <a:pt x="245849" y="71849"/>
                  </a:lnTo>
                  <a:lnTo>
                    <a:pt x="257391" y="78572"/>
                  </a:lnTo>
                  <a:lnTo>
                    <a:pt x="269018" y="85243"/>
                  </a:lnTo>
                  <a:lnTo>
                    <a:pt x="305346" y="104431"/>
                  </a:lnTo>
                  <a:lnTo>
                    <a:pt x="318224" y="110374"/>
                  </a:lnTo>
                  <a:lnTo>
                    <a:pt x="323124" y="112474"/>
                  </a:lnTo>
                </a:path>
              </a:pathLst>
            </a:custGeom>
            <a:noFill/>
            <a:ln cap="flat" cmpd="sng" w="28550">
              <a:solidFill>
                <a:srgbClr val="0000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80" name="Google Shape;80;p9"/>
            <p:cNvPicPr preferRelativeResize="0"/>
            <p:nvPr/>
          </p:nvPicPr>
          <p:blipFill rotWithShape="1">
            <a:blip r:embed="rId10">
              <a:alphaModFix/>
            </a:blip>
            <a:srcRect b="0" l="0" r="0" t="0"/>
            <a:stretch/>
          </p:blipFill>
          <p:spPr>
            <a:xfrm>
              <a:off x="5441601" y="2799756"/>
              <a:ext cx="164674" cy="121399"/>
            </a:xfrm>
            <a:prstGeom prst="rect">
              <a:avLst/>
            </a:prstGeom>
            <a:noFill/>
            <a:ln>
              <a:noFill/>
            </a:ln>
          </p:spPr>
        </p:pic>
      </p:grpSp>
      <p:sp>
        <p:nvSpPr>
          <p:cNvPr id="81" name="Google Shape;81;p9"/>
          <p:cNvSpPr txBox="1"/>
          <p:nvPr/>
        </p:nvSpPr>
        <p:spPr>
          <a:xfrm>
            <a:off x="5645613" y="2805494"/>
            <a:ext cx="1415415" cy="858519"/>
          </a:xfrm>
          <a:prstGeom prst="rect">
            <a:avLst/>
          </a:prstGeom>
          <a:solidFill>
            <a:srgbClr val="EDEDED"/>
          </a:solidFill>
          <a:ln cap="flat" cmpd="sng" w="9525">
            <a:solidFill>
              <a:srgbClr val="595959"/>
            </a:solidFill>
            <a:prstDash val="solid"/>
            <a:round/>
            <a:headEnd len="sm" w="sm" type="none"/>
            <a:tailEnd len="sm" w="sm" type="none"/>
          </a:ln>
        </p:spPr>
        <p:txBody>
          <a:bodyPr anchorCtr="0" anchor="t" bIns="0" lIns="0" spcFirstLastPara="1" rIns="0" wrap="square" tIns="141600">
            <a:spAutoFit/>
          </a:bodyPr>
          <a:lstStyle/>
          <a:p>
            <a:pPr indent="-95250" lvl="0" marL="237490" marR="134620" rtl="0" algn="l">
              <a:lnSpc>
                <a:spcPct val="100699"/>
              </a:lnSpc>
              <a:spcBef>
                <a:spcPts val="0"/>
              </a:spcBef>
              <a:spcAft>
                <a:spcPts val="0"/>
              </a:spcAft>
              <a:buNone/>
            </a:pPr>
            <a:r>
              <a:rPr lang="en-US" sz="1800">
                <a:latin typeface="Arial"/>
                <a:ea typeface="Arial"/>
                <a:cs typeface="Arial"/>
                <a:sym typeface="Arial"/>
              </a:rPr>
              <a:t>Multi-Class Classifier</a:t>
            </a:r>
            <a:endParaRPr sz="1800">
              <a:latin typeface="Arial"/>
              <a:ea typeface="Arial"/>
              <a:cs typeface="Arial"/>
              <a:sym typeface="Arial"/>
            </a:endParaRPr>
          </a:p>
        </p:txBody>
      </p:sp>
      <p:grpSp>
        <p:nvGrpSpPr>
          <p:cNvPr id="82" name="Google Shape;82;p9"/>
          <p:cNvGrpSpPr/>
          <p:nvPr/>
        </p:nvGrpSpPr>
        <p:grpSpPr>
          <a:xfrm>
            <a:off x="7061010" y="2210413"/>
            <a:ext cx="563961" cy="1179120"/>
            <a:chOff x="7061010" y="2210413"/>
            <a:chExt cx="563961" cy="1179120"/>
          </a:xfrm>
        </p:grpSpPr>
        <p:sp>
          <p:nvSpPr>
            <p:cNvPr id="83" name="Google Shape;83;p9"/>
            <p:cNvSpPr/>
            <p:nvPr/>
          </p:nvSpPr>
          <p:spPr>
            <a:xfrm>
              <a:off x="7085060" y="2323550"/>
              <a:ext cx="332740" cy="368935"/>
            </a:xfrm>
            <a:custGeom>
              <a:rect b="b" l="l" r="r" t="t"/>
              <a:pathLst>
                <a:path extrusionOk="0" h="368935" w="332740">
                  <a:moveTo>
                    <a:pt x="0" y="368794"/>
                  </a:moveTo>
                  <a:lnTo>
                    <a:pt x="46190" y="363255"/>
                  </a:lnTo>
                  <a:lnTo>
                    <a:pt x="87006" y="347602"/>
                  </a:lnTo>
                  <a:lnTo>
                    <a:pt x="123216" y="323279"/>
                  </a:lnTo>
                  <a:lnTo>
                    <a:pt x="155587" y="291732"/>
                  </a:lnTo>
                  <a:lnTo>
                    <a:pt x="184887" y="254406"/>
                  </a:lnTo>
                  <a:lnTo>
                    <a:pt x="211886" y="212746"/>
                  </a:lnTo>
                  <a:lnTo>
                    <a:pt x="237350" y="168196"/>
                  </a:lnTo>
                  <a:lnTo>
                    <a:pt x="262049" y="122202"/>
                  </a:lnTo>
                  <a:lnTo>
                    <a:pt x="274346" y="99113"/>
                  </a:lnTo>
                  <a:lnTo>
                    <a:pt x="286740" y="76205"/>
                  </a:lnTo>
                  <a:lnTo>
                    <a:pt x="312199" y="31654"/>
                  </a:lnTo>
                  <a:lnTo>
                    <a:pt x="332274" y="57"/>
                  </a:lnTo>
                </a:path>
              </a:pathLst>
            </a:custGeom>
            <a:noFill/>
            <a:ln cap="flat" cmpd="sng" w="38075">
              <a:solidFill>
                <a:srgbClr val="FF99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84" name="Google Shape;84;p9"/>
            <p:cNvPicPr preferRelativeResize="0"/>
            <p:nvPr/>
          </p:nvPicPr>
          <p:blipFill rotWithShape="1">
            <a:blip r:embed="rId11">
              <a:alphaModFix/>
            </a:blip>
            <a:srcRect b="0" l="0" r="0" t="0"/>
            <a:stretch/>
          </p:blipFill>
          <p:spPr>
            <a:xfrm>
              <a:off x="7364060" y="2210413"/>
              <a:ext cx="217399" cy="184984"/>
            </a:xfrm>
            <a:prstGeom prst="rect">
              <a:avLst/>
            </a:prstGeom>
            <a:noFill/>
            <a:ln>
              <a:noFill/>
            </a:ln>
          </p:spPr>
        </p:pic>
        <p:sp>
          <p:nvSpPr>
            <p:cNvPr id="85" name="Google Shape;85;p9"/>
            <p:cNvSpPr/>
            <p:nvPr/>
          </p:nvSpPr>
          <p:spPr>
            <a:xfrm>
              <a:off x="7061010" y="2757919"/>
              <a:ext cx="429895" cy="476884"/>
            </a:xfrm>
            <a:custGeom>
              <a:rect b="b" l="l" r="r" t="t"/>
              <a:pathLst>
                <a:path extrusionOk="0" h="476885" w="429895">
                  <a:moveTo>
                    <a:pt x="0" y="476749"/>
                  </a:moveTo>
                  <a:lnTo>
                    <a:pt x="45663" y="471914"/>
                  </a:lnTo>
                  <a:lnTo>
                    <a:pt x="86501" y="458155"/>
                  </a:lnTo>
                  <a:lnTo>
                    <a:pt x="123139" y="436588"/>
                  </a:lnTo>
                  <a:lnTo>
                    <a:pt x="156200" y="408327"/>
                  </a:lnTo>
                  <a:lnTo>
                    <a:pt x="186307" y="374491"/>
                  </a:lnTo>
                  <a:lnTo>
                    <a:pt x="214084" y="336193"/>
                  </a:lnTo>
                  <a:lnTo>
                    <a:pt x="240155" y="294552"/>
                  </a:lnTo>
                  <a:lnTo>
                    <a:pt x="265144" y="250682"/>
                  </a:lnTo>
                  <a:lnTo>
                    <a:pt x="289674" y="205699"/>
                  </a:lnTo>
                  <a:lnTo>
                    <a:pt x="317498" y="155137"/>
                  </a:lnTo>
                  <a:lnTo>
                    <a:pt x="346364" y="106168"/>
                  </a:lnTo>
                  <a:lnTo>
                    <a:pt x="377111" y="60378"/>
                  </a:lnTo>
                  <a:lnTo>
                    <a:pt x="410574" y="19349"/>
                  </a:lnTo>
                  <a:lnTo>
                    <a:pt x="428599" y="1099"/>
                  </a:lnTo>
                  <a:lnTo>
                    <a:pt x="429799" y="0"/>
                  </a:lnTo>
                </a:path>
              </a:pathLst>
            </a:custGeom>
            <a:noFill/>
            <a:ln cap="flat" cmpd="sng" w="28550">
              <a:solidFill>
                <a:srgbClr val="0000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86" name="Google Shape;86;p9"/>
            <p:cNvPicPr preferRelativeResize="0"/>
            <p:nvPr/>
          </p:nvPicPr>
          <p:blipFill rotWithShape="1">
            <a:blip r:embed="rId12">
              <a:alphaModFix/>
            </a:blip>
            <a:srcRect b="0" l="0" r="0" t="0"/>
            <a:stretch/>
          </p:blipFill>
          <p:spPr>
            <a:xfrm>
              <a:off x="7458522" y="2694207"/>
              <a:ext cx="166449" cy="121624"/>
            </a:xfrm>
            <a:prstGeom prst="rect">
              <a:avLst/>
            </a:prstGeom>
            <a:noFill/>
            <a:ln>
              <a:noFill/>
            </a:ln>
          </p:spPr>
        </p:pic>
        <p:sp>
          <p:nvSpPr>
            <p:cNvPr id="87" name="Google Shape;87;p9"/>
            <p:cNvSpPr/>
            <p:nvPr/>
          </p:nvSpPr>
          <p:spPr>
            <a:xfrm>
              <a:off x="7081135" y="3247293"/>
              <a:ext cx="320675" cy="142240"/>
            </a:xfrm>
            <a:custGeom>
              <a:rect b="b" l="l" r="r" t="t"/>
              <a:pathLst>
                <a:path extrusionOk="0" h="142239" w="320675">
                  <a:moveTo>
                    <a:pt x="0" y="142024"/>
                  </a:moveTo>
                  <a:lnTo>
                    <a:pt x="62084" y="137922"/>
                  </a:lnTo>
                  <a:lnTo>
                    <a:pt x="114810" y="126580"/>
                  </a:lnTo>
                  <a:lnTo>
                    <a:pt x="160049" y="109446"/>
                  </a:lnTo>
                  <a:lnTo>
                    <a:pt x="199671" y="87969"/>
                  </a:lnTo>
                  <a:lnTo>
                    <a:pt x="235548" y="63596"/>
                  </a:lnTo>
                  <a:lnTo>
                    <a:pt x="269549" y="37774"/>
                  </a:lnTo>
                  <a:lnTo>
                    <a:pt x="275870" y="32883"/>
                  </a:lnTo>
                  <a:lnTo>
                    <a:pt x="282205" y="28003"/>
                  </a:lnTo>
                  <a:lnTo>
                    <a:pt x="288568" y="23146"/>
                  </a:lnTo>
                  <a:lnTo>
                    <a:pt x="294974" y="18324"/>
                  </a:lnTo>
                  <a:lnTo>
                    <a:pt x="299249" y="15099"/>
                  </a:lnTo>
                  <a:lnTo>
                    <a:pt x="303549" y="11924"/>
                  </a:lnTo>
                  <a:lnTo>
                    <a:pt x="307899" y="8774"/>
                  </a:lnTo>
                  <a:lnTo>
                    <a:pt x="310099" y="7224"/>
                  </a:lnTo>
                  <a:lnTo>
                    <a:pt x="312274" y="5649"/>
                  </a:lnTo>
                  <a:lnTo>
                    <a:pt x="314499" y="4099"/>
                  </a:lnTo>
                  <a:lnTo>
                    <a:pt x="320399" y="0"/>
                  </a:lnTo>
                </a:path>
              </a:pathLst>
            </a:custGeom>
            <a:noFill/>
            <a:ln cap="flat" cmpd="sng" w="38075">
              <a:solidFill>
                <a:srgbClr val="00FF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88" name="Google Shape;88;p9"/>
            <p:cNvPicPr preferRelativeResize="0"/>
            <p:nvPr/>
          </p:nvPicPr>
          <p:blipFill rotWithShape="1">
            <a:blip r:embed="rId13">
              <a:alphaModFix/>
            </a:blip>
            <a:srcRect b="0" l="0" r="0" t="0"/>
            <a:stretch/>
          </p:blipFill>
          <p:spPr>
            <a:xfrm>
              <a:off x="7364185" y="3168043"/>
              <a:ext cx="221824" cy="158524"/>
            </a:xfrm>
            <a:prstGeom prst="rect">
              <a:avLst/>
            </a:prstGeom>
            <a:noFill/>
            <a:ln>
              <a:noFill/>
            </a:ln>
          </p:spPr>
        </p:pic>
      </p:grpSp>
      <p:sp>
        <p:nvSpPr>
          <p:cNvPr id="89" name="Google Shape;89;p9"/>
          <p:cNvSpPr txBox="1"/>
          <p:nvPr/>
        </p:nvSpPr>
        <p:spPr>
          <a:xfrm rot="-120000">
            <a:off x="7705092" y="2557884"/>
            <a:ext cx="477949" cy="228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800">
                <a:solidFill>
                  <a:srgbClr val="595959"/>
                </a:solidFill>
                <a:latin typeface="Arial"/>
                <a:ea typeface="Arial"/>
                <a:cs typeface="Arial"/>
                <a:sym typeface="Arial"/>
              </a:rPr>
              <a:t>Dog</a:t>
            </a:r>
            <a:endParaRPr sz="1800">
              <a:latin typeface="Arial"/>
              <a:ea typeface="Arial"/>
              <a:cs typeface="Arial"/>
              <a:sym typeface="Arial"/>
            </a:endParaRPr>
          </a:p>
        </p:txBody>
      </p:sp>
      <p:sp>
        <p:nvSpPr>
          <p:cNvPr id="90" name="Google Shape;90;p9"/>
          <p:cNvSpPr txBox="1"/>
          <p:nvPr/>
        </p:nvSpPr>
        <p:spPr>
          <a:xfrm rot="-120000">
            <a:off x="7704322" y="3007665"/>
            <a:ext cx="466835" cy="228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800">
                <a:solidFill>
                  <a:srgbClr val="595959"/>
                </a:solidFill>
                <a:latin typeface="Arial"/>
                <a:ea typeface="Arial"/>
                <a:cs typeface="Arial"/>
                <a:sym typeface="Arial"/>
              </a:rPr>
              <a:t>Bird</a:t>
            </a:r>
            <a:endParaRPr sz="1800">
              <a:latin typeface="Arial"/>
              <a:ea typeface="Arial"/>
              <a:cs typeface="Arial"/>
              <a:sym typeface="Arial"/>
            </a:endParaRPr>
          </a:p>
        </p:txBody>
      </p:sp>
      <p:sp>
        <p:nvSpPr>
          <p:cNvPr id="91" name="Google Shape;91;p9"/>
          <p:cNvSpPr txBox="1"/>
          <p:nvPr/>
        </p:nvSpPr>
        <p:spPr>
          <a:xfrm>
            <a:off x="604748" y="4315374"/>
            <a:ext cx="230505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Number of classes = 2</a:t>
            </a:r>
            <a:endParaRPr sz="1800">
              <a:latin typeface="Arial"/>
              <a:ea typeface="Arial"/>
              <a:cs typeface="Arial"/>
              <a:sym typeface="Arial"/>
            </a:endParaRPr>
          </a:p>
        </p:txBody>
      </p:sp>
      <p:sp>
        <p:nvSpPr>
          <p:cNvPr id="92" name="Google Shape;92;p9"/>
          <p:cNvSpPr txBox="1"/>
          <p:nvPr/>
        </p:nvSpPr>
        <p:spPr>
          <a:xfrm>
            <a:off x="4804768" y="4343092"/>
            <a:ext cx="230505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Number of classes = 4</a:t>
            </a:r>
            <a:endParaRPr sz="1800">
              <a:latin typeface="Arial"/>
              <a:ea typeface="Arial"/>
              <a:cs typeface="Arial"/>
              <a:sym typeface="Arial"/>
            </a:endParaRPr>
          </a:p>
        </p:txBody>
      </p:sp>
      <p:grpSp>
        <p:nvGrpSpPr>
          <p:cNvPr id="93" name="Google Shape;93;p9"/>
          <p:cNvGrpSpPr/>
          <p:nvPr/>
        </p:nvGrpSpPr>
        <p:grpSpPr>
          <a:xfrm>
            <a:off x="4462665" y="3145881"/>
            <a:ext cx="1173610" cy="1224809"/>
            <a:chOff x="4462665" y="3145881"/>
            <a:chExt cx="1173610" cy="1224809"/>
          </a:xfrm>
        </p:grpSpPr>
        <p:pic>
          <p:nvPicPr>
            <p:cNvPr id="94" name="Google Shape;94;p9"/>
            <p:cNvPicPr preferRelativeResize="0"/>
            <p:nvPr/>
          </p:nvPicPr>
          <p:blipFill rotWithShape="1">
            <a:blip r:embed="rId14">
              <a:alphaModFix/>
            </a:blip>
            <a:srcRect b="0" l="0" r="0" t="0"/>
            <a:stretch/>
          </p:blipFill>
          <p:spPr>
            <a:xfrm>
              <a:off x="4462665" y="3147418"/>
              <a:ext cx="671698" cy="533873"/>
            </a:xfrm>
            <a:prstGeom prst="rect">
              <a:avLst/>
            </a:prstGeom>
            <a:noFill/>
            <a:ln>
              <a:noFill/>
            </a:ln>
          </p:spPr>
        </p:pic>
        <p:sp>
          <p:nvSpPr>
            <p:cNvPr id="95" name="Google Shape;95;p9"/>
            <p:cNvSpPr/>
            <p:nvPr/>
          </p:nvSpPr>
          <p:spPr>
            <a:xfrm>
              <a:off x="5134364" y="3205343"/>
              <a:ext cx="341630" cy="209550"/>
            </a:xfrm>
            <a:custGeom>
              <a:rect b="b" l="l" r="r" t="t"/>
              <a:pathLst>
                <a:path extrusionOk="0" h="209550" w="341629">
                  <a:moveTo>
                    <a:pt x="0" y="209024"/>
                  </a:moveTo>
                  <a:lnTo>
                    <a:pt x="58215" y="203936"/>
                  </a:lnTo>
                  <a:lnTo>
                    <a:pt x="107655" y="189869"/>
                  </a:lnTo>
                  <a:lnTo>
                    <a:pt x="150074" y="168618"/>
                  </a:lnTo>
                  <a:lnTo>
                    <a:pt x="187227" y="141980"/>
                  </a:lnTo>
                  <a:lnTo>
                    <a:pt x="220867" y="111750"/>
                  </a:lnTo>
                  <a:lnTo>
                    <a:pt x="252749" y="79724"/>
                  </a:lnTo>
                  <a:lnTo>
                    <a:pt x="264614" y="67613"/>
                  </a:lnTo>
                  <a:lnTo>
                    <a:pt x="276571" y="55603"/>
                  </a:lnTo>
                  <a:lnTo>
                    <a:pt x="307469" y="26617"/>
                  </a:lnTo>
                  <a:lnTo>
                    <a:pt x="340974" y="274"/>
                  </a:lnTo>
                  <a:lnTo>
                    <a:pt x="341374" y="0"/>
                  </a:lnTo>
                </a:path>
              </a:pathLst>
            </a:custGeom>
            <a:noFill/>
            <a:ln cap="flat" cmpd="sng" w="28550">
              <a:solidFill>
                <a:srgbClr val="00FF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96" name="Google Shape;96;p9"/>
            <p:cNvPicPr preferRelativeResize="0"/>
            <p:nvPr/>
          </p:nvPicPr>
          <p:blipFill rotWithShape="1">
            <a:blip r:embed="rId15">
              <a:alphaModFix/>
            </a:blip>
            <a:srcRect b="0" l="0" r="0" t="0"/>
            <a:stretch/>
          </p:blipFill>
          <p:spPr>
            <a:xfrm>
              <a:off x="5447801" y="3145881"/>
              <a:ext cx="166349" cy="118924"/>
            </a:xfrm>
            <a:prstGeom prst="rect">
              <a:avLst/>
            </a:prstGeom>
            <a:noFill/>
            <a:ln>
              <a:noFill/>
            </a:ln>
          </p:spPr>
        </p:pic>
        <p:pic>
          <p:nvPicPr>
            <p:cNvPr id="97" name="Google Shape;97;p9"/>
            <p:cNvPicPr preferRelativeResize="0"/>
            <p:nvPr/>
          </p:nvPicPr>
          <p:blipFill rotWithShape="1">
            <a:blip r:embed="rId16">
              <a:alphaModFix/>
            </a:blip>
            <a:srcRect b="0" l="0" r="0" t="0"/>
            <a:stretch/>
          </p:blipFill>
          <p:spPr>
            <a:xfrm>
              <a:off x="4481265" y="3756592"/>
              <a:ext cx="647098" cy="614098"/>
            </a:xfrm>
            <a:prstGeom prst="rect">
              <a:avLst/>
            </a:prstGeom>
            <a:noFill/>
            <a:ln>
              <a:noFill/>
            </a:ln>
          </p:spPr>
        </p:pic>
        <p:sp>
          <p:nvSpPr>
            <p:cNvPr id="98" name="Google Shape;98;p9"/>
            <p:cNvSpPr/>
            <p:nvPr/>
          </p:nvSpPr>
          <p:spPr>
            <a:xfrm>
              <a:off x="5128364" y="3655342"/>
              <a:ext cx="438150" cy="387350"/>
            </a:xfrm>
            <a:custGeom>
              <a:rect b="b" l="l" r="r" t="t"/>
              <a:pathLst>
                <a:path extrusionOk="0" h="387350" w="438150">
                  <a:moveTo>
                    <a:pt x="0" y="386849"/>
                  </a:moveTo>
                  <a:lnTo>
                    <a:pt x="5744" y="339097"/>
                  </a:lnTo>
                  <a:lnTo>
                    <a:pt x="21978" y="296902"/>
                  </a:lnTo>
                  <a:lnTo>
                    <a:pt x="47203" y="259468"/>
                  </a:lnTo>
                  <a:lnTo>
                    <a:pt x="79921" y="226002"/>
                  </a:lnTo>
                  <a:lnTo>
                    <a:pt x="118633" y="195711"/>
                  </a:lnTo>
                  <a:lnTo>
                    <a:pt x="161841" y="167801"/>
                  </a:lnTo>
                  <a:lnTo>
                    <a:pt x="208046" y="141478"/>
                  </a:lnTo>
                  <a:lnTo>
                    <a:pt x="255749" y="115949"/>
                  </a:lnTo>
                  <a:lnTo>
                    <a:pt x="303457" y="90425"/>
                  </a:lnTo>
                  <a:lnTo>
                    <a:pt x="349661" y="64102"/>
                  </a:lnTo>
                  <a:lnTo>
                    <a:pt x="392865" y="36190"/>
                  </a:lnTo>
                  <a:lnTo>
                    <a:pt x="431574" y="5899"/>
                  </a:lnTo>
                  <a:lnTo>
                    <a:pt x="436024" y="1899"/>
                  </a:lnTo>
                  <a:lnTo>
                    <a:pt x="438099" y="0"/>
                  </a:lnTo>
                </a:path>
              </a:pathLst>
            </a:custGeom>
            <a:noFill/>
            <a:ln cap="flat" cmpd="sng" w="28550">
              <a:solidFill>
                <a:srgbClr val="FF00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99" name="Google Shape;99;p9"/>
            <p:cNvPicPr preferRelativeResize="0"/>
            <p:nvPr/>
          </p:nvPicPr>
          <p:blipFill rotWithShape="1">
            <a:blip r:embed="rId17">
              <a:alphaModFix/>
            </a:blip>
            <a:srcRect b="0" l="0" r="0" t="0"/>
            <a:stretch/>
          </p:blipFill>
          <p:spPr>
            <a:xfrm>
              <a:off x="5509501" y="3523855"/>
              <a:ext cx="126774" cy="165974"/>
            </a:xfrm>
            <a:prstGeom prst="rect">
              <a:avLst/>
            </a:prstGeom>
            <a:noFill/>
            <a:ln>
              <a:noFill/>
            </a:ln>
          </p:spPr>
        </p:pic>
      </p:grpSp>
      <p:sp>
        <p:nvSpPr>
          <p:cNvPr id="100" name="Google Shape;100;p9"/>
          <p:cNvSpPr txBox="1"/>
          <p:nvPr/>
        </p:nvSpPr>
        <p:spPr>
          <a:xfrm>
            <a:off x="7770133" y="3643149"/>
            <a:ext cx="71183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595959"/>
                </a:solidFill>
                <a:latin typeface="Arial"/>
                <a:ea typeface="Arial"/>
                <a:cs typeface="Arial"/>
                <a:sym typeface="Arial"/>
              </a:rPr>
              <a:t>Flower</a:t>
            </a:r>
            <a:endParaRPr sz="1800">
              <a:latin typeface="Arial"/>
              <a:ea typeface="Arial"/>
              <a:cs typeface="Arial"/>
              <a:sym typeface="Arial"/>
            </a:endParaRPr>
          </a:p>
        </p:txBody>
      </p:sp>
      <p:grpSp>
        <p:nvGrpSpPr>
          <p:cNvPr id="101" name="Google Shape;101;p9"/>
          <p:cNvGrpSpPr/>
          <p:nvPr/>
        </p:nvGrpSpPr>
        <p:grpSpPr>
          <a:xfrm>
            <a:off x="7064710" y="3500068"/>
            <a:ext cx="606036" cy="351286"/>
            <a:chOff x="7064710" y="3500068"/>
            <a:chExt cx="606036" cy="351286"/>
          </a:xfrm>
        </p:grpSpPr>
        <p:sp>
          <p:nvSpPr>
            <p:cNvPr id="102" name="Google Shape;102;p9"/>
            <p:cNvSpPr/>
            <p:nvPr/>
          </p:nvSpPr>
          <p:spPr>
            <a:xfrm>
              <a:off x="7064710" y="3500068"/>
              <a:ext cx="466090" cy="291465"/>
            </a:xfrm>
            <a:custGeom>
              <a:rect b="b" l="l" r="r" t="t"/>
              <a:pathLst>
                <a:path extrusionOk="0" h="291464" w="466090">
                  <a:moveTo>
                    <a:pt x="0" y="0"/>
                  </a:moveTo>
                  <a:lnTo>
                    <a:pt x="55736" y="3712"/>
                  </a:lnTo>
                  <a:lnTo>
                    <a:pt x="104988" y="14205"/>
                  </a:lnTo>
                  <a:lnTo>
                    <a:pt x="148681" y="30509"/>
                  </a:lnTo>
                  <a:lnTo>
                    <a:pt x="187743" y="51656"/>
                  </a:lnTo>
                  <a:lnTo>
                    <a:pt x="223099" y="76677"/>
                  </a:lnTo>
                  <a:lnTo>
                    <a:pt x="255676" y="104603"/>
                  </a:lnTo>
                  <a:lnTo>
                    <a:pt x="286401" y="134467"/>
                  </a:lnTo>
                  <a:lnTo>
                    <a:pt x="316199" y="165299"/>
                  </a:lnTo>
                  <a:lnTo>
                    <a:pt x="345997" y="196132"/>
                  </a:lnTo>
                  <a:lnTo>
                    <a:pt x="376721" y="225996"/>
                  </a:lnTo>
                  <a:lnTo>
                    <a:pt x="409296" y="253924"/>
                  </a:lnTo>
                  <a:lnTo>
                    <a:pt x="444649" y="278949"/>
                  </a:lnTo>
                  <a:lnTo>
                    <a:pt x="463674" y="290049"/>
                  </a:lnTo>
                  <a:lnTo>
                    <a:pt x="465574" y="291074"/>
                  </a:lnTo>
                </a:path>
              </a:pathLst>
            </a:custGeom>
            <a:noFill/>
            <a:ln cap="flat" cmpd="sng" w="28550">
              <a:solidFill>
                <a:srgbClr val="FF00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03" name="Google Shape;103;p9"/>
            <p:cNvPicPr preferRelativeResize="0"/>
            <p:nvPr/>
          </p:nvPicPr>
          <p:blipFill rotWithShape="1">
            <a:blip r:embed="rId18">
              <a:alphaModFix/>
            </a:blip>
            <a:srcRect b="0" l="0" r="0" t="0"/>
            <a:stretch/>
          </p:blipFill>
          <p:spPr>
            <a:xfrm>
              <a:off x="7505097" y="3730930"/>
              <a:ext cx="165649" cy="120424"/>
            </a:xfrm>
            <a:prstGeom prst="rect">
              <a:avLst/>
            </a:prstGeom>
            <a:noFill/>
            <a:ln>
              <a:noFill/>
            </a:ln>
          </p:spPr>
        </p:pic>
      </p:grpSp>
      <p:sp>
        <p:nvSpPr>
          <p:cNvPr id="104" name="Google Shape;104;p9"/>
          <p:cNvSpPr txBox="1"/>
          <p:nvPr/>
        </p:nvSpPr>
        <p:spPr>
          <a:xfrm>
            <a:off x="338483" y="1292222"/>
            <a:ext cx="8154034" cy="996315"/>
          </a:xfrm>
          <a:prstGeom prst="rect">
            <a:avLst/>
          </a:prstGeom>
          <a:noFill/>
          <a:ln>
            <a:noFill/>
          </a:ln>
        </p:spPr>
        <p:txBody>
          <a:bodyPr anchorCtr="0" anchor="t" bIns="0" lIns="0" spcFirstLastPara="1" rIns="0" wrap="square" tIns="12700">
            <a:spAutoFit/>
          </a:bodyPr>
          <a:lstStyle/>
          <a:p>
            <a:pPr indent="-419734" lvl="0" marL="432434" rtl="0" algn="l">
              <a:lnSpc>
                <a:spcPct val="100000"/>
              </a:lnSpc>
              <a:spcBef>
                <a:spcPts val="0"/>
              </a:spcBef>
              <a:spcAft>
                <a:spcPts val="0"/>
              </a:spcAft>
              <a:buClr>
                <a:srgbClr val="595959"/>
              </a:buClr>
              <a:buSzPts val="2500"/>
              <a:buFont typeface="Arial"/>
              <a:buChar char="●"/>
            </a:pPr>
            <a:r>
              <a:rPr lang="en-US" sz="1800">
                <a:latin typeface="Arial"/>
                <a:ea typeface="Arial"/>
                <a:cs typeface="Arial"/>
                <a:sym typeface="Arial"/>
              </a:rPr>
              <a:t>Assigning objects to some pre-existing classes / categories / labels / groups.</a:t>
            </a:r>
            <a:endParaRPr sz="1800">
              <a:latin typeface="Arial"/>
              <a:ea typeface="Arial"/>
              <a:cs typeface="Arial"/>
              <a:sym typeface="Arial"/>
            </a:endParaRPr>
          </a:p>
          <a:p>
            <a:pPr indent="0" lvl="0" marL="0" rtl="0" algn="l">
              <a:lnSpc>
                <a:spcPct val="100000"/>
              </a:lnSpc>
              <a:spcBef>
                <a:spcPts val="1250"/>
              </a:spcBef>
              <a:spcAft>
                <a:spcPts val="0"/>
              </a:spcAft>
              <a:buNone/>
            </a:pPr>
            <a:r>
              <a:t/>
            </a:r>
            <a:endParaRPr sz="1800">
              <a:latin typeface="Arial"/>
              <a:ea typeface="Arial"/>
              <a:cs typeface="Arial"/>
              <a:sym typeface="Arial"/>
            </a:endParaRPr>
          </a:p>
          <a:p>
            <a:pPr indent="0" lvl="0" marL="0" marR="433705" rtl="0" algn="r">
              <a:lnSpc>
                <a:spcPct val="100000"/>
              </a:lnSpc>
              <a:spcBef>
                <a:spcPts val="0"/>
              </a:spcBef>
              <a:spcAft>
                <a:spcPts val="0"/>
              </a:spcAft>
              <a:buNone/>
            </a:pPr>
            <a:r>
              <a:rPr lang="en-US" sz="1800">
                <a:solidFill>
                  <a:srgbClr val="595959"/>
                </a:solidFill>
                <a:latin typeface="Arial"/>
                <a:ea typeface="Arial"/>
                <a:cs typeface="Arial"/>
                <a:sym typeface="Arial"/>
              </a:rPr>
              <a:t>Cat</a:t>
            </a:r>
            <a:endParaRPr sz="1800">
              <a:latin typeface="Arial"/>
              <a:ea typeface="Arial"/>
              <a:cs typeface="Arial"/>
              <a:sym typeface="Arial"/>
            </a:endParaRPr>
          </a:p>
        </p:txBody>
      </p:sp>
      <p:sp>
        <p:nvSpPr>
          <p:cNvPr id="105" name="Google Shape;105;p9"/>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9" name="Shape 109"/>
        <p:cNvGrpSpPr/>
        <p:nvPr/>
      </p:nvGrpSpPr>
      <p:grpSpPr>
        <a:xfrm>
          <a:off x="0" y="0"/>
          <a:ext cx="0" cy="0"/>
          <a:chOff x="0" y="0"/>
          <a:chExt cx="0" cy="0"/>
        </a:xfrm>
      </p:grpSpPr>
      <p:sp>
        <p:nvSpPr>
          <p:cNvPr descr="$PPTXTitle" id="110" name="Google Shape;110;p10"/>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Fully Connected Neural Network (FCNN)</a:t>
            </a:r>
            <a:endParaRPr/>
          </a:p>
        </p:txBody>
      </p:sp>
      <p:sp>
        <p:nvSpPr>
          <p:cNvPr id="111" name="Google Shape;111;p10"/>
          <p:cNvSpPr txBox="1"/>
          <p:nvPr/>
        </p:nvSpPr>
        <p:spPr>
          <a:xfrm>
            <a:off x="8781508" y="4766031"/>
            <a:ext cx="167005"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595959"/>
                </a:solidFill>
                <a:latin typeface="Arial"/>
                <a:ea typeface="Arial"/>
                <a:cs typeface="Arial"/>
                <a:sym typeface="Arial"/>
              </a:rPr>
              <a:t>13</a:t>
            </a:r>
            <a:endParaRPr sz="1000">
              <a:latin typeface="Arial"/>
              <a:ea typeface="Arial"/>
              <a:cs typeface="Arial"/>
              <a:sym typeface="Arial"/>
            </a:endParaRPr>
          </a:p>
        </p:txBody>
      </p:sp>
      <p:pic>
        <p:nvPicPr>
          <p:cNvPr id="112" name="Google Shape;112;p10"/>
          <p:cNvPicPr preferRelativeResize="0"/>
          <p:nvPr/>
        </p:nvPicPr>
        <p:blipFill rotWithShape="1">
          <a:blip r:embed="rId3">
            <a:alphaModFix/>
          </a:blip>
          <a:srcRect b="0" l="0" r="0" t="0"/>
          <a:stretch/>
        </p:blipFill>
        <p:spPr>
          <a:xfrm>
            <a:off x="3200393" y="1581771"/>
            <a:ext cx="5571163" cy="3180718"/>
          </a:xfrm>
          <a:prstGeom prst="rect">
            <a:avLst/>
          </a:prstGeom>
          <a:noFill/>
          <a:ln>
            <a:noFill/>
          </a:ln>
        </p:spPr>
      </p:pic>
      <p:sp>
        <p:nvSpPr>
          <p:cNvPr id="113" name="Google Shape;113;p10"/>
          <p:cNvSpPr txBox="1"/>
          <p:nvPr/>
        </p:nvSpPr>
        <p:spPr>
          <a:xfrm>
            <a:off x="384724" y="1216356"/>
            <a:ext cx="5180965" cy="151257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FCNN consists of a series of fully connected layers</a:t>
            </a:r>
            <a:endParaRPr sz="1800">
              <a:latin typeface="Arial"/>
              <a:ea typeface="Arial"/>
              <a:cs typeface="Arial"/>
              <a:sym typeface="Arial"/>
            </a:endParaRPr>
          </a:p>
          <a:p>
            <a:pPr indent="0" lvl="0" marL="0" rtl="0" algn="l">
              <a:lnSpc>
                <a:spcPct val="100000"/>
              </a:lnSpc>
              <a:spcBef>
                <a:spcPts val="25"/>
              </a:spcBef>
              <a:spcAft>
                <a:spcPts val="0"/>
              </a:spcAft>
              <a:buNone/>
            </a:pPr>
            <a:r>
              <a:t/>
            </a:r>
            <a:endParaRPr sz="1800">
              <a:latin typeface="Arial"/>
              <a:ea typeface="Arial"/>
              <a:cs typeface="Arial"/>
              <a:sym typeface="Arial"/>
            </a:endParaRPr>
          </a:p>
          <a:p>
            <a:pPr indent="0" lvl="0" marL="42545" marR="2919730" rtl="0" algn="l">
              <a:lnSpc>
                <a:spcPct val="114999"/>
              </a:lnSpc>
              <a:spcBef>
                <a:spcPts val="0"/>
              </a:spcBef>
              <a:spcAft>
                <a:spcPts val="0"/>
              </a:spcAft>
              <a:buNone/>
            </a:pPr>
            <a:r>
              <a:rPr lang="en-US" sz="1800">
                <a:latin typeface="Arial"/>
                <a:ea typeface="Arial"/>
                <a:cs typeface="Arial"/>
                <a:sym typeface="Arial"/>
              </a:rPr>
              <a:t>It is also known as multi-layer perceptron (MLP).</a:t>
            </a:r>
            <a:endParaRPr sz="1800">
              <a:latin typeface="Arial"/>
              <a:ea typeface="Arial"/>
              <a:cs typeface="Arial"/>
              <a:sym typeface="Arial"/>
            </a:endParaRPr>
          </a:p>
        </p:txBody>
      </p:sp>
      <p:sp>
        <p:nvSpPr>
          <p:cNvPr id="114" name="Google Shape;114;p10"/>
          <p:cNvSpPr txBox="1"/>
          <p:nvPr/>
        </p:nvSpPr>
        <p:spPr>
          <a:xfrm>
            <a:off x="4763039" y="4769885"/>
            <a:ext cx="2163445"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latin typeface="Arial"/>
                <a:ea typeface="Arial"/>
                <a:cs typeface="Arial"/>
                <a:sym typeface="Arial"/>
              </a:rPr>
              <a:t>Image Source: Google Search Engine</a:t>
            </a:r>
            <a:endParaRPr sz="1000">
              <a:latin typeface="Arial"/>
              <a:ea typeface="Arial"/>
              <a:cs typeface="Arial"/>
              <a:sym typeface="Arial"/>
            </a:endParaRPr>
          </a:p>
        </p:txBody>
      </p:sp>
      <p:sp>
        <p:nvSpPr>
          <p:cNvPr id="115" name="Google Shape;115;p10"/>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9" name="Shape 119"/>
        <p:cNvGrpSpPr/>
        <p:nvPr/>
      </p:nvGrpSpPr>
      <p:grpSpPr>
        <a:xfrm>
          <a:off x="0" y="0"/>
          <a:ext cx="0" cy="0"/>
          <a:chOff x="0" y="0"/>
          <a:chExt cx="0" cy="0"/>
        </a:xfrm>
      </p:grpSpPr>
      <p:sp>
        <p:nvSpPr>
          <p:cNvPr descr="$PPTXTitle" id="120" name="Google Shape;120;p11"/>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Fully Connected Layer</a:t>
            </a:r>
            <a:endParaRPr/>
          </a:p>
        </p:txBody>
      </p:sp>
      <p:sp>
        <p:nvSpPr>
          <p:cNvPr id="121" name="Google Shape;121;p11"/>
          <p:cNvSpPr txBox="1"/>
          <p:nvPr/>
        </p:nvSpPr>
        <p:spPr>
          <a:xfrm>
            <a:off x="384724" y="1175208"/>
            <a:ext cx="3912870" cy="972185"/>
          </a:xfrm>
          <a:prstGeom prst="rect">
            <a:avLst/>
          </a:prstGeom>
          <a:noFill/>
          <a:ln>
            <a:noFill/>
          </a:ln>
        </p:spPr>
        <p:txBody>
          <a:bodyPr anchorCtr="0" anchor="t" bIns="0" lIns="0" spcFirstLastPara="1" rIns="0" wrap="square" tIns="12700">
            <a:spAutoFit/>
          </a:bodyPr>
          <a:lstStyle/>
          <a:p>
            <a:pPr indent="0" lvl="0" marL="12700" marR="5080" rtl="0" algn="just">
              <a:lnSpc>
                <a:spcPct val="114999"/>
              </a:lnSpc>
              <a:spcBef>
                <a:spcPts val="0"/>
              </a:spcBef>
              <a:spcAft>
                <a:spcPts val="0"/>
              </a:spcAft>
              <a:buNone/>
            </a:pPr>
            <a:r>
              <a:rPr lang="en-US" sz="1800">
                <a:latin typeface="Arial"/>
                <a:ea typeface="Arial"/>
                <a:cs typeface="Arial"/>
                <a:sym typeface="Arial"/>
              </a:rPr>
              <a:t>A fully connected layer connects every neuron in one layer to every neuron in its previous layer.</a:t>
            </a:r>
            <a:endParaRPr sz="1800">
              <a:latin typeface="Arial"/>
              <a:ea typeface="Arial"/>
              <a:cs typeface="Arial"/>
              <a:sym typeface="Arial"/>
            </a:endParaRPr>
          </a:p>
        </p:txBody>
      </p:sp>
      <p:sp>
        <p:nvSpPr>
          <p:cNvPr id="122" name="Google Shape;122;p11"/>
          <p:cNvSpPr txBox="1"/>
          <p:nvPr/>
        </p:nvSpPr>
        <p:spPr>
          <a:xfrm>
            <a:off x="384724" y="2741876"/>
            <a:ext cx="3666490" cy="1440180"/>
          </a:xfrm>
          <a:prstGeom prst="rect">
            <a:avLst/>
          </a:prstGeom>
          <a:noFill/>
          <a:ln>
            <a:noFill/>
          </a:ln>
        </p:spPr>
        <p:txBody>
          <a:bodyPr anchorCtr="0" anchor="t" bIns="0" lIns="0" spcFirstLastPara="1" rIns="0" wrap="square" tIns="12700">
            <a:spAutoFit/>
          </a:bodyPr>
          <a:lstStyle/>
          <a:p>
            <a:pPr indent="0" lvl="0" marL="12700" marR="203835" rtl="0" algn="l">
              <a:lnSpc>
                <a:spcPct val="114999"/>
              </a:lnSpc>
              <a:spcBef>
                <a:spcPts val="0"/>
              </a:spcBef>
              <a:spcAft>
                <a:spcPts val="0"/>
              </a:spcAft>
              <a:buNone/>
            </a:pPr>
            <a:r>
              <a:rPr lang="en-US" sz="1800">
                <a:latin typeface="Arial"/>
                <a:ea typeface="Arial"/>
                <a:cs typeface="Arial"/>
                <a:sym typeface="Arial"/>
              </a:rPr>
              <a:t>An image need to be turned into a vector before feeding into an fully connected layer.</a:t>
            </a:r>
            <a:endParaRPr sz="1800">
              <a:latin typeface="Arial"/>
              <a:ea typeface="Arial"/>
              <a:cs typeface="Arial"/>
              <a:sym typeface="Arial"/>
            </a:endParaRPr>
          </a:p>
          <a:p>
            <a:pPr indent="0" lvl="0" marL="12700" rtl="0" algn="l">
              <a:lnSpc>
                <a:spcPct val="100000"/>
              </a:lnSpc>
              <a:spcBef>
                <a:spcPts val="1520"/>
              </a:spcBef>
              <a:spcAft>
                <a:spcPts val="0"/>
              </a:spcAft>
              <a:buNone/>
            </a:pPr>
            <a:r>
              <a:rPr lang="en-US" sz="1800">
                <a:latin typeface="Arial"/>
                <a:ea typeface="Arial"/>
                <a:cs typeface="Arial"/>
                <a:sym typeface="Arial"/>
              </a:rPr>
              <a:t>Flatten() is used in Tensorflow.keras</a:t>
            </a:r>
            <a:endParaRPr sz="1800">
              <a:latin typeface="Arial"/>
              <a:ea typeface="Arial"/>
              <a:cs typeface="Arial"/>
              <a:sym typeface="Arial"/>
            </a:endParaRPr>
          </a:p>
        </p:txBody>
      </p:sp>
      <p:sp>
        <p:nvSpPr>
          <p:cNvPr id="123" name="Google Shape;123;p11"/>
          <p:cNvSpPr txBox="1"/>
          <p:nvPr/>
        </p:nvSpPr>
        <p:spPr>
          <a:xfrm>
            <a:off x="8781508" y="4766031"/>
            <a:ext cx="167005"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595959"/>
                </a:solidFill>
                <a:latin typeface="Arial"/>
                <a:ea typeface="Arial"/>
                <a:cs typeface="Arial"/>
                <a:sym typeface="Arial"/>
              </a:rPr>
              <a:t>14</a:t>
            </a:r>
            <a:endParaRPr sz="1000">
              <a:latin typeface="Arial"/>
              <a:ea typeface="Arial"/>
              <a:cs typeface="Arial"/>
              <a:sym typeface="Arial"/>
            </a:endParaRPr>
          </a:p>
        </p:txBody>
      </p:sp>
      <p:grpSp>
        <p:nvGrpSpPr>
          <p:cNvPr id="124" name="Google Shape;124;p11"/>
          <p:cNvGrpSpPr/>
          <p:nvPr/>
        </p:nvGrpSpPr>
        <p:grpSpPr>
          <a:xfrm>
            <a:off x="5210939" y="1376419"/>
            <a:ext cx="2582399" cy="2890413"/>
            <a:chOff x="5210939" y="1376419"/>
            <a:chExt cx="2582399" cy="2890413"/>
          </a:xfrm>
        </p:grpSpPr>
        <p:sp>
          <p:nvSpPr>
            <p:cNvPr id="125" name="Google Shape;125;p11"/>
            <p:cNvSpPr/>
            <p:nvPr/>
          </p:nvSpPr>
          <p:spPr>
            <a:xfrm>
              <a:off x="5210939" y="1376419"/>
              <a:ext cx="715645" cy="653415"/>
            </a:xfrm>
            <a:custGeom>
              <a:rect b="b" l="l" r="r" t="t"/>
              <a:pathLst>
                <a:path extrusionOk="0" h="653414" w="715645">
                  <a:moveTo>
                    <a:pt x="357749" y="652798"/>
                  </a:moveTo>
                  <a:lnTo>
                    <a:pt x="309205" y="649819"/>
                  </a:lnTo>
                  <a:lnTo>
                    <a:pt x="262647" y="641139"/>
                  </a:lnTo>
                  <a:lnTo>
                    <a:pt x="218499" y="627148"/>
                  </a:lnTo>
                  <a:lnTo>
                    <a:pt x="177188" y="608235"/>
                  </a:lnTo>
                  <a:lnTo>
                    <a:pt x="139141" y="584789"/>
                  </a:lnTo>
                  <a:lnTo>
                    <a:pt x="104784" y="557198"/>
                  </a:lnTo>
                  <a:lnTo>
                    <a:pt x="74543" y="525851"/>
                  </a:lnTo>
                  <a:lnTo>
                    <a:pt x="48844" y="491139"/>
                  </a:lnTo>
                  <a:lnTo>
                    <a:pt x="28114" y="453448"/>
                  </a:lnTo>
                  <a:lnTo>
                    <a:pt x="12779" y="413168"/>
                  </a:lnTo>
                  <a:lnTo>
                    <a:pt x="3265" y="370689"/>
                  </a:lnTo>
                  <a:lnTo>
                    <a:pt x="0" y="326399"/>
                  </a:lnTo>
                  <a:lnTo>
                    <a:pt x="3265" y="282109"/>
                  </a:lnTo>
                  <a:lnTo>
                    <a:pt x="12779" y="239629"/>
                  </a:lnTo>
                  <a:lnTo>
                    <a:pt x="28114" y="199350"/>
                  </a:lnTo>
                  <a:lnTo>
                    <a:pt x="48844" y="161659"/>
                  </a:lnTo>
                  <a:lnTo>
                    <a:pt x="74543" y="126946"/>
                  </a:lnTo>
                  <a:lnTo>
                    <a:pt x="104784" y="95600"/>
                  </a:lnTo>
                  <a:lnTo>
                    <a:pt x="139141" y="68009"/>
                  </a:lnTo>
                  <a:lnTo>
                    <a:pt x="177188" y="44563"/>
                  </a:lnTo>
                  <a:lnTo>
                    <a:pt x="218499" y="25650"/>
                  </a:lnTo>
                  <a:lnTo>
                    <a:pt x="262647" y="11659"/>
                  </a:lnTo>
                  <a:lnTo>
                    <a:pt x="309205" y="2979"/>
                  </a:lnTo>
                  <a:lnTo>
                    <a:pt x="357749" y="0"/>
                  </a:lnTo>
                  <a:lnTo>
                    <a:pt x="406292" y="2979"/>
                  </a:lnTo>
                  <a:lnTo>
                    <a:pt x="452851" y="11659"/>
                  </a:lnTo>
                  <a:lnTo>
                    <a:pt x="496999" y="25650"/>
                  </a:lnTo>
                  <a:lnTo>
                    <a:pt x="538310" y="44563"/>
                  </a:lnTo>
                  <a:lnTo>
                    <a:pt x="576357" y="68009"/>
                  </a:lnTo>
                  <a:lnTo>
                    <a:pt x="610714" y="95600"/>
                  </a:lnTo>
                  <a:lnTo>
                    <a:pt x="640955" y="126946"/>
                  </a:lnTo>
                  <a:lnTo>
                    <a:pt x="666654" y="161659"/>
                  </a:lnTo>
                  <a:lnTo>
                    <a:pt x="687384" y="199350"/>
                  </a:lnTo>
                  <a:lnTo>
                    <a:pt x="702719" y="239629"/>
                  </a:lnTo>
                  <a:lnTo>
                    <a:pt x="712232" y="282109"/>
                  </a:lnTo>
                  <a:lnTo>
                    <a:pt x="715498" y="326399"/>
                  </a:lnTo>
                  <a:lnTo>
                    <a:pt x="712232" y="370689"/>
                  </a:lnTo>
                  <a:lnTo>
                    <a:pt x="702719" y="413168"/>
                  </a:lnTo>
                  <a:lnTo>
                    <a:pt x="687384" y="453448"/>
                  </a:lnTo>
                  <a:lnTo>
                    <a:pt x="666654" y="491139"/>
                  </a:lnTo>
                  <a:lnTo>
                    <a:pt x="640955" y="525851"/>
                  </a:lnTo>
                  <a:lnTo>
                    <a:pt x="610714" y="557198"/>
                  </a:lnTo>
                  <a:lnTo>
                    <a:pt x="576357" y="584789"/>
                  </a:lnTo>
                  <a:lnTo>
                    <a:pt x="538310" y="608235"/>
                  </a:lnTo>
                  <a:lnTo>
                    <a:pt x="496999" y="627148"/>
                  </a:lnTo>
                  <a:lnTo>
                    <a:pt x="452851" y="641139"/>
                  </a:lnTo>
                  <a:lnTo>
                    <a:pt x="406292" y="649819"/>
                  </a:lnTo>
                  <a:lnTo>
                    <a:pt x="357749" y="652798"/>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6" name="Google Shape;126;p11"/>
            <p:cNvSpPr/>
            <p:nvPr/>
          </p:nvSpPr>
          <p:spPr>
            <a:xfrm>
              <a:off x="5210939" y="1376419"/>
              <a:ext cx="715645" cy="653415"/>
            </a:xfrm>
            <a:custGeom>
              <a:rect b="b" l="l" r="r" t="t"/>
              <a:pathLst>
                <a:path extrusionOk="0" h="653414" w="715645">
                  <a:moveTo>
                    <a:pt x="0" y="326399"/>
                  </a:moveTo>
                  <a:lnTo>
                    <a:pt x="3265" y="282109"/>
                  </a:lnTo>
                  <a:lnTo>
                    <a:pt x="12779" y="239629"/>
                  </a:lnTo>
                  <a:lnTo>
                    <a:pt x="28114" y="199350"/>
                  </a:lnTo>
                  <a:lnTo>
                    <a:pt x="48844" y="161659"/>
                  </a:lnTo>
                  <a:lnTo>
                    <a:pt x="74543" y="126946"/>
                  </a:lnTo>
                  <a:lnTo>
                    <a:pt x="104784" y="95600"/>
                  </a:lnTo>
                  <a:lnTo>
                    <a:pt x="139141" y="68009"/>
                  </a:lnTo>
                  <a:lnTo>
                    <a:pt x="177188" y="44563"/>
                  </a:lnTo>
                  <a:lnTo>
                    <a:pt x="218499" y="25650"/>
                  </a:lnTo>
                  <a:lnTo>
                    <a:pt x="262647" y="11659"/>
                  </a:lnTo>
                  <a:lnTo>
                    <a:pt x="309205" y="2979"/>
                  </a:lnTo>
                  <a:lnTo>
                    <a:pt x="357749" y="0"/>
                  </a:lnTo>
                  <a:lnTo>
                    <a:pt x="406292" y="2979"/>
                  </a:lnTo>
                  <a:lnTo>
                    <a:pt x="452851" y="11659"/>
                  </a:lnTo>
                  <a:lnTo>
                    <a:pt x="496999" y="25650"/>
                  </a:lnTo>
                  <a:lnTo>
                    <a:pt x="538310" y="44563"/>
                  </a:lnTo>
                  <a:lnTo>
                    <a:pt x="576357" y="68009"/>
                  </a:lnTo>
                  <a:lnTo>
                    <a:pt x="610714" y="95600"/>
                  </a:lnTo>
                  <a:lnTo>
                    <a:pt x="640955" y="126946"/>
                  </a:lnTo>
                  <a:lnTo>
                    <a:pt x="666654" y="161659"/>
                  </a:lnTo>
                  <a:lnTo>
                    <a:pt x="687384" y="199350"/>
                  </a:lnTo>
                  <a:lnTo>
                    <a:pt x="702719" y="239629"/>
                  </a:lnTo>
                  <a:lnTo>
                    <a:pt x="712232" y="282109"/>
                  </a:lnTo>
                  <a:lnTo>
                    <a:pt x="715498" y="326399"/>
                  </a:lnTo>
                  <a:lnTo>
                    <a:pt x="712232" y="370689"/>
                  </a:lnTo>
                  <a:lnTo>
                    <a:pt x="702719" y="413168"/>
                  </a:lnTo>
                  <a:lnTo>
                    <a:pt x="687384" y="453448"/>
                  </a:lnTo>
                  <a:lnTo>
                    <a:pt x="666654" y="491139"/>
                  </a:lnTo>
                  <a:lnTo>
                    <a:pt x="640955" y="525851"/>
                  </a:lnTo>
                  <a:lnTo>
                    <a:pt x="610714" y="557198"/>
                  </a:lnTo>
                  <a:lnTo>
                    <a:pt x="576357" y="584789"/>
                  </a:lnTo>
                  <a:lnTo>
                    <a:pt x="538310" y="608235"/>
                  </a:lnTo>
                  <a:lnTo>
                    <a:pt x="496999" y="627148"/>
                  </a:lnTo>
                  <a:lnTo>
                    <a:pt x="452851" y="641139"/>
                  </a:lnTo>
                  <a:lnTo>
                    <a:pt x="406292" y="649819"/>
                  </a:lnTo>
                  <a:lnTo>
                    <a:pt x="357749" y="652798"/>
                  </a:lnTo>
                  <a:lnTo>
                    <a:pt x="309205" y="649819"/>
                  </a:lnTo>
                  <a:lnTo>
                    <a:pt x="262647" y="641139"/>
                  </a:lnTo>
                  <a:lnTo>
                    <a:pt x="218499" y="627148"/>
                  </a:lnTo>
                  <a:lnTo>
                    <a:pt x="177188" y="608235"/>
                  </a:lnTo>
                  <a:lnTo>
                    <a:pt x="139141" y="584789"/>
                  </a:lnTo>
                  <a:lnTo>
                    <a:pt x="104784" y="557198"/>
                  </a:lnTo>
                  <a:lnTo>
                    <a:pt x="74543" y="525851"/>
                  </a:lnTo>
                  <a:lnTo>
                    <a:pt x="48844" y="491139"/>
                  </a:lnTo>
                  <a:lnTo>
                    <a:pt x="28114" y="453448"/>
                  </a:lnTo>
                  <a:lnTo>
                    <a:pt x="12779" y="413168"/>
                  </a:lnTo>
                  <a:lnTo>
                    <a:pt x="3265" y="370689"/>
                  </a:lnTo>
                  <a:lnTo>
                    <a:pt x="0" y="3263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7" name="Google Shape;127;p11"/>
            <p:cNvSpPr/>
            <p:nvPr/>
          </p:nvSpPr>
          <p:spPr>
            <a:xfrm>
              <a:off x="5210939" y="2547894"/>
              <a:ext cx="715645" cy="653415"/>
            </a:xfrm>
            <a:custGeom>
              <a:rect b="b" l="l" r="r" t="t"/>
              <a:pathLst>
                <a:path extrusionOk="0" h="653414" w="715645">
                  <a:moveTo>
                    <a:pt x="357749" y="652798"/>
                  </a:moveTo>
                  <a:lnTo>
                    <a:pt x="309205" y="649819"/>
                  </a:lnTo>
                  <a:lnTo>
                    <a:pt x="262647" y="641140"/>
                  </a:lnTo>
                  <a:lnTo>
                    <a:pt x="218499" y="627149"/>
                  </a:lnTo>
                  <a:lnTo>
                    <a:pt x="177188" y="608237"/>
                  </a:lnTo>
                  <a:lnTo>
                    <a:pt x="139141" y="584792"/>
                  </a:lnTo>
                  <a:lnTo>
                    <a:pt x="104784" y="557202"/>
                  </a:lnTo>
                  <a:lnTo>
                    <a:pt x="74543" y="525856"/>
                  </a:lnTo>
                  <a:lnTo>
                    <a:pt x="48844" y="491143"/>
                  </a:lnTo>
                  <a:lnTo>
                    <a:pt x="28114" y="453452"/>
                  </a:lnTo>
                  <a:lnTo>
                    <a:pt x="12779" y="413172"/>
                  </a:lnTo>
                  <a:lnTo>
                    <a:pt x="3265" y="370691"/>
                  </a:lnTo>
                  <a:lnTo>
                    <a:pt x="0" y="326399"/>
                  </a:lnTo>
                  <a:lnTo>
                    <a:pt x="3265" y="282112"/>
                  </a:lnTo>
                  <a:lnTo>
                    <a:pt x="12779" y="239634"/>
                  </a:lnTo>
                  <a:lnTo>
                    <a:pt x="28114" y="199356"/>
                  </a:lnTo>
                  <a:lnTo>
                    <a:pt x="48844" y="161666"/>
                  </a:lnTo>
                  <a:lnTo>
                    <a:pt x="74543" y="126953"/>
                  </a:lnTo>
                  <a:lnTo>
                    <a:pt x="104784" y="95606"/>
                  </a:lnTo>
                  <a:lnTo>
                    <a:pt x="139141" y="68014"/>
                  </a:lnTo>
                  <a:lnTo>
                    <a:pt x="177188" y="44566"/>
                  </a:lnTo>
                  <a:lnTo>
                    <a:pt x="218499" y="25652"/>
                  </a:lnTo>
                  <a:lnTo>
                    <a:pt x="262647" y="11660"/>
                  </a:lnTo>
                  <a:lnTo>
                    <a:pt x="309205" y="2979"/>
                  </a:lnTo>
                  <a:lnTo>
                    <a:pt x="357749" y="0"/>
                  </a:lnTo>
                  <a:lnTo>
                    <a:pt x="406292" y="2979"/>
                  </a:lnTo>
                  <a:lnTo>
                    <a:pt x="452851" y="11660"/>
                  </a:lnTo>
                  <a:lnTo>
                    <a:pt x="496999" y="25652"/>
                  </a:lnTo>
                  <a:lnTo>
                    <a:pt x="538310" y="44566"/>
                  </a:lnTo>
                  <a:lnTo>
                    <a:pt x="576357" y="68014"/>
                  </a:lnTo>
                  <a:lnTo>
                    <a:pt x="610714" y="95606"/>
                  </a:lnTo>
                  <a:lnTo>
                    <a:pt x="640955" y="126953"/>
                  </a:lnTo>
                  <a:lnTo>
                    <a:pt x="666654" y="161666"/>
                  </a:lnTo>
                  <a:lnTo>
                    <a:pt x="687384" y="199356"/>
                  </a:lnTo>
                  <a:lnTo>
                    <a:pt x="702719" y="239634"/>
                  </a:lnTo>
                  <a:lnTo>
                    <a:pt x="712232" y="282112"/>
                  </a:lnTo>
                  <a:lnTo>
                    <a:pt x="715498" y="326399"/>
                  </a:lnTo>
                  <a:lnTo>
                    <a:pt x="712232" y="370691"/>
                  </a:lnTo>
                  <a:lnTo>
                    <a:pt x="702719" y="413172"/>
                  </a:lnTo>
                  <a:lnTo>
                    <a:pt x="687384" y="453452"/>
                  </a:lnTo>
                  <a:lnTo>
                    <a:pt x="666654" y="491143"/>
                  </a:lnTo>
                  <a:lnTo>
                    <a:pt x="640955" y="525856"/>
                  </a:lnTo>
                  <a:lnTo>
                    <a:pt x="610714" y="557202"/>
                  </a:lnTo>
                  <a:lnTo>
                    <a:pt x="576357" y="584792"/>
                  </a:lnTo>
                  <a:lnTo>
                    <a:pt x="538310" y="608237"/>
                  </a:lnTo>
                  <a:lnTo>
                    <a:pt x="496999" y="627149"/>
                  </a:lnTo>
                  <a:lnTo>
                    <a:pt x="452851" y="641140"/>
                  </a:lnTo>
                  <a:lnTo>
                    <a:pt x="406292" y="649819"/>
                  </a:lnTo>
                  <a:lnTo>
                    <a:pt x="357749" y="652798"/>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8" name="Google Shape;128;p11"/>
            <p:cNvSpPr/>
            <p:nvPr/>
          </p:nvSpPr>
          <p:spPr>
            <a:xfrm>
              <a:off x="5210939" y="2547894"/>
              <a:ext cx="715645" cy="653415"/>
            </a:xfrm>
            <a:custGeom>
              <a:rect b="b" l="l" r="r" t="t"/>
              <a:pathLst>
                <a:path extrusionOk="0" h="653414" w="715645">
                  <a:moveTo>
                    <a:pt x="0" y="326399"/>
                  </a:moveTo>
                  <a:lnTo>
                    <a:pt x="3265" y="282112"/>
                  </a:lnTo>
                  <a:lnTo>
                    <a:pt x="12779" y="239634"/>
                  </a:lnTo>
                  <a:lnTo>
                    <a:pt x="28114" y="199356"/>
                  </a:lnTo>
                  <a:lnTo>
                    <a:pt x="48844" y="161666"/>
                  </a:lnTo>
                  <a:lnTo>
                    <a:pt x="74543" y="126953"/>
                  </a:lnTo>
                  <a:lnTo>
                    <a:pt x="104784" y="95606"/>
                  </a:lnTo>
                  <a:lnTo>
                    <a:pt x="139141" y="68014"/>
                  </a:lnTo>
                  <a:lnTo>
                    <a:pt x="177188" y="44566"/>
                  </a:lnTo>
                  <a:lnTo>
                    <a:pt x="218499" y="25652"/>
                  </a:lnTo>
                  <a:lnTo>
                    <a:pt x="262647" y="11660"/>
                  </a:lnTo>
                  <a:lnTo>
                    <a:pt x="309205" y="2979"/>
                  </a:lnTo>
                  <a:lnTo>
                    <a:pt x="357749" y="0"/>
                  </a:lnTo>
                  <a:lnTo>
                    <a:pt x="406292" y="2979"/>
                  </a:lnTo>
                  <a:lnTo>
                    <a:pt x="452851" y="11660"/>
                  </a:lnTo>
                  <a:lnTo>
                    <a:pt x="496999" y="25652"/>
                  </a:lnTo>
                  <a:lnTo>
                    <a:pt x="538310" y="44566"/>
                  </a:lnTo>
                  <a:lnTo>
                    <a:pt x="576357" y="68014"/>
                  </a:lnTo>
                  <a:lnTo>
                    <a:pt x="610714" y="95606"/>
                  </a:lnTo>
                  <a:lnTo>
                    <a:pt x="640955" y="126953"/>
                  </a:lnTo>
                  <a:lnTo>
                    <a:pt x="666654" y="161666"/>
                  </a:lnTo>
                  <a:lnTo>
                    <a:pt x="687384" y="199356"/>
                  </a:lnTo>
                  <a:lnTo>
                    <a:pt x="702719" y="239634"/>
                  </a:lnTo>
                  <a:lnTo>
                    <a:pt x="712232" y="282112"/>
                  </a:lnTo>
                  <a:lnTo>
                    <a:pt x="715498" y="326399"/>
                  </a:lnTo>
                  <a:lnTo>
                    <a:pt x="712232" y="370691"/>
                  </a:lnTo>
                  <a:lnTo>
                    <a:pt x="702719" y="413172"/>
                  </a:lnTo>
                  <a:lnTo>
                    <a:pt x="687384" y="453452"/>
                  </a:lnTo>
                  <a:lnTo>
                    <a:pt x="666654" y="491143"/>
                  </a:lnTo>
                  <a:lnTo>
                    <a:pt x="640955" y="525856"/>
                  </a:lnTo>
                  <a:lnTo>
                    <a:pt x="610714" y="557202"/>
                  </a:lnTo>
                  <a:lnTo>
                    <a:pt x="576357" y="584792"/>
                  </a:lnTo>
                  <a:lnTo>
                    <a:pt x="538310" y="608237"/>
                  </a:lnTo>
                  <a:lnTo>
                    <a:pt x="496999" y="627149"/>
                  </a:lnTo>
                  <a:lnTo>
                    <a:pt x="452851" y="641140"/>
                  </a:lnTo>
                  <a:lnTo>
                    <a:pt x="406292" y="649819"/>
                  </a:lnTo>
                  <a:lnTo>
                    <a:pt x="357749" y="652798"/>
                  </a:lnTo>
                  <a:lnTo>
                    <a:pt x="309205" y="649819"/>
                  </a:lnTo>
                  <a:lnTo>
                    <a:pt x="262647" y="641140"/>
                  </a:lnTo>
                  <a:lnTo>
                    <a:pt x="218499" y="627149"/>
                  </a:lnTo>
                  <a:lnTo>
                    <a:pt x="177188" y="608237"/>
                  </a:lnTo>
                  <a:lnTo>
                    <a:pt x="139141" y="584792"/>
                  </a:lnTo>
                  <a:lnTo>
                    <a:pt x="104784" y="557202"/>
                  </a:lnTo>
                  <a:lnTo>
                    <a:pt x="74543" y="525856"/>
                  </a:lnTo>
                  <a:lnTo>
                    <a:pt x="48844" y="491143"/>
                  </a:lnTo>
                  <a:lnTo>
                    <a:pt x="28114" y="453452"/>
                  </a:lnTo>
                  <a:lnTo>
                    <a:pt x="12779" y="413172"/>
                  </a:lnTo>
                  <a:lnTo>
                    <a:pt x="3265" y="370691"/>
                  </a:lnTo>
                  <a:lnTo>
                    <a:pt x="0" y="3263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9" name="Google Shape;129;p11"/>
            <p:cNvSpPr/>
            <p:nvPr/>
          </p:nvSpPr>
          <p:spPr>
            <a:xfrm>
              <a:off x="5210939" y="3613417"/>
              <a:ext cx="715645" cy="653415"/>
            </a:xfrm>
            <a:custGeom>
              <a:rect b="b" l="l" r="r" t="t"/>
              <a:pathLst>
                <a:path extrusionOk="0" h="653414" w="715645">
                  <a:moveTo>
                    <a:pt x="357749" y="652798"/>
                  </a:moveTo>
                  <a:lnTo>
                    <a:pt x="309205" y="649819"/>
                  </a:lnTo>
                  <a:lnTo>
                    <a:pt x="262647" y="641140"/>
                  </a:lnTo>
                  <a:lnTo>
                    <a:pt x="218499" y="627149"/>
                  </a:lnTo>
                  <a:lnTo>
                    <a:pt x="177188" y="608237"/>
                  </a:lnTo>
                  <a:lnTo>
                    <a:pt x="139141" y="584792"/>
                  </a:lnTo>
                  <a:lnTo>
                    <a:pt x="104784" y="557202"/>
                  </a:lnTo>
                  <a:lnTo>
                    <a:pt x="74543" y="525856"/>
                  </a:lnTo>
                  <a:lnTo>
                    <a:pt x="48844" y="491143"/>
                  </a:lnTo>
                  <a:lnTo>
                    <a:pt x="28114" y="453452"/>
                  </a:lnTo>
                  <a:lnTo>
                    <a:pt x="12779" y="413172"/>
                  </a:lnTo>
                  <a:lnTo>
                    <a:pt x="3265" y="370691"/>
                  </a:lnTo>
                  <a:lnTo>
                    <a:pt x="0" y="326399"/>
                  </a:lnTo>
                  <a:lnTo>
                    <a:pt x="3265" y="282112"/>
                  </a:lnTo>
                  <a:lnTo>
                    <a:pt x="12779" y="239634"/>
                  </a:lnTo>
                  <a:lnTo>
                    <a:pt x="28114" y="199356"/>
                  </a:lnTo>
                  <a:lnTo>
                    <a:pt x="48844" y="161666"/>
                  </a:lnTo>
                  <a:lnTo>
                    <a:pt x="74543" y="126953"/>
                  </a:lnTo>
                  <a:lnTo>
                    <a:pt x="104784" y="95606"/>
                  </a:lnTo>
                  <a:lnTo>
                    <a:pt x="139141" y="68014"/>
                  </a:lnTo>
                  <a:lnTo>
                    <a:pt x="177188" y="44566"/>
                  </a:lnTo>
                  <a:lnTo>
                    <a:pt x="218499" y="25652"/>
                  </a:lnTo>
                  <a:lnTo>
                    <a:pt x="262647" y="11660"/>
                  </a:lnTo>
                  <a:lnTo>
                    <a:pt x="309205" y="2979"/>
                  </a:lnTo>
                  <a:lnTo>
                    <a:pt x="357749" y="0"/>
                  </a:lnTo>
                  <a:lnTo>
                    <a:pt x="406292" y="2979"/>
                  </a:lnTo>
                  <a:lnTo>
                    <a:pt x="452851" y="11660"/>
                  </a:lnTo>
                  <a:lnTo>
                    <a:pt x="496999" y="25652"/>
                  </a:lnTo>
                  <a:lnTo>
                    <a:pt x="538310" y="44566"/>
                  </a:lnTo>
                  <a:lnTo>
                    <a:pt x="576357" y="68014"/>
                  </a:lnTo>
                  <a:lnTo>
                    <a:pt x="610714" y="95606"/>
                  </a:lnTo>
                  <a:lnTo>
                    <a:pt x="640955" y="126953"/>
                  </a:lnTo>
                  <a:lnTo>
                    <a:pt x="666654" y="161666"/>
                  </a:lnTo>
                  <a:lnTo>
                    <a:pt x="687384" y="199356"/>
                  </a:lnTo>
                  <a:lnTo>
                    <a:pt x="702719" y="239634"/>
                  </a:lnTo>
                  <a:lnTo>
                    <a:pt x="712232" y="282112"/>
                  </a:lnTo>
                  <a:lnTo>
                    <a:pt x="715498" y="326399"/>
                  </a:lnTo>
                  <a:lnTo>
                    <a:pt x="712232" y="370691"/>
                  </a:lnTo>
                  <a:lnTo>
                    <a:pt x="702719" y="413172"/>
                  </a:lnTo>
                  <a:lnTo>
                    <a:pt x="687384" y="453452"/>
                  </a:lnTo>
                  <a:lnTo>
                    <a:pt x="666654" y="491143"/>
                  </a:lnTo>
                  <a:lnTo>
                    <a:pt x="640955" y="525856"/>
                  </a:lnTo>
                  <a:lnTo>
                    <a:pt x="610714" y="557202"/>
                  </a:lnTo>
                  <a:lnTo>
                    <a:pt x="576357" y="584792"/>
                  </a:lnTo>
                  <a:lnTo>
                    <a:pt x="538310" y="608237"/>
                  </a:lnTo>
                  <a:lnTo>
                    <a:pt x="496999" y="627149"/>
                  </a:lnTo>
                  <a:lnTo>
                    <a:pt x="452851" y="641140"/>
                  </a:lnTo>
                  <a:lnTo>
                    <a:pt x="406292" y="649819"/>
                  </a:lnTo>
                  <a:lnTo>
                    <a:pt x="357749" y="652798"/>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0" name="Google Shape;130;p11"/>
            <p:cNvSpPr/>
            <p:nvPr/>
          </p:nvSpPr>
          <p:spPr>
            <a:xfrm>
              <a:off x="5210939" y="3613417"/>
              <a:ext cx="715645" cy="653415"/>
            </a:xfrm>
            <a:custGeom>
              <a:rect b="b" l="l" r="r" t="t"/>
              <a:pathLst>
                <a:path extrusionOk="0" h="653414" w="715645">
                  <a:moveTo>
                    <a:pt x="0" y="326399"/>
                  </a:moveTo>
                  <a:lnTo>
                    <a:pt x="3265" y="282112"/>
                  </a:lnTo>
                  <a:lnTo>
                    <a:pt x="12779" y="239634"/>
                  </a:lnTo>
                  <a:lnTo>
                    <a:pt x="28114" y="199356"/>
                  </a:lnTo>
                  <a:lnTo>
                    <a:pt x="48844" y="161666"/>
                  </a:lnTo>
                  <a:lnTo>
                    <a:pt x="74543" y="126953"/>
                  </a:lnTo>
                  <a:lnTo>
                    <a:pt x="104784" y="95606"/>
                  </a:lnTo>
                  <a:lnTo>
                    <a:pt x="139141" y="68014"/>
                  </a:lnTo>
                  <a:lnTo>
                    <a:pt x="177188" y="44566"/>
                  </a:lnTo>
                  <a:lnTo>
                    <a:pt x="218499" y="25652"/>
                  </a:lnTo>
                  <a:lnTo>
                    <a:pt x="262647" y="11660"/>
                  </a:lnTo>
                  <a:lnTo>
                    <a:pt x="309205" y="2979"/>
                  </a:lnTo>
                  <a:lnTo>
                    <a:pt x="357749" y="0"/>
                  </a:lnTo>
                  <a:lnTo>
                    <a:pt x="406292" y="2979"/>
                  </a:lnTo>
                  <a:lnTo>
                    <a:pt x="452851" y="11660"/>
                  </a:lnTo>
                  <a:lnTo>
                    <a:pt x="496999" y="25652"/>
                  </a:lnTo>
                  <a:lnTo>
                    <a:pt x="538310" y="44566"/>
                  </a:lnTo>
                  <a:lnTo>
                    <a:pt x="576357" y="68014"/>
                  </a:lnTo>
                  <a:lnTo>
                    <a:pt x="610714" y="95606"/>
                  </a:lnTo>
                  <a:lnTo>
                    <a:pt x="640955" y="126953"/>
                  </a:lnTo>
                  <a:lnTo>
                    <a:pt x="666654" y="161666"/>
                  </a:lnTo>
                  <a:lnTo>
                    <a:pt x="687384" y="199356"/>
                  </a:lnTo>
                  <a:lnTo>
                    <a:pt x="702719" y="239634"/>
                  </a:lnTo>
                  <a:lnTo>
                    <a:pt x="712232" y="282112"/>
                  </a:lnTo>
                  <a:lnTo>
                    <a:pt x="715498" y="326399"/>
                  </a:lnTo>
                  <a:lnTo>
                    <a:pt x="712232" y="370691"/>
                  </a:lnTo>
                  <a:lnTo>
                    <a:pt x="702719" y="413172"/>
                  </a:lnTo>
                  <a:lnTo>
                    <a:pt x="687384" y="453452"/>
                  </a:lnTo>
                  <a:lnTo>
                    <a:pt x="666654" y="491143"/>
                  </a:lnTo>
                  <a:lnTo>
                    <a:pt x="640955" y="525856"/>
                  </a:lnTo>
                  <a:lnTo>
                    <a:pt x="610714" y="557202"/>
                  </a:lnTo>
                  <a:lnTo>
                    <a:pt x="576357" y="584792"/>
                  </a:lnTo>
                  <a:lnTo>
                    <a:pt x="538310" y="608237"/>
                  </a:lnTo>
                  <a:lnTo>
                    <a:pt x="496999" y="627149"/>
                  </a:lnTo>
                  <a:lnTo>
                    <a:pt x="452851" y="641140"/>
                  </a:lnTo>
                  <a:lnTo>
                    <a:pt x="406292" y="649819"/>
                  </a:lnTo>
                  <a:lnTo>
                    <a:pt x="357749" y="652798"/>
                  </a:lnTo>
                  <a:lnTo>
                    <a:pt x="309205" y="649819"/>
                  </a:lnTo>
                  <a:lnTo>
                    <a:pt x="262647" y="641140"/>
                  </a:lnTo>
                  <a:lnTo>
                    <a:pt x="218499" y="627149"/>
                  </a:lnTo>
                  <a:lnTo>
                    <a:pt x="177188" y="608237"/>
                  </a:lnTo>
                  <a:lnTo>
                    <a:pt x="139141" y="584792"/>
                  </a:lnTo>
                  <a:lnTo>
                    <a:pt x="104784" y="557202"/>
                  </a:lnTo>
                  <a:lnTo>
                    <a:pt x="74543" y="525856"/>
                  </a:lnTo>
                  <a:lnTo>
                    <a:pt x="48844" y="491143"/>
                  </a:lnTo>
                  <a:lnTo>
                    <a:pt x="28114" y="453452"/>
                  </a:lnTo>
                  <a:lnTo>
                    <a:pt x="12779" y="413172"/>
                  </a:lnTo>
                  <a:lnTo>
                    <a:pt x="3265" y="370691"/>
                  </a:lnTo>
                  <a:lnTo>
                    <a:pt x="0" y="3263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1" name="Google Shape;131;p11"/>
            <p:cNvSpPr/>
            <p:nvPr/>
          </p:nvSpPr>
          <p:spPr>
            <a:xfrm>
              <a:off x="7077686" y="1757986"/>
              <a:ext cx="715645" cy="653415"/>
            </a:xfrm>
            <a:custGeom>
              <a:rect b="b" l="l" r="r" t="t"/>
              <a:pathLst>
                <a:path extrusionOk="0" h="653414" w="715645">
                  <a:moveTo>
                    <a:pt x="357749" y="652798"/>
                  </a:moveTo>
                  <a:lnTo>
                    <a:pt x="309205" y="649819"/>
                  </a:lnTo>
                  <a:lnTo>
                    <a:pt x="262647" y="641139"/>
                  </a:lnTo>
                  <a:lnTo>
                    <a:pt x="218499" y="627148"/>
                  </a:lnTo>
                  <a:lnTo>
                    <a:pt x="177188" y="608235"/>
                  </a:lnTo>
                  <a:lnTo>
                    <a:pt x="139141" y="584789"/>
                  </a:lnTo>
                  <a:lnTo>
                    <a:pt x="104784" y="557198"/>
                  </a:lnTo>
                  <a:lnTo>
                    <a:pt x="74543" y="525851"/>
                  </a:lnTo>
                  <a:lnTo>
                    <a:pt x="48844" y="491139"/>
                  </a:lnTo>
                  <a:lnTo>
                    <a:pt x="28114" y="453448"/>
                  </a:lnTo>
                  <a:lnTo>
                    <a:pt x="12779" y="413168"/>
                  </a:lnTo>
                  <a:lnTo>
                    <a:pt x="3265" y="370689"/>
                  </a:lnTo>
                  <a:lnTo>
                    <a:pt x="0" y="326399"/>
                  </a:lnTo>
                  <a:lnTo>
                    <a:pt x="3265" y="282108"/>
                  </a:lnTo>
                  <a:lnTo>
                    <a:pt x="12779" y="239628"/>
                  </a:lnTo>
                  <a:lnTo>
                    <a:pt x="28114" y="199349"/>
                  </a:lnTo>
                  <a:lnTo>
                    <a:pt x="48844" y="161658"/>
                  </a:lnTo>
                  <a:lnTo>
                    <a:pt x="74543" y="126945"/>
                  </a:lnTo>
                  <a:lnTo>
                    <a:pt x="104784" y="95599"/>
                  </a:lnTo>
                  <a:lnTo>
                    <a:pt x="139141" y="68008"/>
                  </a:lnTo>
                  <a:lnTo>
                    <a:pt x="177188" y="44562"/>
                  </a:lnTo>
                  <a:lnTo>
                    <a:pt x="218499" y="25649"/>
                  </a:lnTo>
                  <a:lnTo>
                    <a:pt x="262647" y="11659"/>
                  </a:lnTo>
                  <a:lnTo>
                    <a:pt x="309205" y="2979"/>
                  </a:lnTo>
                  <a:lnTo>
                    <a:pt x="357749" y="0"/>
                  </a:lnTo>
                  <a:lnTo>
                    <a:pt x="406292" y="2979"/>
                  </a:lnTo>
                  <a:lnTo>
                    <a:pt x="452851" y="11659"/>
                  </a:lnTo>
                  <a:lnTo>
                    <a:pt x="496999" y="25649"/>
                  </a:lnTo>
                  <a:lnTo>
                    <a:pt x="538310" y="44562"/>
                  </a:lnTo>
                  <a:lnTo>
                    <a:pt x="576357" y="68008"/>
                  </a:lnTo>
                  <a:lnTo>
                    <a:pt x="610714" y="95599"/>
                  </a:lnTo>
                  <a:lnTo>
                    <a:pt x="640955" y="126945"/>
                  </a:lnTo>
                  <a:lnTo>
                    <a:pt x="666654" y="161658"/>
                  </a:lnTo>
                  <a:lnTo>
                    <a:pt x="687384" y="199349"/>
                  </a:lnTo>
                  <a:lnTo>
                    <a:pt x="702719" y="239628"/>
                  </a:lnTo>
                  <a:lnTo>
                    <a:pt x="712232" y="282108"/>
                  </a:lnTo>
                  <a:lnTo>
                    <a:pt x="715498" y="326399"/>
                  </a:lnTo>
                  <a:lnTo>
                    <a:pt x="712232" y="370689"/>
                  </a:lnTo>
                  <a:lnTo>
                    <a:pt x="702719" y="413168"/>
                  </a:lnTo>
                  <a:lnTo>
                    <a:pt x="687384" y="453448"/>
                  </a:lnTo>
                  <a:lnTo>
                    <a:pt x="666654" y="491139"/>
                  </a:lnTo>
                  <a:lnTo>
                    <a:pt x="640955" y="525851"/>
                  </a:lnTo>
                  <a:lnTo>
                    <a:pt x="610714" y="557198"/>
                  </a:lnTo>
                  <a:lnTo>
                    <a:pt x="576357" y="584789"/>
                  </a:lnTo>
                  <a:lnTo>
                    <a:pt x="538310" y="608235"/>
                  </a:lnTo>
                  <a:lnTo>
                    <a:pt x="496999" y="627148"/>
                  </a:lnTo>
                  <a:lnTo>
                    <a:pt x="452851" y="641139"/>
                  </a:lnTo>
                  <a:lnTo>
                    <a:pt x="406292" y="649819"/>
                  </a:lnTo>
                  <a:lnTo>
                    <a:pt x="357749" y="652798"/>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2" name="Google Shape;132;p11"/>
            <p:cNvSpPr/>
            <p:nvPr/>
          </p:nvSpPr>
          <p:spPr>
            <a:xfrm>
              <a:off x="7077685" y="1757986"/>
              <a:ext cx="715645" cy="653415"/>
            </a:xfrm>
            <a:custGeom>
              <a:rect b="b" l="l" r="r" t="t"/>
              <a:pathLst>
                <a:path extrusionOk="0" h="653414" w="715645">
                  <a:moveTo>
                    <a:pt x="0" y="326399"/>
                  </a:moveTo>
                  <a:lnTo>
                    <a:pt x="3265" y="282108"/>
                  </a:lnTo>
                  <a:lnTo>
                    <a:pt x="12779" y="239628"/>
                  </a:lnTo>
                  <a:lnTo>
                    <a:pt x="28114" y="199349"/>
                  </a:lnTo>
                  <a:lnTo>
                    <a:pt x="48844" y="161658"/>
                  </a:lnTo>
                  <a:lnTo>
                    <a:pt x="74543" y="126945"/>
                  </a:lnTo>
                  <a:lnTo>
                    <a:pt x="104784" y="95599"/>
                  </a:lnTo>
                  <a:lnTo>
                    <a:pt x="139141" y="68008"/>
                  </a:lnTo>
                  <a:lnTo>
                    <a:pt x="177188" y="44562"/>
                  </a:lnTo>
                  <a:lnTo>
                    <a:pt x="218499" y="25649"/>
                  </a:lnTo>
                  <a:lnTo>
                    <a:pt x="262647" y="11659"/>
                  </a:lnTo>
                  <a:lnTo>
                    <a:pt x="309205" y="2979"/>
                  </a:lnTo>
                  <a:lnTo>
                    <a:pt x="357749" y="0"/>
                  </a:lnTo>
                  <a:lnTo>
                    <a:pt x="406292" y="2979"/>
                  </a:lnTo>
                  <a:lnTo>
                    <a:pt x="452851" y="11659"/>
                  </a:lnTo>
                  <a:lnTo>
                    <a:pt x="496999" y="25649"/>
                  </a:lnTo>
                  <a:lnTo>
                    <a:pt x="538310" y="44562"/>
                  </a:lnTo>
                  <a:lnTo>
                    <a:pt x="576357" y="68008"/>
                  </a:lnTo>
                  <a:lnTo>
                    <a:pt x="610714" y="95599"/>
                  </a:lnTo>
                  <a:lnTo>
                    <a:pt x="640955" y="126945"/>
                  </a:lnTo>
                  <a:lnTo>
                    <a:pt x="666654" y="161658"/>
                  </a:lnTo>
                  <a:lnTo>
                    <a:pt x="687384" y="199349"/>
                  </a:lnTo>
                  <a:lnTo>
                    <a:pt x="702719" y="239628"/>
                  </a:lnTo>
                  <a:lnTo>
                    <a:pt x="712232" y="282108"/>
                  </a:lnTo>
                  <a:lnTo>
                    <a:pt x="715498" y="326399"/>
                  </a:lnTo>
                  <a:lnTo>
                    <a:pt x="712232" y="370689"/>
                  </a:lnTo>
                  <a:lnTo>
                    <a:pt x="702719" y="413168"/>
                  </a:lnTo>
                  <a:lnTo>
                    <a:pt x="687384" y="453448"/>
                  </a:lnTo>
                  <a:lnTo>
                    <a:pt x="666654" y="491139"/>
                  </a:lnTo>
                  <a:lnTo>
                    <a:pt x="640955" y="525851"/>
                  </a:lnTo>
                  <a:lnTo>
                    <a:pt x="610714" y="557198"/>
                  </a:lnTo>
                  <a:lnTo>
                    <a:pt x="576357" y="584789"/>
                  </a:lnTo>
                  <a:lnTo>
                    <a:pt x="538310" y="608235"/>
                  </a:lnTo>
                  <a:lnTo>
                    <a:pt x="496999" y="627148"/>
                  </a:lnTo>
                  <a:lnTo>
                    <a:pt x="452851" y="641139"/>
                  </a:lnTo>
                  <a:lnTo>
                    <a:pt x="406292" y="649819"/>
                  </a:lnTo>
                  <a:lnTo>
                    <a:pt x="357749" y="652798"/>
                  </a:lnTo>
                  <a:lnTo>
                    <a:pt x="309205" y="649819"/>
                  </a:lnTo>
                  <a:lnTo>
                    <a:pt x="262647" y="641139"/>
                  </a:lnTo>
                  <a:lnTo>
                    <a:pt x="218499" y="627148"/>
                  </a:lnTo>
                  <a:lnTo>
                    <a:pt x="177188" y="608235"/>
                  </a:lnTo>
                  <a:lnTo>
                    <a:pt x="139141" y="584789"/>
                  </a:lnTo>
                  <a:lnTo>
                    <a:pt x="104784" y="557198"/>
                  </a:lnTo>
                  <a:lnTo>
                    <a:pt x="74543" y="525851"/>
                  </a:lnTo>
                  <a:lnTo>
                    <a:pt x="48844" y="491139"/>
                  </a:lnTo>
                  <a:lnTo>
                    <a:pt x="28114" y="453448"/>
                  </a:lnTo>
                  <a:lnTo>
                    <a:pt x="12779" y="413168"/>
                  </a:lnTo>
                  <a:lnTo>
                    <a:pt x="3265" y="370689"/>
                  </a:lnTo>
                  <a:lnTo>
                    <a:pt x="0" y="32639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3" name="Google Shape;133;p11"/>
            <p:cNvSpPr/>
            <p:nvPr/>
          </p:nvSpPr>
          <p:spPr>
            <a:xfrm>
              <a:off x="7077686" y="2960444"/>
              <a:ext cx="715645" cy="653415"/>
            </a:xfrm>
            <a:custGeom>
              <a:rect b="b" l="l" r="r" t="t"/>
              <a:pathLst>
                <a:path extrusionOk="0" h="653414" w="715645">
                  <a:moveTo>
                    <a:pt x="357749" y="652798"/>
                  </a:moveTo>
                  <a:lnTo>
                    <a:pt x="309205" y="649819"/>
                  </a:lnTo>
                  <a:lnTo>
                    <a:pt x="262647" y="641140"/>
                  </a:lnTo>
                  <a:lnTo>
                    <a:pt x="218499" y="627149"/>
                  </a:lnTo>
                  <a:lnTo>
                    <a:pt x="177188" y="608237"/>
                  </a:lnTo>
                  <a:lnTo>
                    <a:pt x="139141" y="584792"/>
                  </a:lnTo>
                  <a:lnTo>
                    <a:pt x="104784" y="557202"/>
                  </a:lnTo>
                  <a:lnTo>
                    <a:pt x="74543" y="525856"/>
                  </a:lnTo>
                  <a:lnTo>
                    <a:pt x="48844" y="491143"/>
                  </a:lnTo>
                  <a:lnTo>
                    <a:pt x="28114" y="453452"/>
                  </a:lnTo>
                  <a:lnTo>
                    <a:pt x="12779" y="413172"/>
                  </a:lnTo>
                  <a:lnTo>
                    <a:pt x="3265" y="370691"/>
                  </a:lnTo>
                  <a:lnTo>
                    <a:pt x="0" y="326399"/>
                  </a:lnTo>
                  <a:lnTo>
                    <a:pt x="3265" y="282112"/>
                  </a:lnTo>
                  <a:lnTo>
                    <a:pt x="12779" y="239634"/>
                  </a:lnTo>
                  <a:lnTo>
                    <a:pt x="28114" y="199356"/>
                  </a:lnTo>
                  <a:lnTo>
                    <a:pt x="48844" y="161666"/>
                  </a:lnTo>
                  <a:lnTo>
                    <a:pt x="74543" y="126953"/>
                  </a:lnTo>
                  <a:lnTo>
                    <a:pt x="104784" y="95606"/>
                  </a:lnTo>
                  <a:lnTo>
                    <a:pt x="139141" y="68014"/>
                  </a:lnTo>
                  <a:lnTo>
                    <a:pt x="177188" y="44566"/>
                  </a:lnTo>
                  <a:lnTo>
                    <a:pt x="218499" y="25652"/>
                  </a:lnTo>
                  <a:lnTo>
                    <a:pt x="262647" y="11660"/>
                  </a:lnTo>
                  <a:lnTo>
                    <a:pt x="309205" y="2979"/>
                  </a:lnTo>
                  <a:lnTo>
                    <a:pt x="357749" y="0"/>
                  </a:lnTo>
                  <a:lnTo>
                    <a:pt x="406292" y="2979"/>
                  </a:lnTo>
                  <a:lnTo>
                    <a:pt x="452851" y="11660"/>
                  </a:lnTo>
                  <a:lnTo>
                    <a:pt x="496999" y="25652"/>
                  </a:lnTo>
                  <a:lnTo>
                    <a:pt x="538310" y="44566"/>
                  </a:lnTo>
                  <a:lnTo>
                    <a:pt x="576357" y="68014"/>
                  </a:lnTo>
                  <a:lnTo>
                    <a:pt x="610714" y="95606"/>
                  </a:lnTo>
                  <a:lnTo>
                    <a:pt x="640955" y="126953"/>
                  </a:lnTo>
                  <a:lnTo>
                    <a:pt x="666654" y="161666"/>
                  </a:lnTo>
                  <a:lnTo>
                    <a:pt x="687384" y="199356"/>
                  </a:lnTo>
                  <a:lnTo>
                    <a:pt x="702719" y="239634"/>
                  </a:lnTo>
                  <a:lnTo>
                    <a:pt x="712232" y="282112"/>
                  </a:lnTo>
                  <a:lnTo>
                    <a:pt x="715498" y="326399"/>
                  </a:lnTo>
                  <a:lnTo>
                    <a:pt x="712232" y="370691"/>
                  </a:lnTo>
                  <a:lnTo>
                    <a:pt x="702719" y="413172"/>
                  </a:lnTo>
                  <a:lnTo>
                    <a:pt x="687384" y="453452"/>
                  </a:lnTo>
                  <a:lnTo>
                    <a:pt x="666654" y="491143"/>
                  </a:lnTo>
                  <a:lnTo>
                    <a:pt x="640955" y="525856"/>
                  </a:lnTo>
                  <a:lnTo>
                    <a:pt x="610714" y="557202"/>
                  </a:lnTo>
                  <a:lnTo>
                    <a:pt x="576357" y="584792"/>
                  </a:lnTo>
                  <a:lnTo>
                    <a:pt x="538310" y="608237"/>
                  </a:lnTo>
                  <a:lnTo>
                    <a:pt x="496999" y="627149"/>
                  </a:lnTo>
                  <a:lnTo>
                    <a:pt x="452851" y="641140"/>
                  </a:lnTo>
                  <a:lnTo>
                    <a:pt x="406292" y="649819"/>
                  </a:lnTo>
                  <a:lnTo>
                    <a:pt x="357749" y="652798"/>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4" name="Google Shape;134;p11"/>
            <p:cNvSpPr/>
            <p:nvPr/>
          </p:nvSpPr>
          <p:spPr>
            <a:xfrm>
              <a:off x="5926438" y="1702819"/>
              <a:ext cx="1866900" cy="1910714"/>
            </a:xfrm>
            <a:custGeom>
              <a:rect b="b" l="l" r="r" t="t"/>
              <a:pathLst>
                <a:path extrusionOk="0" h="1910714" w="1866900">
                  <a:moveTo>
                    <a:pt x="1151247" y="1584024"/>
                  </a:moveTo>
                  <a:lnTo>
                    <a:pt x="1154513" y="1539737"/>
                  </a:lnTo>
                  <a:lnTo>
                    <a:pt x="1164027" y="1497259"/>
                  </a:lnTo>
                  <a:lnTo>
                    <a:pt x="1179362" y="1456981"/>
                  </a:lnTo>
                  <a:lnTo>
                    <a:pt x="1200092" y="1419291"/>
                  </a:lnTo>
                  <a:lnTo>
                    <a:pt x="1225790" y="1384578"/>
                  </a:lnTo>
                  <a:lnTo>
                    <a:pt x="1256031" y="1353231"/>
                  </a:lnTo>
                  <a:lnTo>
                    <a:pt x="1290389" y="1325639"/>
                  </a:lnTo>
                  <a:lnTo>
                    <a:pt x="1328436" y="1302191"/>
                  </a:lnTo>
                  <a:lnTo>
                    <a:pt x="1369746" y="1283277"/>
                  </a:lnTo>
                  <a:lnTo>
                    <a:pt x="1413894" y="1269285"/>
                  </a:lnTo>
                  <a:lnTo>
                    <a:pt x="1460453" y="1260604"/>
                  </a:lnTo>
                  <a:lnTo>
                    <a:pt x="1508996" y="1257624"/>
                  </a:lnTo>
                  <a:lnTo>
                    <a:pt x="1557540" y="1260604"/>
                  </a:lnTo>
                  <a:lnTo>
                    <a:pt x="1604099" y="1269285"/>
                  </a:lnTo>
                  <a:lnTo>
                    <a:pt x="1648247" y="1283277"/>
                  </a:lnTo>
                  <a:lnTo>
                    <a:pt x="1689557" y="1302191"/>
                  </a:lnTo>
                  <a:lnTo>
                    <a:pt x="1727604" y="1325639"/>
                  </a:lnTo>
                  <a:lnTo>
                    <a:pt x="1761962" y="1353231"/>
                  </a:lnTo>
                  <a:lnTo>
                    <a:pt x="1792203" y="1384578"/>
                  </a:lnTo>
                  <a:lnTo>
                    <a:pt x="1817901" y="1419291"/>
                  </a:lnTo>
                  <a:lnTo>
                    <a:pt x="1838631" y="1456981"/>
                  </a:lnTo>
                  <a:lnTo>
                    <a:pt x="1853966" y="1497259"/>
                  </a:lnTo>
                  <a:lnTo>
                    <a:pt x="1863480" y="1539737"/>
                  </a:lnTo>
                  <a:lnTo>
                    <a:pt x="1866746" y="1584024"/>
                  </a:lnTo>
                  <a:lnTo>
                    <a:pt x="1863480" y="1628316"/>
                  </a:lnTo>
                  <a:lnTo>
                    <a:pt x="1853966" y="1670797"/>
                  </a:lnTo>
                  <a:lnTo>
                    <a:pt x="1838631" y="1711077"/>
                  </a:lnTo>
                  <a:lnTo>
                    <a:pt x="1817901" y="1748768"/>
                  </a:lnTo>
                  <a:lnTo>
                    <a:pt x="1792203" y="1783481"/>
                  </a:lnTo>
                  <a:lnTo>
                    <a:pt x="1761962" y="1814826"/>
                  </a:lnTo>
                  <a:lnTo>
                    <a:pt x="1727604" y="1842417"/>
                  </a:lnTo>
                  <a:lnTo>
                    <a:pt x="1689557" y="1865862"/>
                  </a:lnTo>
                  <a:lnTo>
                    <a:pt x="1648247" y="1884774"/>
                  </a:lnTo>
                  <a:lnTo>
                    <a:pt x="1604099" y="1898764"/>
                  </a:lnTo>
                  <a:lnTo>
                    <a:pt x="1557540" y="1907444"/>
                  </a:lnTo>
                  <a:lnTo>
                    <a:pt x="1508996" y="1910423"/>
                  </a:lnTo>
                  <a:lnTo>
                    <a:pt x="1460453" y="1907444"/>
                  </a:lnTo>
                  <a:lnTo>
                    <a:pt x="1413894" y="1898764"/>
                  </a:lnTo>
                  <a:lnTo>
                    <a:pt x="1369746" y="1884774"/>
                  </a:lnTo>
                  <a:lnTo>
                    <a:pt x="1328436" y="1865862"/>
                  </a:lnTo>
                  <a:lnTo>
                    <a:pt x="1290389" y="1842417"/>
                  </a:lnTo>
                  <a:lnTo>
                    <a:pt x="1256031" y="1814826"/>
                  </a:lnTo>
                  <a:lnTo>
                    <a:pt x="1225790" y="1783481"/>
                  </a:lnTo>
                  <a:lnTo>
                    <a:pt x="1200092" y="1748768"/>
                  </a:lnTo>
                  <a:lnTo>
                    <a:pt x="1179362" y="1711077"/>
                  </a:lnTo>
                  <a:lnTo>
                    <a:pt x="1164027" y="1670797"/>
                  </a:lnTo>
                  <a:lnTo>
                    <a:pt x="1154513" y="1628316"/>
                  </a:lnTo>
                  <a:lnTo>
                    <a:pt x="1151247" y="1584024"/>
                  </a:lnTo>
                  <a:close/>
                </a:path>
                <a:path extrusionOk="0" h="1910714" w="1866900">
                  <a:moveTo>
                    <a:pt x="0" y="0"/>
                  </a:moveTo>
                  <a:lnTo>
                    <a:pt x="1097147" y="363621"/>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5" name="Google Shape;135;p11"/>
            <p:cNvSpPr/>
            <p:nvPr/>
          </p:nvSpPr>
          <p:spPr>
            <a:xfrm>
              <a:off x="7018636" y="2051505"/>
              <a:ext cx="46355" cy="30480"/>
            </a:xfrm>
            <a:custGeom>
              <a:rect b="b" l="l" r="r" t="t"/>
              <a:pathLst>
                <a:path extrusionOk="0" h="30480" w="46354">
                  <a:moveTo>
                    <a:pt x="0" y="29867"/>
                  </a:moveTo>
                  <a:lnTo>
                    <a:pt x="9899" y="0"/>
                  </a:lnTo>
                  <a:lnTo>
                    <a:pt x="45974" y="28532"/>
                  </a:lnTo>
                  <a:lnTo>
                    <a:pt x="0" y="29867"/>
                  </a:lnTo>
                  <a:close/>
                </a:path>
              </a:pathLst>
            </a:custGeom>
            <a:solidFill>
              <a:srgbClr val="5959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6" name="Google Shape;136;p11"/>
            <p:cNvSpPr/>
            <p:nvPr/>
          </p:nvSpPr>
          <p:spPr>
            <a:xfrm>
              <a:off x="7018636" y="2051505"/>
              <a:ext cx="46355" cy="30480"/>
            </a:xfrm>
            <a:custGeom>
              <a:rect b="b" l="l" r="r" t="t"/>
              <a:pathLst>
                <a:path extrusionOk="0" h="30480" w="46354">
                  <a:moveTo>
                    <a:pt x="0" y="29867"/>
                  </a:moveTo>
                  <a:lnTo>
                    <a:pt x="45974" y="28532"/>
                  </a:lnTo>
                  <a:lnTo>
                    <a:pt x="9899" y="0"/>
                  </a:lnTo>
                  <a:lnTo>
                    <a:pt x="0" y="29867"/>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7" name="Google Shape;137;p11"/>
            <p:cNvSpPr/>
            <p:nvPr/>
          </p:nvSpPr>
          <p:spPr>
            <a:xfrm>
              <a:off x="5926438" y="2360540"/>
              <a:ext cx="1221740" cy="1579880"/>
            </a:xfrm>
            <a:custGeom>
              <a:rect b="b" l="l" r="r" t="t"/>
              <a:pathLst>
                <a:path extrusionOk="0" h="1579879" w="1221740">
                  <a:moveTo>
                    <a:pt x="0" y="1579276"/>
                  </a:moveTo>
                  <a:lnTo>
                    <a:pt x="1221147"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8" name="Google Shape;138;p11"/>
            <p:cNvSpPr/>
            <p:nvPr/>
          </p:nvSpPr>
          <p:spPr>
            <a:xfrm>
              <a:off x="7135135" y="2326345"/>
              <a:ext cx="39370" cy="43815"/>
            </a:xfrm>
            <a:custGeom>
              <a:rect b="b" l="l" r="r" t="t"/>
              <a:pathLst>
                <a:path extrusionOk="0" h="43814" w="39370">
                  <a:moveTo>
                    <a:pt x="24899" y="43819"/>
                  </a:moveTo>
                  <a:lnTo>
                    <a:pt x="0" y="24572"/>
                  </a:lnTo>
                  <a:lnTo>
                    <a:pt x="38874" y="0"/>
                  </a:lnTo>
                  <a:lnTo>
                    <a:pt x="24899" y="43819"/>
                  </a:lnTo>
                  <a:close/>
                </a:path>
              </a:pathLst>
            </a:custGeom>
            <a:solidFill>
              <a:srgbClr val="5959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9" name="Google Shape;139;p11"/>
            <p:cNvSpPr/>
            <p:nvPr/>
          </p:nvSpPr>
          <p:spPr>
            <a:xfrm>
              <a:off x="7135135" y="2326345"/>
              <a:ext cx="39370" cy="43815"/>
            </a:xfrm>
            <a:custGeom>
              <a:rect b="b" l="l" r="r" t="t"/>
              <a:pathLst>
                <a:path extrusionOk="0" h="43814" w="39370">
                  <a:moveTo>
                    <a:pt x="24899" y="43819"/>
                  </a:moveTo>
                  <a:lnTo>
                    <a:pt x="38874" y="0"/>
                  </a:lnTo>
                  <a:lnTo>
                    <a:pt x="0" y="24572"/>
                  </a:lnTo>
                  <a:lnTo>
                    <a:pt x="24899" y="43819"/>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0" name="Google Shape;140;p11"/>
            <p:cNvSpPr/>
            <p:nvPr/>
          </p:nvSpPr>
          <p:spPr>
            <a:xfrm>
              <a:off x="5926438" y="2874294"/>
              <a:ext cx="1097915" cy="393700"/>
            </a:xfrm>
            <a:custGeom>
              <a:rect b="b" l="l" r="r" t="t"/>
              <a:pathLst>
                <a:path extrusionOk="0" h="393700" w="1097915">
                  <a:moveTo>
                    <a:pt x="0" y="0"/>
                  </a:moveTo>
                  <a:lnTo>
                    <a:pt x="1097597" y="393224"/>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1" name="Google Shape;141;p11"/>
            <p:cNvSpPr/>
            <p:nvPr/>
          </p:nvSpPr>
          <p:spPr>
            <a:xfrm>
              <a:off x="7018736" y="3252718"/>
              <a:ext cx="46355" cy="29845"/>
            </a:xfrm>
            <a:custGeom>
              <a:rect b="b" l="l" r="r" t="t"/>
              <a:pathLst>
                <a:path extrusionOk="0" h="29845" w="46354">
                  <a:moveTo>
                    <a:pt x="0" y="29624"/>
                  </a:moveTo>
                  <a:lnTo>
                    <a:pt x="10599" y="0"/>
                  </a:lnTo>
                  <a:lnTo>
                    <a:pt x="45999" y="29399"/>
                  </a:lnTo>
                  <a:lnTo>
                    <a:pt x="0" y="29624"/>
                  </a:lnTo>
                  <a:close/>
                </a:path>
              </a:pathLst>
            </a:custGeom>
            <a:solidFill>
              <a:srgbClr val="5959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2" name="Google Shape;142;p11"/>
            <p:cNvSpPr/>
            <p:nvPr/>
          </p:nvSpPr>
          <p:spPr>
            <a:xfrm>
              <a:off x="7018736" y="3252718"/>
              <a:ext cx="46355" cy="29845"/>
            </a:xfrm>
            <a:custGeom>
              <a:rect b="b" l="l" r="r" t="t"/>
              <a:pathLst>
                <a:path extrusionOk="0" h="29845" w="46354">
                  <a:moveTo>
                    <a:pt x="0" y="29624"/>
                  </a:moveTo>
                  <a:lnTo>
                    <a:pt x="45999" y="29399"/>
                  </a:lnTo>
                  <a:lnTo>
                    <a:pt x="10599" y="0"/>
                  </a:lnTo>
                  <a:lnTo>
                    <a:pt x="0" y="29624"/>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3" name="Google Shape;143;p11"/>
            <p:cNvSpPr/>
            <p:nvPr/>
          </p:nvSpPr>
          <p:spPr>
            <a:xfrm>
              <a:off x="5926438" y="3535942"/>
              <a:ext cx="1202055" cy="404495"/>
            </a:xfrm>
            <a:custGeom>
              <a:rect b="b" l="l" r="r" t="t"/>
              <a:pathLst>
                <a:path extrusionOk="0" h="404495" w="1202054">
                  <a:moveTo>
                    <a:pt x="0" y="403874"/>
                  </a:moveTo>
                  <a:lnTo>
                    <a:pt x="1201922"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4" name="Google Shape;144;p11"/>
            <p:cNvSpPr/>
            <p:nvPr/>
          </p:nvSpPr>
          <p:spPr>
            <a:xfrm>
              <a:off x="7123360" y="3521017"/>
              <a:ext cx="46355" cy="29845"/>
            </a:xfrm>
            <a:custGeom>
              <a:rect b="b" l="l" r="r" t="t"/>
              <a:pathLst>
                <a:path extrusionOk="0" h="29845" w="46354">
                  <a:moveTo>
                    <a:pt x="10024" y="29824"/>
                  </a:moveTo>
                  <a:lnTo>
                    <a:pt x="0" y="0"/>
                  </a:lnTo>
                  <a:lnTo>
                    <a:pt x="45974" y="1149"/>
                  </a:lnTo>
                  <a:lnTo>
                    <a:pt x="10024" y="29824"/>
                  </a:lnTo>
                  <a:close/>
                </a:path>
              </a:pathLst>
            </a:custGeom>
            <a:solidFill>
              <a:srgbClr val="5959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5" name="Google Shape;145;p11"/>
            <p:cNvSpPr/>
            <p:nvPr/>
          </p:nvSpPr>
          <p:spPr>
            <a:xfrm>
              <a:off x="7123360" y="3521017"/>
              <a:ext cx="46355" cy="29845"/>
            </a:xfrm>
            <a:custGeom>
              <a:rect b="b" l="l" r="r" t="t"/>
              <a:pathLst>
                <a:path extrusionOk="0" h="29845" w="46354">
                  <a:moveTo>
                    <a:pt x="10024" y="29824"/>
                  </a:moveTo>
                  <a:lnTo>
                    <a:pt x="45974" y="1149"/>
                  </a:lnTo>
                  <a:lnTo>
                    <a:pt x="0" y="0"/>
                  </a:lnTo>
                  <a:lnTo>
                    <a:pt x="10024" y="29824"/>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6" name="Google Shape;146;p11"/>
            <p:cNvSpPr/>
            <p:nvPr/>
          </p:nvSpPr>
          <p:spPr>
            <a:xfrm>
              <a:off x="5926438" y="2116738"/>
              <a:ext cx="1104900" cy="757555"/>
            </a:xfrm>
            <a:custGeom>
              <a:rect b="b" l="l" r="r" t="t"/>
              <a:pathLst>
                <a:path extrusionOk="0" h="757555" w="1104900">
                  <a:moveTo>
                    <a:pt x="0" y="757555"/>
                  </a:moveTo>
                  <a:lnTo>
                    <a:pt x="1104272" y="0"/>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7" name="Google Shape;147;p11"/>
            <p:cNvSpPr/>
            <p:nvPr/>
          </p:nvSpPr>
          <p:spPr>
            <a:xfrm>
              <a:off x="7021810" y="2092285"/>
              <a:ext cx="45085" cy="37465"/>
            </a:xfrm>
            <a:custGeom>
              <a:rect b="b" l="l" r="r" t="t"/>
              <a:pathLst>
                <a:path extrusionOk="0" h="37464" w="45084">
                  <a:moveTo>
                    <a:pt x="17799" y="37424"/>
                  </a:moveTo>
                  <a:lnTo>
                    <a:pt x="0" y="11477"/>
                  </a:lnTo>
                  <a:lnTo>
                    <a:pt x="44549" y="0"/>
                  </a:lnTo>
                  <a:lnTo>
                    <a:pt x="17799" y="37424"/>
                  </a:lnTo>
                  <a:close/>
                </a:path>
              </a:pathLst>
            </a:custGeom>
            <a:solidFill>
              <a:srgbClr val="5959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8" name="Google Shape;148;p11"/>
            <p:cNvSpPr/>
            <p:nvPr/>
          </p:nvSpPr>
          <p:spPr>
            <a:xfrm>
              <a:off x="7021810" y="2092285"/>
              <a:ext cx="45085" cy="37465"/>
            </a:xfrm>
            <a:custGeom>
              <a:rect b="b" l="l" r="r" t="t"/>
              <a:pathLst>
                <a:path extrusionOk="0" h="37464" w="45084">
                  <a:moveTo>
                    <a:pt x="17799" y="37424"/>
                  </a:moveTo>
                  <a:lnTo>
                    <a:pt x="44549" y="0"/>
                  </a:lnTo>
                  <a:lnTo>
                    <a:pt x="0" y="11477"/>
                  </a:lnTo>
                  <a:lnTo>
                    <a:pt x="17799" y="37424"/>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9" name="Google Shape;149;p11"/>
            <p:cNvSpPr/>
            <p:nvPr/>
          </p:nvSpPr>
          <p:spPr>
            <a:xfrm>
              <a:off x="5821663" y="1933618"/>
              <a:ext cx="1316990" cy="1086485"/>
            </a:xfrm>
            <a:custGeom>
              <a:rect b="b" l="l" r="r" t="t"/>
              <a:pathLst>
                <a:path extrusionOk="0" h="1086485" w="1316990">
                  <a:moveTo>
                    <a:pt x="0" y="0"/>
                  </a:moveTo>
                  <a:lnTo>
                    <a:pt x="1316697" y="1085925"/>
                  </a:lnTo>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0" name="Google Shape;150;p11"/>
            <p:cNvSpPr/>
            <p:nvPr/>
          </p:nvSpPr>
          <p:spPr>
            <a:xfrm>
              <a:off x="7128360" y="3007419"/>
              <a:ext cx="43815" cy="40005"/>
            </a:xfrm>
            <a:custGeom>
              <a:rect b="b" l="l" r="r" t="t"/>
              <a:pathLst>
                <a:path extrusionOk="0" h="40005" w="43815">
                  <a:moveTo>
                    <a:pt x="43349" y="39649"/>
                  </a:moveTo>
                  <a:lnTo>
                    <a:pt x="0" y="24274"/>
                  </a:lnTo>
                  <a:lnTo>
                    <a:pt x="19999" y="0"/>
                  </a:lnTo>
                  <a:lnTo>
                    <a:pt x="43349" y="39649"/>
                  </a:lnTo>
                  <a:close/>
                </a:path>
              </a:pathLst>
            </a:custGeom>
            <a:solidFill>
              <a:srgbClr val="5959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1" name="Google Shape;151;p11"/>
            <p:cNvSpPr/>
            <p:nvPr/>
          </p:nvSpPr>
          <p:spPr>
            <a:xfrm>
              <a:off x="7128360" y="3007419"/>
              <a:ext cx="43815" cy="40005"/>
            </a:xfrm>
            <a:custGeom>
              <a:rect b="b" l="l" r="r" t="t"/>
              <a:pathLst>
                <a:path extrusionOk="0" h="40005" w="43815">
                  <a:moveTo>
                    <a:pt x="0" y="24274"/>
                  </a:moveTo>
                  <a:lnTo>
                    <a:pt x="43349" y="39649"/>
                  </a:lnTo>
                  <a:lnTo>
                    <a:pt x="19999" y="0"/>
                  </a:lnTo>
                  <a:lnTo>
                    <a:pt x="0" y="24274"/>
                  </a:lnTo>
                  <a:close/>
                </a:path>
              </a:pathLst>
            </a:custGeom>
            <a:noFill/>
            <a:ln cap="flat" cmpd="sng" w="9525">
              <a:solidFill>
                <a:srgbClr val="59595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52" name="Google Shape;152;p11"/>
          <p:cNvSpPr txBox="1"/>
          <p:nvPr/>
        </p:nvSpPr>
        <p:spPr>
          <a:xfrm>
            <a:off x="7250964" y="3745940"/>
            <a:ext cx="1008380" cy="75692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600">
                <a:latin typeface="Arial"/>
                <a:ea typeface="Arial"/>
                <a:cs typeface="Arial"/>
                <a:sym typeface="Arial"/>
              </a:rPr>
              <a:t>Fully Connected Layer</a:t>
            </a:r>
            <a:endParaRPr sz="1600">
              <a:latin typeface="Arial"/>
              <a:ea typeface="Arial"/>
              <a:cs typeface="Arial"/>
              <a:sym typeface="Arial"/>
            </a:endParaRPr>
          </a:p>
        </p:txBody>
      </p:sp>
      <p:sp>
        <p:nvSpPr>
          <p:cNvPr id="153" name="Google Shape;153;p11"/>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7" name="Shape 157"/>
        <p:cNvGrpSpPr/>
        <p:nvPr/>
      </p:nvGrpSpPr>
      <p:grpSpPr>
        <a:xfrm>
          <a:off x="0" y="0"/>
          <a:ext cx="0" cy="0"/>
          <a:chOff x="0" y="0"/>
          <a:chExt cx="0" cy="0"/>
        </a:xfrm>
      </p:grpSpPr>
      <p:sp>
        <p:nvSpPr>
          <p:cNvPr descr="$PPTXTitle" id="158" name="Google Shape;158;p12"/>
          <p:cNvSpPr txBox="1"/>
          <p:nvPr>
            <p:ph type="title"/>
          </p:nvPr>
        </p:nvSpPr>
        <p:spPr>
          <a:xfrm>
            <a:off x="384724" y="505247"/>
            <a:ext cx="8287384" cy="40957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US" sz="2250"/>
              <a:t>Convolution for Single-Channel Input &amp; Single-Channel Output</a:t>
            </a:r>
            <a:endParaRPr sz="2250"/>
          </a:p>
        </p:txBody>
      </p:sp>
      <p:sp>
        <p:nvSpPr>
          <p:cNvPr id="159" name="Google Shape;159;p12"/>
          <p:cNvSpPr txBox="1"/>
          <p:nvPr/>
        </p:nvSpPr>
        <p:spPr>
          <a:xfrm>
            <a:off x="384724" y="1175208"/>
            <a:ext cx="3630929" cy="2106295"/>
          </a:xfrm>
          <a:prstGeom prst="rect">
            <a:avLst/>
          </a:prstGeom>
          <a:noFill/>
          <a:ln>
            <a:noFill/>
          </a:ln>
        </p:spPr>
        <p:txBody>
          <a:bodyPr anchorCtr="0" anchor="t" bIns="0" lIns="0" spcFirstLastPara="1" rIns="0" wrap="square" tIns="12050">
            <a:spAutoFit/>
          </a:bodyPr>
          <a:lstStyle/>
          <a:p>
            <a:pPr indent="0" lvl="0" marL="12700" marR="13970" rtl="0" algn="l">
              <a:lnSpc>
                <a:spcPct val="115100"/>
              </a:lnSpc>
              <a:spcBef>
                <a:spcPts val="0"/>
              </a:spcBef>
              <a:spcAft>
                <a:spcPts val="0"/>
              </a:spcAft>
              <a:buNone/>
            </a:pPr>
            <a:r>
              <a:rPr lang="en-US" sz="1800">
                <a:latin typeface="Arial"/>
                <a:ea typeface="Arial"/>
                <a:cs typeface="Arial"/>
                <a:sym typeface="Arial"/>
              </a:rPr>
              <a:t>Convolution layer adds each element of a feature map to its local </a:t>
            </a:r>
            <a:r>
              <a:rPr lang="en-US" sz="1700">
                <a:latin typeface="Arial"/>
                <a:ea typeface="Arial"/>
                <a:cs typeface="Arial"/>
                <a:sym typeface="Arial"/>
              </a:rPr>
              <a:t>neighbors, weighted by the kernel.</a:t>
            </a:r>
            <a:endParaRPr sz="1700">
              <a:latin typeface="Arial"/>
              <a:ea typeface="Arial"/>
              <a:cs typeface="Arial"/>
              <a:sym typeface="Arial"/>
            </a:endParaRPr>
          </a:p>
          <a:p>
            <a:pPr indent="0" lvl="0" marL="12700" rtl="0" algn="l">
              <a:lnSpc>
                <a:spcPct val="100000"/>
              </a:lnSpc>
              <a:spcBef>
                <a:spcPts val="1510"/>
              </a:spcBef>
              <a:spcAft>
                <a:spcPts val="0"/>
              </a:spcAft>
              <a:buNone/>
            </a:pPr>
            <a:r>
              <a:rPr lang="en-US" sz="1600">
                <a:latin typeface="Arial"/>
                <a:ea typeface="Arial"/>
                <a:cs typeface="Arial"/>
                <a:sym typeface="Arial"/>
              </a:rPr>
              <a:t>Source pixel: 1</a:t>
            </a:r>
            <a:endParaRPr sz="1600">
              <a:latin typeface="Arial"/>
              <a:ea typeface="Arial"/>
              <a:cs typeface="Arial"/>
              <a:sym typeface="Arial"/>
            </a:endParaRPr>
          </a:p>
          <a:p>
            <a:pPr indent="0" lvl="0" marL="12700" rtl="0" algn="l">
              <a:lnSpc>
                <a:spcPct val="100000"/>
              </a:lnSpc>
              <a:spcBef>
                <a:spcPts val="1490"/>
              </a:spcBef>
              <a:spcAft>
                <a:spcPts val="0"/>
              </a:spcAft>
              <a:buNone/>
            </a:pPr>
            <a:r>
              <a:rPr lang="en-US" sz="1600">
                <a:latin typeface="Arial"/>
                <a:ea typeface="Arial"/>
                <a:cs typeface="Arial"/>
                <a:sym typeface="Arial"/>
              </a:rPr>
              <a:t>Destination pixel: 4x0 + 0x0 + 0x0 + 0x0</a:t>
            </a:r>
            <a:endParaRPr sz="1600">
              <a:latin typeface="Arial"/>
              <a:ea typeface="Arial"/>
              <a:cs typeface="Arial"/>
              <a:sym typeface="Arial"/>
            </a:endParaRPr>
          </a:p>
          <a:p>
            <a:pPr indent="0" lvl="0" marL="12700" rtl="0" algn="l">
              <a:lnSpc>
                <a:spcPct val="100000"/>
              </a:lnSpc>
              <a:spcBef>
                <a:spcPts val="285"/>
              </a:spcBef>
              <a:spcAft>
                <a:spcPts val="0"/>
              </a:spcAft>
              <a:buNone/>
            </a:pPr>
            <a:r>
              <a:rPr lang="en-US" sz="1600">
                <a:latin typeface="Arial"/>
                <a:ea typeface="Arial"/>
                <a:cs typeface="Arial"/>
                <a:sym typeface="Arial"/>
              </a:rPr>
              <a:t>+ 1x0 + 2x0 + 0x0 + 1x0 + (-4)x2 = -8</a:t>
            </a:r>
            <a:endParaRPr sz="1600">
              <a:latin typeface="Arial"/>
              <a:ea typeface="Arial"/>
              <a:cs typeface="Arial"/>
              <a:sym typeface="Arial"/>
            </a:endParaRPr>
          </a:p>
        </p:txBody>
      </p:sp>
      <p:pic>
        <p:nvPicPr>
          <p:cNvPr id="160" name="Google Shape;160;p12"/>
          <p:cNvPicPr preferRelativeResize="0"/>
          <p:nvPr/>
        </p:nvPicPr>
        <p:blipFill rotWithShape="1">
          <a:blip r:embed="rId3">
            <a:alphaModFix/>
          </a:blip>
          <a:srcRect b="0" l="0" r="0" t="0"/>
          <a:stretch/>
        </p:blipFill>
        <p:spPr>
          <a:xfrm>
            <a:off x="4011991" y="1170122"/>
            <a:ext cx="4756293" cy="2904919"/>
          </a:xfrm>
          <a:prstGeom prst="rect">
            <a:avLst/>
          </a:prstGeom>
          <a:noFill/>
          <a:ln>
            <a:noFill/>
          </a:ln>
        </p:spPr>
      </p:pic>
      <p:sp>
        <p:nvSpPr>
          <p:cNvPr id="161" name="Google Shape;161;p12"/>
          <p:cNvSpPr txBox="1"/>
          <p:nvPr/>
        </p:nvSpPr>
        <p:spPr>
          <a:xfrm>
            <a:off x="360649" y="4047510"/>
            <a:ext cx="6621780" cy="2692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600">
                <a:latin typeface="Arial"/>
                <a:ea typeface="Arial"/>
                <a:cs typeface="Arial"/>
                <a:sym typeface="Arial"/>
              </a:rPr>
              <a:t>Total number of multiplication for one pixel = kernel_height x kernel_width</a:t>
            </a:r>
            <a:endParaRPr sz="1600">
              <a:latin typeface="Arial"/>
              <a:ea typeface="Arial"/>
              <a:cs typeface="Arial"/>
              <a:sym typeface="Arial"/>
            </a:endParaRPr>
          </a:p>
        </p:txBody>
      </p:sp>
      <p:sp>
        <p:nvSpPr>
          <p:cNvPr id="162" name="Google Shape;162;p12"/>
          <p:cNvSpPr txBox="1"/>
          <p:nvPr>
            <p:ph idx="12" type="sldNum"/>
          </p:nvPr>
        </p:nvSpPr>
        <p:spPr>
          <a:xfrm>
            <a:off x="8756108" y="4778061"/>
            <a:ext cx="230623" cy="167639"/>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r>
              <a:rPr lang="en-US"/>
              <a:t>17</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6" name="Shape 166"/>
        <p:cNvGrpSpPr/>
        <p:nvPr/>
      </p:nvGrpSpPr>
      <p:grpSpPr>
        <a:xfrm>
          <a:off x="0" y="0"/>
          <a:ext cx="0" cy="0"/>
          <a:chOff x="0" y="0"/>
          <a:chExt cx="0" cy="0"/>
        </a:xfrm>
      </p:grpSpPr>
      <p:sp>
        <p:nvSpPr>
          <p:cNvPr descr="$PPTXTitle" id="167" name="Google Shape;167;p13"/>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2300"/>
              <a:t>Convolution for Multi-Channels Input &amp; Single-Channel Output</a:t>
            </a:r>
            <a:endParaRPr sz="2300"/>
          </a:p>
        </p:txBody>
      </p:sp>
      <p:sp>
        <p:nvSpPr>
          <p:cNvPr id="168" name="Google Shape;168;p13"/>
          <p:cNvSpPr txBox="1"/>
          <p:nvPr/>
        </p:nvSpPr>
        <p:spPr>
          <a:xfrm>
            <a:off x="453279" y="1263364"/>
            <a:ext cx="7399020" cy="284480"/>
          </a:xfrm>
          <a:prstGeom prst="rect">
            <a:avLst/>
          </a:prstGeom>
          <a:noFill/>
          <a:ln>
            <a:noFill/>
          </a:ln>
        </p:spPr>
        <p:txBody>
          <a:bodyPr anchorCtr="0" anchor="t" bIns="0" lIns="0" spcFirstLastPara="1" rIns="0" wrap="square" tIns="12700">
            <a:spAutoFit/>
          </a:bodyPr>
          <a:lstStyle/>
          <a:p>
            <a:pPr indent="-358775" lvl="0" marL="371475" rtl="0" algn="l">
              <a:lnSpc>
                <a:spcPct val="100000"/>
              </a:lnSpc>
              <a:spcBef>
                <a:spcPts val="0"/>
              </a:spcBef>
              <a:spcAft>
                <a:spcPts val="0"/>
              </a:spcAft>
              <a:buSzPts val="1700"/>
              <a:buFont typeface="Arial"/>
              <a:buChar char="●"/>
            </a:pPr>
            <a:r>
              <a:rPr lang="en-US" sz="1700">
                <a:latin typeface="Arial"/>
                <a:ea typeface="Arial"/>
                <a:cs typeface="Arial"/>
                <a:sym typeface="Arial"/>
              </a:rPr>
              <a:t>Number of Kernel’s Channels = Number of Input Feature Map’s Channels</a:t>
            </a:r>
            <a:endParaRPr sz="1700">
              <a:latin typeface="Arial"/>
              <a:ea typeface="Arial"/>
              <a:cs typeface="Arial"/>
              <a:sym typeface="Arial"/>
            </a:endParaRPr>
          </a:p>
        </p:txBody>
      </p:sp>
      <p:pic>
        <p:nvPicPr>
          <p:cNvPr id="169" name="Google Shape;169;p13"/>
          <p:cNvPicPr preferRelativeResize="0"/>
          <p:nvPr/>
        </p:nvPicPr>
        <p:blipFill rotWithShape="1">
          <a:blip r:embed="rId3">
            <a:alphaModFix/>
          </a:blip>
          <a:srcRect b="0" l="0" r="0" t="0"/>
          <a:stretch/>
        </p:blipFill>
        <p:spPr>
          <a:xfrm>
            <a:off x="1936921" y="1812471"/>
            <a:ext cx="6147062" cy="2893419"/>
          </a:xfrm>
          <a:prstGeom prst="rect">
            <a:avLst/>
          </a:prstGeom>
          <a:noFill/>
          <a:ln>
            <a:noFill/>
          </a:ln>
        </p:spPr>
      </p:pic>
      <p:sp>
        <p:nvSpPr>
          <p:cNvPr id="170" name="Google Shape;170;p13"/>
          <p:cNvSpPr txBox="1"/>
          <p:nvPr>
            <p:ph idx="12" type="sldNum"/>
          </p:nvPr>
        </p:nvSpPr>
        <p:spPr>
          <a:xfrm>
            <a:off x="8756108" y="4778061"/>
            <a:ext cx="230623" cy="167639"/>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r>
              <a:rPr lang="en-US"/>
              <a:t>18</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4" name="Shape 174"/>
        <p:cNvGrpSpPr/>
        <p:nvPr/>
      </p:nvGrpSpPr>
      <p:grpSpPr>
        <a:xfrm>
          <a:off x="0" y="0"/>
          <a:ext cx="0" cy="0"/>
          <a:chOff x="0" y="0"/>
          <a:chExt cx="0" cy="0"/>
        </a:xfrm>
      </p:grpSpPr>
      <p:sp>
        <p:nvSpPr>
          <p:cNvPr descr="$PPTXTitle" id="175" name="Google Shape;175;p14"/>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2300"/>
              <a:t>Convolution for Multi-Channels Input &amp; Multi-Channels Output</a:t>
            </a:r>
            <a:endParaRPr sz="2300"/>
          </a:p>
        </p:txBody>
      </p:sp>
      <p:sp>
        <p:nvSpPr>
          <p:cNvPr id="176" name="Google Shape;176;p14"/>
          <p:cNvSpPr txBox="1"/>
          <p:nvPr/>
        </p:nvSpPr>
        <p:spPr>
          <a:xfrm>
            <a:off x="460920" y="1263873"/>
            <a:ext cx="6180455" cy="269240"/>
          </a:xfrm>
          <a:prstGeom prst="rect">
            <a:avLst/>
          </a:prstGeom>
          <a:noFill/>
          <a:ln>
            <a:noFill/>
          </a:ln>
        </p:spPr>
        <p:txBody>
          <a:bodyPr anchorCtr="0" anchor="t" bIns="0" lIns="0" spcFirstLastPara="1" rIns="0" wrap="square" tIns="12700">
            <a:spAutoFit/>
          </a:bodyPr>
          <a:lstStyle/>
          <a:p>
            <a:pPr indent="-351155" lvl="0" marL="363855" rtl="0" algn="l">
              <a:lnSpc>
                <a:spcPct val="100000"/>
              </a:lnSpc>
              <a:spcBef>
                <a:spcPts val="0"/>
              </a:spcBef>
              <a:spcAft>
                <a:spcPts val="0"/>
              </a:spcAft>
              <a:buSzPts val="1600"/>
              <a:buFont typeface="Arial"/>
              <a:buChar char="●"/>
            </a:pPr>
            <a:r>
              <a:rPr lang="en-US" sz="1600">
                <a:latin typeface="Arial"/>
                <a:ea typeface="Arial"/>
                <a:cs typeface="Arial"/>
                <a:sym typeface="Arial"/>
              </a:rPr>
              <a:t>Number of Kernels = Number of Output Feature Map’s Channels</a:t>
            </a:r>
            <a:endParaRPr sz="1600">
              <a:latin typeface="Arial"/>
              <a:ea typeface="Arial"/>
              <a:cs typeface="Arial"/>
              <a:sym typeface="Arial"/>
            </a:endParaRPr>
          </a:p>
        </p:txBody>
      </p:sp>
      <p:pic>
        <p:nvPicPr>
          <p:cNvPr id="177" name="Google Shape;177;p14"/>
          <p:cNvPicPr preferRelativeResize="0"/>
          <p:nvPr/>
        </p:nvPicPr>
        <p:blipFill rotWithShape="1">
          <a:blip r:embed="rId3">
            <a:alphaModFix/>
          </a:blip>
          <a:srcRect b="0" l="0" r="0" t="0"/>
          <a:stretch/>
        </p:blipFill>
        <p:spPr>
          <a:xfrm>
            <a:off x="932310" y="1812471"/>
            <a:ext cx="7097248" cy="3026218"/>
          </a:xfrm>
          <a:prstGeom prst="rect">
            <a:avLst/>
          </a:prstGeom>
          <a:noFill/>
          <a:ln>
            <a:noFill/>
          </a:ln>
        </p:spPr>
      </p:pic>
      <p:sp>
        <p:nvSpPr>
          <p:cNvPr id="178" name="Google Shape;178;p14"/>
          <p:cNvSpPr txBox="1"/>
          <p:nvPr>
            <p:ph idx="12" type="sldNum"/>
          </p:nvPr>
        </p:nvSpPr>
        <p:spPr>
          <a:xfrm>
            <a:off x="8756108" y="4778061"/>
            <a:ext cx="230623" cy="167639"/>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r>
              <a:rPr lang="en-US"/>
              <a:t>19</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2" name="Shape 182"/>
        <p:cNvGrpSpPr/>
        <p:nvPr/>
      </p:nvGrpSpPr>
      <p:grpSpPr>
        <a:xfrm>
          <a:off x="0" y="0"/>
          <a:ext cx="0" cy="0"/>
          <a:chOff x="0" y="0"/>
          <a:chExt cx="0" cy="0"/>
        </a:xfrm>
      </p:grpSpPr>
      <p:sp>
        <p:nvSpPr>
          <p:cNvPr descr="$PPTXTitle" id="183" name="Google Shape;183;p15"/>
          <p:cNvSpPr txBox="1"/>
          <p:nvPr>
            <p:ph type="ctrTitle"/>
          </p:nvPr>
        </p:nvSpPr>
        <p:spPr>
          <a:xfrm>
            <a:off x="384724" y="505247"/>
            <a:ext cx="7348855"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Padding</a:t>
            </a:r>
            <a:endParaRPr/>
          </a:p>
        </p:txBody>
      </p:sp>
      <p:pic>
        <p:nvPicPr>
          <p:cNvPr id="184" name="Google Shape;184;p15"/>
          <p:cNvPicPr preferRelativeResize="0"/>
          <p:nvPr/>
        </p:nvPicPr>
        <p:blipFill rotWithShape="1">
          <a:blip r:embed="rId3">
            <a:alphaModFix/>
          </a:blip>
          <a:srcRect b="0" l="0" r="0" t="0"/>
          <a:stretch/>
        </p:blipFill>
        <p:spPr>
          <a:xfrm>
            <a:off x="609598" y="2629297"/>
            <a:ext cx="4385216" cy="2057768"/>
          </a:xfrm>
          <a:prstGeom prst="rect">
            <a:avLst/>
          </a:prstGeom>
          <a:noFill/>
          <a:ln>
            <a:noFill/>
          </a:ln>
        </p:spPr>
      </p:pic>
      <p:sp>
        <p:nvSpPr>
          <p:cNvPr id="185" name="Google Shape;185;p15"/>
          <p:cNvSpPr txBox="1"/>
          <p:nvPr/>
        </p:nvSpPr>
        <p:spPr>
          <a:xfrm>
            <a:off x="404849" y="1263752"/>
            <a:ext cx="4787265" cy="84836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latin typeface="Arial"/>
                <a:ea typeface="Arial"/>
                <a:cs typeface="Arial"/>
                <a:sym typeface="Arial"/>
              </a:rPr>
              <a:t>Padding preserves the spatial size of the input so that the output after convolution remains the same size or desired size.</a:t>
            </a:r>
            <a:endParaRPr sz="1800">
              <a:latin typeface="Arial"/>
              <a:ea typeface="Arial"/>
              <a:cs typeface="Arial"/>
              <a:sym typeface="Arial"/>
            </a:endParaRPr>
          </a:p>
        </p:txBody>
      </p:sp>
      <p:pic>
        <p:nvPicPr>
          <p:cNvPr id="186" name="Google Shape;186;p15"/>
          <p:cNvPicPr preferRelativeResize="0"/>
          <p:nvPr/>
        </p:nvPicPr>
        <p:blipFill rotWithShape="1">
          <a:blip r:embed="rId4">
            <a:alphaModFix/>
          </a:blip>
          <a:srcRect b="0" l="0" r="0" t="0"/>
          <a:stretch/>
        </p:blipFill>
        <p:spPr>
          <a:xfrm>
            <a:off x="5341300" y="1573056"/>
            <a:ext cx="3191845" cy="2957891"/>
          </a:xfrm>
          <a:prstGeom prst="rect">
            <a:avLst/>
          </a:prstGeom>
          <a:noFill/>
          <a:ln>
            <a:noFill/>
          </a:ln>
        </p:spPr>
      </p:pic>
      <p:sp>
        <p:nvSpPr>
          <p:cNvPr id="187" name="Google Shape;187;p15"/>
          <p:cNvSpPr txBox="1"/>
          <p:nvPr>
            <p:ph idx="12" type="sldNum"/>
          </p:nvPr>
        </p:nvSpPr>
        <p:spPr>
          <a:xfrm>
            <a:off x="8756108" y="4778061"/>
            <a:ext cx="230623" cy="167639"/>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r>
              <a:rPr lang="en-US"/>
              <a:t>20</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1" name="Shape 191"/>
        <p:cNvGrpSpPr/>
        <p:nvPr/>
      </p:nvGrpSpPr>
      <p:grpSpPr>
        <a:xfrm>
          <a:off x="0" y="0"/>
          <a:ext cx="0" cy="0"/>
          <a:chOff x="0" y="0"/>
          <a:chExt cx="0" cy="0"/>
        </a:xfrm>
      </p:grpSpPr>
      <p:sp>
        <p:nvSpPr>
          <p:cNvPr descr="$PPTXTitle" id="192" name="Google Shape;192;p16"/>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Steps of Traditional Machine Learning</a:t>
            </a:r>
            <a:endParaRPr/>
          </a:p>
        </p:txBody>
      </p:sp>
      <p:sp>
        <p:nvSpPr>
          <p:cNvPr id="193" name="Google Shape;193;p16"/>
          <p:cNvSpPr txBox="1"/>
          <p:nvPr/>
        </p:nvSpPr>
        <p:spPr>
          <a:xfrm>
            <a:off x="422675" y="1191210"/>
            <a:ext cx="3638550" cy="3274695"/>
          </a:xfrm>
          <a:prstGeom prst="rect">
            <a:avLst/>
          </a:prstGeom>
          <a:noFill/>
          <a:ln>
            <a:noFill/>
          </a:ln>
        </p:spPr>
        <p:txBody>
          <a:bodyPr anchorCtr="0" anchor="t" bIns="0" lIns="0" spcFirstLastPara="1" rIns="0" wrap="square" tIns="37450">
            <a:spAutoFit/>
          </a:bodyPr>
          <a:lstStyle/>
          <a:p>
            <a:pPr indent="-419100" lvl="0" marL="431800" rtl="0" algn="l">
              <a:lnSpc>
                <a:spcPct val="100000"/>
              </a:lnSpc>
              <a:spcBef>
                <a:spcPts val="0"/>
              </a:spcBef>
              <a:spcAft>
                <a:spcPts val="0"/>
              </a:spcAft>
              <a:buSzPts val="1800"/>
              <a:buFont typeface="Arial"/>
              <a:buAutoNum type="arabicPeriod"/>
            </a:pPr>
            <a:r>
              <a:rPr lang="en-US" sz="1800">
                <a:latin typeface="Arial"/>
                <a:ea typeface="Arial"/>
                <a:cs typeface="Arial"/>
                <a:sym typeface="Arial"/>
              </a:rPr>
              <a:t>Data Preparation:</a:t>
            </a:r>
            <a:endParaRPr sz="1800">
              <a:latin typeface="Arial"/>
              <a:ea typeface="Arial"/>
              <a:cs typeface="Arial"/>
              <a:sym typeface="Arial"/>
            </a:endParaRPr>
          </a:p>
          <a:p>
            <a:pPr indent="-355600" lvl="1" marL="889000" rtl="0" algn="l">
              <a:lnSpc>
                <a:spcPct val="100000"/>
              </a:lnSpc>
              <a:spcBef>
                <a:spcPts val="135"/>
              </a:spcBef>
              <a:spcAft>
                <a:spcPts val="0"/>
              </a:spcAft>
              <a:buSzPts val="1200"/>
              <a:buFont typeface="Arial"/>
              <a:buAutoNum type="alphaLcPeriod"/>
            </a:pPr>
            <a:r>
              <a:rPr lang="en-US" sz="1200">
                <a:latin typeface="Arial"/>
                <a:ea typeface="Arial"/>
                <a:cs typeface="Arial"/>
                <a:sym typeface="Arial"/>
              </a:rPr>
              <a:t>Data Collection</a:t>
            </a:r>
            <a:endParaRPr sz="1200">
              <a:latin typeface="Arial"/>
              <a:ea typeface="Arial"/>
              <a:cs typeface="Arial"/>
              <a:sym typeface="Arial"/>
            </a:endParaRPr>
          </a:p>
          <a:p>
            <a:pPr indent="-355600" lvl="1" marL="889000" rtl="0" algn="l">
              <a:lnSpc>
                <a:spcPct val="100000"/>
              </a:lnSpc>
              <a:spcBef>
                <a:spcPts val="70"/>
              </a:spcBef>
              <a:spcAft>
                <a:spcPts val="0"/>
              </a:spcAft>
              <a:buSzPts val="1200"/>
              <a:buFont typeface="Arial"/>
              <a:buAutoNum type="alphaLcPeriod"/>
            </a:pPr>
            <a:r>
              <a:rPr lang="en-US" sz="1200">
                <a:latin typeface="Arial"/>
                <a:ea typeface="Arial"/>
                <a:cs typeface="Arial"/>
                <a:sym typeface="Arial"/>
              </a:rPr>
              <a:t>Data Splitting</a:t>
            </a:r>
            <a:endParaRPr sz="1200">
              <a:latin typeface="Arial"/>
              <a:ea typeface="Arial"/>
              <a:cs typeface="Arial"/>
              <a:sym typeface="Arial"/>
            </a:endParaRPr>
          </a:p>
          <a:p>
            <a:pPr indent="-419100" lvl="0" marL="431800" rtl="0" algn="l">
              <a:lnSpc>
                <a:spcPct val="100000"/>
              </a:lnSpc>
              <a:spcBef>
                <a:spcPts val="50"/>
              </a:spcBef>
              <a:spcAft>
                <a:spcPts val="0"/>
              </a:spcAft>
              <a:buSzPts val="1800"/>
              <a:buFont typeface="Arial"/>
              <a:buAutoNum type="arabicPeriod"/>
            </a:pPr>
            <a:r>
              <a:rPr lang="en-US" sz="1800">
                <a:latin typeface="Arial"/>
                <a:ea typeface="Arial"/>
                <a:cs typeface="Arial"/>
                <a:sym typeface="Arial"/>
              </a:rPr>
              <a:t>Data pre-processing</a:t>
            </a:r>
            <a:endParaRPr sz="1800">
              <a:latin typeface="Arial"/>
              <a:ea typeface="Arial"/>
              <a:cs typeface="Arial"/>
              <a:sym typeface="Arial"/>
            </a:endParaRPr>
          </a:p>
          <a:p>
            <a:pPr indent="-355600" lvl="1" marL="889000" rtl="0" algn="l">
              <a:lnSpc>
                <a:spcPct val="100000"/>
              </a:lnSpc>
              <a:spcBef>
                <a:spcPts val="130"/>
              </a:spcBef>
              <a:spcAft>
                <a:spcPts val="0"/>
              </a:spcAft>
              <a:buSzPts val="1200"/>
              <a:buFont typeface="Arial"/>
              <a:buAutoNum type="alphaLcPeriod"/>
            </a:pPr>
            <a:r>
              <a:rPr lang="en-US" sz="1200">
                <a:latin typeface="Arial"/>
                <a:ea typeface="Arial"/>
                <a:cs typeface="Arial"/>
                <a:sym typeface="Arial"/>
              </a:rPr>
              <a:t>Data Cleaning</a:t>
            </a:r>
            <a:endParaRPr sz="1200">
              <a:latin typeface="Arial"/>
              <a:ea typeface="Arial"/>
              <a:cs typeface="Arial"/>
              <a:sym typeface="Arial"/>
            </a:endParaRPr>
          </a:p>
          <a:p>
            <a:pPr indent="-355600" lvl="1" marL="889000" rtl="0" algn="l">
              <a:lnSpc>
                <a:spcPct val="100000"/>
              </a:lnSpc>
              <a:spcBef>
                <a:spcPts val="70"/>
              </a:spcBef>
              <a:spcAft>
                <a:spcPts val="0"/>
              </a:spcAft>
              <a:buSzPts val="1200"/>
              <a:buFont typeface="Arial"/>
              <a:buAutoNum type="alphaLcPeriod"/>
            </a:pPr>
            <a:r>
              <a:rPr lang="en-US" sz="1200">
                <a:latin typeface="Arial"/>
                <a:ea typeface="Arial"/>
                <a:cs typeface="Arial"/>
                <a:sym typeface="Arial"/>
              </a:rPr>
              <a:t>Data Transformation</a:t>
            </a:r>
            <a:endParaRPr sz="1200">
              <a:latin typeface="Arial"/>
              <a:ea typeface="Arial"/>
              <a:cs typeface="Arial"/>
              <a:sym typeface="Arial"/>
            </a:endParaRPr>
          </a:p>
          <a:p>
            <a:pPr indent="-419100" lvl="0" marL="431800" rtl="0" algn="l">
              <a:lnSpc>
                <a:spcPct val="100000"/>
              </a:lnSpc>
              <a:spcBef>
                <a:spcPts val="50"/>
              </a:spcBef>
              <a:spcAft>
                <a:spcPts val="0"/>
              </a:spcAft>
              <a:buSzPts val="1800"/>
              <a:buFont typeface="Arial"/>
              <a:buAutoNum type="arabicPeriod"/>
            </a:pPr>
            <a:r>
              <a:rPr lang="en-US" sz="1800">
                <a:latin typeface="Arial"/>
                <a:ea typeface="Arial"/>
                <a:cs typeface="Arial"/>
                <a:sym typeface="Arial"/>
              </a:rPr>
              <a:t>Feature Extraction:</a:t>
            </a:r>
            <a:endParaRPr sz="1800">
              <a:latin typeface="Arial"/>
              <a:ea typeface="Arial"/>
              <a:cs typeface="Arial"/>
              <a:sym typeface="Arial"/>
            </a:endParaRPr>
          </a:p>
          <a:p>
            <a:pPr indent="-345440" lvl="1" marL="889000" rtl="0" algn="l">
              <a:lnSpc>
                <a:spcPct val="100000"/>
              </a:lnSpc>
              <a:spcBef>
                <a:spcPts val="135"/>
              </a:spcBef>
              <a:spcAft>
                <a:spcPts val="0"/>
              </a:spcAft>
              <a:buSzPts val="1100"/>
              <a:buFont typeface="Arial"/>
              <a:buAutoNum type="alphaLcPeriod"/>
            </a:pPr>
            <a:r>
              <a:rPr lang="en-US" sz="1100">
                <a:latin typeface="Arial"/>
                <a:ea typeface="Arial"/>
                <a:cs typeface="Arial"/>
                <a:sym typeface="Arial"/>
              </a:rPr>
              <a:t>Identify Relevant Features</a:t>
            </a:r>
            <a:endParaRPr sz="1100">
              <a:latin typeface="Arial"/>
              <a:ea typeface="Arial"/>
              <a:cs typeface="Arial"/>
              <a:sym typeface="Arial"/>
            </a:endParaRPr>
          </a:p>
          <a:p>
            <a:pPr indent="-345440" lvl="1" marL="889000" rtl="0" algn="l">
              <a:lnSpc>
                <a:spcPct val="100000"/>
              </a:lnSpc>
              <a:spcBef>
                <a:spcPts val="65"/>
              </a:spcBef>
              <a:spcAft>
                <a:spcPts val="0"/>
              </a:spcAft>
              <a:buSzPts val="1100"/>
              <a:buFont typeface="Arial"/>
              <a:buAutoNum type="alphaLcPeriod"/>
            </a:pPr>
            <a:r>
              <a:rPr lang="en-US" sz="1100">
                <a:latin typeface="Arial"/>
                <a:ea typeface="Arial"/>
                <a:cs typeface="Arial"/>
                <a:sym typeface="Arial"/>
              </a:rPr>
              <a:t>Extract and Transform Features</a:t>
            </a:r>
            <a:endParaRPr sz="1100">
              <a:latin typeface="Arial"/>
              <a:ea typeface="Arial"/>
              <a:cs typeface="Arial"/>
              <a:sym typeface="Arial"/>
            </a:endParaRPr>
          </a:p>
          <a:p>
            <a:pPr indent="-419100" lvl="0" marL="431800" rtl="0" algn="l">
              <a:lnSpc>
                <a:spcPct val="100000"/>
              </a:lnSpc>
              <a:spcBef>
                <a:spcPts val="40"/>
              </a:spcBef>
              <a:spcAft>
                <a:spcPts val="0"/>
              </a:spcAft>
              <a:buSzPts val="1800"/>
              <a:buFont typeface="Arial"/>
              <a:buAutoNum type="arabicPeriod"/>
            </a:pPr>
            <a:r>
              <a:rPr lang="en-US" sz="1800">
                <a:latin typeface="Arial"/>
                <a:ea typeface="Arial"/>
                <a:cs typeface="Arial"/>
                <a:sym typeface="Arial"/>
              </a:rPr>
              <a:t>Training Classifier:</a:t>
            </a:r>
            <a:endParaRPr sz="1800">
              <a:latin typeface="Arial"/>
              <a:ea typeface="Arial"/>
              <a:cs typeface="Arial"/>
              <a:sym typeface="Arial"/>
            </a:endParaRPr>
          </a:p>
          <a:p>
            <a:pPr indent="-345440" lvl="1" marL="889000" rtl="0" algn="l">
              <a:lnSpc>
                <a:spcPct val="100000"/>
              </a:lnSpc>
              <a:spcBef>
                <a:spcPts val="125"/>
              </a:spcBef>
              <a:spcAft>
                <a:spcPts val="0"/>
              </a:spcAft>
              <a:buSzPts val="1100"/>
              <a:buFont typeface="Arial"/>
              <a:buAutoNum type="alphaLcPeriod"/>
            </a:pPr>
            <a:r>
              <a:rPr lang="en-US" sz="1400">
                <a:latin typeface="Arial"/>
                <a:ea typeface="Arial"/>
                <a:cs typeface="Arial"/>
                <a:sym typeface="Arial"/>
              </a:rPr>
              <a:t>Model selection</a:t>
            </a:r>
            <a:endParaRPr sz="1400">
              <a:latin typeface="Arial"/>
              <a:ea typeface="Arial"/>
              <a:cs typeface="Arial"/>
              <a:sym typeface="Arial"/>
            </a:endParaRPr>
          </a:p>
          <a:p>
            <a:pPr indent="-345440" lvl="1" marL="889000" rtl="0" algn="l">
              <a:lnSpc>
                <a:spcPct val="100000"/>
              </a:lnSpc>
              <a:spcBef>
                <a:spcPts val="85"/>
              </a:spcBef>
              <a:spcAft>
                <a:spcPts val="0"/>
              </a:spcAft>
              <a:buSzPts val="1100"/>
              <a:buFont typeface="Arial"/>
              <a:buAutoNum type="alphaLcPeriod"/>
            </a:pPr>
            <a:r>
              <a:rPr lang="en-US" sz="1400">
                <a:latin typeface="Arial"/>
                <a:ea typeface="Arial"/>
                <a:cs typeface="Arial"/>
                <a:sym typeface="Arial"/>
              </a:rPr>
              <a:t>Searching for optimum parameters</a:t>
            </a:r>
            <a:endParaRPr sz="1400">
              <a:latin typeface="Arial"/>
              <a:ea typeface="Arial"/>
              <a:cs typeface="Arial"/>
              <a:sym typeface="Arial"/>
            </a:endParaRPr>
          </a:p>
          <a:p>
            <a:pPr indent="-419100" lvl="0" marL="431800" rtl="0" algn="l">
              <a:lnSpc>
                <a:spcPct val="100000"/>
              </a:lnSpc>
              <a:spcBef>
                <a:spcPts val="65"/>
              </a:spcBef>
              <a:spcAft>
                <a:spcPts val="0"/>
              </a:spcAft>
              <a:buSzPts val="1800"/>
              <a:buFont typeface="Arial"/>
              <a:buAutoNum type="arabicPeriod"/>
            </a:pPr>
            <a:r>
              <a:rPr lang="en-US" sz="1800">
                <a:latin typeface="Arial"/>
                <a:ea typeface="Arial"/>
                <a:cs typeface="Arial"/>
                <a:sym typeface="Arial"/>
              </a:rPr>
              <a:t>Evaluation</a:t>
            </a:r>
            <a:endParaRPr sz="1800">
              <a:latin typeface="Arial"/>
              <a:ea typeface="Arial"/>
              <a:cs typeface="Arial"/>
              <a:sym typeface="Arial"/>
            </a:endParaRPr>
          </a:p>
          <a:p>
            <a:pPr indent="-345440" lvl="1" marL="889000" rtl="0" algn="l">
              <a:lnSpc>
                <a:spcPct val="100000"/>
              </a:lnSpc>
              <a:spcBef>
                <a:spcPts val="125"/>
              </a:spcBef>
              <a:spcAft>
                <a:spcPts val="0"/>
              </a:spcAft>
              <a:buSzPts val="1100"/>
              <a:buFont typeface="Arial"/>
              <a:buAutoNum type="alphaLcPeriod"/>
            </a:pPr>
            <a:r>
              <a:rPr lang="en-US" sz="1400">
                <a:latin typeface="Arial"/>
                <a:ea typeface="Arial"/>
                <a:cs typeface="Arial"/>
                <a:sym typeface="Arial"/>
              </a:rPr>
              <a:t>Estimate metrics using test set</a:t>
            </a:r>
            <a:endParaRPr sz="1400">
              <a:latin typeface="Arial"/>
              <a:ea typeface="Arial"/>
              <a:cs typeface="Arial"/>
              <a:sym typeface="Arial"/>
            </a:endParaRPr>
          </a:p>
        </p:txBody>
      </p:sp>
      <p:sp>
        <p:nvSpPr>
          <p:cNvPr id="194" name="Google Shape;194;p16"/>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8" name="Shape 198"/>
        <p:cNvGrpSpPr/>
        <p:nvPr/>
      </p:nvGrpSpPr>
      <p:grpSpPr>
        <a:xfrm>
          <a:off x="0" y="0"/>
          <a:ext cx="0" cy="0"/>
          <a:chOff x="0" y="0"/>
          <a:chExt cx="0" cy="0"/>
        </a:xfrm>
      </p:grpSpPr>
      <p:sp>
        <p:nvSpPr>
          <p:cNvPr descr="$PPTXTitle" id="199" name="Google Shape;199;p17"/>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End-to-End Learning</a:t>
            </a:r>
            <a:endParaRPr/>
          </a:p>
        </p:txBody>
      </p:sp>
      <p:sp>
        <p:nvSpPr>
          <p:cNvPr id="200" name="Google Shape;200;p17"/>
          <p:cNvSpPr txBox="1"/>
          <p:nvPr/>
        </p:nvSpPr>
        <p:spPr>
          <a:xfrm>
            <a:off x="384724" y="1216356"/>
            <a:ext cx="7985759" cy="20294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End-to-end learning or end-to-end training, is a machine learning model that:</a:t>
            </a:r>
            <a:endParaRPr sz="1800">
              <a:latin typeface="Arial"/>
              <a:ea typeface="Arial"/>
              <a:cs typeface="Arial"/>
              <a:sym typeface="Arial"/>
            </a:endParaRPr>
          </a:p>
          <a:p>
            <a:pPr indent="-367030" lvl="0" marL="469265" marR="5080" rtl="0" algn="l">
              <a:lnSpc>
                <a:spcPct val="114999"/>
              </a:lnSpc>
              <a:spcBef>
                <a:spcPts val="1200"/>
              </a:spcBef>
              <a:spcAft>
                <a:spcPts val="0"/>
              </a:spcAft>
              <a:buSzPts val="1800"/>
              <a:buFont typeface="Arial"/>
              <a:buChar char="●"/>
            </a:pPr>
            <a:r>
              <a:rPr lang="en-US" sz="1800">
                <a:latin typeface="Arial"/>
                <a:ea typeface="Arial"/>
                <a:cs typeface="Arial"/>
                <a:sym typeface="Arial"/>
              </a:rPr>
              <a:t>learns directly from raw input data to produce a desired output, without the need for manual feature engineering or pre-processing steps.</a:t>
            </a:r>
            <a:endParaRPr sz="1800">
              <a:latin typeface="Arial"/>
              <a:ea typeface="Arial"/>
              <a:cs typeface="Arial"/>
              <a:sym typeface="Arial"/>
            </a:endParaRPr>
          </a:p>
          <a:p>
            <a:pPr indent="-366395" lvl="0" marL="469265" rtl="0" algn="l">
              <a:lnSpc>
                <a:spcPct val="100000"/>
              </a:lnSpc>
              <a:spcBef>
                <a:spcPts val="320"/>
              </a:spcBef>
              <a:spcAft>
                <a:spcPts val="0"/>
              </a:spcAft>
              <a:buSzPts val="1800"/>
              <a:buFont typeface="Arial"/>
              <a:buChar char="●"/>
            </a:pPr>
            <a:r>
              <a:rPr lang="en-US" sz="1800">
                <a:latin typeface="Arial"/>
                <a:ea typeface="Arial"/>
                <a:cs typeface="Arial"/>
                <a:sym typeface="Arial"/>
              </a:rPr>
              <a:t>gets popularity in deep learning.</a:t>
            </a:r>
            <a:endParaRPr sz="1800">
              <a:latin typeface="Arial"/>
              <a:ea typeface="Arial"/>
              <a:cs typeface="Arial"/>
              <a:sym typeface="Arial"/>
            </a:endParaRPr>
          </a:p>
          <a:p>
            <a:pPr indent="-367030" lvl="0" marL="469265" marR="334645" rtl="0" algn="l">
              <a:lnSpc>
                <a:spcPct val="114999"/>
              </a:lnSpc>
              <a:spcBef>
                <a:spcPts val="0"/>
              </a:spcBef>
              <a:spcAft>
                <a:spcPts val="0"/>
              </a:spcAft>
              <a:buSzPts val="1800"/>
              <a:buFont typeface="Arial"/>
              <a:buChar char="●"/>
            </a:pPr>
            <a:r>
              <a:rPr lang="en-US" sz="1800">
                <a:latin typeface="Arial"/>
                <a:ea typeface="Arial"/>
                <a:cs typeface="Arial"/>
                <a:sym typeface="Arial"/>
              </a:rPr>
              <a:t>bypasses few steps of traditional learning such as data pre-processing, feature extraction.</a:t>
            </a:r>
            <a:endParaRPr sz="1800">
              <a:latin typeface="Arial"/>
              <a:ea typeface="Arial"/>
              <a:cs typeface="Arial"/>
              <a:sym typeface="Arial"/>
            </a:endParaRPr>
          </a:p>
        </p:txBody>
      </p:sp>
      <p:sp>
        <p:nvSpPr>
          <p:cNvPr id="201" name="Google Shape;201;p17"/>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5" name="Shape 205"/>
        <p:cNvGrpSpPr/>
        <p:nvPr/>
      </p:nvGrpSpPr>
      <p:grpSpPr>
        <a:xfrm>
          <a:off x="0" y="0"/>
          <a:ext cx="0" cy="0"/>
          <a:chOff x="0" y="0"/>
          <a:chExt cx="0" cy="0"/>
        </a:xfrm>
      </p:grpSpPr>
      <p:sp>
        <p:nvSpPr>
          <p:cNvPr descr="$PPTXTitle" id="206" name="Google Shape;206;p18"/>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Kernel</a:t>
            </a:r>
            <a:endParaRPr/>
          </a:p>
        </p:txBody>
      </p:sp>
      <p:sp>
        <p:nvSpPr>
          <p:cNvPr id="207" name="Google Shape;207;p18"/>
          <p:cNvSpPr txBox="1"/>
          <p:nvPr/>
        </p:nvSpPr>
        <p:spPr>
          <a:xfrm>
            <a:off x="475248" y="1175208"/>
            <a:ext cx="8060690" cy="3226435"/>
          </a:xfrm>
          <a:prstGeom prst="rect">
            <a:avLst/>
          </a:prstGeom>
          <a:noFill/>
          <a:ln>
            <a:noFill/>
          </a:ln>
        </p:spPr>
        <p:txBody>
          <a:bodyPr anchorCtr="0" anchor="t" bIns="0" lIns="0" spcFirstLastPara="1" rIns="0" wrap="square" tIns="12700">
            <a:spAutoFit/>
          </a:bodyPr>
          <a:lstStyle/>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In computer vision, kernel is a (usually) small matrix of numbers that is used in image convolutions.</a:t>
            </a:r>
            <a:endParaRPr sz="1800">
              <a:latin typeface="Arial"/>
              <a:ea typeface="Arial"/>
              <a:cs typeface="Arial"/>
              <a:sym typeface="Arial"/>
            </a:endParaRPr>
          </a:p>
          <a:p>
            <a:pPr indent="-367030" lvl="0" marL="379095" marR="444500" rtl="0" algn="l">
              <a:lnSpc>
                <a:spcPct val="114999"/>
              </a:lnSpc>
              <a:spcBef>
                <a:spcPts val="0"/>
              </a:spcBef>
              <a:spcAft>
                <a:spcPts val="0"/>
              </a:spcAft>
              <a:buSzPts val="1800"/>
              <a:buFont typeface="Arial"/>
              <a:buChar char="●"/>
            </a:pPr>
            <a:r>
              <a:rPr lang="en-US" sz="1800">
                <a:latin typeface="Arial"/>
                <a:ea typeface="Arial"/>
                <a:cs typeface="Arial"/>
                <a:sym typeface="Arial"/>
              </a:rPr>
              <a:t>Different sized kernels containing different patterns of numbers produce different results under convolution.</a:t>
            </a:r>
            <a:endParaRPr sz="1800">
              <a:latin typeface="Arial"/>
              <a:ea typeface="Arial"/>
              <a:cs typeface="Arial"/>
              <a:sym typeface="Arial"/>
            </a:endParaRPr>
          </a:p>
          <a:p>
            <a:pPr indent="-367030" lvl="0" marL="379095" marR="287020" rtl="0" algn="l">
              <a:lnSpc>
                <a:spcPct val="114999"/>
              </a:lnSpc>
              <a:spcBef>
                <a:spcPts val="0"/>
              </a:spcBef>
              <a:spcAft>
                <a:spcPts val="0"/>
              </a:spcAft>
              <a:buSzPts val="1800"/>
              <a:buFont typeface="Arial"/>
              <a:buChar char="●"/>
            </a:pPr>
            <a:r>
              <a:rPr lang="en-US" sz="1800">
                <a:latin typeface="Arial"/>
                <a:ea typeface="Arial"/>
                <a:cs typeface="Arial"/>
                <a:sym typeface="Arial"/>
              </a:rPr>
              <a:t>Generally, small odd numbers such as 3, 5, or 7 are used as the size of a kernel.</a:t>
            </a:r>
            <a:endParaRPr sz="1800">
              <a:latin typeface="Arial"/>
              <a:ea typeface="Arial"/>
              <a:cs typeface="Arial"/>
              <a:sym typeface="Arial"/>
            </a:endParaRPr>
          </a:p>
          <a:p>
            <a:pPr indent="-366395" lvl="0" marL="379095" rtl="0" algn="l">
              <a:lnSpc>
                <a:spcPct val="100000"/>
              </a:lnSpc>
              <a:spcBef>
                <a:spcPts val="320"/>
              </a:spcBef>
              <a:spcAft>
                <a:spcPts val="0"/>
              </a:spcAft>
              <a:buSzPts val="1800"/>
              <a:buFont typeface="Arial"/>
              <a:buChar char="●"/>
            </a:pPr>
            <a:r>
              <a:rPr lang="en-US" sz="1800">
                <a:latin typeface="Arial"/>
                <a:ea typeface="Arial"/>
                <a:cs typeface="Arial"/>
                <a:sym typeface="Arial"/>
              </a:rPr>
              <a:t>Popular human-decided kernels:</a:t>
            </a:r>
            <a:endParaRPr sz="1800">
              <a:latin typeface="Arial"/>
              <a:ea typeface="Arial"/>
              <a:cs typeface="Arial"/>
              <a:sym typeface="Arial"/>
            </a:endParaRPr>
          </a:p>
          <a:p>
            <a:pPr indent="-335915" lvl="1" marL="836294" rtl="0" algn="l">
              <a:lnSpc>
                <a:spcPct val="100000"/>
              </a:lnSpc>
              <a:spcBef>
                <a:spcPts val="340"/>
              </a:spcBef>
              <a:spcAft>
                <a:spcPts val="0"/>
              </a:spcAft>
              <a:buSzPts val="1400"/>
              <a:buFont typeface="Arial"/>
              <a:buChar char="○"/>
            </a:pPr>
            <a:r>
              <a:rPr lang="en-US" sz="1400">
                <a:latin typeface="Arial"/>
                <a:ea typeface="Arial"/>
                <a:cs typeface="Arial"/>
                <a:sym typeface="Arial"/>
              </a:rPr>
              <a:t>Gaussian Blur Kernel</a:t>
            </a:r>
            <a:endParaRPr sz="1400">
              <a:latin typeface="Arial"/>
              <a:ea typeface="Arial"/>
              <a:cs typeface="Arial"/>
              <a:sym typeface="Arial"/>
            </a:endParaRPr>
          </a:p>
          <a:p>
            <a:pPr indent="-335915" lvl="1" marL="836294" rtl="0" algn="l">
              <a:lnSpc>
                <a:spcPct val="100000"/>
              </a:lnSpc>
              <a:spcBef>
                <a:spcPts val="254"/>
              </a:spcBef>
              <a:spcAft>
                <a:spcPts val="0"/>
              </a:spcAft>
              <a:buSzPts val="1400"/>
              <a:buFont typeface="Arial"/>
              <a:buChar char="○"/>
            </a:pPr>
            <a:r>
              <a:rPr lang="en-US" sz="1400">
                <a:latin typeface="Arial"/>
                <a:ea typeface="Arial"/>
                <a:cs typeface="Arial"/>
                <a:sym typeface="Arial"/>
              </a:rPr>
              <a:t>Laplacian Kernel</a:t>
            </a:r>
            <a:endParaRPr sz="1400">
              <a:latin typeface="Arial"/>
              <a:ea typeface="Arial"/>
              <a:cs typeface="Arial"/>
              <a:sym typeface="Arial"/>
            </a:endParaRPr>
          </a:p>
          <a:p>
            <a:pPr indent="-335915" lvl="1" marL="836294" rtl="0" algn="l">
              <a:lnSpc>
                <a:spcPct val="100000"/>
              </a:lnSpc>
              <a:spcBef>
                <a:spcPts val="250"/>
              </a:spcBef>
              <a:spcAft>
                <a:spcPts val="0"/>
              </a:spcAft>
              <a:buSzPts val="1400"/>
              <a:buFont typeface="Arial"/>
              <a:buChar char="○"/>
            </a:pPr>
            <a:r>
              <a:rPr lang="en-US" sz="1400">
                <a:latin typeface="Arial"/>
                <a:ea typeface="Arial"/>
                <a:cs typeface="Arial"/>
                <a:sym typeface="Arial"/>
              </a:rPr>
              <a:t>Prewitt Kernel</a:t>
            </a:r>
            <a:endParaRPr sz="1400">
              <a:latin typeface="Arial"/>
              <a:ea typeface="Arial"/>
              <a:cs typeface="Arial"/>
              <a:sym typeface="Arial"/>
            </a:endParaRPr>
          </a:p>
          <a:p>
            <a:pPr indent="-335915" lvl="1" marL="836294" rtl="0" algn="l">
              <a:lnSpc>
                <a:spcPct val="100000"/>
              </a:lnSpc>
              <a:spcBef>
                <a:spcPts val="254"/>
              </a:spcBef>
              <a:spcAft>
                <a:spcPts val="0"/>
              </a:spcAft>
              <a:buSzPts val="1400"/>
              <a:buFont typeface="Arial"/>
              <a:buChar char="○"/>
            </a:pPr>
            <a:r>
              <a:rPr lang="en-US" sz="1400">
                <a:latin typeface="Arial"/>
                <a:ea typeface="Arial"/>
                <a:cs typeface="Arial"/>
                <a:sym typeface="Arial"/>
              </a:rPr>
              <a:t>Sobel Kernel</a:t>
            </a:r>
            <a:endParaRPr sz="1400">
              <a:latin typeface="Arial"/>
              <a:ea typeface="Arial"/>
              <a:cs typeface="Arial"/>
              <a:sym typeface="Arial"/>
            </a:endParaRPr>
          </a:p>
        </p:txBody>
      </p:sp>
      <p:sp>
        <p:nvSpPr>
          <p:cNvPr id="208" name="Google Shape;208;p18"/>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2" name="Shape 212"/>
        <p:cNvGrpSpPr/>
        <p:nvPr/>
      </p:nvGrpSpPr>
      <p:grpSpPr>
        <a:xfrm>
          <a:off x="0" y="0"/>
          <a:ext cx="0" cy="0"/>
          <a:chOff x="0" y="0"/>
          <a:chExt cx="0" cy="0"/>
        </a:xfrm>
      </p:grpSpPr>
      <p:sp>
        <p:nvSpPr>
          <p:cNvPr descr="$PPTXTitle" id="213" name="Google Shape;213;p19"/>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Feature Map</a:t>
            </a:r>
            <a:endParaRPr/>
          </a:p>
        </p:txBody>
      </p:sp>
      <p:sp>
        <p:nvSpPr>
          <p:cNvPr id="214" name="Google Shape;214;p19"/>
          <p:cNvSpPr txBox="1"/>
          <p:nvPr/>
        </p:nvSpPr>
        <p:spPr>
          <a:xfrm>
            <a:off x="384724" y="1216356"/>
            <a:ext cx="7701915" cy="26498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A feature map:</a:t>
            </a:r>
            <a:endParaRPr sz="1800">
              <a:latin typeface="Arial"/>
              <a:ea typeface="Arial"/>
              <a:cs typeface="Arial"/>
              <a:sym typeface="Arial"/>
            </a:endParaRPr>
          </a:p>
          <a:p>
            <a:pPr indent="-366395" lvl="0" marL="469265" rtl="0" algn="l">
              <a:lnSpc>
                <a:spcPct val="100000"/>
              </a:lnSpc>
              <a:spcBef>
                <a:spcPts val="1520"/>
              </a:spcBef>
              <a:spcAft>
                <a:spcPts val="0"/>
              </a:spcAft>
              <a:buSzPts val="1800"/>
              <a:buFont typeface="Arial"/>
              <a:buChar char="●"/>
            </a:pPr>
            <a:r>
              <a:rPr lang="en-US" sz="1800">
                <a:latin typeface="Arial"/>
                <a:ea typeface="Arial"/>
                <a:cs typeface="Arial"/>
                <a:sym typeface="Arial"/>
              </a:rPr>
              <a:t>is a 2D matrix in a hidden layer</a:t>
            </a:r>
            <a:endParaRPr sz="1800">
              <a:latin typeface="Arial"/>
              <a:ea typeface="Arial"/>
              <a:cs typeface="Arial"/>
              <a:sym typeface="Arial"/>
            </a:endParaRPr>
          </a:p>
          <a:p>
            <a:pPr indent="-366395" lvl="0" marL="469265" rtl="0" algn="l">
              <a:lnSpc>
                <a:spcPct val="100000"/>
              </a:lnSpc>
              <a:spcBef>
                <a:spcPts val="325"/>
              </a:spcBef>
              <a:spcAft>
                <a:spcPts val="0"/>
              </a:spcAft>
              <a:buSzPts val="1800"/>
              <a:buFont typeface="Arial"/>
              <a:buChar char="●"/>
            </a:pPr>
            <a:r>
              <a:rPr lang="en-US" sz="1800">
                <a:latin typeface="Arial"/>
                <a:ea typeface="Arial"/>
                <a:cs typeface="Arial"/>
                <a:sym typeface="Arial"/>
              </a:rPr>
              <a:t>represents the output of a convolutional layer</a:t>
            </a:r>
            <a:endParaRPr sz="1800">
              <a:latin typeface="Arial"/>
              <a:ea typeface="Arial"/>
              <a:cs typeface="Arial"/>
              <a:sym typeface="Arial"/>
            </a:endParaRPr>
          </a:p>
          <a:p>
            <a:pPr indent="-366395" lvl="0" marL="469265" rtl="0" algn="l">
              <a:lnSpc>
                <a:spcPct val="100000"/>
              </a:lnSpc>
              <a:spcBef>
                <a:spcPts val="325"/>
              </a:spcBef>
              <a:spcAft>
                <a:spcPts val="0"/>
              </a:spcAft>
              <a:buSzPts val="1800"/>
              <a:buFont typeface="Arial"/>
              <a:buChar char="●"/>
            </a:pPr>
            <a:r>
              <a:rPr lang="en-US" sz="1800">
                <a:latin typeface="Arial"/>
                <a:ea typeface="Arial"/>
                <a:cs typeface="Arial"/>
                <a:sym typeface="Arial"/>
              </a:rPr>
              <a:t>captures specific features or patterns in the input data.</a:t>
            </a:r>
            <a:endParaRPr sz="1800">
              <a:latin typeface="Arial"/>
              <a:ea typeface="Arial"/>
              <a:cs typeface="Arial"/>
              <a:sym typeface="Arial"/>
            </a:endParaRPr>
          </a:p>
          <a:p>
            <a:pPr indent="0" lvl="0" marL="12700" rtl="0" algn="l">
              <a:lnSpc>
                <a:spcPct val="100000"/>
              </a:lnSpc>
              <a:spcBef>
                <a:spcPts val="1525"/>
              </a:spcBef>
              <a:spcAft>
                <a:spcPts val="0"/>
              </a:spcAft>
              <a:buNone/>
            </a:pPr>
            <a:r>
              <a:rPr lang="en-US" sz="1800">
                <a:latin typeface="Arial"/>
                <a:ea typeface="Arial"/>
                <a:cs typeface="Arial"/>
                <a:sym typeface="Arial"/>
              </a:rPr>
              <a:t>In a CNN:</a:t>
            </a:r>
            <a:endParaRPr sz="1800">
              <a:latin typeface="Arial"/>
              <a:ea typeface="Arial"/>
              <a:cs typeface="Arial"/>
              <a:sym typeface="Arial"/>
            </a:endParaRPr>
          </a:p>
          <a:p>
            <a:pPr indent="-367030" lvl="0" marL="469265" marR="5080" rtl="0" algn="l">
              <a:lnSpc>
                <a:spcPct val="114999"/>
              </a:lnSpc>
              <a:spcBef>
                <a:spcPts val="1200"/>
              </a:spcBef>
              <a:spcAft>
                <a:spcPts val="0"/>
              </a:spcAft>
              <a:buSzPts val="1800"/>
              <a:buFont typeface="Arial"/>
              <a:buChar char="●"/>
            </a:pPr>
            <a:r>
              <a:rPr lang="en-US" sz="1800">
                <a:latin typeface="Arial"/>
                <a:ea typeface="Arial"/>
                <a:cs typeface="Arial"/>
                <a:sym typeface="Arial"/>
              </a:rPr>
              <a:t>Instead of human-decided kernels/filters, different automatically learned kernels/filters are used to generate different feature maps</a:t>
            </a:r>
            <a:endParaRPr sz="1800">
              <a:latin typeface="Arial"/>
              <a:ea typeface="Arial"/>
              <a:cs typeface="Arial"/>
              <a:sym typeface="Arial"/>
            </a:endParaRPr>
          </a:p>
        </p:txBody>
      </p:sp>
      <p:sp>
        <p:nvSpPr>
          <p:cNvPr id="215" name="Google Shape;215;p19"/>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9" name="Shape 219"/>
        <p:cNvGrpSpPr/>
        <p:nvPr/>
      </p:nvGrpSpPr>
      <p:grpSpPr>
        <a:xfrm>
          <a:off x="0" y="0"/>
          <a:ext cx="0" cy="0"/>
          <a:chOff x="0" y="0"/>
          <a:chExt cx="0" cy="0"/>
        </a:xfrm>
      </p:grpSpPr>
      <p:sp>
        <p:nvSpPr>
          <p:cNvPr descr="$PPTXTitle" id="220" name="Google Shape;220;p20"/>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Activation Function</a:t>
            </a:r>
            <a:endParaRPr/>
          </a:p>
        </p:txBody>
      </p:sp>
      <p:sp>
        <p:nvSpPr>
          <p:cNvPr id="221" name="Google Shape;221;p20"/>
          <p:cNvSpPr txBox="1"/>
          <p:nvPr/>
        </p:nvSpPr>
        <p:spPr>
          <a:xfrm>
            <a:off x="475248" y="1134060"/>
            <a:ext cx="8275320" cy="3533140"/>
          </a:xfrm>
          <a:prstGeom prst="rect">
            <a:avLst/>
          </a:prstGeom>
          <a:noFill/>
          <a:ln>
            <a:noFill/>
          </a:ln>
        </p:spPr>
        <p:txBody>
          <a:bodyPr anchorCtr="0" anchor="t" bIns="0" lIns="0" spcFirstLastPara="1" rIns="0" wrap="square" tIns="12700">
            <a:spAutoFit/>
          </a:bodyPr>
          <a:lstStyle/>
          <a:p>
            <a:pPr indent="-367030" lvl="0" marL="379095" marR="191770" rtl="0" algn="l">
              <a:lnSpc>
                <a:spcPct val="130000"/>
              </a:lnSpc>
              <a:spcBef>
                <a:spcPts val="0"/>
              </a:spcBef>
              <a:spcAft>
                <a:spcPts val="0"/>
              </a:spcAft>
              <a:buSzPts val="1800"/>
              <a:buFont typeface="Arial"/>
              <a:buChar char="●"/>
            </a:pPr>
            <a:r>
              <a:rPr lang="en-US" sz="1800">
                <a:latin typeface="Arial"/>
                <a:ea typeface="Arial"/>
                <a:cs typeface="Arial"/>
                <a:sym typeface="Arial"/>
              </a:rPr>
              <a:t>An activation function is a mathematical equation that determines how much data should be passed from a neuron to the next neuron.</a:t>
            </a:r>
            <a:endParaRPr sz="1800">
              <a:latin typeface="Arial"/>
              <a:ea typeface="Arial"/>
              <a:cs typeface="Arial"/>
              <a:sym typeface="Arial"/>
            </a:endParaRPr>
          </a:p>
          <a:p>
            <a:pPr indent="-367030" lvl="0" marL="379095" marR="816610" rtl="0" algn="l">
              <a:lnSpc>
                <a:spcPct val="130000"/>
              </a:lnSpc>
              <a:spcBef>
                <a:spcPts val="0"/>
              </a:spcBef>
              <a:spcAft>
                <a:spcPts val="0"/>
              </a:spcAft>
              <a:buSzPts val="1800"/>
              <a:buFont typeface="Arial"/>
              <a:buChar char="●"/>
            </a:pPr>
            <a:r>
              <a:rPr lang="en-US" sz="1800">
                <a:latin typeface="Arial"/>
                <a:ea typeface="Arial"/>
                <a:cs typeface="Arial"/>
                <a:sym typeface="Arial"/>
              </a:rPr>
              <a:t>It is the function that is applied on the weighted sum of the input of the neuron, i.e., it is </a:t>
            </a:r>
            <a:r>
              <a:rPr lang="en-US" sz="1800">
                <a:solidFill>
                  <a:srgbClr val="970000"/>
                </a:solidFill>
                <a:latin typeface="Arial"/>
                <a:ea typeface="Arial"/>
                <a:cs typeface="Arial"/>
                <a:sym typeface="Arial"/>
              </a:rPr>
              <a:t>𝒈(𝒖).</a:t>
            </a:r>
            <a:endParaRPr sz="1800">
              <a:latin typeface="Arial"/>
              <a:ea typeface="Arial"/>
              <a:cs typeface="Arial"/>
              <a:sym typeface="Arial"/>
            </a:endParaRPr>
          </a:p>
          <a:p>
            <a:pPr indent="-367030" lvl="0" marL="379095" marR="728980" rtl="0" algn="l">
              <a:lnSpc>
                <a:spcPct val="130000"/>
              </a:lnSpc>
              <a:spcBef>
                <a:spcPts val="0"/>
              </a:spcBef>
              <a:spcAft>
                <a:spcPts val="0"/>
              </a:spcAft>
              <a:buSzPts val="1800"/>
              <a:buFont typeface="Arial"/>
              <a:buChar char="●"/>
            </a:pPr>
            <a:r>
              <a:rPr lang="en-US" sz="1800">
                <a:latin typeface="Arial"/>
                <a:ea typeface="Arial"/>
                <a:cs typeface="Arial"/>
                <a:sym typeface="Arial"/>
              </a:rPr>
              <a:t>Generally, it is a nonlinear function for a neuron in the hidden layer and linear/non-linear function for neurons in the output layer.</a:t>
            </a:r>
            <a:endParaRPr sz="1800">
              <a:latin typeface="Arial"/>
              <a:ea typeface="Arial"/>
              <a:cs typeface="Arial"/>
              <a:sym typeface="Arial"/>
            </a:endParaRPr>
          </a:p>
          <a:p>
            <a:pPr indent="-367030" lvl="0" marL="379095" marR="5080" rtl="0" algn="l">
              <a:lnSpc>
                <a:spcPct val="130000"/>
              </a:lnSpc>
              <a:spcBef>
                <a:spcPts val="0"/>
              </a:spcBef>
              <a:spcAft>
                <a:spcPts val="0"/>
              </a:spcAft>
              <a:buSzPts val="1800"/>
              <a:buFont typeface="Arial"/>
              <a:buChar char="●"/>
            </a:pPr>
            <a:r>
              <a:rPr lang="en-US" sz="1800">
                <a:latin typeface="Arial"/>
                <a:ea typeface="Arial"/>
                <a:cs typeface="Arial"/>
                <a:sym typeface="Arial"/>
              </a:rPr>
              <a:t>A linear activation function, also known as "no activation" or "identity function," is directly proportional to the input.</a:t>
            </a:r>
            <a:endParaRPr sz="1800">
              <a:latin typeface="Arial"/>
              <a:ea typeface="Arial"/>
              <a:cs typeface="Arial"/>
              <a:sym typeface="Arial"/>
            </a:endParaRPr>
          </a:p>
          <a:p>
            <a:pPr indent="-366395" lvl="0" marL="379095" rtl="0" algn="l">
              <a:lnSpc>
                <a:spcPct val="100000"/>
              </a:lnSpc>
              <a:spcBef>
                <a:spcPts val="645"/>
              </a:spcBef>
              <a:spcAft>
                <a:spcPts val="0"/>
              </a:spcAft>
              <a:buSzPts val="1800"/>
              <a:buFont typeface="Arial"/>
              <a:buChar char="●"/>
            </a:pPr>
            <a:r>
              <a:rPr lang="en-US" sz="1800">
                <a:latin typeface="Arial"/>
                <a:ea typeface="Arial"/>
                <a:cs typeface="Arial"/>
                <a:sym typeface="Arial"/>
              </a:rPr>
              <a:t>Popular non-linear activation functions are:</a:t>
            </a:r>
            <a:endParaRPr sz="1800">
              <a:latin typeface="Arial"/>
              <a:ea typeface="Arial"/>
              <a:cs typeface="Arial"/>
              <a:sym typeface="Arial"/>
            </a:endParaRPr>
          </a:p>
          <a:p>
            <a:pPr indent="-335915" lvl="1" marL="836294" rtl="0" algn="l">
              <a:lnSpc>
                <a:spcPct val="100000"/>
              </a:lnSpc>
              <a:spcBef>
                <a:spcPts val="665"/>
              </a:spcBef>
              <a:spcAft>
                <a:spcPts val="0"/>
              </a:spcAft>
              <a:buSzPts val="1400"/>
              <a:buFont typeface="Arial"/>
              <a:buChar char="○"/>
            </a:pPr>
            <a:r>
              <a:rPr lang="en-US" sz="1400">
                <a:latin typeface="Arial"/>
                <a:ea typeface="Arial"/>
                <a:cs typeface="Arial"/>
                <a:sym typeface="Arial"/>
              </a:rPr>
              <a:t>Sigmoid, Tanh, ReLU, ELU, Softmax</a:t>
            </a:r>
            <a:endParaRPr sz="1400">
              <a:latin typeface="Arial"/>
              <a:ea typeface="Arial"/>
              <a:cs typeface="Arial"/>
              <a:sym typeface="Arial"/>
            </a:endParaRPr>
          </a:p>
        </p:txBody>
      </p:sp>
      <p:sp>
        <p:nvSpPr>
          <p:cNvPr id="222" name="Google Shape;222;p20"/>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6" name="Shape 226"/>
        <p:cNvGrpSpPr/>
        <p:nvPr/>
      </p:nvGrpSpPr>
      <p:grpSpPr>
        <a:xfrm>
          <a:off x="0" y="0"/>
          <a:ext cx="0" cy="0"/>
          <a:chOff x="0" y="0"/>
          <a:chExt cx="0" cy="0"/>
        </a:xfrm>
      </p:grpSpPr>
      <p:sp>
        <p:nvSpPr>
          <p:cNvPr descr="$PPTXTitle" id="227" name="Google Shape;227;p21"/>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Activation Functions</a:t>
            </a:r>
            <a:endParaRPr/>
          </a:p>
        </p:txBody>
      </p:sp>
      <p:sp>
        <p:nvSpPr>
          <p:cNvPr id="228" name="Google Shape;228;p21"/>
          <p:cNvSpPr txBox="1"/>
          <p:nvPr/>
        </p:nvSpPr>
        <p:spPr>
          <a:xfrm>
            <a:off x="8781508" y="4766031"/>
            <a:ext cx="167005"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595959"/>
                </a:solidFill>
                <a:latin typeface="Arial"/>
                <a:ea typeface="Arial"/>
                <a:cs typeface="Arial"/>
                <a:sym typeface="Arial"/>
              </a:rPr>
              <a:t>18</a:t>
            </a:r>
            <a:endParaRPr sz="1000">
              <a:latin typeface="Arial"/>
              <a:ea typeface="Arial"/>
              <a:cs typeface="Arial"/>
              <a:sym typeface="Arial"/>
            </a:endParaRPr>
          </a:p>
        </p:txBody>
      </p:sp>
      <p:sp>
        <p:nvSpPr>
          <p:cNvPr id="229" name="Google Shape;229;p21"/>
          <p:cNvSpPr txBox="1"/>
          <p:nvPr/>
        </p:nvSpPr>
        <p:spPr>
          <a:xfrm>
            <a:off x="526198" y="1181809"/>
            <a:ext cx="2410460" cy="3495675"/>
          </a:xfrm>
          <a:prstGeom prst="rect">
            <a:avLst/>
          </a:prstGeom>
          <a:noFill/>
          <a:ln>
            <a:noFill/>
          </a:ln>
        </p:spPr>
        <p:txBody>
          <a:bodyPr anchorCtr="0" anchor="t" bIns="0" lIns="0" spcFirstLastPara="1" rIns="0" wrap="square" tIns="12700">
            <a:spAutoFit/>
          </a:bodyPr>
          <a:lstStyle/>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Linear activation function in the output layer generally used for regression problem.</a:t>
            </a:r>
            <a:endParaRPr sz="1800">
              <a:latin typeface="Arial"/>
              <a:ea typeface="Arial"/>
              <a:cs typeface="Arial"/>
              <a:sym typeface="Arial"/>
            </a:endParaRPr>
          </a:p>
          <a:p>
            <a:pPr indent="0" lvl="0" marL="0" rtl="0" algn="l">
              <a:lnSpc>
                <a:spcPct val="100000"/>
              </a:lnSpc>
              <a:spcBef>
                <a:spcPts val="409"/>
              </a:spcBef>
              <a:spcAft>
                <a:spcPts val="0"/>
              </a:spcAft>
              <a:buSzPts val="1800"/>
              <a:buFont typeface="Arial"/>
              <a:buNone/>
            </a:pPr>
            <a:r>
              <a:t/>
            </a:r>
            <a:endParaRPr sz="1800">
              <a:latin typeface="Arial"/>
              <a:ea typeface="Arial"/>
              <a:cs typeface="Arial"/>
              <a:sym typeface="Arial"/>
            </a:endParaRPr>
          </a:p>
          <a:p>
            <a:pPr indent="-367030" lvl="0" marL="379095" marR="118745" rtl="0" algn="l">
              <a:lnSpc>
                <a:spcPct val="114999"/>
              </a:lnSpc>
              <a:spcBef>
                <a:spcPts val="5"/>
              </a:spcBef>
              <a:spcAft>
                <a:spcPts val="0"/>
              </a:spcAft>
              <a:buSzPts val="1800"/>
              <a:buFont typeface="Arial"/>
              <a:buChar char="●"/>
            </a:pPr>
            <a:r>
              <a:rPr lang="en-US" sz="1800">
                <a:latin typeface="Arial"/>
                <a:ea typeface="Arial"/>
                <a:cs typeface="Arial"/>
                <a:sym typeface="Arial"/>
              </a:rPr>
              <a:t>Depending on the range of output values, we need to choose activation function.</a:t>
            </a:r>
            <a:endParaRPr sz="1800">
              <a:latin typeface="Arial"/>
              <a:ea typeface="Arial"/>
              <a:cs typeface="Arial"/>
              <a:sym typeface="Arial"/>
            </a:endParaRPr>
          </a:p>
        </p:txBody>
      </p:sp>
      <p:pic>
        <p:nvPicPr>
          <p:cNvPr id="230" name="Google Shape;230;p21"/>
          <p:cNvPicPr preferRelativeResize="0"/>
          <p:nvPr/>
        </p:nvPicPr>
        <p:blipFill rotWithShape="1">
          <a:blip r:embed="rId3">
            <a:alphaModFix/>
          </a:blip>
          <a:srcRect b="0" l="0" r="0" t="0"/>
          <a:stretch/>
        </p:blipFill>
        <p:spPr>
          <a:xfrm>
            <a:off x="3155143" y="1159072"/>
            <a:ext cx="5544813" cy="3504142"/>
          </a:xfrm>
          <a:prstGeom prst="rect">
            <a:avLst/>
          </a:prstGeom>
          <a:noFill/>
          <a:ln>
            <a:noFill/>
          </a:ln>
        </p:spPr>
      </p:pic>
      <p:sp>
        <p:nvSpPr>
          <p:cNvPr id="231" name="Google Shape;231;p21"/>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5" name="Shape 235"/>
        <p:cNvGrpSpPr/>
        <p:nvPr/>
      </p:nvGrpSpPr>
      <p:grpSpPr>
        <a:xfrm>
          <a:off x="0" y="0"/>
          <a:ext cx="0" cy="0"/>
          <a:chOff x="0" y="0"/>
          <a:chExt cx="0" cy="0"/>
        </a:xfrm>
      </p:grpSpPr>
      <p:sp>
        <p:nvSpPr>
          <p:cNvPr descr="$PPTXTitle" id="236" name="Google Shape;236;p22"/>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Some Popular Activation Functions</a:t>
            </a:r>
            <a:endParaRPr/>
          </a:p>
        </p:txBody>
      </p:sp>
      <p:sp>
        <p:nvSpPr>
          <p:cNvPr id="237" name="Google Shape;237;p22"/>
          <p:cNvSpPr txBox="1"/>
          <p:nvPr/>
        </p:nvSpPr>
        <p:spPr>
          <a:xfrm>
            <a:off x="505992" y="1186384"/>
            <a:ext cx="8039734" cy="3460750"/>
          </a:xfrm>
          <a:prstGeom prst="rect">
            <a:avLst/>
          </a:prstGeom>
          <a:noFill/>
          <a:ln>
            <a:noFill/>
          </a:ln>
        </p:spPr>
        <p:txBody>
          <a:bodyPr anchorCtr="0" anchor="t" bIns="0" lIns="0" spcFirstLastPara="1" rIns="0" wrap="square" tIns="44450">
            <a:spAutoFit/>
          </a:bodyPr>
          <a:lstStyle/>
          <a:p>
            <a:pPr indent="-335280" lvl="0" marL="347980" rtl="0" algn="l">
              <a:lnSpc>
                <a:spcPct val="100000"/>
              </a:lnSpc>
              <a:spcBef>
                <a:spcPts val="0"/>
              </a:spcBef>
              <a:spcAft>
                <a:spcPts val="0"/>
              </a:spcAft>
              <a:buSzPts val="1400"/>
              <a:buFont typeface="Arial"/>
              <a:buChar char="●"/>
            </a:pPr>
            <a:r>
              <a:rPr b="1" lang="en-US" sz="1400">
                <a:latin typeface="Arial"/>
                <a:ea typeface="Arial"/>
                <a:cs typeface="Arial"/>
                <a:sym typeface="Arial"/>
              </a:rPr>
              <a:t>Sigmoid</a:t>
            </a:r>
            <a:endParaRPr sz="1400">
              <a:latin typeface="Arial"/>
              <a:ea typeface="Arial"/>
              <a:cs typeface="Arial"/>
              <a:sym typeface="Arial"/>
            </a:endParaRPr>
          </a:p>
          <a:p>
            <a:pPr indent="-376555" lvl="1" marL="805180" rtl="0" algn="l">
              <a:lnSpc>
                <a:spcPct val="100000"/>
              </a:lnSpc>
              <a:spcBef>
                <a:spcPts val="250"/>
              </a:spcBef>
              <a:spcAft>
                <a:spcPts val="0"/>
              </a:spcAft>
              <a:buSzPts val="1400"/>
              <a:buFont typeface="Arial"/>
              <a:buAutoNum type="alphaLcPeriod"/>
            </a:pPr>
            <a:r>
              <a:rPr lang="en-US" sz="1400">
                <a:latin typeface="Arial"/>
                <a:ea typeface="Arial"/>
                <a:cs typeface="Arial"/>
                <a:sym typeface="Arial"/>
              </a:rPr>
              <a:t>Also known as the logistic activation function</a:t>
            </a:r>
            <a:endParaRPr sz="1400">
              <a:latin typeface="Arial"/>
              <a:ea typeface="Arial"/>
              <a:cs typeface="Arial"/>
              <a:sym typeface="Arial"/>
            </a:endParaRPr>
          </a:p>
          <a:p>
            <a:pPr indent="-376555" lvl="1" marL="805180" rtl="0" algn="l">
              <a:lnSpc>
                <a:spcPct val="100000"/>
              </a:lnSpc>
              <a:spcBef>
                <a:spcPts val="254"/>
              </a:spcBef>
              <a:spcAft>
                <a:spcPts val="0"/>
              </a:spcAft>
              <a:buSzPts val="1400"/>
              <a:buFont typeface="Arial"/>
              <a:buAutoNum type="alphaLcPeriod"/>
            </a:pPr>
            <a:r>
              <a:rPr lang="en-US" sz="1400">
                <a:latin typeface="Arial"/>
                <a:ea typeface="Arial"/>
                <a:cs typeface="Arial"/>
                <a:sym typeface="Arial"/>
              </a:rPr>
              <a:t>Often used for models that predict probability as an output.</a:t>
            </a:r>
            <a:endParaRPr sz="1400">
              <a:latin typeface="Arial"/>
              <a:ea typeface="Arial"/>
              <a:cs typeface="Arial"/>
              <a:sym typeface="Arial"/>
            </a:endParaRPr>
          </a:p>
          <a:p>
            <a:pPr indent="-366395" lvl="1" marL="805180" rtl="0" algn="l">
              <a:lnSpc>
                <a:spcPct val="100000"/>
              </a:lnSpc>
              <a:spcBef>
                <a:spcPts val="250"/>
              </a:spcBef>
              <a:spcAft>
                <a:spcPts val="0"/>
              </a:spcAft>
              <a:buSzPts val="1400"/>
              <a:buFont typeface="Arial"/>
              <a:buAutoNum type="alphaLcPeriod"/>
            </a:pPr>
            <a:r>
              <a:rPr lang="en-US" sz="1400">
                <a:latin typeface="Arial"/>
                <a:ea typeface="Arial"/>
                <a:cs typeface="Arial"/>
                <a:sym typeface="Arial"/>
              </a:rPr>
              <a:t>Its curve looks like an S-shape and exists between 0 and 1.</a:t>
            </a:r>
            <a:endParaRPr sz="1400">
              <a:latin typeface="Arial"/>
              <a:ea typeface="Arial"/>
              <a:cs typeface="Arial"/>
              <a:sym typeface="Arial"/>
            </a:endParaRPr>
          </a:p>
          <a:p>
            <a:pPr indent="-376555" lvl="1" marL="805180" rtl="0" algn="l">
              <a:lnSpc>
                <a:spcPct val="100000"/>
              </a:lnSpc>
              <a:spcBef>
                <a:spcPts val="254"/>
              </a:spcBef>
              <a:spcAft>
                <a:spcPts val="0"/>
              </a:spcAft>
              <a:buSzPts val="1400"/>
              <a:buFont typeface="Arial"/>
              <a:buAutoNum type="alphaLcPeriod"/>
            </a:pPr>
            <a:r>
              <a:rPr lang="en-US" sz="1400">
                <a:latin typeface="Arial"/>
                <a:ea typeface="Arial"/>
                <a:cs typeface="Arial"/>
                <a:sym typeface="Arial"/>
              </a:rPr>
              <a:t>Suffers from saturating gradients problem.</a:t>
            </a:r>
            <a:endParaRPr sz="1400">
              <a:latin typeface="Arial"/>
              <a:ea typeface="Arial"/>
              <a:cs typeface="Arial"/>
              <a:sym typeface="Arial"/>
            </a:endParaRPr>
          </a:p>
          <a:p>
            <a:pPr indent="-335280" lvl="0" marL="347980" rtl="0" algn="l">
              <a:lnSpc>
                <a:spcPct val="100000"/>
              </a:lnSpc>
              <a:spcBef>
                <a:spcPts val="250"/>
              </a:spcBef>
              <a:spcAft>
                <a:spcPts val="0"/>
              </a:spcAft>
              <a:buSzPts val="1400"/>
              <a:buFont typeface="Arial"/>
              <a:buChar char="●"/>
            </a:pPr>
            <a:r>
              <a:rPr b="1" lang="en-US" sz="1400">
                <a:latin typeface="Arial"/>
                <a:ea typeface="Arial"/>
                <a:cs typeface="Arial"/>
                <a:sym typeface="Arial"/>
              </a:rPr>
              <a:t>Hyperbolic tangent (Tanh)</a:t>
            </a:r>
            <a:endParaRPr sz="1400">
              <a:latin typeface="Arial"/>
              <a:ea typeface="Arial"/>
              <a:cs typeface="Arial"/>
              <a:sym typeface="Arial"/>
            </a:endParaRPr>
          </a:p>
          <a:p>
            <a:pPr indent="-376555" lvl="1" marL="805180" rtl="0" algn="l">
              <a:lnSpc>
                <a:spcPct val="100000"/>
              </a:lnSpc>
              <a:spcBef>
                <a:spcPts val="250"/>
              </a:spcBef>
              <a:spcAft>
                <a:spcPts val="0"/>
              </a:spcAft>
              <a:buSzPts val="1400"/>
              <a:buFont typeface="Arial"/>
              <a:buAutoNum type="alphaLcPeriod"/>
            </a:pPr>
            <a:r>
              <a:rPr lang="en-US" sz="1400">
                <a:latin typeface="Arial"/>
                <a:ea typeface="Arial"/>
                <a:cs typeface="Arial"/>
                <a:sym typeface="Arial"/>
              </a:rPr>
              <a:t>Has stronger gradients than the sigmoid function, and its output ranges from -1 to +1.</a:t>
            </a:r>
            <a:endParaRPr sz="1400">
              <a:latin typeface="Arial"/>
              <a:ea typeface="Arial"/>
              <a:cs typeface="Arial"/>
              <a:sym typeface="Arial"/>
            </a:endParaRPr>
          </a:p>
          <a:p>
            <a:pPr indent="-376555" lvl="1" marL="805180" rtl="0" algn="l">
              <a:lnSpc>
                <a:spcPct val="100000"/>
              </a:lnSpc>
              <a:spcBef>
                <a:spcPts val="254"/>
              </a:spcBef>
              <a:spcAft>
                <a:spcPts val="0"/>
              </a:spcAft>
              <a:buSzPts val="1400"/>
              <a:buFont typeface="Arial"/>
              <a:buAutoNum type="alphaLcPeriod"/>
            </a:pPr>
            <a:r>
              <a:rPr lang="en-US" sz="1400">
                <a:latin typeface="Arial"/>
                <a:ea typeface="Arial"/>
                <a:cs typeface="Arial"/>
                <a:sym typeface="Arial"/>
              </a:rPr>
              <a:t>Helps the learning algorithm converge faster.</a:t>
            </a:r>
            <a:endParaRPr sz="1400">
              <a:latin typeface="Arial"/>
              <a:ea typeface="Arial"/>
              <a:cs typeface="Arial"/>
              <a:sym typeface="Arial"/>
            </a:endParaRPr>
          </a:p>
          <a:p>
            <a:pPr indent="-335280" lvl="0" marL="347980" rtl="0" algn="l">
              <a:lnSpc>
                <a:spcPct val="100000"/>
              </a:lnSpc>
              <a:spcBef>
                <a:spcPts val="250"/>
              </a:spcBef>
              <a:spcAft>
                <a:spcPts val="0"/>
              </a:spcAft>
              <a:buSzPts val="1400"/>
              <a:buFont typeface="Arial"/>
              <a:buChar char="●"/>
            </a:pPr>
            <a:r>
              <a:rPr b="1" lang="en-US" sz="1400">
                <a:latin typeface="Arial"/>
                <a:ea typeface="Arial"/>
                <a:cs typeface="Arial"/>
                <a:sym typeface="Arial"/>
              </a:rPr>
              <a:t>Rectified linear unit (ReLU)</a:t>
            </a:r>
            <a:endParaRPr sz="1400">
              <a:latin typeface="Arial"/>
              <a:ea typeface="Arial"/>
              <a:cs typeface="Arial"/>
              <a:sym typeface="Arial"/>
            </a:endParaRPr>
          </a:p>
          <a:p>
            <a:pPr indent="-376555" lvl="1" marL="805180" rtl="0" algn="l">
              <a:lnSpc>
                <a:spcPct val="100000"/>
              </a:lnSpc>
              <a:spcBef>
                <a:spcPts val="254"/>
              </a:spcBef>
              <a:spcAft>
                <a:spcPts val="0"/>
              </a:spcAft>
              <a:buSzPts val="1400"/>
              <a:buFont typeface="Arial"/>
              <a:buAutoNum type="alphaLcPeriod"/>
            </a:pPr>
            <a:r>
              <a:rPr lang="en-US" sz="1400">
                <a:latin typeface="Arial"/>
                <a:ea typeface="Arial"/>
                <a:cs typeface="Arial"/>
                <a:sym typeface="Arial"/>
              </a:rPr>
              <a:t>A non-saturating function, meaning it doesn't become flat at the extremes of the input range.</a:t>
            </a:r>
            <a:endParaRPr sz="1400">
              <a:latin typeface="Arial"/>
              <a:ea typeface="Arial"/>
              <a:cs typeface="Arial"/>
              <a:sym typeface="Arial"/>
            </a:endParaRPr>
          </a:p>
          <a:p>
            <a:pPr indent="-376555" lvl="1" marL="805180" rtl="0" algn="l">
              <a:lnSpc>
                <a:spcPct val="100000"/>
              </a:lnSpc>
              <a:spcBef>
                <a:spcPts val="250"/>
              </a:spcBef>
              <a:spcAft>
                <a:spcPts val="0"/>
              </a:spcAft>
              <a:buSzPts val="1400"/>
              <a:buFont typeface="Arial"/>
              <a:buAutoNum type="alphaLcPeriod"/>
            </a:pPr>
            <a:r>
              <a:rPr lang="en-US" sz="1400">
                <a:latin typeface="Arial"/>
                <a:ea typeface="Arial"/>
                <a:cs typeface="Arial"/>
                <a:sym typeface="Arial"/>
              </a:rPr>
              <a:t>It is faster than sigmoid and tanh.</a:t>
            </a:r>
            <a:endParaRPr sz="1400">
              <a:latin typeface="Arial"/>
              <a:ea typeface="Arial"/>
              <a:cs typeface="Arial"/>
              <a:sym typeface="Arial"/>
            </a:endParaRPr>
          </a:p>
          <a:p>
            <a:pPr indent="-335280" lvl="0" marL="347980" rtl="0" algn="l">
              <a:lnSpc>
                <a:spcPct val="100000"/>
              </a:lnSpc>
              <a:spcBef>
                <a:spcPts val="250"/>
              </a:spcBef>
              <a:spcAft>
                <a:spcPts val="0"/>
              </a:spcAft>
              <a:buSzPts val="1400"/>
              <a:buFont typeface="Arial"/>
              <a:buChar char="●"/>
            </a:pPr>
            <a:r>
              <a:rPr b="1" lang="en-US" sz="1400">
                <a:latin typeface="Arial"/>
                <a:ea typeface="Arial"/>
                <a:cs typeface="Arial"/>
                <a:sym typeface="Arial"/>
              </a:rPr>
              <a:t>Softmax</a:t>
            </a:r>
            <a:endParaRPr sz="1400">
              <a:latin typeface="Arial"/>
              <a:ea typeface="Arial"/>
              <a:cs typeface="Arial"/>
              <a:sym typeface="Arial"/>
            </a:endParaRPr>
          </a:p>
          <a:p>
            <a:pPr indent="-376555" lvl="1" marL="805180" rtl="0" algn="l">
              <a:lnSpc>
                <a:spcPct val="100000"/>
              </a:lnSpc>
              <a:spcBef>
                <a:spcPts val="254"/>
              </a:spcBef>
              <a:spcAft>
                <a:spcPts val="0"/>
              </a:spcAft>
              <a:buSzPts val="1400"/>
              <a:buFont typeface="Arial"/>
              <a:buAutoNum type="alphaLcPeriod"/>
            </a:pPr>
            <a:r>
              <a:rPr lang="en-US" sz="1400">
                <a:latin typeface="Arial"/>
                <a:ea typeface="Arial"/>
                <a:cs typeface="Arial"/>
                <a:sym typeface="Arial"/>
              </a:rPr>
              <a:t>Converts vectors of real numbers into a probability distribution.</a:t>
            </a:r>
            <a:endParaRPr sz="1400">
              <a:latin typeface="Arial"/>
              <a:ea typeface="Arial"/>
              <a:cs typeface="Arial"/>
              <a:sym typeface="Arial"/>
            </a:endParaRPr>
          </a:p>
          <a:p>
            <a:pPr indent="-376555" lvl="1" marL="805180" rtl="0" algn="l">
              <a:lnSpc>
                <a:spcPct val="100000"/>
              </a:lnSpc>
              <a:spcBef>
                <a:spcPts val="250"/>
              </a:spcBef>
              <a:spcAft>
                <a:spcPts val="0"/>
              </a:spcAft>
              <a:buSzPts val="1400"/>
              <a:buFont typeface="Arial"/>
              <a:buAutoNum type="alphaLcPeriod"/>
            </a:pPr>
            <a:r>
              <a:rPr lang="en-US" sz="1400">
                <a:latin typeface="Arial"/>
                <a:ea typeface="Arial"/>
                <a:cs typeface="Arial"/>
                <a:sym typeface="Arial"/>
              </a:rPr>
              <a:t>Each output value represents the probability that the input belongs to a specific class.</a:t>
            </a:r>
            <a:endParaRPr sz="1400">
              <a:latin typeface="Arial"/>
              <a:ea typeface="Arial"/>
              <a:cs typeface="Arial"/>
              <a:sym typeface="Arial"/>
            </a:endParaRPr>
          </a:p>
        </p:txBody>
      </p:sp>
      <p:sp>
        <p:nvSpPr>
          <p:cNvPr id="238" name="Google Shape;238;p22"/>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2" name="Shape 242"/>
        <p:cNvGrpSpPr/>
        <p:nvPr/>
      </p:nvGrpSpPr>
      <p:grpSpPr>
        <a:xfrm>
          <a:off x="0" y="0"/>
          <a:ext cx="0" cy="0"/>
          <a:chOff x="0" y="0"/>
          <a:chExt cx="0" cy="0"/>
        </a:xfrm>
      </p:grpSpPr>
      <p:sp>
        <p:nvSpPr>
          <p:cNvPr descr="$PPTXTitle" id="243" name="Google Shape;243;p23"/>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Activation Functions for Classification</a:t>
            </a:r>
            <a:endParaRPr/>
          </a:p>
        </p:txBody>
      </p:sp>
      <p:sp>
        <p:nvSpPr>
          <p:cNvPr id="244" name="Google Shape;244;p23"/>
          <p:cNvSpPr txBox="1"/>
          <p:nvPr/>
        </p:nvSpPr>
        <p:spPr>
          <a:xfrm>
            <a:off x="8781508" y="4766031"/>
            <a:ext cx="167005"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595959"/>
                </a:solidFill>
                <a:latin typeface="Arial"/>
                <a:ea typeface="Arial"/>
                <a:cs typeface="Arial"/>
                <a:sym typeface="Arial"/>
              </a:rPr>
              <a:t>20</a:t>
            </a:r>
            <a:endParaRPr sz="1000">
              <a:latin typeface="Arial"/>
              <a:ea typeface="Arial"/>
              <a:cs typeface="Arial"/>
              <a:sym typeface="Arial"/>
            </a:endParaRPr>
          </a:p>
        </p:txBody>
      </p:sp>
      <p:sp>
        <p:nvSpPr>
          <p:cNvPr id="245" name="Google Shape;245;p23"/>
          <p:cNvSpPr txBox="1"/>
          <p:nvPr/>
        </p:nvSpPr>
        <p:spPr>
          <a:xfrm>
            <a:off x="538373" y="1222956"/>
            <a:ext cx="4470400" cy="311785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In output layer, generally:</a:t>
            </a:r>
            <a:endParaRPr sz="1800">
              <a:latin typeface="Arial"/>
              <a:ea typeface="Arial"/>
              <a:cs typeface="Arial"/>
              <a:sym typeface="Arial"/>
            </a:endParaRPr>
          </a:p>
          <a:p>
            <a:pPr indent="-366395" lvl="0" marL="469265" rtl="0" algn="l">
              <a:lnSpc>
                <a:spcPct val="100000"/>
              </a:lnSpc>
              <a:spcBef>
                <a:spcPts val="1520"/>
              </a:spcBef>
              <a:spcAft>
                <a:spcPts val="0"/>
              </a:spcAft>
              <a:buSzPts val="1800"/>
              <a:buFont typeface="Arial"/>
              <a:buChar char="●"/>
            </a:pPr>
            <a:r>
              <a:rPr lang="en-US" sz="1800">
                <a:latin typeface="Arial"/>
                <a:ea typeface="Arial"/>
                <a:cs typeface="Arial"/>
                <a:sym typeface="Arial"/>
              </a:rPr>
              <a:t>Sigmoid is used for binary classification</a:t>
            </a:r>
            <a:endParaRPr sz="1800">
              <a:latin typeface="Arial"/>
              <a:ea typeface="Arial"/>
              <a:cs typeface="Arial"/>
              <a:sym typeface="Arial"/>
            </a:endParaRPr>
          </a:p>
          <a:p>
            <a:pPr indent="-367030" lvl="0" marL="469265" marR="893444" rtl="0" algn="l">
              <a:lnSpc>
                <a:spcPct val="114999"/>
              </a:lnSpc>
              <a:spcBef>
                <a:spcPts val="0"/>
              </a:spcBef>
              <a:spcAft>
                <a:spcPts val="0"/>
              </a:spcAft>
              <a:buSzPts val="1800"/>
              <a:buFont typeface="Arial"/>
              <a:buChar char="●"/>
            </a:pPr>
            <a:r>
              <a:rPr lang="en-US" sz="1800">
                <a:latin typeface="Arial"/>
                <a:ea typeface="Arial"/>
                <a:cs typeface="Arial"/>
                <a:sym typeface="Arial"/>
              </a:rPr>
              <a:t>Softmax is used for multi-class classification</a:t>
            </a:r>
            <a:endParaRPr sz="1800">
              <a:latin typeface="Arial"/>
              <a:ea typeface="Arial"/>
              <a:cs typeface="Arial"/>
              <a:sym typeface="Arial"/>
            </a:endParaRPr>
          </a:p>
          <a:p>
            <a:pPr indent="0" lvl="0" marL="12700" marR="309880" rtl="0" algn="l">
              <a:lnSpc>
                <a:spcPct val="170600"/>
              </a:lnSpc>
              <a:spcBef>
                <a:spcPts val="0"/>
              </a:spcBef>
              <a:spcAft>
                <a:spcPts val="0"/>
              </a:spcAft>
              <a:buNone/>
            </a:pPr>
            <a:r>
              <a:rPr lang="en-US" sz="1800">
                <a:latin typeface="Arial"/>
                <a:ea typeface="Arial"/>
                <a:cs typeface="Arial"/>
                <a:sym typeface="Arial"/>
              </a:rPr>
              <a:t>Both generate values in the range of 0-1. Summation of softmax values is 1.</a:t>
            </a:r>
            <a:endParaRPr sz="1800">
              <a:latin typeface="Arial"/>
              <a:ea typeface="Arial"/>
              <a:cs typeface="Arial"/>
              <a:sym typeface="Arial"/>
            </a:endParaRPr>
          </a:p>
          <a:p>
            <a:pPr indent="0" lvl="0" marL="12700" marR="81280" rtl="0" algn="l">
              <a:lnSpc>
                <a:spcPct val="114999"/>
              </a:lnSpc>
              <a:spcBef>
                <a:spcPts val="1200"/>
              </a:spcBef>
              <a:spcAft>
                <a:spcPts val="0"/>
              </a:spcAft>
              <a:buNone/>
            </a:pPr>
            <a:r>
              <a:rPr lang="en-US" sz="1800">
                <a:latin typeface="Arial"/>
                <a:ea typeface="Arial"/>
                <a:cs typeface="Arial"/>
                <a:sym typeface="Arial"/>
              </a:rPr>
              <a:t>Summation of sigmoid values in a classifier does not need to be 1.</a:t>
            </a:r>
            <a:endParaRPr sz="1800">
              <a:latin typeface="Arial"/>
              <a:ea typeface="Arial"/>
              <a:cs typeface="Arial"/>
              <a:sym typeface="Arial"/>
            </a:endParaRPr>
          </a:p>
        </p:txBody>
      </p:sp>
      <p:pic>
        <p:nvPicPr>
          <p:cNvPr id="246" name="Google Shape;246;p23"/>
          <p:cNvPicPr preferRelativeResize="0"/>
          <p:nvPr/>
        </p:nvPicPr>
        <p:blipFill rotWithShape="1">
          <a:blip r:embed="rId3">
            <a:alphaModFix/>
          </a:blip>
          <a:srcRect b="0" l="0" r="0" t="0"/>
          <a:stretch/>
        </p:blipFill>
        <p:spPr>
          <a:xfrm>
            <a:off x="5541199" y="1362457"/>
            <a:ext cx="2688025" cy="2103663"/>
          </a:xfrm>
          <a:prstGeom prst="rect">
            <a:avLst/>
          </a:prstGeom>
          <a:noFill/>
          <a:ln>
            <a:noFill/>
          </a:ln>
        </p:spPr>
      </p:pic>
      <p:sp>
        <p:nvSpPr>
          <p:cNvPr id="247" name="Google Shape;247;p23"/>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1" name="Shape 251"/>
        <p:cNvGrpSpPr/>
        <p:nvPr/>
      </p:nvGrpSpPr>
      <p:grpSpPr>
        <a:xfrm>
          <a:off x="0" y="0"/>
          <a:ext cx="0" cy="0"/>
          <a:chOff x="0" y="0"/>
          <a:chExt cx="0" cy="0"/>
        </a:xfrm>
      </p:grpSpPr>
      <p:sp>
        <p:nvSpPr>
          <p:cNvPr descr="$PPTXTitle" id="252" name="Google Shape;252;p24"/>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Loss</a:t>
            </a:r>
            <a:endParaRPr/>
          </a:p>
        </p:txBody>
      </p:sp>
      <p:sp>
        <p:nvSpPr>
          <p:cNvPr id="253" name="Google Shape;253;p24"/>
          <p:cNvSpPr txBox="1"/>
          <p:nvPr/>
        </p:nvSpPr>
        <p:spPr>
          <a:xfrm>
            <a:off x="462548" y="1216356"/>
            <a:ext cx="3728720" cy="2895600"/>
          </a:xfrm>
          <a:prstGeom prst="rect">
            <a:avLst/>
          </a:prstGeom>
          <a:noFill/>
          <a:ln>
            <a:noFill/>
          </a:ln>
        </p:spPr>
        <p:txBody>
          <a:bodyPr anchorCtr="0" anchor="t" bIns="0" lIns="0" spcFirstLastPara="1" rIns="0" wrap="square" tIns="12700">
            <a:spAutoFit/>
          </a:bodyPr>
          <a:lstStyle/>
          <a:p>
            <a:pPr indent="-367030" lvl="0" marL="391795" marR="17780" rtl="0" algn="l">
              <a:lnSpc>
                <a:spcPct val="100000"/>
              </a:lnSpc>
              <a:spcBef>
                <a:spcPts val="0"/>
              </a:spcBef>
              <a:spcAft>
                <a:spcPts val="0"/>
              </a:spcAft>
              <a:buSzPts val="1800"/>
              <a:buFont typeface="Arial"/>
              <a:buChar char="●"/>
            </a:pPr>
            <a:r>
              <a:rPr lang="en-US" sz="1800">
                <a:latin typeface="Arial"/>
                <a:ea typeface="Arial"/>
                <a:cs typeface="Arial"/>
                <a:sym typeface="Arial"/>
              </a:rPr>
              <a:t>Error is a measurement of the difference between the predicted output of the model and the actual output.</a:t>
            </a:r>
            <a:endParaRPr sz="1800">
              <a:latin typeface="Arial"/>
              <a:ea typeface="Arial"/>
              <a:cs typeface="Arial"/>
              <a:sym typeface="Arial"/>
            </a:endParaRPr>
          </a:p>
          <a:p>
            <a:pPr indent="-366395" lvl="0" marL="391795" rtl="0" algn="l">
              <a:lnSpc>
                <a:spcPct val="100000"/>
              </a:lnSpc>
              <a:spcBef>
                <a:spcPts val="1000"/>
              </a:spcBef>
              <a:spcAft>
                <a:spcPts val="0"/>
              </a:spcAft>
              <a:buSzPts val="1800"/>
              <a:buFont typeface="Arial"/>
              <a:buChar char="●"/>
            </a:pPr>
            <a:r>
              <a:rPr lang="en-US" sz="1800">
                <a:latin typeface="Arial"/>
                <a:ea typeface="Arial"/>
                <a:cs typeface="Arial"/>
                <a:sym typeface="Arial"/>
              </a:rPr>
              <a:t>Loss is the weighted error.</a:t>
            </a:r>
            <a:endParaRPr sz="1800">
              <a:latin typeface="Arial"/>
              <a:ea typeface="Arial"/>
              <a:cs typeface="Arial"/>
              <a:sym typeface="Arial"/>
            </a:endParaRPr>
          </a:p>
          <a:p>
            <a:pPr indent="-366395" lvl="0" marL="391795" rtl="0" algn="l">
              <a:lnSpc>
                <a:spcPct val="100000"/>
              </a:lnSpc>
              <a:spcBef>
                <a:spcPts val="1080"/>
              </a:spcBef>
              <a:spcAft>
                <a:spcPts val="0"/>
              </a:spcAft>
              <a:buSzPts val="1800"/>
              <a:buFont typeface="Arial"/>
              <a:buChar char="●"/>
            </a:pPr>
            <a:r>
              <a:rPr lang="en-US" sz="1800">
                <a:latin typeface="Arial"/>
                <a:ea typeface="Arial"/>
                <a:cs typeface="Arial"/>
                <a:sym typeface="Arial"/>
              </a:rPr>
              <a:t>Different types of loss:</a:t>
            </a:r>
            <a:endParaRPr sz="1800">
              <a:latin typeface="Arial"/>
              <a:ea typeface="Arial"/>
              <a:cs typeface="Arial"/>
              <a:sym typeface="Arial"/>
            </a:endParaRPr>
          </a:p>
          <a:p>
            <a:pPr indent="-367030" lvl="1" marL="848994" rtl="0" algn="l">
              <a:lnSpc>
                <a:spcPct val="100000"/>
              </a:lnSpc>
              <a:spcBef>
                <a:spcPts val="1080"/>
              </a:spcBef>
              <a:spcAft>
                <a:spcPts val="0"/>
              </a:spcAft>
              <a:buSzPts val="1800"/>
              <a:buFont typeface="Arial"/>
              <a:buChar char="○"/>
            </a:pPr>
            <a:r>
              <a:rPr lang="en-US" sz="1800">
                <a:latin typeface="Arial"/>
                <a:ea typeface="Arial"/>
                <a:cs typeface="Arial"/>
                <a:sym typeface="Arial"/>
              </a:rPr>
              <a:t>Absolute loss: |ŷ - y|</a:t>
            </a:r>
            <a:endParaRPr sz="1800">
              <a:latin typeface="Arial"/>
              <a:ea typeface="Arial"/>
              <a:cs typeface="Arial"/>
              <a:sym typeface="Arial"/>
            </a:endParaRPr>
          </a:p>
          <a:p>
            <a:pPr indent="-367030" lvl="1" marL="848994" rtl="0" algn="l">
              <a:lnSpc>
                <a:spcPct val="100000"/>
              </a:lnSpc>
              <a:spcBef>
                <a:spcPts val="0"/>
              </a:spcBef>
              <a:spcAft>
                <a:spcPts val="0"/>
              </a:spcAft>
              <a:buSzPts val="1800"/>
              <a:buFont typeface="Arial"/>
              <a:buChar char="○"/>
            </a:pPr>
            <a:r>
              <a:rPr lang="en-US" sz="1800">
                <a:latin typeface="Arial"/>
                <a:ea typeface="Arial"/>
                <a:cs typeface="Arial"/>
                <a:sym typeface="Arial"/>
              </a:rPr>
              <a:t>Squared loss: (ŷ - y)</a:t>
            </a:r>
            <a:r>
              <a:rPr baseline="30000" lang="en-US" sz="1800">
                <a:latin typeface="Arial"/>
                <a:ea typeface="Arial"/>
                <a:cs typeface="Arial"/>
                <a:sym typeface="Arial"/>
              </a:rPr>
              <a:t>2</a:t>
            </a:r>
            <a:endParaRPr baseline="30000" sz="1800">
              <a:latin typeface="Arial"/>
              <a:ea typeface="Arial"/>
              <a:cs typeface="Arial"/>
              <a:sym typeface="Arial"/>
            </a:endParaRPr>
          </a:p>
          <a:p>
            <a:pPr indent="-367030" lvl="1" marL="848994" rtl="0" algn="l">
              <a:lnSpc>
                <a:spcPct val="100000"/>
              </a:lnSpc>
              <a:spcBef>
                <a:spcPts val="0"/>
              </a:spcBef>
              <a:spcAft>
                <a:spcPts val="0"/>
              </a:spcAft>
              <a:buSzPts val="1800"/>
              <a:buFont typeface="Arial"/>
              <a:buChar char="○"/>
            </a:pPr>
            <a:r>
              <a:rPr lang="en-US" sz="1800">
                <a:latin typeface="Arial"/>
                <a:ea typeface="Arial"/>
                <a:cs typeface="Arial"/>
                <a:sym typeface="Arial"/>
              </a:rPr>
              <a:t>Log loss: - y.log(ŷ)</a:t>
            </a:r>
            <a:endParaRPr sz="1800">
              <a:latin typeface="Arial"/>
              <a:ea typeface="Arial"/>
              <a:cs typeface="Arial"/>
              <a:sym typeface="Arial"/>
            </a:endParaRPr>
          </a:p>
        </p:txBody>
      </p:sp>
      <p:pic>
        <p:nvPicPr>
          <p:cNvPr id="254" name="Google Shape;254;p24"/>
          <p:cNvPicPr preferRelativeResize="0"/>
          <p:nvPr/>
        </p:nvPicPr>
        <p:blipFill rotWithShape="1">
          <a:blip r:embed="rId3">
            <a:alphaModFix/>
          </a:blip>
          <a:srcRect b="0" l="0" r="0" t="0"/>
          <a:stretch/>
        </p:blipFill>
        <p:spPr>
          <a:xfrm>
            <a:off x="4229716" y="901748"/>
            <a:ext cx="4458140" cy="3501192"/>
          </a:xfrm>
          <a:prstGeom prst="rect">
            <a:avLst/>
          </a:prstGeom>
          <a:noFill/>
          <a:ln>
            <a:noFill/>
          </a:ln>
        </p:spPr>
      </p:pic>
      <p:sp>
        <p:nvSpPr>
          <p:cNvPr id="255" name="Google Shape;255;p24"/>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9" name="Shape 259"/>
        <p:cNvGrpSpPr/>
        <p:nvPr/>
      </p:nvGrpSpPr>
      <p:grpSpPr>
        <a:xfrm>
          <a:off x="0" y="0"/>
          <a:ext cx="0" cy="0"/>
          <a:chOff x="0" y="0"/>
          <a:chExt cx="0" cy="0"/>
        </a:xfrm>
      </p:grpSpPr>
      <p:sp>
        <p:nvSpPr>
          <p:cNvPr descr="$PPTXTitle" id="260" name="Google Shape;260;p25"/>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Loss Function</a:t>
            </a:r>
            <a:endParaRPr/>
          </a:p>
        </p:txBody>
      </p:sp>
      <p:sp>
        <p:nvSpPr>
          <p:cNvPr id="261" name="Google Shape;261;p25"/>
          <p:cNvSpPr txBox="1"/>
          <p:nvPr/>
        </p:nvSpPr>
        <p:spPr>
          <a:xfrm>
            <a:off x="475248" y="1175208"/>
            <a:ext cx="3655695" cy="2865120"/>
          </a:xfrm>
          <a:prstGeom prst="rect">
            <a:avLst/>
          </a:prstGeom>
          <a:noFill/>
          <a:ln>
            <a:noFill/>
          </a:ln>
        </p:spPr>
        <p:txBody>
          <a:bodyPr anchorCtr="0" anchor="t" bIns="0" lIns="0" spcFirstLastPara="1" rIns="0" wrap="square" tIns="12700">
            <a:spAutoFit/>
          </a:bodyPr>
          <a:lstStyle/>
          <a:p>
            <a:pPr indent="-367030" lvl="0" marL="379095" marR="43815" rtl="0" algn="l">
              <a:lnSpc>
                <a:spcPct val="114999"/>
              </a:lnSpc>
              <a:spcBef>
                <a:spcPts val="0"/>
              </a:spcBef>
              <a:spcAft>
                <a:spcPts val="0"/>
              </a:spcAft>
              <a:buSzPts val="1800"/>
              <a:buFont typeface="Arial"/>
              <a:buChar char="●"/>
            </a:pPr>
            <a:r>
              <a:rPr lang="en-US" sz="1800">
                <a:latin typeface="Arial"/>
                <a:ea typeface="Arial"/>
                <a:cs typeface="Arial"/>
                <a:sym typeface="Arial"/>
              </a:rPr>
              <a:t>A loss function is a function which estimates the total loss of all data samples.</a:t>
            </a:r>
            <a:endParaRPr sz="1800">
              <a:latin typeface="Arial"/>
              <a:ea typeface="Arial"/>
              <a:cs typeface="Arial"/>
              <a:sym typeface="Arial"/>
            </a:endParaRPr>
          </a:p>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It is used to find optimum values of parameters of a neural network during training.</a:t>
            </a:r>
            <a:endParaRPr sz="1800">
              <a:latin typeface="Arial"/>
              <a:ea typeface="Arial"/>
              <a:cs typeface="Arial"/>
              <a:sym typeface="Arial"/>
            </a:endParaRPr>
          </a:p>
          <a:p>
            <a:pPr indent="-366395" lvl="0" marL="379095" rtl="0" algn="l">
              <a:lnSpc>
                <a:spcPct val="100000"/>
              </a:lnSpc>
              <a:spcBef>
                <a:spcPts val="320"/>
              </a:spcBef>
              <a:spcAft>
                <a:spcPts val="0"/>
              </a:spcAft>
              <a:buSzPts val="1800"/>
              <a:buFont typeface="Arial"/>
              <a:buChar char="●"/>
            </a:pPr>
            <a:r>
              <a:rPr lang="en-US" sz="1800">
                <a:latin typeface="Arial"/>
                <a:ea typeface="Arial"/>
                <a:cs typeface="Arial"/>
                <a:sym typeface="Arial"/>
              </a:rPr>
              <a:t>It is a function of parameters.</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Different ways of writing:</a:t>
            </a:r>
            <a:endParaRPr sz="1800">
              <a:latin typeface="Arial"/>
              <a:ea typeface="Arial"/>
              <a:cs typeface="Arial"/>
              <a:sym typeface="Arial"/>
            </a:endParaRPr>
          </a:p>
          <a:p>
            <a:pPr indent="-367030" lvl="1" marL="836294" rtl="0" algn="l">
              <a:lnSpc>
                <a:spcPct val="100000"/>
              </a:lnSpc>
              <a:spcBef>
                <a:spcPts val="325"/>
              </a:spcBef>
              <a:spcAft>
                <a:spcPts val="0"/>
              </a:spcAft>
              <a:buSzPts val="1800"/>
              <a:buFont typeface="Arial"/>
              <a:buChar char="○"/>
            </a:pPr>
            <a:r>
              <a:rPr lang="en-US" sz="1800">
                <a:latin typeface="Arial"/>
                <a:ea typeface="Arial"/>
                <a:cs typeface="Arial"/>
                <a:sym typeface="Arial"/>
              </a:rPr>
              <a:t>J(𝜔); L(𝜃|x); ℓ(𝜔) ; </a:t>
            </a:r>
            <a:r>
              <a:rPr lang="en-US" sz="1800">
                <a:latin typeface="MS PGothic"/>
                <a:ea typeface="MS PGothic"/>
                <a:cs typeface="MS PGothic"/>
                <a:sym typeface="MS PGothic"/>
              </a:rPr>
              <a:t>ℒ</a:t>
            </a:r>
            <a:r>
              <a:rPr lang="en-US" sz="1800">
                <a:latin typeface="Arial"/>
                <a:ea typeface="Arial"/>
                <a:cs typeface="Arial"/>
                <a:sym typeface="Arial"/>
              </a:rPr>
              <a:t>(ŷ - y);</a:t>
            </a:r>
            <a:endParaRPr sz="1800">
              <a:latin typeface="Arial"/>
              <a:ea typeface="Arial"/>
              <a:cs typeface="Arial"/>
              <a:sym typeface="Arial"/>
            </a:endParaRPr>
          </a:p>
        </p:txBody>
      </p:sp>
      <p:pic>
        <p:nvPicPr>
          <p:cNvPr id="262" name="Google Shape;262;p25"/>
          <p:cNvPicPr preferRelativeResize="0"/>
          <p:nvPr/>
        </p:nvPicPr>
        <p:blipFill rotWithShape="1">
          <a:blip r:embed="rId3">
            <a:alphaModFix/>
          </a:blip>
          <a:srcRect b="0" l="0" r="0" t="0"/>
          <a:stretch/>
        </p:blipFill>
        <p:spPr>
          <a:xfrm>
            <a:off x="4181666" y="1738696"/>
            <a:ext cx="4650615" cy="1642063"/>
          </a:xfrm>
          <a:prstGeom prst="rect">
            <a:avLst/>
          </a:prstGeom>
          <a:noFill/>
          <a:ln>
            <a:noFill/>
          </a:ln>
        </p:spPr>
      </p:pic>
      <p:sp>
        <p:nvSpPr>
          <p:cNvPr id="263" name="Google Shape;263;p25"/>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7" name="Shape 267"/>
        <p:cNvGrpSpPr/>
        <p:nvPr/>
      </p:nvGrpSpPr>
      <p:grpSpPr>
        <a:xfrm>
          <a:off x="0" y="0"/>
          <a:ext cx="0" cy="0"/>
          <a:chOff x="0" y="0"/>
          <a:chExt cx="0" cy="0"/>
        </a:xfrm>
      </p:grpSpPr>
      <p:sp>
        <p:nvSpPr>
          <p:cNvPr descr="$PPTXTitle" id="268" name="Google Shape;268;p26"/>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Different Loss Functions</a:t>
            </a:r>
            <a:endParaRPr/>
          </a:p>
        </p:txBody>
      </p:sp>
      <p:sp>
        <p:nvSpPr>
          <p:cNvPr id="269" name="Google Shape;269;p26"/>
          <p:cNvSpPr txBox="1"/>
          <p:nvPr/>
        </p:nvSpPr>
        <p:spPr>
          <a:xfrm>
            <a:off x="442474" y="1080805"/>
            <a:ext cx="6265500" cy="277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Different loss functions penalizes wrong predictions differently</a:t>
            </a:r>
            <a:endParaRPr sz="1800">
              <a:latin typeface="Arial"/>
              <a:ea typeface="Arial"/>
              <a:cs typeface="Arial"/>
              <a:sym typeface="Arial"/>
            </a:endParaRPr>
          </a:p>
          <a:p>
            <a:pPr indent="0" lvl="0" marL="0" rtl="0" algn="l">
              <a:lnSpc>
                <a:spcPct val="100000"/>
              </a:lnSpc>
              <a:spcBef>
                <a:spcPts val="90"/>
              </a:spcBef>
              <a:spcAft>
                <a:spcPts val="0"/>
              </a:spcAft>
              <a:buNone/>
            </a:pPr>
            <a:r>
              <a:t/>
            </a:r>
            <a:endParaRPr sz="1800">
              <a:latin typeface="Arial"/>
              <a:ea typeface="Arial"/>
              <a:cs typeface="Arial"/>
              <a:sym typeface="Arial"/>
            </a:endParaRPr>
          </a:p>
          <a:p>
            <a:pPr indent="0" lvl="0" marL="12700" rtl="0" algn="l">
              <a:lnSpc>
                <a:spcPct val="100000"/>
              </a:lnSpc>
              <a:spcBef>
                <a:spcPts val="0"/>
              </a:spcBef>
              <a:spcAft>
                <a:spcPts val="0"/>
              </a:spcAft>
              <a:buNone/>
            </a:pPr>
            <a:r>
              <a:rPr lang="en-US" sz="1800" u="sng">
                <a:latin typeface="Arial"/>
                <a:ea typeface="Arial"/>
                <a:cs typeface="Arial"/>
                <a:sym typeface="Arial"/>
              </a:rPr>
              <a:t>Popular losses:</a:t>
            </a:r>
            <a:endParaRPr sz="1800">
              <a:latin typeface="Arial"/>
              <a:ea typeface="Arial"/>
              <a:cs typeface="Arial"/>
              <a:sym typeface="Arial"/>
            </a:endParaRPr>
          </a:p>
          <a:p>
            <a:pPr indent="-366395" lvl="0" marL="469265" rtl="0" algn="l">
              <a:lnSpc>
                <a:spcPct val="100000"/>
              </a:lnSpc>
              <a:spcBef>
                <a:spcPts val="0"/>
              </a:spcBef>
              <a:spcAft>
                <a:spcPts val="0"/>
              </a:spcAft>
              <a:buSzPts val="1800"/>
              <a:buFont typeface="Arial"/>
              <a:buChar char="●"/>
            </a:pPr>
            <a:r>
              <a:rPr lang="en-US" sz="1800">
                <a:latin typeface="Arial"/>
                <a:ea typeface="Arial"/>
                <a:cs typeface="Arial"/>
                <a:sym typeface="Arial"/>
              </a:rPr>
              <a:t>Regression:</a:t>
            </a:r>
            <a:endParaRPr sz="1800">
              <a:latin typeface="Arial"/>
              <a:ea typeface="Arial"/>
              <a:cs typeface="Arial"/>
              <a:sym typeface="Arial"/>
            </a:endParaRPr>
          </a:p>
          <a:p>
            <a:pPr indent="-335915" lvl="1" marL="926465" rtl="0" algn="l">
              <a:lnSpc>
                <a:spcPct val="100000"/>
              </a:lnSpc>
              <a:spcBef>
                <a:spcPts val="15"/>
              </a:spcBef>
              <a:spcAft>
                <a:spcPts val="0"/>
              </a:spcAft>
              <a:buSzPts val="1400"/>
              <a:buFont typeface="Arial"/>
              <a:buChar char="○"/>
            </a:pPr>
            <a:r>
              <a:rPr lang="en-US" sz="1400">
                <a:latin typeface="Arial"/>
                <a:ea typeface="Arial"/>
                <a:cs typeface="Arial"/>
                <a:sym typeface="Arial"/>
              </a:rPr>
              <a:t>Mean-Squared Error (MSE)</a:t>
            </a:r>
            <a:endParaRPr sz="1400">
              <a:latin typeface="Arial"/>
              <a:ea typeface="Arial"/>
              <a:cs typeface="Arial"/>
              <a:sym typeface="Arial"/>
            </a:endParaRPr>
          </a:p>
          <a:p>
            <a:pPr indent="-335915" lvl="1" marL="926465" rtl="0" algn="l">
              <a:lnSpc>
                <a:spcPct val="100000"/>
              </a:lnSpc>
              <a:spcBef>
                <a:spcPts val="0"/>
              </a:spcBef>
              <a:spcAft>
                <a:spcPts val="0"/>
              </a:spcAft>
              <a:buSzPts val="1400"/>
              <a:buFont typeface="Arial"/>
              <a:buChar char="○"/>
            </a:pPr>
            <a:r>
              <a:rPr lang="en-US" sz="1400">
                <a:latin typeface="Arial"/>
                <a:ea typeface="Arial"/>
                <a:cs typeface="Arial"/>
                <a:sym typeface="Arial"/>
              </a:rPr>
              <a:t>Mean Absolute Error (MAE)</a:t>
            </a:r>
            <a:endParaRPr sz="1400">
              <a:latin typeface="Arial"/>
              <a:ea typeface="Arial"/>
              <a:cs typeface="Arial"/>
              <a:sym typeface="Arial"/>
            </a:endParaRPr>
          </a:p>
          <a:p>
            <a:pPr indent="0" lvl="1" marL="0" rtl="0" algn="l">
              <a:lnSpc>
                <a:spcPct val="100000"/>
              </a:lnSpc>
              <a:spcBef>
                <a:spcPts val="535"/>
              </a:spcBef>
              <a:spcAft>
                <a:spcPts val="0"/>
              </a:spcAft>
              <a:buSzPts val="1400"/>
              <a:buFont typeface="Arial"/>
              <a:buNone/>
            </a:pPr>
            <a:r>
              <a:t/>
            </a:r>
            <a:endParaRPr sz="1400">
              <a:latin typeface="Arial"/>
              <a:ea typeface="Arial"/>
              <a:cs typeface="Arial"/>
              <a:sym typeface="Arial"/>
            </a:endParaRPr>
          </a:p>
          <a:p>
            <a:pPr indent="-366395" lvl="0" marL="469265" rtl="0" algn="l">
              <a:lnSpc>
                <a:spcPct val="100000"/>
              </a:lnSpc>
              <a:spcBef>
                <a:spcPts val="0"/>
              </a:spcBef>
              <a:spcAft>
                <a:spcPts val="0"/>
              </a:spcAft>
              <a:buSzPts val="1800"/>
              <a:buFont typeface="Arial"/>
              <a:buChar char="●"/>
            </a:pPr>
            <a:r>
              <a:rPr lang="en-US" sz="1800">
                <a:latin typeface="Arial"/>
                <a:ea typeface="Arial"/>
                <a:cs typeface="Arial"/>
                <a:sym typeface="Arial"/>
              </a:rPr>
              <a:t>Classification:</a:t>
            </a:r>
            <a:endParaRPr sz="1800">
              <a:latin typeface="Arial"/>
              <a:ea typeface="Arial"/>
              <a:cs typeface="Arial"/>
              <a:sym typeface="Arial"/>
            </a:endParaRPr>
          </a:p>
          <a:p>
            <a:pPr indent="-335915" lvl="1" marL="926465" rtl="0" algn="l">
              <a:lnSpc>
                <a:spcPct val="100000"/>
              </a:lnSpc>
              <a:spcBef>
                <a:spcPts val="15"/>
              </a:spcBef>
              <a:spcAft>
                <a:spcPts val="0"/>
              </a:spcAft>
              <a:buSzPts val="1400"/>
              <a:buFont typeface="Arial"/>
              <a:buChar char="○"/>
            </a:pPr>
            <a:r>
              <a:rPr lang="en-US" sz="1400">
                <a:latin typeface="Arial"/>
                <a:ea typeface="Arial"/>
                <a:cs typeface="Arial"/>
                <a:sym typeface="Arial"/>
              </a:rPr>
              <a:t>Binary Cross-Entropy</a:t>
            </a:r>
            <a:endParaRPr sz="1400">
              <a:latin typeface="Arial"/>
              <a:ea typeface="Arial"/>
              <a:cs typeface="Arial"/>
              <a:sym typeface="Arial"/>
            </a:endParaRPr>
          </a:p>
          <a:p>
            <a:pPr indent="-335915" lvl="1" marL="926465" rtl="0" algn="l">
              <a:lnSpc>
                <a:spcPct val="100000"/>
              </a:lnSpc>
              <a:spcBef>
                <a:spcPts val="0"/>
              </a:spcBef>
              <a:spcAft>
                <a:spcPts val="0"/>
              </a:spcAft>
              <a:buSzPts val="1400"/>
              <a:buFont typeface="Arial"/>
              <a:buChar char="○"/>
            </a:pPr>
            <a:r>
              <a:rPr lang="en-US" sz="1400">
                <a:latin typeface="Arial"/>
                <a:ea typeface="Arial"/>
                <a:cs typeface="Arial"/>
                <a:sym typeface="Arial"/>
              </a:rPr>
              <a:t>Categorical Cross-Entropy</a:t>
            </a:r>
            <a:endParaRPr sz="1400">
              <a:latin typeface="Arial"/>
              <a:ea typeface="Arial"/>
              <a:cs typeface="Arial"/>
              <a:sym typeface="Arial"/>
            </a:endParaRPr>
          </a:p>
          <a:p>
            <a:pPr indent="0" lvl="0" marL="914400" rtl="0" algn="l">
              <a:lnSpc>
                <a:spcPct val="100000"/>
              </a:lnSpc>
              <a:spcBef>
                <a:spcPts val="0"/>
              </a:spcBef>
              <a:spcAft>
                <a:spcPts val="0"/>
              </a:spcAft>
              <a:buNone/>
            </a:pPr>
            <a:r>
              <a:t/>
            </a:r>
            <a:endParaRPr sz="1400">
              <a:latin typeface="Arial"/>
              <a:ea typeface="Arial"/>
              <a:cs typeface="Arial"/>
              <a:sym typeface="Arial"/>
            </a:endParaRPr>
          </a:p>
        </p:txBody>
      </p:sp>
      <p:sp>
        <p:nvSpPr>
          <p:cNvPr id="270" name="Google Shape;270;p26"/>
          <p:cNvSpPr txBox="1"/>
          <p:nvPr/>
        </p:nvSpPr>
        <p:spPr>
          <a:xfrm>
            <a:off x="8852112" y="4766031"/>
            <a:ext cx="96520"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595959"/>
                </a:solidFill>
                <a:latin typeface="Arial"/>
                <a:ea typeface="Arial"/>
                <a:cs typeface="Arial"/>
                <a:sym typeface="Arial"/>
              </a:rPr>
              <a:t>4</a:t>
            </a:r>
            <a:endParaRPr sz="1000">
              <a:latin typeface="Arial"/>
              <a:ea typeface="Arial"/>
              <a:cs typeface="Arial"/>
              <a:sym typeface="Arial"/>
            </a:endParaRPr>
          </a:p>
        </p:txBody>
      </p:sp>
      <p:sp>
        <p:nvSpPr>
          <p:cNvPr id="271" name="Google Shape;271;p26"/>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5" name="Shape 275"/>
        <p:cNvGrpSpPr/>
        <p:nvPr/>
      </p:nvGrpSpPr>
      <p:grpSpPr>
        <a:xfrm>
          <a:off x="0" y="0"/>
          <a:ext cx="0" cy="0"/>
          <a:chOff x="0" y="0"/>
          <a:chExt cx="0" cy="0"/>
        </a:xfrm>
      </p:grpSpPr>
      <p:sp>
        <p:nvSpPr>
          <p:cNvPr descr="$PPTXTitle" id="276" name="Google Shape;276;p27"/>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L1 &amp; L2 Loss</a:t>
            </a:r>
            <a:endParaRPr/>
          </a:p>
        </p:txBody>
      </p:sp>
      <p:sp>
        <p:nvSpPr>
          <p:cNvPr id="277" name="Google Shape;277;p27"/>
          <p:cNvSpPr txBox="1"/>
          <p:nvPr/>
        </p:nvSpPr>
        <p:spPr>
          <a:xfrm>
            <a:off x="475248" y="1175208"/>
            <a:ext cx="4113529" cy="1287780"/>
          </a:xfrm>
          <a:prstGeom prst="rect">
            <a:avLst/>
          </a:prstGeom>
          <a:noFill/>
          <a:ln>
            <a:noFill/>
          </a:ln>
        </p:spPr>
        <p:txBody>
          <a:bodyPr anchorCtr="0" anchor="t" bIns="0" lIns="0" spcFirstLastPara="1" rIns="0" wrap="square" tIns="12700">
            <a:spAutoFit/>
          </a:bodyPr>
          <a:lstStyle/>
          <a:p>
            <a:pPr indent="-367030" lvl="0" marL="379095" marR="233045" rtl="0" algn="l">
              <a:lnSpc>
                <a:spcPct val="114999"/>
              </a:lnSpc>
              <a:spcBef>
                <a:spcPts val="0"/>
              </a:spcBef>
              <a:spcAft>
                <a:spcPts val="0"/>
              </a:spcAft>
              <a:buClr>
                <a:srgbClr val="595959"/>
              </a:buClr>
              <a:buSzPts val="1800"/>
              <a:buFont typeface="Arial"/>
              <a:buChar char="●"/>
            </a:pPr>
            <a:r>
              <a:rPr lang="en-US" sz="1800">
                <a:solidFill>
                  <a:srgbClr val="595959"/>
                </a:solidFill>
                <a:latin typeface="Arial"/>
                <a:ea typeface="Arial"/>
                <a:cs typeface="Arial"/>
                <a:sym typeface="Arial"/>
              </a:rPr>
              <a:t>Absolute Loss is also known as L1 loss</a:t>
            </a:r>
            <a:endParaRPr sz="1800">
              <a:latin typeface="Arial"/>
              <a:ea typeface="Arial"/>
              <a:cs typeface="Arial"/>
              <a:sym typeface="Arial"/>
            </a:endParaRPr>
          </a:p>
          <a:p>
            <a:pPr indent="-367030" lvl="0" marL="379095" marR="5080" rtl="0" algn="l">
              <a:lnSpc>
                <a:spcPct val="114999"/>
              </a:lnSpc>
              <a:spcBef>
                <a:spcPts val="0"/>
              </a:spcBef>
              <a:spcAft>
                <a:spcPts val="0"/>
              </a:spcAft>
              <a:buClr>
                <a:srgbClr val="595959"/>
              </a:buClr>
              <a:buSzPts val="1800"/>
              <a:buFont typeface="Arial"/>
              <a:buChar char="●"/>
            </a:pPr>
            <a:r>
              <a:rPr lang="en-US" sz="1800">
                <a:solidFill>
                  <a:srgbClr val="595959"/>
                </a:solidFill>
                <a:latin typeface="Arial"/>
                <a:ea typeface="Arial"/>
                <a:cs typeface="Arial"/>
                <a:sym typeface="Arial"/>
              </a:rPr>
              <a:t>Squared Error Loss is also known as L2 loss</a:t>
            </a:r>
            <a:endParaRPr sz="1800">
              <a:latin typeface="Arial"/>
              <a:ea typeface="Arial"/>
              <a:cs typeface="Arial"/>
              <a:sym typeface="Arial"/>
            </a:endParaRPr>
          </a:p>
        </p:txBody>
      </p:sp>
      <p:pic>
        <p:nvPicPr>
          <p:cNvPr id="278" name="Google Shape;278;p27"/>
          <p:cNvPicPr preferRelativeResize="0"/>
          <p:nvPr/>
        </p:nvPicPr>
        <p:blipFill rotWithShape="1">
          <a:blip r:embed="rId3">
            <a:alphaModFix/>
          </a:blip>
          <a:srcRect b="0" l="0" r="0" t="0"/>
          <a:stretch/>
        </p:blipFill>
        <p:spPr>
          <a:xfrm>
            <a:off x="4763690" y="1532451"/>
            <a:ext cx="4012911" cy="2939034"/>
          </a:xfrm>
          <a:prstGeom prst="rect">
            <a:avLst/>
          </a:prstGeom>
          <a:noFill/>
          <a:ln>
            <a:noFill/>
          </a:ln>
        </p:spPr>
      </p:pic>
      <p:pic>
        <p:nvPicPr>
          <p:cNvPr id="279" name="Google Shape;279;p27"/>
          <p:cNvPicPr preferRelativeResize="0"/>
          <p:nvPr/>
        </p:nvPicPr>
        <p:blipFill rotWithShape="1">
          <a:blip r:embed="rId4">
            <a:alphaModFix/>
          </a:blip>
          <a:srcRect b="0" l="0" r="0" t="0"/>
          <a:stretch/>
        </p:blipFill>
        <p:spPr>
          <a:xfrm>
            <a:off x="1732496" y="2238295"/>
            <a:ext cx="2726044" cy="2905194"/>
          </a:xfrm>
          <a:prstGeom prst="rect">
            <a:avLst/>
          </a:prstGeom>
          <a:noFill/>
          <a:ln>
            <a:noFill/>
          </a:ln>
        </p:spPr>
      </p:pic>
      <p:sp>
        <p:nvSpPr>
          <p:cNvPr id="280" name="Google Shape;280;p27"/>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4" name="Shape 284"/>
        <p:cNvGrpSpPr/>
        <p:nvPr/>
      </p:nvGrpSpPr>
      <p:grpSpPr>
        <a:xfrm>
          <a:off x="0" y="0"/>
          <a:ext cx="0" cy="0"/>
          <a:chOff x="0" y="0"/>
          <a:chExt cx="0" cy="0"/>
        </a:xfrm>
      </p:grpSpPr>
      <p:sp>
        <p:nvSpPr>
          <p:cNvPr descr="$PPTXTitle" id="285" name="Google Shape;285;p28"/>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Training Neural Network</a:t>
            </a:r>
            <a:endParaRPr/>
          </a:p>
        </p:txBody>
      </p:sp>
      <p:sp>
        <p:nvSpPr>
          <p:cNvPr id="286" name="Google Shape;286;p28"/>
          <p:cNvSpPr txBox="1"/>
          <p:nvPr/>
        </p:nvSpPr>
        <p:spPr>
          <a:xfrm>
            <a:off x="442474" y="1080805"/>
            <a:ext cx="7639684" cy="559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During training we try to find the parameter set for which loss is minimum.</a:t>
            </a:r>
            <a:endParaRPr sz="1800">
              <a:latin typeface="Arial"/>
              <a:ea typeface="Arial"/>
              <a:cs typeface="Arial"/>
              <a:sym typeface="Arial"/>
            </a:endParaRPr>
          </a:p>
          <a:p>
            <a:pPr indent="0" lvl="0" marL="12700" rtl="0" algn="l">
              <a:lnSpc>
                <a:spcPct val="100000"/>
              </a:lnSpc>
              <a:spcBef>
                <a:spcPts val="0"/>
              </a:spcBef>
              <a:spcAft>
                <a:spcPts val="0"/>
              </a:spcAft>
              <a:buNone/>
            </a:pPr>
            <a:r>
              <a:rPr lang="en-US" sz="1700">
                <a:latin typeface="Arial"/>
                <a:ea typeface="Arial"/>
                <a:cs typeface="Arial"/>
                <a:sym typeface="Arial"/>
              </a:rPr>
              <a:t>Starting at random values, we update parameters by gradient descent algorithm</a:t>
            </a:r>
            <a:endParaRPr sz="1700">
              <a:latin typeface="Arial"/>
              <a:ea typeface="Arial"/>
              <a:cs typeface="Arial"/>
              <a:sym typeface="Arial"/>
            </a:endParaRPr>
          </a:p>
        </p:txBody>
      </p:sp>
      <p:sp>
        <p:nvSpPr>
          <p:cNvPr id="287" name="Google Shape;287;p28"/>
          <p:cNvSpPr txBox="1"/>
          <p:nvPr/>
        </p:nvSpPr>
        <p:spPr>
          <a:xfrm>
            <a:off x="8781508" y="4766031"/>
            <a:ext cx="167005"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595959"/>
                </a:solidFill>
                <a:latin typeface="Arial"/>
                <a:ea typeface="Arial"/>
                <a:cs typeface="Arial"/>
                <a:sym typeface="Arial"/>
              </a:rPr>
              <a:t>13</a:t>
            </a:r>
            <a:endParaRPr sz="1000">
              <a:latin typeface="Arial"/>
              <a:ea typeface="Arial"/>
              <a:cs typeface="Arial"/>
              <a:sym typeface="Arial"/>
            </a:endParaRPr>
          </a:p>
        </p:txBody>
      </p:sp>
      <p:pic>
        <p:nvPicPr>
          <p:cNvPr id="288" name="Google Shape;288;p28"/>
          <p:cNvPicPr preferRelativeResize="0"/>
          <p:nvPr/>
        </p:nvPicPr>
        <p:blipFill rotWithShape="1">
          <a:blip r:embed="rId3">
            <a:alphaModFix/>
          </a:blip>
          <a:srcRect b="0" l="0" r="0" t="0"/>
          <a:stretch/>
        </p:blipFill>
        <p:spPr>
          <a:xfrm>
            <a:off x="2298545" y="1820696"/>
            <a:ext cx="4366867" cy="2543894"/>
          </a:xfrm>
          <a:prstGeom prst="rect">
            <a:avLst/>
          </a:prstGeom>
          <a:noFill/>
          <a:ln>
            <a:noFill/>
          </a:ln>
        </p:spPr>
      </p:pic>
      <p:sp>
        <p:nvSpPr>
          <p:cNvPr id="289" name="Google Shape;289;p28"/>
          <p:cNvSpPr txBox="1"/>
          <p:nvPr/>
        </p:nvSpPr>
        <p:spPr>
          <a:xfrm>
            <a:off x="4763039" y="4541285"/>
            <a:ext cx="2163445"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latin typeface="Arial"/>
                <a:ea typeface="Arial"/>
                <a:cs typeface="Arial"/>
                <a:sym typeface="Arial"/>
              </a:rPr>
              <a:t>Image Source: Google Search Engine</a:t>
            </a:r>
            <a:endParaRPr sz="1000">
              <a:latin typeface="Arial"/>
              <a:ea typeface="Arial"/>
              <a:cs typeface="Arial"/>
              <a:sym typeface="Arial"/>
            </a:endParaRPr>
          </a:p>
        </p:txBody>
      </p:sp>
      <p:sp>
        <p:nvSpPr>
          <p:cNvPr id="290" name="Google Shape;290;p28"/>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4" name="Shape 294"/>
        <p:cNvGrpSpPr/>
        <p:nvPr/>
      </p:nvGrpSpPr>
      <p:grpSpPr>
        <a:xfrm>
          <a:off x="0" y="0"/>
          <a:ext cx="0" cy="0"/>
          <a:chOff x="0" y="0"/>
          <a:chExt cx="0" cy="0"/>
        </a:xfrm>
      </p:grpSpPr>
      <p:sp>
        <p:nvSpPr>
          <p:cNvPr descr="$PPTXTitle" id="295" name="Google Shape;295;p29"/>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Gradient</a:t>
            </a:r>
            <a:endParaRPr/>
          </a:p>
        </p:txBody>
      </p:sp>
      <p:sp>
        <p:nvSpPr>
          <p:cNvPr id="296" name="Google Shape;296;p29"/>
          <p:cNvSpPr txBox="1"/>
          <p:nvPr/>
        </p:nvSpPr>
        <p:spPr>
          <a:xfrm>
            <a:off x="475248" y="1175208"/>
            <a:ext cx="3186430" cy="2233930"/>
          </a:xfrm>
          <a:prstGeom prst="rect">
            <a:avLst/>
          </a:prstGeom>
          <a:noFill/>
          <a:ln>
            <a:noFill/>
          </a:ln>
        </p:spPr>
        <p:txBody>
          <a:bodyPr anchorCtr="0" anchor="t" bIns="0" lIns="0" spcFirstLastPara="1" rIns="0" wrap="square" tIns="12700">
            <a:spAutoFit/>
          </a:bodyPr>
          <a:lstStyle/>
          <a:p>
            <a:pPr indent="-367030" lvl="0" marL="379095" marR="234315" rtl="0" algn="l">
              <a:lnSpc>
                <a:spcPct val="114999"/>
              </a:lnSpc>
              <a:spcBef>
                <a:spcPts val="0"/>
              </a:spcBef>
              <a:spcAft>
                <a:spcPts val="0"/>
              </a:spcAft>
              <a:buSzPts val="1800"/>
              <a:buFont typeface="Arial"/>
              <a:buChar char="●"/>
            </a:pPr>
            <a:r>
              <a:rPr lang="en-US" sz="1800">
                <a:latin typeface="Arial"/>
                <a:ea typeface="Arial"/>
                <a:cs typeface="Arial"/>
                <a:sym typeface="Arial"/>
              </a:rPr>
              <a:t>Gradient (GD) means the change in the value of a quantity with change in a given variable</a:t>
            </a:r>
            <a:endParaRPr sz="1800">
              <a:latin typeface="Arial"/>
              <a:ea typeface="Arial"/>
              <a:cs typeface="Arial"/>
              <a:sym typeface="Arial"/>
            </a:endParaRPr>
          </a:p>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the sign of a GD represents the direction of greatest change in a scalar function</a:t>
            </a:r>
            <a:endParaRPr sz="1800">
              <a:latin typeface="Arial"/>
              <a:ea typeface="Arial"/>
              <a:cs typeface="Arial"/>
              <a:sym typeface="Arial"/>
            </a:endParaRPr>
          </a:p>
        </p:txBody>
      </p:sp>
      <p:pic>
        <p:nvPicPr>
          <p:cNvPr id="297" name="Google Shape;297;p29"/>
          <p:cNvPicPr preferRelativeResize="0"/>
          <p:nvPr/>
        </p:nvPicPr>
        <p:blipFill rotWithShape="1">
          <a:blip r:embed="rId3">
            <a:alphaModFix/>
          </a:blip>
          <a:srcRect b="0" l="0" r="0" t="0"/>
          <a:stretch/>
        </p:blipFill>
        <p:spPr>
          <a:xfrm>
            <a:off x="4102416" y="1309997"/>
            <a:ext cx="4473790" cy="3258868"/>
          </a:xfrm>
          <a:prstGeom prst="rect">
            <a:avLst/>
          </a:prstGeom>
          <a:noFill/>
          <a:ln>
            <a:noFill/>
          </a:ln>
        </p:spPr>
      </p:pic>
      <p:sp>
        <p:nvSpPr>
          <p:cNvPr id="298" name="Google Shape;298;p29"/>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2" name="Shape 302"/>
        <p:cNvGrpSpPr/>
        <p:nvPr/>
      </p:nvGrpSpPr>
      <p:grpSpPr>
        <a:xfrm>
          <a:off x="0" y="0"/>
          <a:ext cx="0" cy="0"/>
          <a:chOff x="0" y="0"/>
          <a:chExt cx="0" cy="0"/>
        </a:xfrm>
      </p:grpSpPr>
      <p:sp>
        <p:nvSpPr>
          <p:cNvPr descr="$PPTXTitle" id="303" name="Google Shape;303;p30"/>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Gradient Descent Algorithm</a:t>
            </a:r>
            <a:endParaRPr/>
          </a:p>
        </p:txBody>
      </p:sp>
      <p:pic>
        <p:nvPicPr>
          <p:cNvPr id="304" name="Google Shape;304;p30"/>
          <p:cNvPicPr preferRelativeResize="0"/>
          <p:nvPr/>
        </p:nvPicPr>
        <p:blipFill rotWithShape="1">
          <a:blip r:embed="rId3">
            <a:alphaModFix/>
          </a:blip>
          <a:srcRect b="0" l="0" r="0" t="0"/>
          <a:stretch/>
        </p:blipFill>
        <p:spPr>
          <a:xfrm>
            <a:off x="5086489" y="1710120"/>
            <a:ext cx="3515927" cy="1815772"/>
          </a:xfrm>
          <a:prstGeom prst="rect">
            <a:avLst/>
          </a:prstGeom>
          <a:noFill/>
          <a:ln>
            <a:noFill/>
          </a:ln>
        </p:spPr>
      </p:pic>
      <p:pic>
        <p:nvPicPr>
          <p:cNvPr id="305" name="Google Shape;305;p30"/>
          <p:cNvPicPr preferRelativeResize="0"/>
          <p:nvPr/>
        </p:nvPicPr>
        <p:blipFill rotWithShape="1">
          <a:blip r:embed="rId4">
            <a:alphaModFix/>
          </a:blip>
          <a:srcRect b="0" l="0" r="0" t="0"/>
          <a:stretch/>
        </p:blipFill>
        <p:spPr>
          <a:xfrm>
            <a:off x="526348" y="1472372"/>
            <a:ext cx="3779067" cy="1445247"/>
          </a:xfrm>
          <a:prstGeom prst="rect">
            <a:avLst/>
          </a:prstGeom>
          <a:noFill/>
          <a:ln>
            <a:noFill/>
          </a:ln>
        </p:spPr>
      </p:pic>
      <p:sp>
        <p:nvSpPr>
          <p:cNvPr id="306" name="Google Shape;306;p30"/>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0" name="Shape 310"/>
        <p:cNvGrpSpPr/>
        <p:nvPr/>
      </p:nvGrpSpPr>
      <p:grpSpPr>
        <a:xfrm>
          <a:off x="0" y="0"/>
          <a:ext cx="0" cy="0"/>
          <a:chOff x="0" y="0"/>
          <a:chExt cx="0" cy="0"/>
        </a:xfrm>
      </p:grpSpPr>
      <p:sp>
        <p:nvSpPr>
          <p:cNvPr descr="$PPTXTitle" id="311" name="Google Shape;311;p31"/>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Gradient Descent Algorithm</a:t>
            </a:r>
            <a:endParaRPr/>
          </a:p>
        </p:txBody>
      </p:sp>
      <p:sp>
        <p:nvSpPr>
          <p:cNvPr id="312" name="Google Shape;312;p31"/>
          <p:cNvSpPr txBox="1"/>
          <p:nvPr/>
        </p:nvSpPr>
        <p:spPr>
          <a:xfrm>
            <a:off x="691873" y="1328179"/>
            <a:ext cx="4137660" cy="3042920"/>
          </a:xfrm>
          <a:prstGeom prst="rect">
            <a:avLst/>
          </a:prstGeom>
          <a:noFill/>
          <a:ln>
            <a:noFill/>
          </a:ln>
        </p:spPr>
        <p:txBody>
          <a:bodyPr anchorCtr="0" anchor="t" bIns="0" lIns="0" spcFirstLastPara="1" rIns="0" wrap="square" tIns="12700">
            <a:spAutoFit/>
          </a:bodyPr>
          <a:lstStyle/>
          <a:p>
            <a:pPr indent="-366395" lvl="0" marL="379095" rtl="0" algn="l">
              <a:lnSpc>
                <a:spcPct val="100000"/>
              </a:lnSpc>
              <a:spcBef>
                <a:spcPts val="0"/>
              </a:spcBef>
              <a:spcAft>
                <a:spcPts val="0"/>
              </a:spcAft>
              <a:buSzPts val="1800"/>
              <a:buFont typeface="Arial"/>
              <a:buChar char="●"/>
            </a:pPr>
            <a:r>
              <a:rPr lang="en-US" sz="1800">
                <a:latin typeface="Arial"/>
                <a:ea typeface="Arial"/>
                <a:cs typeface="Arial"/>
                <a:sym typeface="Arial"/>
              </a:rPr>
              <a:t>Initialize parameters randomly</a:t>
            </a:r>
            <a:endParaRPr sz="1800">
              <a:latin typeface="Arial"/>
              <a:ea typeface="Arial"/>
              <a:cs typeface="Arial"/>
              <a:sym typeface="Arial"/>
            </a:endParaRPr>
          </a:p>
          <a:p>
            <a:pPr indent="-367030" lvl="0" marL="379095" marR="612775" rtl="0" algn="l">
              <a:lnSpc>
                <a:spcPct val="100000"/>
              </a:lnSpc>
              <a:spcBef>
                <a:spcPts val="0"/>
              </a:spcBef>
              <a:spcAft>
                <a:spcPts val="0"/>
              </a:spcAft>
              <a:buSzPts val="1800"/>
              <a:buFont typeface="Arial"/>
              <a:buChar char="●"/>
            </a:pPr>
            <a:r>
              <a:rPr lang="en-US" sz="1800">
                <a:latin typeface="Arial"/>
                <a:ea typeface="Arial"/>
                <a:cs typeface="Arial"/>
                <a:sym typeface="Arial"/>
              </a:rPr>
              <a:t>Estimate outputs for inputs in a forward pass</a:t>
            </a:r>
            <a:endParaRPr sz="1800">
              <a:latin typeface="Arial"/>
              <a:ea typeface="Arial"/>
              <a:cs typeface="Arial"/>
              <a:sym typeface="Arial"/>
            </a:endParaRPr>
          </a:p>
          <a:p>
            <a:pPr indent="-366395" lvl="0" marL="379095" rtl="0" algn="l">
              <a:lnSpc>
                <a:spcPct val="100000"/>
              </a:lnSpc>
              <a:spcBef>
                <a:spcPts val="0"/>
              </a:spcBef>
              <a:spcAft>
                <a:spcPts val="0"/>
              </a:spcAft>
              <a:buSzPts val="1800"/>
              <a:buFont typeface="Arial"/>
              <a:buChar char="●"/>
            </a:pPr>
            <a:r>
              <a:rPr lang="en-US" sz="1800">
                <a:latin typeface="Arial"/>
                <a:ea typeface="Arial"/>
                <a:cs typeface="Arial"/>
                <a:sym typeface="Arial"/>
              </a:rPr>
              <a:t>Estimate loss</a:t>
            </a:r>
            <a:endParaRPr sz="1800">
              <a:latin typeface="Arial"/>
              <a:ea typeface="Arial"/>
              <a:cs typeface="Arial"/>
              <a:sym typeface="Arial"/>
            </a:endParaRPr>
          </a:p>
          <a:p>
            <a:pPr indent="-367030" lvl="0" marL="379095" marR="5080" rtl="0" algn="l">
              <a:lnSpc>
                <a:spcPct val="100000"/>
              </a:lnSpc>
              <a:spcBef>
                <a:spcPts val="0"/>
              </a:spcBef>
              <a:spcAft>
                <a:spcPts val="0"/>
              </a:spcAft>
              <a:buSzPts val="1800"/>
              <a:buFont typeface="Arial"/>
              <a:buChar char="●"/>
            </a:pPr>
            <a:r>
              <a:rPr lang="en-US" sz="1800">
                <a:latin typeface="Arial"/>
                <a:ea typeface="Arial"/>
                <a:cs typeface="Arial"/>
                <a:sym typeface="Arial"/>
              </a:rPr>
              <a:t>Estimate gradient of the loss function with respect to all parameters</a:t>
            </a:r>
            <a:endParaRPr sz="1800">
              <a:latin typeface="Arial"/>
              <a:ea typeface="Arial"/>
              <a:cs typeface="Arial"/>
              <a:sym typeface="Arial"/>
            </a:endParaRPr>
          </a:p>
          <a:p>
            <a:pPr indent="-367030" lvl="0" marL="379095" marR="422275" rtl="0" algn="l">
              <a:lnSpc>
                <a:spcPct val="100000"/>
              </a:lnSpc>
              <a:spcBef>
                <a:spcPts val="0"/>
              </a:spcBef>
              <a:spcAft>
                <a:spcPts val="0"/>
              </a:spcAft>
              <a:buSzPts val="1800"/>
              <a:buFont typeface="Arial"/>
              <a:buChar char="●"/>
            </a:pPr>
            <a:r>
              <a:rPr lang="en-US" sz="1800">
                <a:latin typeface="Arial"/>
                <a:ea typeface="Arial"/>
                <a:cs typeface="Arial"/>
                <a:sym typeface="Arial"/>
              </a:rPr>
              <a:t>Move parameters in the opposite direction of gradient</a:t>
            </a:r>
            <a:endParaRPr sz="1800">
              <a:latin typeface="Arial"/>
              <a:ea typeface="Arial"/>
              <a:cs typeface="Arial"/>
              <a:sym typeface="Arial"/>
            </a:endParaRPr>
          </a:p>
          <a:p>
            <a:pPr indent="0" lvl="0" marL="0" rtl="0" algn="l">
              <a:lnSpc>
                <a:spcPct val="100000"/>
              </a:lnSpc>
              <a:spcBef>
                <a:spcPts val="90"/>
              </a:spcBef>
              <a:spcAft>
                <a:spcPts val="0"/>
              </a:spcAft>
              <a:buSzPts val="1800"/>
              <a:buFont typeface="Arial"/>
              <a:buNone/>
            </a:pPr>
            <a:r>
              <a:t/>
            </a:r>
            <a:endParaRPr sz="1800">
              <a:latin typeface="Arial"/>
              <a:ea typeface="Arial"/>
              <a:cs typeface="Arial"/>
              <a:sym typeface="Arial"/>
            </a:endParaRPr>
          </a:p>
          <a:p>
            <a:pPr indent="-367030" lvl="0" marL="379095" marR="600710" rtl="0" algn="l">
              <a:lnSpc>
                <a:spcPct val="100000"/>
              </a:lnSpc>
              <a:spcBef>
                <a:spcPts val="0"/>
              </a:spcBef>
              <a:spcAft>
                <a:spcPts val="0"/>
              </a:spcAft>
              <a:buSzPts val="1800"/>
              <a:buFont typeface="Arial"/>
              <a:buChar char="●"/>
            </a:pPr>
            <a:r>
              <a:rPr lang="en-US" sz="1800">
                <a:latin typeface="Arial"/>
                <a:ea typeface="Arial"/>
                <a:cs typeface="Arial"/>
                <a:sym typeface="Arial"/>
              </a:rPr>
              <a:t>Repeat these steps until loss is minimum</a:t>
            </a:r>
            <a:endParaRPr sz="1800">
              <a:latin typeface="Arial"/>
              <a:ea typeface="Arial"/>
              <a:cs typeface="Arial"/>
              <a:sym typeface="Arial"/>
            </a:endParaRPr>
          </a:p>
        </p:txBody>
      </p:sp>
      <p:pic>
        <p:nvPicPr>
          <p:cNvPr id="313" name="Google Shape;313;p31"/>
          <p:cNvPicPr preferRelativeResize="0"/>
          <p:nvPr/>
        </p:nvPicPr>
        <p:blipFill rotWithShape="1">
          <a:blip r:embed="rId3">
            <a:alphaModFix/>
          </a:blip>
          <a:srcRect b="0" l="0" r="0" t="0"/>
          <a:stretch/>
        </p:blipFill>
        <p:spPr>
          <a:xfrm>
            <a:off x="5112510" y="1264758"/>
            <a:ext cx="3769649" cy="1971579"/>
          </a:xfrm>
          <a:prstGeom prst="rect">
            <a:avLst/>
          </a:prstGeom>
          <a:noFill/>
          <a:ln>
            <a:noFill/>
          </a:ln>
        </p:spPr>
      </p:pic>
      <p:pic>
        <p:nvPicPr>
          <p:cNvPr id="314" name="Google Shape;314;p31"/>
          <p:cNvPicPr preferRelativeResize="0"/>
          <p:nvPr/>
        </p:nvPicPr>
        <p:blipFill rotWithShape="1">
          <a:blip r:embed="rId4">
            <a:alphaModFix/>
          </a:blip>
          <a:srcRect b="0" l="0" r="0" t="0"/>
          <a:stretch/>
        </p:blipFill>
        <p:spPr>
          <a:xfrm>
            <a:off x="3182543" y="3304093"/>
            <a:ext cx="2464744" cy="498498"/>
          </a:xfrm>
          <a:prstGeom prst="rect">
            <a:avLst/>
          </a:prstGeom>
          <a:noFill/>
          <a:ln>
            <a:noFill/>
          </a:ln>
        </p:spPr>
      </p:pic>
      <p:sp>
        <p:nvSpPr>
          <p:cNvPr id="315" name="Google Shape;315;p31"/>
          <p:cNvSpPr txBox="1"/>
          <p:nvPr>
            <p:ph idx="12" type="sldNum"/>
          </p:nvPr>
        </p:nvSpPr>
        <p:spPr>
          <a:xfrm>
            <a:off x="8756108" y="4778061"/>
            <a:ext cx="230623" cy="167639"/>
          </a:xfrm>
          <a:prstGeom prst="rect">
            <a:avLst/>
          </a:prstGeom>
          <a:noFill/>
          <a:ln>
            <a:noFill/>
          </a:ln>
        </p:spPr>
        <p:txBody>
          <a:bodyPr anchorCtr="0" anchor="t" bIns="0" lIns="0" spcFirstLastPara="1" rIns="0" wrap="square" tIns="625">
            <a:spAutoFit/>
          </a:bodyPr>
          <a:lstStyle/>
          <a:p>
            <a:pPr indent="0" lvl="0" marL="108585" rtl="0" algn="l">
              <a:lnSpc>
                <a:spcPct val="100000"/>
              </a:lnSpc>
              <a:spcBef>
                <a:spcPts val="0"/>
              </a:spcBef>
              <a:spcAft>
                <a:spcPts val="0"/>
              </a:spcAft>
              <a:buNone/>
            </a:pPr>
            <a:r>
              <a:rPr lang="en-US"/>
              <a:t>6</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9" name="Shape 319"/>
        <p:cNvGrpSpPr/>
        <p:nvPr/>
      </p:nvGrpSpPr>
      <p:grpSpPr>
        <a:xfrm>
          <a:off x="0" y="0"/>
          <a:ext cx="0" cy="0"/>
          <a:chOff x="0" y="0"/>
          <a:chExt cx="0" cy="0"/>
        </a:xfrm>
      </p:grpSpPr>
      <p:sp>
        <p:nvSpPr>
          <p:cNvPr descr="$PPTXTitle" id="320" name="Google Shape;320;p32"/>
          <p:cNvSpPr txBox="1"/>
          <p:nvPr>
            <p:ph type="title"/>
          </p:nvPr>
        </p:nvSpPr>
        <p:spPr>
          <a:xfrm>
            <a:off x="384724" y="505247"/>
            <a:ext cx="8287384" cy="409575"/>
          </a:xfrm>
          <a:prstGeom prst="rect">
            <a:avLst/>
          </a:prstGeom>
          <a:noFill/>
          <a:ln>
            <a:noFill/>
          </a:ln>
        </p:spPr>
        <p:txBody>
          <a:bodyPr anchorCtr="0" anchor="t" bIns="0" lIns="0" spcFirstLastPara="1" rIns="0" wrap="square" tIns="17775">
            <a:spAutoFit/>
          </a:bodyPr>
          <a:lstStyle/>
          <a:p>
            <a:pPr indent="0" lvl="0" marL="12700" rtl="0" algn="l">
              <a:lnSpc>
                <a:spcPct val="100000"/>
              </a:lnSpc>
              <a:spcBef>
                <a:spcPts val="0"/>
              </a:spcBef>
              <a:spcAft>
                <a:spcPts val="0"/>
              </a:spcAft>
              <a:buNone/>
            </a:pPr>
            <a:r>
              <a:rPr lang="en-US"/>
              <a:t>Effect of Learning Rate, </a:t>
            </a:r>
            <a:r>
              <a:rPr lang="en-US" sz="2650"/>
              <a:t>α</a:t>
            </a:r>
            <a:endParaRPr sz="2650"/>
          </a:p>
        </p:txBody>
      </p:sp>
      <p:grpSp>
        <p:nvGrpSpPr>
          <p:cNvPr id="321" name="Google Shape;321;p32"/>
          <p:cNvGrpSpPr/>
          <p:nvPr/>
        </p:nvGrpSpPr>
        <p:grpSpPr>
          <a:xfrm>
            <a:off x="304799" y="1170122"/>
            <a:ext cx="8300790" cy="3340693"/>
            <a:chOff x="304799" y="1170122"/>
            <a:chExt cx="8300790" cy="3340693"/>
          </a:xfrm>
        </p:grpSpPr>
        <p:pic>
          <p:nvPicPr>
            <p:cNvPr id="322" name="Google Shape;322;p32"/>
            <p:cNvPicPr preferRelativeResize="0"/>
            <p:nvPr/>
          </p:nvPicPr>
          <p:blipFill rotWithShape="1">
            <a:blip r:embed="rId3">
              <a:alphaModFix/>
            </a:blip>
            <a:srcRect b="0" l="0" r="0" t="0"/>
            <a:stretch/>
          </p:blipFill>
          <p:spPr>
            <a:xfrm>
              <a:off x="304799" y="1170122"/>
              <a:ext cx="8300790" cy="2866074"/>
            </a:xfrm>
            <a:prstGeom prst="rect">
              <a:avLst/>
            </a:prstGeom>
            <a:noFill/>
            <a:ln>
              <a:noFill/>
            </a:ln>
          </p:spPr>
        </p:pic>
        <p:pic>
          <p:nvPicPr>
            <p:cNvPr id="323" name="Google Shape;323;p32"/>
            <p:cNvPicPr preferRelativeResize="0"/>
            <p:nvPr/>
          </p:nvPicPr>
          <p:blipFill rotWithShape="1">
            <a:blip r:embed="rId4">
              <a:alphaModFix/>
            </a:blip>
            <a:srcRect b="0" l="0" r="0" t="0"/>
            <a:stretch/>
          </p:blipFill>
          <p:spPr>
            <a:xfrm>
              <a:off x="2292112" y="4049716"/>
              <a:ext cx="2279877" cy="461099"/>
            </a:xfrm>
            <a:prstGeom prst="rect">
              <a:avLst/>
            </a:prstGeom>
            <a:noFill/>
            <a:ln>
              <a:noFill/>
            </a:ln>
          </p:spPr>
        </p:pic>
      </p:grpSp>
      <p:sp>
        <p:nvSpPr>
          <p:cNvPr id="324" name="Google Shape;324;p32"/>
          <p:cNvSpPr txBox="1"/>
          <p:nvPr>
            <p:ph idx="12" type="sldNum"/>
          </p:nvPr>
        </p:nvSpPr>
        <p:spPr>
          <a:xfrm>
            <a:off x="8756108" y="4778061"/>
            <a:ext cx="230623" cy="167639"/>
          </a:xfrm>
          <a:prstGeom prst="rect">
            <a:avLst/>
          </a:prstGeom>
          <a:noFill/>
          <a:ln>
            <a:noFill/>
          </a:ln>
        </p:spPr>
        <p:txBody>
          <a:bodyPr anchorCtr="0" anchor="t" bIns="0" lIns="0" spcFirstLastPara="1" rIns="0" wrap="square" tIns="625">
            <a:spAutoFit/>
          </a:bodyPr>
          <a:lstStyle/>
          <a:p>
            <a:pPr indent="0" lvl="0" marL="108585" rtl="0" algn="l">
              <a:lnSpc>
                <a:spcPct val="100000"/>
              </a:lnSpc>
              <a:spcBef>
                <a:spcPts val="0"/>
              </a:spcBef>
              <a:spcAft>
                <a:spcPts val="0"/>
              </a:spcAft>
              <a:buNone/>
            </a:pPr>
            <a:r>
              <a:rPr lang="en-US"/>
              <a:t>7</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8" name="Shape 328"/>
        <p:cNvGrpSpPr/>
        <p:nvPr/>
      </p:nvGrpSpPr>
      <p:grpSpPr>
        <a:xfrm>
          <a:off x="0" y="0"/>
          <a:ext cx="0" cy="0"/>
          <a:chOff x="0" y="0"/>
          <a:chExt cx="0" cy="0"/>
        </a:xfrm>
      </p:grpSpPr>
      <p:sp>
        <p:nvSpPr>
          <p:cNvPr descr="$PPTXTitle" id="329" name="Google Shape;329;p33"/>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Local Vs. Global Minima</a:t>
            </a:r>
            <a:endParaRPr/>
          </a:p>
        </p:txBody>
      </p:sp>
      <p:sp>
        <p:nvSpPr>
          <p:cNvPr id="330" name="Google Shape;330;p33"/>
          <p:cNvSpPr txBox="1"/>
          <p:nvPr/>
        </p:nvSpPr>
        <p:spPr>
          <a:xfrm>
            <a:off x="502486" y="1218159"/>
            <a:ext cx="2687955" cy="1402080"/>
          </a:xfrm>
          <a:prstGeom prst="rect">
            <a:avLst/>
          </a:prstGeom>
          <a:noFill/>
          <a:ln>
            <a:noFill/>
          </a:ln>
        </p:spPr>
        <p:txBody>
          <a:bodyPr anchorCtr="0" anchor="t" bIns="0" lIns="0" spcFirstLastPara="1" rIns="0" wrap="square" tIns="12050">
            <a:spAutoFit/>
          </a:bodyPr>
          <a:lstStyle/>
          <a:p>
            <a:pPr indent="-339090" lvl="0" marL="351790" rtl="0" algn="l">
              <a:lnSpc>
                <a:spcPct val="100000"/>
              </a:lnSpc>
              <a:spcBef>
                <a:spcPts val="0"/>
              </a:spcBef>
              <a:spcAft>
                <a:spcPts val="0"/>
              </a:spcAft>
              <a:buSzPts val="1450"/>
              <a:buFont typeface="Arial"/>
              <a:buChar char="●"/>
            </a:pPr>
            <a:r>
              <a:rPr b="1" lang="en-US" sz="1450">
                <a:latin typeface="Arial"/>
                <a:ea typeface="Arial"/>
                <a:cs typeface="Arial"/>
                <a:sym typeface="Arial"/>
              </a:rPr>
              <a:t>Local Minimum</a:t>
            </a:r>
            <a:endParaRPr sz="1450">
              <a:latin typeface="Arial"/>
              <a:ea typeface="Arial"/>
              <a:cs typeface="Arial"/>
              <a:sym typeface="Arial"/>
            </a:endParaRPr>
          </a:p>
          <a:p>
            <a:pPr indent="0" lvl="0" marL="351790" marR="5080" rtl="0" algn="l">
              <a:lnSpc>
                <a:spcPct val="104600"/>
              </a:lnSpc>
              <a:spcBef>
                <a:spcPts val="0"/>
              </a:spcBef>
              <a:spcAft>
                <a:spcPts val="0"/>
              </a:spcAft>
              <a:buNone/>
            </a:pPr>
            <a:r>
              <a:rPr lang="en-US" sz="1450">
                <a:latin typeface="Arial"/>
                <a:ea typeface="Arial"/>
                <a:cs typeface="Arial"/>
                <a:sym typeface="Arial"/>
              </a:rPr>
              <a:t>A point where a function's value for a variable parameter is smaller than nearby points, but possibly larger than at a distant point.</a:t>
            </a:r>
            <a:endParaRPr sz="1450">
              <a:latin typeface="Arial"/>
              <a:ea typeface="Arial"/>
              <a:cs typeface="Arial"/>
              <a:sym typeface="Arial"/>
            </a:endParaRPr>
          </a:p>
        </p:txBody>
      </p:sp>
      <p:sp>
        <p:nvSpPr>
          <p:cNvPr id="331" name="Google Shape;331;p33"/>
          <p:cNvSpPr txBox="1"/>
          <p:nvPr/>
        </p:nvSpPr>
        <p:spPr>
          <a:xfrm>
            <a:off x="502486" y="3141557"/>
            <a:ext cx="2638425" cy="1170940"/>
          </a:xfrm>
          <a:prstGeom prst="rect">
            <a:avLst/>
          </a:prstGeom>
          <a:noFill/>
          <a:ln>
            <a:noFill/>
          </a:ln>
        </p:spPr>
        <p:txBody>
          <a:bodyPr anchorCtr="0" anchor="t" bIns="0" lIns="0" spcFirstLastPara="1" rIns="0" wrap="square" tIns="12050">
            <a:spAutoFit/>
          </a:bodyPr>
          <a:lstStyle/>
          <a:p>
            <a:pPr indent="-339090" lvl="0" marL="351790" rtl="0" algn="l">
              <a:lnSpc>
                <a:spcPct val="100000"/>
              </a:lnSpc>
              <a:spcBef>
                <a:spcPts val="0"/>
              </a:spcBef>
              <a:spcAft>
                <a:spcPts val="0"/>
              </a:spcAft>
              <a:buSzPts val="1450"/>
              <a:buFont typeface="Arial"/>
              <a:buChar char="●"/>
            </a:pPr>
            <a:r>
              <a:rPr b="1" lang="en-US" sz="1450">
                <a:latin typeface="Arial"/>
                <a:ea typeface="Arial"/>
                <a:cs typeface="Arial"/>
                <a:sym typeface="Arial"/>
              </a:rPr>
              <a:t>Global Minimum</a:t>
            </a:r>
            <a:endParaRPr sz="1450">
              <a:latin typeface="Arial"/>
              <a:ea typeface="Arial"/>
              <a:cs typeface="Arial"/>
              <a:sym typeface="Arial"/>
            </a:endParaRPr>
          </a:p>
          <a:p>
            <a:pPr indent="0" lvl="0" marL="351790" marR="5080" rtl="0" algn="l">
              <a:lnSpc>
                <a:spcPct val="104600"/>
              </a:lnSpc>
              <a:spcBef>
                <a:spcPts val="0"/>
              </a:spcBef>
              <a:spcAft>
                <a:spcPts val="0"/>
              </a:spcAft>
              <a:buNone/>
            </a:pPr>
            <a:r>
              <a:rPr lang="en-US" sz="1450">
                <a:latin typeface="Arial"/>
                <a:ea typeface="Arial"/>
                <a:cs typeface="Arial"/>
                <a:sym typeface="Arial"/>
              </a:rPr>
              <a:t>A point where a function's value for a variable parameter is smaller than at all other feasible points</a:t>
            </a:r>
            <a:endParaRPr sz="1450">
              <a:latin typeface="Arial"/>
              <a:ea typeface="Arial"/>
              <a:cs typeface="Arial"/>
              <a:sym typeface="Arial"/>
            </a:endParaRPr>
          </a:p>
        </p:txBody>
      </p:sp>
      <p:pic>
        <p:nvPicPr>
          <p:cNvPr id="332" name="Google Shape;332;p33"/>
          <p:cNvPicPr preferRelativeResize="0"/>
          <p:nvPr/>
        </p:nvPicPr>
        <p:blipFill rotWithShape="1">
          <a:blip r:embed="rId3">
            <a:alphaModFix/>
          </a:blip>
          <a:srcRect b="0" l="0" r="0" t="0"/>
          <a:stretch/>
        </p:blipFill>
        <p:spPr>
          <a:xfrm>
            <a:off x="4194968" y="1328951"/>
            <a:ext cx="4383659" cy="2318895"/>
          </a:xfrm>
          <a:prstGeom prst="rect">
            <a:avLst/>
          </a:prstGeom>
          <a:noFill/>
          <a:ln>
            <a:noFill/>
          </a:ln>
        </p:spPr>
      </p:pic>
      <p:sp>
        <p:nvSpPr>
          <p:cNvPr id="333" name="Google Shape;333;p33"/>
          <p:cNvSpPr txBox="1"/>
          <p:nvPr/>
        </p:nvSpPr>
        <p:spPr>
          <a:xfrm>
            <a:off x="3768612" y="3938207"/>
            <a:ext cx="4220845" cy="54356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700">
                <a:latin typeface="Arial"/>
                <a:ea typeface="Arial"/>
                <a:cs typeface="Arial"/>
                <a:sym typeface="Arial"/>
              </a:rPr>
              <a:t>Our target is to reach the global minima, but unfortunately we end up at a local minima.</a:t>
            </a:r>
            <a:endParaRPr sz="1700">
              <a:latin typeface="Arial"/>
              <a:ea typeface="Arial"/>
              <a:cs typeface="Arial"/>
              <a:sym typeface="Arial"/>
            </a:endParaRPr>
          </a:p>
        </p:txBody>
      </p:sp>
      <p:sp>
        <p:nvSpPr>
          <p:cNvPr id="334" name="Google Shape;334;p33"/>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8" name="Shape 338"/>
        <p:cNvGrpSpPr/>
        <p:nvPr/>
      </p:nvGrpSpPr>
      <p:grpSpPr>
        <a:xfrm>
          <a:off x="0" y="0"/>
          <a:ext cx="0" cy="0"/>
          <a:chOff x="0" y="0"/>
          <a:chExt cx="0" cy="0"/>
        </a:xfrm>
      </p:grpSpPr>
      <p:sp>
        <p:nvSpPr>
          <p:cNvPr descr="$PPTXTitle" id="339" name="Google Shape;339;p34"/>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Vanishing Gradient</a:t>
            </a:r>
            <a:endParaRPr/>
          </a:p>
        </p:txBody>
      </p:sp>
      <p:sp>
        <p:nvSpPr>
          <p:cNvPr id="340" name="Google Shape;340;p34"/>
          <p:cNvSpPr txBox="1"/>
          <p:nvPr/>
        </p:nvSpPr>
        <p:spPr>
          <a:xfrm>
            <a:off x="475248" y="1134060"/>
            <a:ext cx="4773930" cy="3235325"/>
          </a:xfrm>
          <a:prstGeom prst="rect">
            <a:avLst/>
          </a:prstGeom>
          <a:noFill/>
          <a:ln>
            <a:noFill/>
          </a:ln>
        </p:spPr>
        <p:txBody>
          <a:bodyPr anchorCtr="0" anchor="t" bIns="0" lIns="0" spcFirstLastPara="1" rIns="0" wrap="square" tIns="12700">
            <a:spAutoFit/>
          </a:bodyPr>
          <a:lstStyle/>
          <a:p>
            <a:pPr indent="-367030" lvl="0" marL="379095" marR="5080" rtl="0" algn="l">
              <a:lnSpc>
                <a:spcPct val="130000"/>
              </a:lnSpc>
              <a:spcBef>
                <a:spcPts val="0"/>
              </a:spcBef>
              <a:spcAft>
                <a:spcPts val="0"/>
              </a:spcAft>
              <a:buSzPts val="1800"/>
              <a:buFont typeface="Arial"/>
              <a:buChar char="●"/>
            </a:pPr>
            <a:r>
              <a:rPr lang="en-US" sz="1800">
                <a:latin typeface="Arial"/>
                <a:ea typeface="Arial"/>
                <a:cs typeface="Arial"/>
                <a:sym typeface="Arial"/>
              </a:rPr>
              <a:t>gradients often get smaller and smaller and approach zero</a:t>
            </a:r>
            <a:endParaRPr sz="1800">
              <a:latin typeface="Arial"/>
              <a:ea typeface="Arial"/>
              <a:cs typeface="Arial"/>
              <a:sym typeface="Arial"/>
            </a:endParaRPr>
          </a:p>
          <a:p>
            <a:pPr indent="-367030" lvl="0" marL="379095" marR="95885" rtl="0" algn="l">
              <a:lnSpc>
                <a:spcPct val="130000"/>
              </a:lnSpc>
              <a:spcBef>
                <a:spcPts val="0"/>
              </a:spcBef>
              <a:spcAft>
                <a:spcPts val="0"/>
              </a:spcAft>
              <a:buSzPts val="1800"/>
              <a:buFont typeface="Arial"/>
              <a:buChar char="●"/>
            </a:pPr>
            <a:r>
              <a:rPr lang="en-US" sz="1800">
                <a:latin typeface="Arial"/>
                <a:ea typeface="Arial"/>
                <a:cs typeface="Arial"/>
                <a:sym typeface="Arial"/>
              </a:rPr>
              <a:t>therefore, the weights of the initial or lower layers nearly unchanged</a:t>
            </a:r>
            <a:endParaRPr sz="1800">
              <a:latin typeface="Arial"/>
              <a:ea typeface="Arial"/>
              <a:cs typeface="Arial"/>
              <a:sym typeface="Arial"/>
            </a:endParaRPr>
          </a:p>
          <a:p>
            <a:pPr indent="-367030" lvl="0" marL="379095" marR="503555" rtl="0" algn="l">
              <a:lnSpc>
                <a:spcPct val="130000"/>
              </a:lnSpc>
              <a:spcBef>
                <a:spcPts val="0"/>
              </a:spcBef>
              <a:spcAft>
                <a:spcPts val="0"/>
              </a:spcAft>
              <a:buSzPts val="1800"/>
              <a:buFont typeface="Arial"/>
              <a:buChar char="●"/>
            </a:pPr>
            <a:r>
              <a:rPr lang="en-US" sz="1800">
                <a:latin typeface="Arial"/>
                <a:ea typeface="Arial"/>
                <a:cs typeface="Arial"/>
                <a:sym typeface="Arial"/>
              </a:rPr>
              <a:t>as a result, the gradient descent never converges to the optimum</a:t>
            </a:r>
            <a:endParaRPr sz="1800">
              <a:latin typeface="Arial"/>
              <a:ea typeface="Arial"/>
              <a:cs typeface="Arial"/>
              <a:sym typeface="Arial"/>
            </a:endParaRPr>
          </a:p>
          <a:p>
            <a:pPr indent="-367030" lvl="0" marL="379095" marR="43815" rtl="0" algn="l">
              <a:lnSpc>
                <a:spcPct val="130000"/>
              </a:lnSpc>
              <a:spcBef>
                <a:spcPts val="0"/>
              </a:spcBef>
              <a:spcAft>
                <a:spcPts val="0"/>
              </a:spcAft>
              <a:buSzPts val="1800"/>
              <a:buFont typeface="Arial"/>
              <a:buChar char="●"/>
            </a:pPr>
            <a:r>
              <a:rPr lang="en-US" sz="1800">
                <a:latin typeface="Arial"/>
                <a:ea typeface="Arial"/>
                <a:cs typeface="Arial"/>
                <a:sym typeface="Arial"/>
              </a:rPr>
              <a:t>model learns very slowly and perhaps the training stagnates at a very early stage just after a few iterations</a:t>
            </a:r>
            <a:endParaRPr sz="1800">
              <a:latin typeface="Arial"/>
              <a:ea typeface="Arial"/>
              <a:cs typeface="Arial"/>
              <a:sym typeface="Arial"/>
            </a:endParaRPr>
          </a:p>
        </p:txBody>
      </p:sp>
      <p:pic>
        <p:nvPicPr>
          <p:cNvPr id="341" name="Google Shape;341;p34"/>
          <p:cNvPicPr preferRelativeResize="0"/>
          <p:nvPr/>
        </p:nvPicPr>
        <p:blipFill rotWithShape="1">
          <a:blip r:embed="rId3">
            <a:alphaModFix/>
          </a:blip>
          <a:srcRect b="0" l="0" r="0" t="0"/>
          <a:stretch/>
        </p:blipFill>
        <p:spPr>
          <a:xfrm>
            <a:off x="5580764" y="1203322"/>
            <a:ext cx="3099343" cy="3278143"/>
          </a:xfrm>
          <a:prstGeom prst="rect">
            <a:avLst/>
          </a:prstGeom>
          <a:noFill/>
          <a:ln>
            <a:noFill/>
          </a:ln>
        </p:spPr>
      </p:pic>
      <p:sp>
        <p:nvSpPr>
          <p:cNvPr id="342" name="Google Shape;342;p34"/>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6" name="Shape 346"/>
        <p:cNvGrpSpPr/>
        <p:nvPr/>
      </p:nvGrpSpPr>
      <p:grpSpPr>
        <a:xfrm>
          <a:off x="0" y="0"/>
          <a:ext cx="0" cy="0"/>
          <a:chOff x="0" y="0"/>
          <a:chExt cx="0" cy="0"/>
        </a:xfrm>
      </p:grpSpPr>
      <p:sp>
        <p:nvSpPr>
          <p:cNvPr descr="$PPTXTitle" id="347" name="Google Shape;347;p35"/>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Exploding Gradient</a:t>
            </a:r>
            <a:endParaRPr/>
          </a:p>
        </p:txBody>
      </p:sp>
      <p:sp>
        <p:nvSpPr>
          <p:cNvPr id="348" name="Google Shape;348;p35"/>
          <p:cNvSpPr txBox="1"/>
          <p:nvPr/>
        </p:nvSpPr>
        <p:spPr>
          <a:xfrm>
            <a:off x="475248" y="1079196"/>
            <a:ext cx="4698900" cy="3337500"/>
          </a:xfrm>
          <a:prstGeom prst="rect">
            <a:avLst/>
          </a:prstGeom>
          <a:noFill/>
          <a:ln>
            <a:noFill/>
          </a:ln>
        </p:spPr>
        <p:txBody>
          <a:bodyPr anchorCtr="0" anchor="t" bIns="0" lIns="0" spcFirstLastPara="1" rIns="0" wrap="square" tIns="149850">
            <a:spAutoFit/>
          </a:bodyPr>
          <a:lstStyle/>
          <a:p>
            <a:pPr indent="-366395" lvl="0" marL="379095" rtl="0" algn="l">
              <a:lnSpc>
                <a:spcPct val="100000"/>
              </a:lnSpc>
              <a:spcBef>
                <a:spcPts val="0"/>
              </a:spcBef>
              <a:spcAft>
                <a:spcPts val="0"/>
              </a:spcAft>
              <a:buSzPts val="1800"/>
              <a:buFont typeface="Arial"/>
              <a:buChar char="●"/>
            </a:pPr>
            <a:r>
              <a:rPr lang="en-US" sz="1800">
                <a:latin typeface="Arial"/>
                <a:ea typeface="Arial"/>
                <a:cs typeface="Arial"/>
                <a:sym typeface="Arial"/>
              </a:rPr>
              <a:t>gradients keep on getting larger and larger</a:t>
            </a:r>
            <a:endParaRPr sz="1800">
              <a:latin typeface="Arial"/>
              <a:ea typeface="Arial"/>
              <a:cs typeface="Arial"/>
              <a:sym typeface="Arial"/>
            </a:endParaRPr>
          </a:p>
          <a:p>
            <a:pPr indent="-366395" lvl="0" marL="379095" rtl="0" algn="l">
              <a:lnSpc>
                <a:spcPct val="100000"/>
              </a:lnSpc>
              <a:spcBef>
                <a:spcPts val="1080"/>
              </a:spcBef>
              <a:spcAft>
                <a:spcPts val="0"/>
              </a:spcAft>
              <a:buSzPts val="1800"/>
              <a:buFont typeface="Arial"/>
              <a:buChar char="●"/>
            </a:pPr>
            <a:r>
              <a:rPr lang="en-US" sz="1800">
                <a:latin typeface="Arial"/>
                <a:ea typeface="Arial"/>
                <a:cs typeface="Arial"/>
                <a:sym typeface="Arial"/>
              </a:rPr>
              <a:t>it causes very large weight updates</a:t>
            </a:r>
            <a:endParaRPr sz="1800">
              <a:latin typeface="Arial"/>
              <a:ea typeface="Arial"/>
              <a:cs typeface="Arial"/>
              <a:sym typeface="Arial"/>
            </a:endParaRPr>
          </a:p>
          <a:p>
            <a:pPr indent="-367030" lvl="0" marL="379095" marR="767715" rtl="0" algn="l">
              <a:lnSpc>
                <a:spcPct val="150000"/>
              </a:lnSpc>
              <a:spcBef>
                <a:spcPts val="0"/>
              </a:spcBef>
              <a:spcAft>
                <a:spcPts val="0"/>
              </a:spcAft>
              <a:buSzPts val="1800"/>
              <a:buFont typeface="Arial"/>
              <a:buChar char="●"/>
            </a:pPr>
            <a:r>
              <a:rPr lang="en-US" sz="1800">
                <a:latin typeface="Arial"/>
                <a:ea typeface="Arial"/>
                <a:cs typeface="Arial"/>
                <a:sym typeface="Arial"/>
              </a:rPr>
              <a:t>an exponential growth in the model parameters</a:t>
            </a:r>
            <a:endParaRPr sz="1800">
              <a:latin typeface="Arial"/>
              <a:ea typeface="Arial"/>
              <a:cs typeface="Arial"/>
              <a:sym typeface="Arial"/>
            </a:endParaRPr>
          </a:p>
          <a:p>
            <a:pPr indent="-367030" lvl="0" marL="379095" marR="259715" rtl="0" algn="l">
              <a:lnSpc>
                <a:spcPct val="150000"/>
              </a:lnSpc>
              <a:spcBef>
                <a:spcPts val="0"/>
              </a:spcBef>
              <a:spcAft>
                <a:spcPts val="0"/>
              </a:spcAft>
              <a:buSzPts val="1800"/>
              <a:buFont typeface="Arial"/>
              <a:buChar char="●"/>
            </a:pPr>
            <a:r>
              <a:rPr lang="en-US" sz="1800">
                <a:latin typeface="Arial"/>
                <a:ea typeface="Arial"/>
                <a:cs typeface="Arial"/>
                <a:sym typeface="Arial"/>
              </a:rPr>
              <a:t>model weights may become </a:t>
            </a:r>
            <a:r>
              <a:rPr lang="en-US" sz="1800"/>
              <a:t>large </a:t>
            </a:r>
            <a:r>
              <a:rPr lang="en-US" sz="1800">
                <a:latin typeface="Arial"/>
                <a:ea typeface="Arial"/>
                <a:cs typeface="Arial"/>
                <a:sym typeface="Arial"/>
              </a:rPr>
              <a:t>during training</a:t>
            </a:r>
            <a:endParaRPr sz="1800">
              <a:latin typeface="Arial"/>
              <a:ea typeface="Arial"/>
              <a:cs typeface="Arial"/>
              <a:sym typeface="Arial"/>
            </a:endParaRPr>
          </a:p>
          <a:p>
            <a:pPr indent="-366395" lvl="0" marL="379095" rtl="0" algn="l">
              <a:lnSpc>
                <a:spcPct val="100000"/>
              </a:lnSpc>
              <a:spcBef>
                <a:spcPts val="1080"/>
              </a:spcBef>
              <a:spcAft>
                <a:spcPts val="0"/>
              </a:spcAft>
              <a:buSzPts val="1800"/>
              <a:buFont typeface="Arial"/>
              <a:buChar char="●"/>
            </a:pPr>
            <a:r>
              <a:rPr lang="en-US" sz="1800">
                <a:latin typeface="Arial"/>
                <a:ea typeface="Arial"/>
                <a:cs typeface="Arial"/>
                <a:sym typeface="Arial"/>
              </a:rPr>
              <a:t>it causes the gradient descent to diverge</a:t>
            </a:r>
            <a:endParaRPr sz="1800">
              <a:latin typeface="Arial"/>
              <a:ea typeface="Arial"/>
              <a:cs typeface="Arial"/>
              <a:sym typeface="Arial"/>
            </a:endParaRPr>
          </a:p>
          <a:p>
            <a:pPr indent="-366395" lvl="0" marL="379095" rtl="0" algn="l">
              <a:lnSpc>
                <a:spcPct val="100000"/>
              </a:lnSpc>
              <a:spcBef>
                <a:spcPts val="1080"/>
              </a:spcBef>
              <a:spcAft>
                <a:spcPts val="0"/>
              </a:spcAft>
              <a:buSzPts val="1800"/>
              <a:buFont typeface="Arial"/>
              <a:buChar char="●"/>
            </a:pPr>
            <a:r>
              <a:rPr lang="en-US" sz="1800">
                <a:latin typeface="Arial"/>
                <a:ea typeface="Arial"/>
                <a:cs typeface="Arial"/>
                <a:sym typeface="Arial"/>
              </a:rPr>
              <a:t>model experiences avalanche learning</a:t>
            </a:r>
            <a:endParaRPr sz="1800">
              <a:latin typeface="Arial"/>
              <a:ea typeface="Arial"/>
              <a:cs typeface="Arial"/>
              <a:sym typeface="Arial"/>
            </a:endParaRPr>
          </a:p>
        </p:txBody>
      </p:sp>
      <p:pic>
        <p:nvPicPr>
          <p:cNvPr id="349" name="Google Shape;349;p35"/>
          <p:cNvPicPr preferRelativeResize="0"/>
          <p:nvPr/>
        </p:nvPicPr>
        <p:blipFill rotWithShape="1">
          <a:blip r:embed="rId3">
            <a:alphaModFix/>
          </a:blip>
          <a:srcRect b="0" l="0" r="0" t="0"/>
          <a:stretch/>
        </p:blipFill>
        <p:spPr>
          <a:xfrm>
            <a:off x="5534788" y="1170122"/>
            <a:ext cx="3094968" cy="3355443"/>
          </a:xfrm>
          <a:prstGeom prst="rect">
            <a:avLst/>
          </a:prstGeom>
          <a:noFill/>
          <a:ln>
            <a:noFill/>
          </a:ln>
        </p:spPr>
      </p:pic>
      <p:sp>
        <p:nvSpPr>
          <p:cNvPr id="350" name="Google Shape;350;p35"/>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4" name="Shape 354"/>
        <p:cNvGrpSpPr/>
        <p:nvPr/>
      </p:nvGrpSpPr>
      <p:grpSpPr>
        <a:xfrm>
          <a:off x="0" y="0"/>
          <a:ext cx="0" cy="0"/>
          <a:chOff x="0" y="0"/>
          <a:chExt cx="0" cy="0"/>
        </a:xfrm>
      </p:grpSpPr>
      <p:sp>
        <p:nvSpPr>
          <p:cNvPr descr="$PPTXTitle" id="355" name="Google Shape;355;p36"/>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Ways to Handle GD Vanishing and Explosion</a:t>
            </a:r>
            <a:endParaRPr/>
          </a:p>
        </p:txBody>
      </p:sp>
      <p:sp>
        <p:nvSpPr>
          <p:cNvPr id="356" name="Google Shape;356;p36"/>
          <p:cNvSpPr txBox="1"/>
          <p:nvPr/>
        </p:nvSpPr>
        <p:spPr>
          <a:xfrm>
            <a:off x="475248" y="1160839"/>
            <a:ext cx="4110900" cy="3325200"/>
          </a:xfrm>
          <a:prstGeom prst="rect">
            <a:avLst/>
          </a:prstGeom>
          <a:noFill/>
          <a:ln>
            <a:noFill/>
          </a:ln>
        </p:spPr>
        <p:txBody>
          <a:bodyPr anchorCtr="0" anchor="t" bIns="0" lIns="0" spcFirstLastPara="1" rIns="0" wrap="square" tIns="67925">
            <a:spAutoFit/>
          </a:bodyPr>
          <a:lstStyle/>
          <a:p>
            <a:pPr indent="-366395" lvl="0" marL="379095" rtl="0" algn="l">
              <a:lnSpc>
                <a:spcPct val="100000"/>
              </a:lnSpc>
              <a:spcBef>
                <a:spcPts val="0"/>
              </a:spcBef>
              <a:spcAft>
                <a:spcPts val="0"/>
              </a:spcAft>
              <a:buSzPts val="1800"/>
              <a:buFont typeface="Arial"/>
              <a:buChar char="●"/>
            </a:pPr>
            <a:r>
              <a:rPr lang="en-US" sz="1800">
                <a:latin typeface="Arial"/>
                <a:ea typeface="Arial"/>
                <a:cs typeface="Arial"/>
                <a:sym typeface="Arial"/>
              </a:rPr>
              <a:t>Proper weight initialization</a:t>
            </a:r>
            <a:endParaRPr sz="1800">
              <a:latin typeface="Arial"/>
              <a:ea typeface="Arial"/>
              <a:cs typeface="Arial"/>
              <a:sym typeface="Arial"/>
            </a:endParaRPr>
          </a:p>
          <a:p>
            <a:pPr indent="-335915" lvl="1" marL="836294" rtl="0" algn="l">
              <a:lnSpc>
                <a:spcPct val="100000"/>
              </a:lnSpc>
              <a:spcBef>
                <a:spcPts val="340"/>
              </a:spcBef>
              <a:spcAft>
                <a:spcPts val="0"/>
              </a:spcAft>
              <a:buSzPts val="1400"/>
              <a:buFont typeface="Arial"/>
              <a:buChar char="○"/>
            </a:pPr>
            <a:r>
              <a:rPr lang="en-US" sz="1400">
                <a:latin typeface="Arial"/>
                <a:ea typeface="Arial"/>
                <a:cs typeface="Arial"/>
                <a:sym typeface="Arial"/>
              </a:rPr>
              <a:t>Glorot / He / He initialization</a:t>
            </a:r>
            <a:endParaRPr sz="1400">
              <a:latin typeface="Arial"/>
              <a:ea typeface="Arial"/>
              <a:cs typeface="Arial"/>
              <a:sym typeface="Arial"/>
            </a:endParaRPr>
          </a:p>
          <a:p>
            <a:pPr indent="-366395" lvl="0" marL="379095" rtl="0" algn="l">
              <a:lnSpc>
                <a:spcPct val="100000"/>
              </a:lnSpc>
              <a:spcBef>
                <a:spcPts val="235"/>
              </a:spcBef>
              <a:spcAft>
                <a:spcPts val="0"/>
              </a:spcAft>
              <a:buSzPts val="1800"/>
              <a:buFont typeface="Arial"/>
              <a:buChar char="●"/>
            </a:pPr>
            <a:r>
              <a:rPr lang="en-US" sz="1800">
                <a:latin typeface="Arial"/>
                <a:ea typeface="Arial"/>
                <a:cs typeface="Arial"/>
                <a:sym typeface="Arial"/>
              </a:rPr>
              <a:t>Non-saturating Activation Functions</a:t>
            </a:r>
            <a:endParaRPr sz="1800">
              <a:latin typeface="Arial"/>
              <a:ea typeface="Arial"/>
              <a:cs typeface="Arial"/>
              <a:sym typeface="Arial"/>
            </a:endParaRPr>
          </a:p>
          <a:p>
            <a:pPr indent="-335915" lvl="1" marL="836294" rtl="0" algn="l">
              <a:lnSpc>
                <a:spcPct val="100000"/>
              </a:lnSpc>
              <a:spcBef>
                <a:spcPts val="340"/>
              </a:spcBef>
              <a:spcAft>
                <a:spcPts val="0"/>
              </a:spcAft>
              <a:buSzPts val="1400"/>
              <a:buFont typeface="Arial"/>
              <a:buChar char="○"/>
            </a:pPr>
            <a:r>
              <a:rPr lang="en-US" sz="1400">
                <a:latin typeface="Arial"/>
                <a:ea typeface="Arial"/>
                <a:cs typeface="Arial"/>
                <a:sym typeface="Arial"/>
              </a:rPr>
              <a:t>ReLU</a:t>
            </a:r>
            <a:endParaRPr sz="1400">
              <a:latin typeface="Arial"/>
              <a:ea typeface="Arial"/>
              <a:cs typeface="Arial"/>
              <a:sym typeface="Arial"/>
            </a:endParaRPr>
          </a:p>
          <a:p>
            <a:pPr indent="-366395" lvl="0" marL="379095" rtl="0" algn="l">
              <a:lnSpc>
                <a:spcPct val="100000"/>
              </a:lnSpc>
              <a:spcBef>
                <a:spcPts val="240"/>
              </a:spcBef>
              <a:spcAft>
                <a:spcPts val="0"/>
              </a:spcAft>
              <a:buSzPts val="1800"/>
              <a:buFont typeface="Arial"/>
              <a:buChar char="●"/>
            </a:pPr>
            <a:r>
              <a:rPr lang="en-US" sz="1800">
                <a:latin typeface="Arial"/>
                <a:ea typeface="Arial"/>
                <a:cs typeface="Arial"/>
                <a:sym typeface="Arial"/>
              </a:rPr>
              <a:t>Batch normalization</a:t>
            </a:r>
            <a:endParaRPr sz="1800">
              <a:latin typeface="Arial"/>
              <a:ea typeface="Arial"/>
              <a:cs typeface="Arial"/>
              <a:sym typeface="Arial"/>
            </a:endParaRPr>
          </a:p>
          <a:p>
            <a:pPr indent="-335915" lvl="1" marL="836294" rtl="0" algn="l">
              <a:lnSpc>
                <a:spcPct val="100000"/>
              </a:lnSpc>
              <a:spcBef>
                <a:spcPts val="340"/>
              </a:spcBef>
              <a:spcAft>
                <a:spcPts val="0"/>
              </a:spcAft>
              <a:buSzPts val="1400"/>
              <a:buFont typeface="Arial"/>
              <a:buChar char="○"/>
            </a:pPr>
            <a:r>
              <a:rPr lang="en-US" sz="1400">
                <a:latin typeface="Arial"/>
                <a:ea typeface="Arial"/>
                <a:cs typeface="Arial"/>
                <a:sym typeface="Arial"/>
              </a:rPr>
              <a:t>Zero centering and normalizing inputs</a:t>
            </a:r>
            <a:endParaRPr sz="1400">
              <a:latin typeface="Arial"/>
              <a:ea typeface="Arial"/>
              <a:cs typeface="Arial"/>
              <a:sym typeface="Arial"/>
            </a:endParaRPr>
          </a:p>
          <a:p>
            <a:pPr indent="-367030" lvl="0" marL="379095" marR="5080" rtl="0" algn="l">
              <a:lnSpc>
                <a:spcPct val="137777"/>
              </a:lnSpc>
              <a:spcBef>
                <a:spcPts val="50"/>
              </a:spcBef>
              <a:spcAft>
                <a:spcPts val="0"/>
              </a:spcAft>
              <a:buSzPts val="1800"/>
              <a:buFont typeface="Arial"/>
              <a:buChar char="●"/>
            </a:pPr>
            <a:r>
              <a:rPr lang="en-US" sz="1800">
                <a:latin typeface="Arial"/>
                <a:ea typeface="Arial"/>
                <a:cs typeface="Arial"/>
                <a:sym typeface="Arial"/>
              </a:rPr>
              <a:t>Gradient clipping to mitigate gradient explosion</a:t>
            </a:r>
            <a:endParaRPr sz="1800">
              <a:latin typeface="Arial"/>
              <a:ea typeface="Arial"/>
              <a:cs typeface="Arial"/>
              <a:sym typeface="Arial"/>
            </a:endParaRPr>
          </a:p>
          <a:p>
            <a:pPr indent="-336550" lvl="1" marL="836294" marR="96520" rtl="0" algn="l">
              <a:lnSpc>
                <a:spcPct val="137857"/>
              </a:lnSpc>
              <a:spcBef>
                <a:spcPts val="60"/>
              </a:spcBef>
              <a:spcAft>
                <a:spcPts val="0"/>
              </a:spcAft>
              <a:buSzPts val="1400"/>
              <a:buFont typeface="Arial"/>
              <a:buChar char="○"/>
            </a:pPr>
            <a:r>
              <a:rPr lang="en-US" sz="1400">
                <a:latin typeface="Arial"/>
                <a:ea typeface="Arial"/>
                <a:cs typeface="Arial"/>
                <a:sym typeface="Arial"/>
              </a:rPr>
              <a:t>clip all the partial derivatives of the loss with respect to each trainable parameter between –1.0 and 1.0</a:t>
            </a:r>
            <a:endParaRPr sz="1400">
              <a:latin typeface="Arial"/>
              <a:ea typeface="Arial"/>
              <a:cs typeface="Arial"/>
              <a:sym typeface="Arial"/>
            </a:endParaRPr>
          </a:p>
        </p:txBody>
      </p:sp>
      <p:pic>
        <p:nvPicPr>
          <p:cNvPr id="357" name="Google Shape;357;p36"/>
          <p:cNvPicPr preferRelativeResize="0"/>
          <p:nvPr/>
        </p:nvPicPr>
        <p:blipFill rotWithShape="1">
          <a:blip r:embed="rId3">
            <a:alphaModFix/>
          </a:blip>
          <a:srcRect b="0" l="0" r="0" t="0"/>
          <a:stretch/>
        </p:blipFill>
        <p:spPr>
          <a:xfrm>
            <a:off x="4713465" y="1231129"/>
            <a:ext cx="4209483" cy="3355386"/>
          </a:xfrm>
          <a:prstGeom prst="rect">
            <a:avLst/>
          </a:prstGeom>
          <a:noFill/>
          <a:ln>
            <a:noFill/>
          </a:ln>
        </p:spPr>
      </p:pic>
      <p:sp>
        <p:nvSpPr>
          <p:cNvPr id="358" name="Google Shape;358;p36"/>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2" name="Shape 362"/>
        <p:cNvGrpSpPr/>
        <p:nvPr/>
      </p:nvGrpSpPr>
      <p:grpSpPr>
        <a:xfrm>
          <a:off x="0" y="0"/>
          <a:ext cx="0" cy="0"/>
          <a:chOff x="0" y="0"/>
          <a:chExt cx="0" cy="0"/>
        </a:xfrm>
      </p:grpSpPr>
      <p:sp>
        <p:nvSpPr>
          <p:cNvPr descr="$PPTXTitle" id="363" name="Google Shape;363;p37"/>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Overfitting</a:t>
            </a:r>
            <a:endParaRPr/>
          </a:p>
        </p:txBody>
      </p:sp>
      <p:sp>
        <p:nvSpPr>
          <p:cNvPr id="364" name="Google Shape;364;p37"/>
          <p:cNvSpPr txBox="1"/>
          <p:nvPr/>
        </p:nvSpPr>
        <p:spPr>
          <a:xfrm>
            <a:off x="384724" y="1216356"/>
            <a:ext cx="3582035" cy="2857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Overfitting occurs when:</a:t>
            </a:r>
            <a:endParaRPr sz="1800">
              <a:latin typeface="Arial"/>
              <a:ea typeface="Arial"/>
              <a:cs typeface="Arial"/>
              <a:sym typeface="Arial"/>
            </a:endParaRPr>
          </a:p>
          <a:p>
            <a:pPr indent="-367030" lvl="0" marL="469265" marR="5080" rtl="0" algn="l">
              <a:lnSpc>
                <a:spcPct val="114999"/>
              </a:lnSpc>
              <a:spcBef>
                <a:spcPts val="1200"/>
              </a:spcBef>
              <a:spcAft>
                <a:spcPts val="0"/>
              </a:spcAft>
              <a:buSzPts val="1800"/>
              <a:buFont typeface="Arial"/>
              <a:buChar char="●"/>
            </a:pPr>
            <a:r>
              <a:rPr lang="en-US" sz="1800">
                <a:latin typeface="Arial"/>
                <a:ea typeface="Arial"/>
                <a:cs typeface="Arial"/>
                <a:sym typeface="Arial"/>
              </a:rPr>
              <a:t>the model is so closely aligned to the training data that it does not know how to respond to new data.</a:t>
            </a:r>
            <a:endParaRPr sz="1800">
              <a:latin typeface="Arial"/>
              <a:ea typeface="Arial"/>
              <a:cs typeface="Arial"/>
              <a:sym typeface="Arial"/>
            </a:endParaRPr>
          </a:p>
          <a:p>
            <a:pPr indent="-367030" lvl="0" marL="469265" marR="106680" rtl="0" algn="l">
              <a:lnSpc>
                <a:spcPct val="114999"/>
              </a:lnSpc>
              <a:spcBef>
                <a:spcPts val="0"/>
              </a:spcBef>
              <a:spcAft>
                <a:spcPts val="0"/>
              </a:spcAft>
              <a:buSzPts val="1800"/>
              <a:buFont typeface="Arial"/>
              <a:buChar char="●"/>
            </a:pPr>
            <a:r>
              <a:rPr lang="en-US" sz="1800">
                <a:latin typeface="Arial"/>
                <a:ea typeface="Arial"/>
                <a:cs typeface="Arial"/>
                <a:sym typeface="Arial"/>
              </a:rPr>
              <a:t>the model memorizes training data</a:t>
            </a:r>
            <a:endParaRPr sz="1800">
              <a:latin typeface="Arial"/>
              <a:ea typeface="Arial"/>
              <a:cs typeface="Arial"/>
              <a:sym typeface="Arial"/>
            </a:endParaRPr>
          </a:p>
          <a:p>
            <a:pPr indent="0" lvl="0" marL="148590" rtl="0" algn="l">
              <a:lnSpc>
                <a:spcPct val="100000"/>
              </a:lnSpc>
              <a:spcBef>
                <a:spcPts val="1510"/>
              </a:spcBef>
              <a:spcAft>
                <a:spcPts val="0"/>
              </a:spcAft>
              <a:buNone/>
            </a:pPr>
            <a:r>
              <a:rPr b="1" lang="en-US" sz="2100">
                <a:latin typeface="Arial"/>
                <a:ea typeface="Arial"/>
                <a:cs typeface="Arial"/>
                <a:sym typeface="Arial"/>
              </a:rPr>
              <a:t>Memorizing is not learning</a:t>
            </a:r>
            <a:endParaRPr sz="2100">
              <a:latin typeface="Arial"/>
              <a:ea typeface="Arial"/>
              <a:cs typeface="Arial"/>
              <a:sym typeface="Arial"/>
            </a:endParaRPr>
          </a:p>
        </p:txBody>
      </p:sp>
      <p:pic>
        <p:nvPicPr>
          <p:cNvPr id="365" name="Google Shape;365;p37"/>
          <p:cNvPicPr preferRelativeResize="0"/>
          <p:nvPr/>
        </p:nvPicPr>
        <p:blipFill rotWithShape="1">
          <a:blip r:embed="rId3">
            <a:alphaModFix/>
          </a:blip>
          <a:srcRect b="0" l="0" r="0" t="0"/>
          <a:stretch/>
        </p:blipFill>
        <p:spPr>
          <a:xfrm>
            <a:off x="4134591" y="1355747"/>
            <a:ext cx="4464583" cy="3032993"/>
          </a:xfrm>
          <a:prstGeom prst="rect">
            <a:avLst/>
          </a:prstGeom>
          <a:noFill/>
          <a:ln>
            <a:noFill/>
          </a:ln>
        </p:spPr>
      </p:pic>
      <p:sp>
        <p:nvSpPr>
          <p:cNvPr id="366" name="Google Shape;366;p37"/>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0" name="Shape 370"/>
        <p:cNvGrpSpPr/>
        <p:nvPr/>
      </p:nvGrpSpPr>
      <p:grpSpPr>
        <a:xfrm>
          <a:off x="0" y="0"/>
          <a:ext cx="0" cy="0"/>
          <a:chOff x="0" y="0"/>
          <a:chExt cx="0" cy="0"/>
        </a:xfrm>
      </p:grpSpPr>
      <p:sp>
        <p:nvSpPr>
          <p:cNvPr descr="$PPTXTitle" id="371" name="Google Shape;371;p38"/>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Reasons behind Overfitting</a:t>
            </a:r>
            <a:endParaRPr/>
          </a:p>
        </p:txBody>
      </p:sp>
      <p:sp>
        <p:nvSpPr>
          <p:cNvPr id="372" name="Google Shape;372;p38"/>
          <p:cNvSpPr txBox="1"/>
          <p:nvPr/>
        </p:nvSpPr>
        <p:spPr>
          <a:xfrm>
            <a:off x="384724" y="1216356"/>
            <a:ext cx="8176895" cy="264287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Overfitting can happen because:</a:t>
            </a:r>
            <a:endParaRPr sz="1800">
              <a:latin typeface="Arial"/>
              <a:ea typeface="Arial"/>
              <a:cs typeface="Arial"/>
              <a:sym typeface="Arial"/>
            </a:endParaRPr>
          </a:p>
          <a:p>
            <a:pPr indent="-313055" lvl="0" marL="469265" marR="131445" rtl="0" algn="l">
              <a:lnSpc>
                <a:spcPct val="114999"/>
              </a:lnSpc>
              <a:spcBef>
                <a:spcPts val="1200"/>
              </a:spcBef>
              <a:spcAft>
                <a:spcPts val="0"/>
              </a:spcAft>
              <a:buSzPts val="1100"/>
              <a:buFont typeface="Arial"/>
              <a:buChar char="●"/>
            </a:pPr>
            <a:r>
              <a:rPr lang="en-US" sz="1800">
                <a:latin typeface="Arial"/>
                <a:ea typeface="Arial"/>
                <a:cs typeface="Arial"/>
                <a:sym typeface="Arial"/>
              </a:rPr>
              <a:t>Model is too complex; it memorizes very subtle patterns in the training data that don’t generalize well.</a:t>
            </a:r>
            <a:endParaRPr sz="1800">
              <a:latin typeface="Arial"/>
              <a:ea typeface="Arial"/>
              <a:cs typeface="Arial"/>
              <a:sym typeface="Arial"/>
            </a:endParaRPr>
          </a:p>
          <a:p>
            <a:pPr indent="-335915" lvl="1" marL="926465" rtl="0" algn="l">
              <a:lnSpc>
                <a:spcPct val="100000"/>
              </a:lnSpc>
              <a:spcBef>
                <a:spcPts val="325"/>
              </a:spcBef>
              <a:spcAft>
                <a:spcPts val="0"/>
              </a:spcAft>
              <a:buSzPts val="1400"/>
              <a:buFont typeface="Arial"/>
              <a:buChar char="○"/>
            </a:pPr>
            <a:r>
              <a:rPr lang="en-US" sz="1700">
                <a:latin typeface="Arial"/>
                <a:ea typeface="Arial"/>
                <a:cs typeface="Arial"/>
                <a:sym typeface="Arial"/>
              </a:rPr>
              <a:t>Model has too many parameters</a:t>
            </a:r>
            <a:endParaRPr sz="1700">
              <a:latin typeface="Arial"/>
              <a:ea typeface="Arial"/>
              <a:cs typeface="Arial"/>
              <a:sym typeface="Arial"/>
            </a:endParaRPr>
          </a:p>
          <a:p>
            <a:pPr indent="-313055" lvl="0" marL="469265" marR="142240" rtl="0" algn="l">
              <a:lnSpc>
                <a:spcPct val="137777"/>
              </a:lnSpc>
              <a:spcBef>
                <a:spcPts val="120"/>
              </a:spcBef>
              <a:spcAft>
                <a:spcPts val="0"/>
              </a:spcAft>
              <a:buSzPts val="1100"/>
              <a:buFont typeface="Arial"/>
              <a:buChar char="●"/>
            </a:pPr>
            <a:r>
              <a:rPr lang="en-US" sz="1800">
                <a:latin typeface="Arial"/>
                <a:ea typeface="Arial"/>
                <a:cs typeface="Arial"/>
                <a:sym typeface="Arial"/>
              </a:rPr>
              <a:t>The training data size is too small for the model complexity and/or contains large amounts of irrelevant information.</a:t>
            </a:r>
            <a:endParaRPr sz="1800">
              <a:latin typeface="Arial"/>
              <a:ea typeface="Arial"/>
              <a:cs typeface="Arial"/>
              <a:sym typeface="Arial"/>
            </a:endParaRPr>
          </a:p>
          <a:p>
            <a:pPr indent="-313055" lvl="0" marL="469265" marR="5080" rtl="0" algn="l">
              <a:lnSpc>
                <a:spcPct val="137777"/>
              </a:lnSpc>
              <a:spcBef>
                <a:spcPts val="0"/>
              </a:spcBef>
              <a:spcAft>
                <a:spcPts val="0"/>
              </a:spcAft>
              <a:buSzPts val="1100"/>
              <a:buFont typeface="Arial"/>
              <a:buChar char="●"/>
            </a:pPr>
            <a:r>
              <a:rPr lang="en-US" sz="1800">
                <a:latin typeface="Arial"/>
                <a:ea typeface="Arial"/>
                <a:cs typeface="Arial"/>
                <a:sym typeface="Arial"/>
              </a:rPr>
              <a:t>During training model sees a small dataset for too many times i.e., too many epochs were used during training.</a:t>
            </a:r>
            <a:endParaRPr sz="1800">
              <a:latin typeface="Arial"/>
              <a:ea typeface="Arial"/>
              <a:cs typeface="Arial"/>
              <a:sym typeface="Arial"/>
            </a:endParaRPr>
          </a:p>
        </p:txBody>
      </p:sp>
      <p:sp>
        <p:nvSpPr>
          <p:cNvPr id="373" name="Google Shape;373;p38"/>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7" name="Shape 377"/>
        <p:cNvGrpSpPr/>
        <p:nvPr/>
      </p:nvGrpSpPr>
      <p:grpSpPr>
        <a:xfrm>
          <a:off x="0" y="0"/>
          <a:ext cx="0" cy="0"/>
          <a:chOff x="0" y="0"/>
          <a:chExt cx="0" cy="0"/>
        </a:xfrm>
      </p:grpSpPr>
      <p:sp>
        <p:nvSpPr>
          <p:cNvPr descr="$PPTXTitle" id="378" name="Google Shape;378;p39"/>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Underfitting</a:t>
            </a:r>
            <a:endParaRPr/>
          </a:p>
        </p:txBody>
      </p:sp>
      <p:sp>
        <p:nvSpPr>
          <p:cNvPr id="379" name="Google Shape;379;p39"/>
          <p:cNvSpPr txBox="1"/>
          <p:nvPr/>
        </p:nvSpPr>
        <p:spPr>
          <a:xfrm>
            <a:off x="475248" y="1175208"/>
            <a:ext cx="3144520" cy="2865120"/>
          </a:xfrm>
          <a:prstGeom prst="rect">
            <a:avLst/>
          </a:prstGeom>
          <a:noFill/>
          <a:ln>
            <a:noFill/>
          </a:ln>
        </p:spPr>
        <p:txBody>
          <a:bodyPr anchorCtr="0" anchor="t" bIns="0" lIns="0" spcFirstLastPara="1" rIns="0" wrap="square" tIns="12700">
            <a:spAutoFit/>
          </a:bodyPr>
          <a:lstStyle/>
          <a:p>
            <a:pPr indent="-367030" lvl="0" marL="379095" marR="51435" rtl="0" algn="l">
              <a:lnSpc>
                <a:spcPct val="114999"/>
              </a:lnSpc>
              <a:spcBef>
                <a:spcPts val="0"/>
              </a:spcBef>
              <a:spcAft>
                <a:spcPts val="0"/>
              </a:spcAft>
              <a:buSzPts val="1800"/>
              <a:buFont typeface="Arial"/>
              <a:buChar char="●"/>
            </a:pPr>
            <a:r>
              <a:rPr lang="en-US" sz="1800">
                <a:latin typeface="Arial"/>
                <a:ea typeface="Arial"/>
                <a:cs typeface="Arial"/>
                <a:sym typeface="Arial"/>
              </a:rPr>
              <a:t>Underfitting is the opposite concept of overfitting</a:t>
            </a:r>
            <a:endParaRPr sz="1800">
              <a:latin typeface="Arial"/>
              <a:ea typeface="Arial"/>
              <a:cs typeface="Arial"/>
              <a:sym typeface="Arial"/>
            </a:endParaRPr>
          </a:p>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When the prediction error on both the training and validation dataset is high, and the difference between them is very minimal, the model is said to have under fitted.</a:t>
            </a:r>
            <a:endParaRPr sz="1800">
              <a:latin typeface="Arial"/>
              <a:ea typeface="Arial"/>
              <a:cs typeface="Arial"/>
              <a:sym typeface="Arial"/>
            </a:endParaRPr>
          </a:p>
        </p:txBody>
      </p:sp>
      <p:pic>
        <p:nvPicPr>
          <p:cNvPr id="380" name="Google Shape;380;p39"/>
          <p:cNvPicPr preferRelativeResize="0"/>
          <p:nvPr/>
        </p:nvPicPr>
        <p:blipFill rotWithShape="1">
          <a:blip r:embed="rId3">
            <a:alphaModFix/>
          </a:blip>
          <a:srcRect b="0" l="0" r="0" t="0"/>
          <a:stretch/>
        </p:blipFill>
        <p:spPr>
          <a:xfrm>
            <a:off x="3707892" y="647873"/>
            <a:ext cx="5203089" cy="4265573"/>
          </a:xfrm>
          <a:prstGeom prst="rect">
            <a:avLst/>
          </a:prstGeom>
          <a:noFill/>
          <a:ln>
            <a:noFill/>
          </a:ln>
        </p:spPr>
      </p:pic>
      <p:sp>
        <p:nvSpPr>
          <p:cNvPr id="381" name="Google Shape;381;p39"/>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5" name="Shape 385"/>
        <p:cNvGrpSpPr/>
        <p:nvPr/>
      </p:nvGrpSpPr>
      <p:grpSpPr>
        <a:xfrm>
          <a:off x="0" y="0"/>
          <a:ext cx="0" cy="0"/>
          <a:chOff x="0" y="0"/>
          <a:chExt cx="0" cy="0"/>
        </a:xfrm>
      </p:grpSpPr>
      <p:sp>
        <p:nvSpPr>
          <p:cNvPr descr="$PPTXTitle" id="386" name="Google Shape;386;p40"/>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Overfitting - Underfitting in Classification and Regression</a:t>
            </a:r>
            <a:endParaRPr/>
          </a:p>
        </p:txBody>
      </p:sp>
      <p:pic>
        <p:nvPicPr>
          <p:cNvPr id="387" name="Google Shape;387;p40"/>
          <p:cNvPicPr preferRelativeResize="0"/>
          <p:nvPr/>
        </p:nvPicPr>
        <p:blipFill rotWithShape="1">
          <a:blip r:embed="rId3">
            <a:alphaModFix/>
          </a:blip>
          <a:srcRect b="0" l="0" r="0" t="0"/>
          <a:stretch/>
        </p:blipFill>
        <p:spPr>
          <a:xfrm>
            <a:off x="1343324" y="1261506"/>
            <a:ext cx="6691941" cy="3271014"/>
          </a:xfrm>
          <a:prstGeom prst="rect">
            <a:avLst/>
          </a:prstGeom>
          <a:noFill/>
          <a:ln>
            <a:noFill/>
          </a:ln>
        </p:spPr>
      </p:pic>
      <p:sp>
        <p:nvSpPr>
          <p:cNvPr id="388" name="Google Shape;388;p40"/>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2" name="Shape 392"/>
        <p:cNvGrpSpPr/>
        <p:nvPr/>
      </p:nvGrpSpPr>
      <p:grpSpPr>
        <a:xfrm>
          <a:off x="0" y="0"/>
          <a:ext cx="0" cy="0"/>
          <a:chOff x="0" y="0"/>
          <a:chExt cx="0" cy="0"/>
        </a:xfrm>
      </p:grpSpPr>
      <p:sp>
        <p:nvSpPr>
          <p:cNvPr descr="$PPTXTitle" id="393" name="Google Shape;393;p41"/>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Overfitting vs Underfitting</a:t>
            </a:r>
            <a:endParaRPr/>
          </a:p>
        </p:txBody>
      </p:sp>
      <p:sp>
        <p:nvSpPr>
          <p:cNvPr id="394" name="Google Shape;394;p41"/>
          <p:cNvSpPr txBox="1"/>
          <p:nvPr/>
        </p:nvSpPr>
        <p:spPr>
          <a:xfrm>
            <a:off x="384724" y="1175208"/>
            <a:ext cx="3035300" cy="1602740"/>
          </a:xfrm>
          <a:prstGeom prst="rect">
            <a:avLst/>
          </a:prstGeom>
          <a:noFill/>
          <a:ln>
            <a:noFill/>
          </a:ln>
        </p:spPr>
        <p:txBody>
          <a:bodyPr anchorCtr="0" anchor="t" bIns="0" lIns="0" spcFirstLastPara="1" rIns="0" wrap="square" tIns="12700">
            <a:spAutoFit/>
          </a:bodyPr>
          <a:lstStyle/>
          <a:p>
            <a:pPr indent="0" lvl="0" marL="12700" marR="5080" rtl="0" algn="l">
              <a:lnSpc>
                <a:spcPct val="114999"/>
              </a:lnSpc>
              <a:spcBef>
                <a:spcPts val="0"/>
              </a:spcBef>
              <a:spcAft>
                <a:spcPts val="0"/>
              </a:spcAft>
              <a:buNone/>
            </a:pPr>
            <a:r>
              <a:rPr lang="en-US" sz="1800">
                <a:latin typeface="Arial"/>
                <a:ea typeface="Arial"/>
                <a:cs typeface="Arial"/>
                <a:sym typeface="Arial"/>
              </a:rPr>
              <a:t>When only looking at the computed error of a model for the training data, overfitting is harder to detect than underfitting.</a:t>
            </a:r>
            <a:endParaRPr sz="1800">
              <a:latin typeface="Arial"/>
              <a:ea typeface="Arial"/>
              <a:cs typeface="Arial"/>
              <a:sym typeface="Arial"/>
            </a:endParaRPr>
          </a:p>
        </p:txBody>
      </p:sp>
      <p:pic>
        <p:nvPicPr>
          <p:cNvPr id="395" name="Google Shape;395;p41"/>
          <p:cNvPicPr preferRelativeResize="0"/>
          <p:nvPr/>
        </p:nvPicPr>
        <p:blipFill rotWithShape="1">
          <a:blip r:embed="rId3">
            <a:alphaModFix/>
          </a:blip>
          <a:srcRect b="0" l="0" r="0" t="0"/>
          <a:stretch/>
        </p:blipFill>
        <p:spPr>
          <a:xfrm>
            <a:off x="3841422" y="1281022"/>
            <a:ext cx="4890965" cy="2895955"/>
          </a:xfrm>
          <a:prstGeom prst="rect">
            <a:avLst/>
          </a:prstGeom>
          <a:noFill/>
          <a:ln>
            <a:noFill/>
          </a:ln>
        </p:spPr>
      </p:pic>
      <p:sp>
        <p:nvSpPr>
          <p:cNvPr id="396" name="Google Shape;396;p41"/>
          <p:cNvSpPr txBox="1"/>
          <p:nvPr/>
        </p:nvSpPr>
        <p:spPr>
          <a:xfrm>
            <a:off x="464373" y="4391318"/>
            <a:ext cx="680593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595959"/>
                </a:solidFill>
                <a:latin typeface="Arial"/>
                <a:ea typeface="Arial"/>
                <a:cs typeface="Arial"/>
                <a:sym typeface="Arial"/>
              </a:rPr>
              <a:t>More details: </a:t>
            </a:r>
            <a:r>
              <a:rPr lang="en-US" sz="1800" u="sng">
                <a:solidFill>
                  <a:schemeClr val="hlink"/>
                </a:solidFill>
                <a:latin typeface="Arial"/>
                <a:ea typeface="Arial"/>
                <a:cs typeface="Arial"/>
                <a:sym typeface="Arial"/>
                <a:hlinkClick r:id="rId4"/>
              </a:rPr>
              <a:t>https://www.mathworks.com/discovery/overfitting.html</a:t>
            </a:r>
            <a:endParaRPr sz="1800">
              <a:latin typeface="Arial"/>
              <a:ea typeface="Arial"/>
              <a:cs typeface="Arial"/>
              <a:sym typeface="Arial"/>
            </a:endParaRPr>
          </a:p>
        </p:txBody>
      </p:sp>
      <p:sp>
        <p:nvSpPr>
          <p:cNvPr id="397" name="Google Shape;397;p41"/>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1" name="Shape 401"/>
        <p:cNvGrpSpPr/>
        <p:nvPr/>
      </p:nvGrpSpPr>
      <p:grpSpPr>
        <a:xfrm>
          <a:off x="0" y="0"/>
          <a:ext cx="0" cy="0"/>
          <a:chOff x="0" y="0"/>
          <a:chExt cx="0" cy="0"/>
        </a:xfrm>
      </p:grpSpPr>
      <p:sp>
        <p:nvSpPr>
          <p:cNvPr descr="$PPTXTitle" id="402" name="Google Shape;402;p42"/>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Downsampling Layer</a:t>
            </a:r>
            <a:endParaRPr/>
          </a:p>
        </p:txBody>
      </p:sp>
      <p:sp>
        <p:nvSpPr>
          <p:cNvPr id="403" name="Google Shape;403;p42"/>
          <p:cNvSpPr txBox="1"/>
          <p:nvPr/>
        </p:nvSpPr>
        <p:spPr>
          <a:xfrm>
            <a:off x="384724" y="1175208"/>
            <a:ext cx="8344534" cy="2677795"/>
          </a:xfrm>
          <a:prstGeom prst="rect">
            <a:avLst/>
          </a:prstGeom>
          <a:noFill/>
          <a:ln>
            <a:noFill/>
          </a:ln>
        </p:spPr>
        <p:txBody>
          <a:bodyPr anchorCtr="0" anchor="t" bIns="0" lIns="0" spcFirstLastPara="1" rIns="0" wrap="square" tIns="12700">
            <a:spAutoFit/>
          </a:bodyPr>
          <a:lstStyle/>
          <a:p>
            <a:pPr indent="0" lvl="0" marL="12700" marR="5080" rtl="0" algn="l">
              <a:lnSpc>
                <a:spcPct val="114999"/>
              </a:lnSpc>
              <a:spcBef>
                <a:spcPts val="0"/>
              </a:spcBef>
              <a:spcAft>
                <a:spcPts val="0"/>
              </a:spcAft>
              <a:buNone/>
            </a:pPr>
            <a:r>
              <a:rPr lang="en-US" sz="1800">
                <a:latin typeface="Arial"/>
                <a:ea typeface="Arial"/>
                <a:cs typeface="Arial"/>
                <a:sym typeface="Arial"/>
              </a:rPr>
              <a:t>A </a:t>
            </a:r>
            <a:r>
              <a:rPr i="1" lang="en-US" sz="1800">
                <a:latin typeface="Arial"/>
                <a:ea typeface="Arial"/>
                <a:cs typeface="Arial"/>
                <a:sym typeface="Arial"/>
              </a:rPr>
              <a:t>downsampling layer </a:t>
            </a:r>
            <a:r>
              <a:rPr lang="en-US" sz="1800">
                <a:latin typeface="Arial"/>
                <a:ea typeface="Arial"/>
                <a:cs typeface="Arial"/>
                <a:sym typeface="Arial"/>
              </a:rPr>
              <a:t>reduces the dimensionality of the features at cost of a some loss in information.</a:t>
            </a:r>
            <a:endParaRPr sz="1800">
              <a:latin typeface="Arial"/>
              <a:ea typeface="Arial"/>
              <a:cs typeface="Arial"/>
              <a:sym typeface="Arial"/>
            </a:endParaRPr>
          </a:p>
          <a:p>
            <a:pPr indent="-366395" lvl="0" marL="469265" rtl="0" algn="l">
              <a:lnSpc>
                <a:spcPct val="100000"/>
              </a:lnSpc>
              <a:spcBef>
                <a:spcPts val="1520"/>
              </a:spcBef>
              <a:spcAft>
                <a:spcPts val="0"/>
              </a:spcAft>
              <a:buSzPts val="1800"/>
              <a:buFont typeface="Arial"/>
              <a:buChar char="●"/>
            </a:pPr>
            <a:r>
              <a:rPr lang="en-US" sz="1800">
                <a:latin typeface="Arial"/>
                <a:ea typeface="Arial"/>
                <a:cs typeface="Arial"/>
                <a:sym typeface="Arial"/>
              </a:rPr>
              <a:t>Convolution layer with larger strides and no padding</a:t>
            </a:r>
            <a:endParaRPr sz="1800">
              <a:latin typeface="Arial"/>
              <a:ea typeface="Arial"/>
              <a:cs typeface="Arial"/>
              <a:sym typeface="Arial"/>
            </a:endParaRPr>
          </a:p>
          <a:p>
            <a:pPr indent="-335915" lvl="1" marL="926465" rtl="0" algn="l">
              <a:lnSpc>
                <a:spcPct val="100000"/>
              </a:lnSpc>
              <a:spcBef>
                <a:spcPts val="340"/>
              </a:spcBef>
              <a:spcAft>
                <a:spcPts val="0"/>
              </a:spcAft>
              <a:buSzPts val="1400"/>
              <a:buFont typeface="Arial"/>
              <a:buChar char="○"/>
            </a:pPr>
            <a:r>
              <a:rPr lang="en-US" sz="1400">
                <a:latin typeface="Arial"/>
                <a:ea typeface="Arial"/>
                <a:cs typeface="Arial"/>
                <a:sym typeface="Arial"/>
              </a:rPr>
              <a:t>It is a learnable operation, whereas pooling is a fixed operation</a:t>
            </a:r>
            <a:endParaRPr sz="1400">
              <a:latin typeface="Arial"/>
              <a:ea typeface="Arial"/>
              <a:cs typeface="Arial"/>
              <a:sym typeface="Arial"/>
            </a:endParaRPr>
          </a:p>
          <a:p>
            <a:pPr indent="-335915" lvl="1" marL="926465" rtl="0" algn="l">
              <a:lnSpc>
                <a:spcPct val="100000"/>
              </a:lnSpc>
              <a:spcBef>
                <a:spcPts val="254"/>
              </a:spcBef>
              <a:spcAft>
                <a:spcPts val="0"/>
              </a:spcAft>
              <a:buSzPts val="1400"/>
              <a:buFont typeface="Arial"/>
              <a:buChar char="○"/>
            </a:pPr>
            <a:r>
              <a:rPr lang="en-US" sz="1400">
                <a:latin typeface="Arial"/>
                <a:ea typeface="Arial"/>
                <a:cs typeface="Arial"/>
                <a:sym typeface="Arial"/>
              </a:rPr>
              <a:t>Some research works showed better performance</a:t>
            </a:r>
            <a:endParaRPr sz="1400">
              <a:latin typeface="Arial"/>
              <a:ea typeface="Arial"/>
              <a:cs typeface="Arial"/>
              <a:sym typeface="Arial"/>
            </a:endParaRPr>
          </a:p>
          <a:p>
            <a:pPr indent="-366395" lvl="0" marL="469265" rtl="0" algn="l">
              <a:lnSpc>
                <a:spcPct val="100000"/>
              </a:lnSpc>
              <a:spcBef>
                <a:spcPts val="235"/>
              </a:spcBef>
              <a:spcAft>
                <a:spcPts val="0"/>
              </a:spcAft>
              <a:buSzPts val="1800"/>
              <a:buFont typeface="Arial"/>
              <a:buChar char="●"/>
            </a:pPr>
            <a:r>
              <a:rPr lang="en-US" sz="1800">
                <a:latin typeface="Arial"/>
                <a:ea typeface="Arial"/>
                <a:cs typeface="Arial"/>
                <a:sym typeface="Arial"/>
              </a:rPr>
              <a:t>Different pooling layers</a:t>
            </a:r>
            <a:endParaRPr sz="1800">
              <a:latin typeface="Arial"/>
              <a:ea typeface="Arial"/>
              <a:cs typeface="Arial"/>
              <a:sym typeface="Arial"/>
            </a:endParaRPr>
          </a:p>
          <a:p>
            <a:pPr indent="-335915" lvl="1" marL="926465" rtl="0" algn="l">
              <a:lnSpc>
                <a:spcPct val="100000"/>
              </a:lnSpc>
              <a:spcBef>
                <a:spcPts val="340"/>
              </a:spcBef>
              <a:spcAft>
                <a:spcPts val="0"/>
              </a:spcAft>
              <a:buSzPts val="1400"/>
              <a:buFont typeface="Arial"/>
              <a:buChar char="○"/>
            </a:pPr>
            <a:r>
              <a:rPr lang="en-US" sz="1400">
                <a:latin typeface="Arial"/>
                <a:ea typeface="Arial"/>
                <a:cs typeface="Arial"/>
                <a:sym typeface="Arial"/>
              </a:rPr>
              <a:t>Max pooling</a:t>
            </a:r>
            <a:endParaRPr sz="1400">
              <a:latin typeface="Arial"/>
              <a:ea typeface="Arial"/>
              <a:cs typeface="Arial"/>
              <a:sym typeface="Arial"/>
            </a:endParaRPr>
          </a:p>
          <a:p>
            <a:pPr indent="-335915" lvl="1" marL="926465" rtl="0" algn="l">
              <a:lnSpc>
                <a:spcPct val="100000"/>
              </a:lnSpc>
              <a:spcBef>
                <a:spcPts val="250"/>
              </a:spcBef>
              <a:spcAft>
                <a:spcPts val="0"/>
              </a:spcAft>
              <a:buSzPts val="1400"/>
              <a:buFont typeface="Arial"/>
              <a:buChar char="○"/>
            </a:pPr>
            <a:r>
              <a:rPr lang="en-US" sz="1400">
                <a:latin typeface="Arial"/>
                <a:ea typeface="Arial"/>
                <a:cs typeface="Arial"/>
                <a:sym typeface="Arial"/>
              </a:rPr>
              <a:t>Average pooling</a:t>
            </a:r>
            <a:endParaRPr sz="1400">
              <a:latin typeface="Arial"/>
              <a:ea typeface="Arial"/>
              <a:cs typeface="Arial"/>
              <a:sym typeface="Arial"/>
            </a:endParaRPr>
          </a:p>
          <a:p>
            <a:pPr indent="-335915" lvl="1" marL="926465" rtl="0" algn="l">
              <a:lnSpc>
                <a:spcPct val="100000"/>
              </a:lnSpc>
              <a:spcBef>
                <a:spcPts val="254"/>
              </a:spcBef>
              <a:spcAft>
                <a:spcPts val="0"/>
              </a:spcAft>
              <a:buSzPts val="1400"/>
              <a:buFont typeface="Arial"/>
              <a:buChar char="○"/>
            </a:pPr>
            <a:r>
              <a:rPr lang="en-US" sz="1400">
                <a:latin typeface="Arial"/>
                <a:ea typeface="Arial"/>
                <a:cs typeface="Arial"/>
                <a:sym typeface="Arial"/>
              </a:rPr>
              <a:t>Global average pooling</a:t>
            </a:r>
            <a:endParaRPr sz="1400">
              <a:latin typeface="Arial"/>
              <a:ea typeface="Arial"/>
              <a:cs typeface="Arial"/>
              <a:sym typeface="Arial"/>
            </a:endParaRPr>
          </a:p>
        </p:txBody>
      </p:sp>
      <p:sp>
        <p:nvSpPr>
          <p:cNvPr id="404" name="Google Shape;404;p42"/>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8" name="Shape 408"/>
        <p:cNvGrpSpPr/>
        <p:nvPr/>
      </p:nvGrpSpPr>
      <p:grpSpPr>
        <a:xfrm>
          <a:off x="0" y="0"/>
          <a:ext cx="0" cy="0"/>
          <a:chOff x="0" y="0"/>
          <a:chExt cx="0" cy="0"/>
        </a:xfrm>
      </p:grpSpPr>
      <p:sp>
        <p:nvSpPr>
          <p:cNvPr descr="$PPTXTitle" id="409" name="Google Shape;409;p43"/>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Downsampling by Convolutional Layer</a:t>
            </a:r>
            <a:endParaRPr/>
          </a:p>
        </p:txBody>
      </p:sp>
      <p:sp>
        <p:nvSpPr>
          <p:cNvPr id="410" name="Google Shape;410;p43"/>
          <p:cNvSpPr txBox="1"/>
          <p:nvPr/>
        </p:nvSpPr>
        <p:spPr>
          <a:xfrm>
            <a:off x="384724" y="1175208"/>
            <a:ext cx="3023235" cy="1287780"/>
          </a:xfrm>
          <a:prstGeom prst="rect">
            <a:avLst/>
          </a:prstGeom>
          <a:noFill/>
          <a:ln>
            <a:noFill/>
          </a:ln>
        </p:spPr>
        <p:txBody>
          <a:bodyPr anchorCtr="0" anchor="t" bIns="0" lIns="0" spcFirstLastPara="1" rIns="0" wrap="square" tIns="12700">
            <a:spAutoFit/>
          </a:bodyPr>
          <a:lstStyle/>
          <a:p>
            <a:pPr indent="0" lvl="0" marL="12700" marR="5080" rtl="0" algn="l">
              <a:lnSpc>
                <a:spcPct val="114999"/>
              </a:lnSpc>
              <a:spcBef>
                <a:spcPts val="0"/>
              </a:spcBef>
              <a:spcAft>
                <a:spcPts val="0"/>
              </a:spcAft>
              <a:buNone/>
            </a:pPr>
            <a:r>
              <a:rPr lang="en-US" sz="1800">
                <a:latin typeface="Arial"/>
                <a:ea typeface="Arial"/>
                <a:cs typeface="Arial"/>
                <a:sym typeface="Arial"/>
              </a:rPr>
              <a:t>Without padding, setting appropriate stride value, we can downsample feature map by convolution.</a:t>
            </a:r>
            <a:endParaRPr sz="1800">
              <a:latin typeface="Arial"/>
              <a:ea typeface="Arial"/>
              <a:cs typeface="Arial"/>
              <a:sym typeface="Arial"/>
            </a:endParaRPr>
          </a:p>
        </p:txBody>
      </p:sp>
      <p:pic>
        <p:nvPicPr>
          <p:cNvPr id="411" name="Google Shape;411;p43"/>
          <p:cNvPicPr preferRelativeResize="0"/>
          <p:nvPr/>
        </p:nvPicPr>
        <p:blipFill rotWithShape="1">
          <a:blip r:embed="rId3">
            <a:alphaModFix/>
          </a:blip>
          <a:srcRect b="0" l="0" r="0" t="0"/>
          <a:stretch/>
        </p:blipFill>
        <p:spPr>
          <a:xfrm>
            <a:off x="3640542" y="1155172"/>
            <a:ext cx="4935690" cy="3477417"/>
          </a:xfrm>
          <a:prstGeom prst="rect">
            <a:avLst/>
          </a:prstGeom>
          <a:noFill/>
          <a:ln>
            <a:noFill/>
          </a:ln>
        </p:spPr>
      </p:pic>
      <p:sp>
        <p:nvSpPr>
          <p:cNvPr id="412" name="Google Shape;412;p43"/>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6" name="Shape 416"/>
        <p:cNvGrpSpPr/>
        <p:nvPr/>
      </p:nvGrpSpPr>
      <p:grpSpPr>
        <a:xfrm>
          <a:off x="0" y="0"/>
          <a:ext cx="0" cy="0"/>
          <a:chOff x="0" y="0"/>
          <a:chExt cx="0" cy="0"/>
        </a:xfrm>
      </p:grpSpPr>
      <p:sp>
        <p:nvSpPr>
          <p:cNvPr descr="$PPTXTitle" id="417" name="Google Shape;417;p44"/>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Pooling Layer</a:t>
            </a:r>
            <a:endParaRPr/>
          </a:p>
        </p:txBody>
      </p:sp>
      <p:sp>
        <p:nvSpPr>
          <p:cNvPr id="418" name="Google Shape;418;p44"/>
          <p:cNvSpPr txBox="1"/>
          <p:nvPr/>
        </p:nvSpPr>
        <p:spPr>
          <a:xfrm>
            <a:off x="384724" y="1206891"/>
            <a:ext cx="3899535" cy="3147060"/>
          </a:xfrm>
          <a:prstGeom prst="rect">
            <a:avLst/>
          </a:prstGeom>
          <a:noFill/>
          <a:ln>
            <a:noFill/>
          </a:ln>
        </p:spPr>
        <p:txBody>
          <a:bodyPr anchorCtr="0" anchor="t" bIns="0" lIns="0" spcFirstLastPara="1" rIns="0" wrap="square" tIns="31100">
            <a:spAutoFit/>
          </a:bodyPr>
          <a:lstStyle/>
          <a:p>
            <a:pPr indent="0" lvl="0" marL="12700" marR="565785" rtl="0" algn="l">
              <a:lnSpc>
                <a:spcPct val="115151"/>
              </a:lnSpc>
              <a:spcBef>
                <a:spcPts val="0"/>
              </a:spcBef>
              <a:spcAft>
                <a:spcPts val="0"/>
              </a:spcAft>
              <a:buNone/>
            </a:pPr>
            <a:r>
              <a:rPr lang="en-US" sz="1650">
                <a:solidFill>
                  <a:srgbClr val="595959"/>
                </a:solidFill>
                <a:latin typeface="Arial"/>
                <a:ea typeface="Arial"/>
                <a:cs typeface="Arial"/>
                <a:sym typeface="Arial"/>
              </a:rPr>
              <a:t>It reduces the spatial dimensions of feature maps, thereby:</a:t>
            </a:r>
            <a:endParaRPr sz="1650">
              <a:latin typeface="Arial"/>
              <a:ea typeface="Arial"/>
              <a:cs typeface="Arial"/>
              <a:sym typeface="Arial"/>
            </a:endParaRPr>
          </a:p>
          <a:p>
            <a:pPr indent="-356235" lvl="0" marL="926465" rtl="0" algn="l">
              <a:lnSpc>
                <a:spcPct val="117515"/>
              </a:lnSpc>
              <a:spcBef>
                <a:spcPts val="1065"/>
              </a:spcBef>
              <a:spcAft>
                <a:spcPts val="0"/>
              </a:spcAft>
              <a:buClr>
                <a:srgbClr val="595959"/>
              </a:buClr>
              <a:buSzPts val="1650"/>
              <a:buFont typeface="Arial"/>
              <a:buChar char="●"/>
            </a:pPr>
            <a:r>
              <a:rPr lang="en-US" sz="1650">
                <a:solidFill>
                  <a:srgbClr val="595959"/>
                </a:solidFill>
                <a:latin typeface="Arial"/>
                <a:ea typeface="Arial"/>
                <a:cs typeface="Arial"/>
                <a:sym typeface="Arial"/>
              </a:rPr>
              <a:t>decreases computational cost</a:t>
            </a:r>
            <a:endParaRPr sz="1650">
              <a:latin typeface="Arial"/>
              <a:ea typeface="Arial"/>
              <a:cs typeface="Arial"/>
              <a:sym typeface="Arial"/>
            </a:endParaRPr>
          </a:p>
          <a:p>
            <a:pPr indent="-356870" lvl="0" marL="926465" marR="5080" rtl="0" algn="l">
              <a:lnSpc>
                <a:spcPct val="115151"/>
              </a:lnSpc>
              <a:spcBef>
                <a:spcPts val="90"/>
              </a:spcBef>
              <a:spcAft>
                <a:spcPts val="0"/>
              </a:spcAft>
              <a:buClr>
                <a:srgbClr val="595959"/>
              </a:buClr>
              <a:buSzPts val="1650"/>
              <a:buFont typeface="Arial"/>
              <a:buChar char="●"/>
            </a:pPr>
            <a:r>
              <a:rPr lang="en-US" sz="1650">
                <a:solidFill>
                  <a:srgbClr val="595959"/>
                </a:solidFill>
                <a:latin typeface="Arial"/>
                <a:ea typeface="Arial"/>
                <a:cs typeface="Arial"/>
                <a:sym typeface="Arial"/>
              </a:rPr>
              <a:t>makes the network more robust to variations in the input</a:t>
            </a:r>
            <a:endParaRPr sz="1650">
              <a:latin typeface="Arial"/>
              <a:ea typeface="Arial"/>
              <a:cs typeface="Arial"/>
              <a:sym typeface="Arial"/>
            </a:endParaRPr>
          </a:p>
          <a:p>
            <a:pPr indent="0" lvl="0" marL="12700" rtl="0" algn="l">
              <a:lnSpc>
                <a:spcPct val="100000"/>
              </a:lnSpc>
              <a:spcBef>
                <a:spcPts val="1065"/>
              </a:spcBef>
              <a:spcAft>
                <a:spcPts val="0"/>
              </a:spcAft>
              <a:buNone/>
            </a:pPr>
            <a:r>
              <a:rPr lang="en-US" sz="1650">
                <a:solidFill>
                  <a:srgbClr val="595959"/>
                </a:solidFill>
                <a:latin typeface="Arial"/>
                <a:ea typeface="Arial"/>
                <a:cs typeface="Arial"/>
                <a:sym typeface="Arial"/>
              </a:rPr>
              <a:t>Different Types of Pooling Layers:</a:t>
            </a:r>
            <a:endParaRPr sz="1650">
              <a:latin typeface="Arial"/>
              <a:ea typeface="Arial"/>
              <a:cs typeface="Arial"/>
              <a:sym typeface="Arial"/>
            </a:endParaRPr>
          </a:p>
          <a:p>
            <a:pPr indent="-356235" lvl="0" marL="469265" rtl="0" algn="l">
              <a:lnSpc>
                <a:spcPct val="117515"/>
              </a:lnSpc>
              <a:spcBef>
                <a:spcPts val="1120"/>
              </a:spcBef>
              <a:spcAft>
                <a:spcPts val="0"/>
              </a:spcAft>
              <a:buClr>
                <a:srgbClr val="595959"/>
              </a:buClr>
              <a:buSzPts val="1650"/>
              <a:buFont typeface="Arial"/>
              <a:buChar char="●"/>
            </a:pPr>
            <a:r>
              <a:rPr lang="en-US" sz="1650">
                <a:solidFill>
                  <a:srgbClr val="595959"/>
                </a:solidFill>
                <a:latin typeface="Arial"/>
                <a:ea typeface="Arial"/>
                <a:cs typeface="Arial"/>
                <a:sym typeface="Arial"/>
              </a:rPr>
              <a:t>Max Pooling</a:t>
            </a:r>
            <a:endParaRPr sz="1650">
              <a:latin typeface="Arial"/>
              <a:ea typeface="Arial"/>
              <a:cs typeface="Arial"/>
              <a:sym typeface="Arial"/>
            </a:endParaRPr>
          </a:p>
          <a:p>
            <a:pPr indent="-356235" lvl="0" marL="469265" rtl="0" algn="l">
              <a:lnSpc>
                <a:spcPct val="115151"/>
              </a:lnSpc>
              <a:spcBef>
                <a:spcPts val="0"/>
              </a:spcBef>
              <a:spcAft>
                <a:spcPts val="0"/>
              </a:spcAft>
              <a:buClr>
                <a:srgbClr val="595959"/>
              </a:buClr>
              <a:buSzPts val="1650"/>
              <a:buFont typeface="Arial"/>
              <a:buChar char="●"/>
            </a:pPr>
            <a:r>
              <a:rPr lang="en-US" sz="1650">
                <a:solidFill>
                  <a:srgbClr val="595959"/>
                </a:solidFill>
                <a:latin typeface="Arial"/>
                <a:ea typeface="Arial"/>
                <a:cs typeface="Arial"/>
                <a:sym typeface="Arial"/>
              </a:rPr>
              <a:t>Average Pooling</a:t>
            </a:r>
            <a:endParaRPr sz="1650">
              <a:latin typeface="Arial"/>
              <a:ea typeface="Arial"/>
              <a:cs typeface="Arial"/>
              <a:sym typeface="Arial"/>
            </a:endParaRPr>
          </a:p>
          <a:p>
            <a:pPr indent="-356235" lvl="0" marL="469265" rtl="0" algn="l">
              <a:lnSpc>
                <a:spcPct val="115151"/>
              </a:lnSpc>
              <a:spcBef>
                <a:spcPts val="0"/>
              </a:spcBef>
              <a:spcAft>
                <a:spcPts val="0"/>
              </a:spcAft>
              <a:buClr>
                <a:srgbClr val="595959"/>
              </a:buClr>
              <a:buSzPts val="1650"/>
              <a:buFont typeface="Arial"/>
              <a:buChar char="●"/>
            </a:pPr>
            <a:r>
              <a:rPr lang="en-US" sz="1650">
                <a:solidFill>
                  <a:srgbClr val="595959"/>
                </a:solidFill>
                <a:latin typeface="Arial"/>
                <a:ea typeface="Arial"/>
                <a:cs typeface="Arial"/>
                <a:sym typeface="Arial"/>
              </a:rPr>
              <a:t>Global Pooling</a:t>
            </a:r>
            <a:endParaRPr sz="1650">
              <a:latin typeface="Arial"/>
              <a:ea typeface="Arial"/>
              <a:cs typeface="Arial"/>
              <a:sym typeface="Arial"/>
            </a:endParaRPr>
          </a:p>
          <a:p>
            <a:pPr indent="-356870" lvl="0" marL="469265" marR="802005" rtl="0" algn="l">
              <a:lnSpc>
                <a:spcPct val="115151"/>
              </a:lnSpc>
              <a:spcBef>
                <a:spcPts val="85"/>
              </a:spcBef>
              <a:spcAft>
                <a:spcPts val="0"/>
              </a:spcAft>
              <a:buClr>
                <a:srgbClr val="595959"/>
              </a:buClr>
              <a:buSzPts val="1650"/>
              <a:buFont typeface="Arial"/>
              <a:buChar char="●"/>
            </a:pPr>
            <a:r>
              <a:rPr lang="en-US" sz="1650">
                <a:solidFill>
                  <a:srgbClr val="595959"/>
                </a:solidFill>
                <a:latin typeface="Arial"/>
                <a:ea typeface="Arial"/>
                <a:cs typeface="Arial"/>
                <a:sym typeface="Arial"/>
              </a:rPr>
              <a:t>Stochastic Pooling (not very common)</a:t>
            </a:r>
            <a:endParaRPr sz="1650">
              <a:latin typeface="Arial"/>
              <a:ea typeface="Arial"/>
              <a:cs typeface="Arial"/>
              <a:sym typeface="Arial"/>
            </a:endParaRPr>
          </a:p>
        </p:txBody>
      </p:sp>
      <p:pic>
        <p:nvPicPr>
          <p:cNvPr id="419" name="Google Shape;419;p44"/>
          <p:cNvPicPr preferRelativeResize="0"/>
          <p:nvPr/>
        </p:nvPicPr>
        <p:blipFill rotWithShape="1">
          <a:blip r:embed="rId3">
            <a:alphaModFix/>
          </a:blip>
          <a:srcRect b="0" l="0" r="0" t="0"/>
          <a:stretch/>
        </p:blipFill>
        <p:spPr>
          <a:xfrm>
            <a:off x="4686290" y="1170122"/>
            <a:ext cx="3886192" cy="2905119"/>
          </a:xfrm>
          <a:prstGeom prst="rect">
            <a:avLst/>
          </a:prstGeom>
          <a:noFill/>
          <a:ln>
            <a:noFill/>
          </a:ln>
        </p:spPr>
      </p:pic>
      <p:sp>
        <p:nvSpPr>
          <p:cNvPr id="420" name="Google Shape;420;p44"/>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4" name="Shape 424"/>
        <p:cNvGrpSpPr/>
        <p:nvPr/>
      </p:nvGrpSpPr>
      <p:grpSpPr>
        <a:xfrm>
          <a:off x="0" y="0"/>
          <a:ext cx="0" cy="0"/>
          <a:chOff x="0" y="0"/>
          <a:chExt cx="0" cy="0"/>
        </a:xfrm>
      </p:grpSpPr>
      <p:sp>
        <p:nvSpPr>
          <p:cNvPr descr="$PPTXTitle" id="425" name="Google Shape;425;p45"/>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Global Pooling</a:t>
            </a:r>
            <a:endParaRPr/>
          </a:p>
        </p:txBody>
      </p:sp>
      <p:sp>
        <p:nvSpPr>
          <p:cNvPr id="426" name="Google Shape;426;p45"/>
          <p:cNvSpPr txBox="1"/>
          <p:nvPr/>
        </p:nvSpPr>
        <p:spPr>
          <a:xfrm>
            <a:off x="475248" y="1175208"/>
            <a:ext cx="7479030" cy="656590"/>
          </a:xfrm>
          <a:prstGeom prst="rect">
            <a:avLst/>
          </a:prstGeom>
          <a:noFill/>
          <a:ln>
            <a:noFill/>
          </a:ln>
        </p:spPr>
        <p:txBody>
          <a:bodyPr anchorCtr="0" anchor="t" bIns="0" lIns="0" spcFirstLastPara="1" rIns="0" wrap="square" tIns="12700">
            <a:spAutoFit/>
          </a:bodyPr>
          <a:lstStyle/>
          <a:p>
            <a:pPr indent="-367030" lvl="0" marL="379095" marR="5080" rtl="0" algn="l">
              <a:lnSpc>
                <a:spcPct val="114999"/>
              </a:lnSpc>
              <a:spcBef>
                <a:spcPts val="0"/>
              </a:spcBef>
              <a:spcAft>
                <a:spcPts val="0"/>
              </a:spcAft>
              <a:buClr>
                <a:srgbClr val="595959"/>
              </a:buClr>
              <a:buSzPts val="1800"/>
              <a:buFont typeface="Arial"/>
              <a:buChar char="●"/>
            </a:pPr>
            <a:r>
              <a:rPr lang="en-US" sz="1800">
                <a:solidFill>
                  <a:srgbClr val="595959"/>
                </a:solidFill>
                <a:latin typeface="Arial"/>
                <a:ea typeface="Arial"/>
                <a:cs typeface="Arial"/>
                <a:sym typeface="Arial"/>
              </a:rPr>
              <a:t>It reduces the spatial dimensions of feature maps to a single value per channel.</a:t>
            </a:r>
            <a:endParaRPr sz="1800">
              <a:latin typeface="Arial"/>
              <a:ea typeface="Arial"/>
              <a:cs typeface="Arial"/>
              <a:sym typeface="Arial"/>
            </a:endParaRPr>
          </a:p>
        </p:txBody>
      </p:sp>
      <p:pic>
        <p:nvPicPr>
          <p:cNvPr id="427" name="Google Shape;427;p45"/>
          <p:cNvPicPr preferRelativeResize="0"/>
          <p:nvPr/>
        </p:nvPicPr>
        <p:blipFill rotWithShape="1">
          <a:blip r:embed="rId3">
            <a:alphaModFix/>
          </a:blip>
          <a:srcRect b="0" l="0" r="0" t="0"/>
          <a:stretch/>
        </p:blipFill>
        <p:spPr>
          <a:xfrm>
            <a:off x="2050678" y="1893646"/>
            <a:ext cx="4795107" cy="2659146"/>
          </a:xfrm>
          <a:prstGeom prst="rect">
            <a:avLst/>
          </a:prstGeom>
          <a:noFill/>
          <a:ln>
            <a:noFill/>
          </a:ln>
        </p:spPr>
      </p:pic>
      <p:sp>
        <p:nvSpPr>
          <p:cNvPr id="428" name="Google Shape;428;p45"/>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2" name="Shape 432"/>
        <p:cNvGrpSpPr/>
        <p:nvPr/>
      </p:nvGrpSpPr>
      <p:grpSpPr>
        <a:xfrm>
          <a:off x="0" y="0"/>
          <a:ext cx="0" cy="0"/>
          <a:chOff x="0" y="0"/>
          <a:chExt cx="0" cy="0"/>
        </a:xfrm>
      </p:grpSpPr>
      <p:sp>
        <p:nvSpPr>
          <p:cNvPr descr="$PPTXTitle" id="433" name="Google Shape;433;p46"/>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Usage of GAP</a:t>
            </a:r>
            <a:endParaRPr/>
          </a:p>
        </p:txBody>
      </p:sp>
      <p:pic>
        <p:nvPicPr>
          <p:cNvPr id="434" name="Google Shape;434;p46"/>
          <p:cNvPicPr preferRelativeResize="0"/>
          <p:nvPr/>
        </p:nvPicPr>
        <p:blipFill rotWithShape="1">
          <a:blip r:embed="rId3">
            <a:alphaModFix/>
          </a:blip>
          <a:srcRect b="0" l="0" r="0" t="0"/>
          <a:stretch/>
        </p:blipFill>
        <p:spPr>
          <a:xfrm>
            <a:off x="585748" y="1546221"/>
            <a:ext cx="7943833" cy="2705094"/>
          </a:xfrm>
          <a:prstGeom prst="rect">
            <a:avLst/>
          </a:prstGeom>
          <a:noFill/>
          <a:ln>
            <a:noFill/>
          </a:ln>
        </p:spPr>
      </p:pic>
      <p:sp>
        <p:nvSpPr>
          <p:cNvPr id="435" name="Google Shape;435;p46"/>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9" name="Shape 439"/>
        <p:cNvGrpSpPr/>
        <p:nvPr/>
      </p:nvGrpSpPr>
      <p:grpSpPr>
        <a:xfrm>
          <a:off x="0" y="0"/>
          <a:ext cx="0" cy="0"/>
          <a:chOff x="0" y="0"/>
          <a:chExt cx="0" cy="0"/>
        </a:xfrm>
      </p:grpSpPr>
      <p:sp>
        <p:nvSpPr>
          <p:cNvPr descr="$PPTXTitle" id="440" name="Google Shape;440;p47"/>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Skip Connections</a:t>
            </a:r>
            <a:endParaRPr/>
          </a:p>
        </p:txBody>
      </p:sp>
      <p:sp>
        <p:nvSpPr>
          <p:cNvPr id="441" name="Google Shape;441;p47"/>
          <p:cNvSpPr txBox="1"/>
          <p:nvPr/>
        </p:nvSpPr>
        <p:spPr>
          <a:xfrm>
            <a:off x="384724" y="1216356"/>
            <a:ext cx="3010535" cy="3197225"/>
          </a:xfrm>
          <a:prstGeom prst="rect">
            <a:avLst/>
          </a:prstGeom>
          <a:noFill/>
          <a:ln>
            <a:noFill/>
          </a:ln>
        </p:spPr>
        <p:txBody>
          <a:bodyPr anchorCtr="0" anchor="t" bIns="0" lIns="0" spcFirstLastPara="1" rIns="0" wrap="square" tIns="10150">
            <a:spAutoFit/>
          </a:bodyPr>
          <a:lstStyle/>
          <a:p>
            <a:pPr indent="0" lvl="0" marL="12700" marR="5080" rtl="0" algn="l">
              <a:lnSpc>
                <a:spcPct val="126111"/>
              </a:lnSpc>
              <a:spcBef>
                <a:spcPts val="0"/>
              </a:spcBef>
              <a:spcAft>
                <a:spcPts val="0"/>
              </a:spcAft>
              <a:buNone/>
            </a:pPr>
            <a:r>
              <a:rPr lang="en-US" sz="1800">
                <a:latin typeface="Arial"/>
                <a:ea typeface="Arial"/>
                <a:cs typeface="Arial"/>
                <a:sym typeface="Arial"/>
              </a:rPr>
              <a:t>Skip connections allow CNNs to bypass some layers and connect directly to deeper or shallower ones.</a:t>
            </a:r>
            <a:endParaRPr sz="1800">
              <a:latin typeface="Arial"/>
              <a:ea typeface="Arial"/>
              <a:cs typeface="Arial"/>
              <a:sym typeface="Arial"/>
            </a:endParaRPr>
          </a:p>
          <a:p>
            <a:pPr indent="0" lvl="0" marL="12700" rtl="0" algn="l">
              <a:lnSpc>
                <a:spcPct val="100000"/>
              </a:lnSpc>
              <a:spcBef>
                <a:spcPts val="1210"/>
              </a:spcBef>
              <a:spcAft>
                <a:spcPts val="0"/>
              </a:spcAft>
              <a:buNone/>
            </a:pPr>
            <a:r>
              <a:rPr lang="en-US" sz="1800">
                <a:latin typeface="Arial"/>
                <a:ea typeface="Arial"/>
                <a:cs typeface="Arial"/>
                <a:sym typeface="Arial"/>
              </a:rPr>
              <a:t>Skip connections lead to:</a:t>
            </a:r>
            <a:endParaRPr sz="1800">
              <a:latin typeface="Arial"/>
              <a:ea typeface="Arial"/>
              <a:cs typeface="Arial"/>
              <a:sym typeface="Arial"/>
            </a:endParaRPr>
          </a:p>
          <a:p>
            <a:pPr indent="-366395" lvl="0" marL="469265" rtl="0" algn="l">
              <a:lnSpc>
                <a:spcPct val="100000"/>
              </a:lnSpc>
              <a:spcBef>
                <a:spcPts val="1310"/>
              </a:spcBef>
              <a:spcAft>
                <a:spcPts val="0"/>
              </a:spcAft>
              <a:buSzPts val="1800"/>
              <a:buFont typeface="Arial"/>
              <a:buChar char="●"/>
            </a:pPr>
            <a:r>
              <a:rPr lang="en-US" sz="1800">
                <a:latin typeface="Arial"/>
                <a:ea typeface="Arial"/>
                <a:cs typeface="Arial"/>
                <a:sym typeface="Arial"/>
              </a:rPr>
              <a:t>faster convergence</a:t>
            </a:r>
            <a:endParaRPr sz="1800">
              <a:latin typeface="Arial"/>
              <a:ea typeface="Arial"/>
              <a:cs typeface="Arial"/>
              <a:sym typeface="Arial"/>
            </a:endParaRPr>
          </a:p>
          <a:p>
            <a:pPr indent="-367030" lvl="0" marL="469265" marR="575945" rtl="0" algn="l">
              <a:lnSpc>
                <a:spcPct val="105000"/>
              </a:lnSpc>
              <a:spcBef>
                <a:spcPts val="0"/>
              </a:spcBef>
              <a:spcAft>
                <a:spcPts val="0"/>
              </a:spcAft>
              <a:buSzPts val="1800"/>
              <a:buFont typeface="Arial"/>
              <a:buChar char="●"/>
            </a:pPr>
            <a:r>
              <a:rPr lang="en-US" sz="1800">
                <a:latin typeface="Arial"/>
                <a:ea typeface="Arial"/>
                <a:cs typeface="Arial"/>
                <a:sym typeface="Arial"/>
              </a:rPr>
              <a:t>vanishing gradient problem prevention</a:t>
            </a:r>
            <a:endParaRPr sz="1800">
              <a:latin typeface="Arial"/>
              <a:ea typeface="Arial"/>
              <a:cs typeface="Arial"/>
              <a:sym typeface="Arial"/>
            </a:endParaRPr>
          </a:p>
          <a:p>
            <a:pPr indent="-367030" lvl="0" marL="469265" marR="678815" rtl="0" algn="l">
              <a:lnSpc>
                <a:spcPct val="105000"/>
              </a:lnSpc>
              <a:spcBef>
                <a:spcPts val="0"/>
              </a:spcBef>
              <a:spcAft>
                <a:spcPts val="0"/>
              </a:spcAft>
              <a:buSzPts val="1800"/>
              <a:buFont typeface="Arial"/>
              <a:buChar char="●"/>
            </a:pPr>
            <a:r>
              <a:rPr lang="en-US" sz="1800">
                <a:latin typeface="Arial"/>
                <a:ea typeface="Arial"/>
                <a:cs typeface="Arial"/>
                <a:sym typeface="Arial"/>
              </a:rPr>
              <a:t>loss of information prevention</a:t>
            </a:r>
            <a:endParaRPr sz="1800">
              <a:latin typeface="Arial"/>
              <a:ea typeface="Arial"/>
              <a:cs typeface="Arial"/>
              <a:sym typeface="Arial"/>
            </a:endParaRPr>
          </a:p>
        </p:txBody>
      </p:sp>
      <p:pic>
        <p:nvPicPr>
          <p:cNvPr id="442" name="Google Shape;442;p47"/>
          <p:cNvPicPr preferRelativeResize="0"/>
          <p:nvPr/>
        </p:nvPicPr>
        <p:blipFill rotWithShape="1">
          <a:blip r:embed="rId3">
            <a:alphaModFix/>
          </a:blip>
          <a:srcRect b="0" l="0" r="0" t="0"/>
          <a:stretch/>
        </p:blipFill>
        <p:spPr>
          <a:xfrm>
            <a:off x="3479093" y="1080155"/>
            <a:ext cx="5454588" cy="2466062"/>
          </a:xfrm>
          <a:prstGeom prst="rect">
            <a:avLst/>
          </a:prstGeom>
          <a:noFill/>
          <a:ln>
            <a:noFill/>
          </a:ln>
        </p:spPr>
      </p:pic>
      <p:sp>
        <p:nvSpPr>
          <p:cNvPr id="443" name="Google Shape;443;p47"/>
          <p:cNvSpPr txBox="1"/>
          <p:nvPr>
            <p:ph idx="12" type="sldNum"/>
          </p:nvPr>
        </p:nvSpPr>
        <p:spPr>
          <a:xfrm>
            <a:off x="8756108" y="4778061"/>
            <a:ext cx="230623" cy="167639"/>
          </a:xfrm>
          <a:prstGeom prst="rect">
            <a:avLst/>
          </a:prstGeom>
          <a:noFill/>
          <a:ln>
            <a:noFill/>
          </a:ln>
        </p:spPr>
        <p:txBody>
          <a:bodyPr anchorCtr="0" anchor="t" bIns="0" lIns="0" spcFirstLastPara="1" rIns="0" wrap="square" tIns="625">
            <a:spAutoFit/>
          </a:bodyPr>
          <a:lstStyle/>
          <a:p>
            <a:pPr indent="0" lvl="0" marL="38100" rtl="0" algn="l">
              <a:lnSpc>
                <a:spcPct val="100000"/>
              </a:lnSpc>
              <a:spcBef>
                <a:spcPts val="0"/>
              </a:spcBef>
              <a:spcAft>
                <a:spcPts val="0"/>
              </a:spcAft>
              <a:buNone/>
            </a:pPr>
            <a:r>
              <a:rPr lang="en-US"/>
              <a:t>15</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7" name="Shape 447"/>
        <p:cNvGrpSpPr/>
        <p:nvPr/>
      </p:nvGrpSpPr>
      <p:grpSpPr>
        <a:xfrm>
          <a:off x="0" y="0"/>
          <a:ext cx="0" cy="0"/>
          <a:chOff x="0" y="0"/>
          <a:chExt cx="0" cy="0"/>
        </a:xfrm>
      </p:grpSpPr>
      <p:sp>
        <p:nvSpPr>
          <p:cNvPr descr="$PPTXTitle" id="448" name="Google Shape;448;p48"/>
          <p:cNvSpPr txBox="1"/>
          <p:nvPr>
            <p:ph type="title"/>
          </p:nvPr>
        </p:nvSpPr>
        <p:spPr>
          <a:xfrm>
            <a:off x="397425" y="565954"/>
            <a:ext cx="3419475" cy="368300"/>
          </a:xfrm>
          <a:prstGeom prst="rect">
            <a:avLst/>
          </a:prstGeom>
          <a:solidFill>
            <a:srgbClr val="EB4949">
              <a:alpha val="74902"/>
            </a:srgbClr>
          </a:solidFill>
          <a:ln>
            <a:noFill/>
          </a:ln>
        </p:spPr>
        <p:txBody>
          <a:bodyPr anchorCtr="0" anchor="t" bIns="0" lIns="0" spcFirstLastPara="1" rIns="0" wrap="square" tIns="0">
            <a:spAutoFit/>
          </a:bodyPr>
          <a:lstStyle/>
          <a:p>
            <a:pPr indent="0" lvl="0" marL="0" rtl="0" algn="l">
              <a:lnSpc>
                <a:spcPct val="105600"/>
              </a:lnSpc>
              <a:spcBef>
                <a:spcPts val="0"/>
              </a:spcBef>
              <a:spcAft>
                <a:spcPts val="0"/>
              </a:spcAft>
              <a:buNone/>
            </a:pPr>
            <a:r>
              <a:rPr lang="en-US"/>
              <a:t>How to Avoid Overfitting</a:t>
            </a:r>
            <a:endParaRPr/>
          </a:p>
        </p:txBody>
      </p:sp>
      <p:sp>
        <p:nvSpPr>
          <p:cNvPr id="449" name="Google Shape;449;p48"/>
          <p:cNvSpPr txBox="1"/>
          <p:nvPr/>
        </p:nvSpPr>
        <p:spPr>
          <a:xfrm>
            <a:off x="467607" y="1194158"/>
            <a:ext cx="8209915" cy="3146425"/>
          </a:xfrm>
          <a:prstGeom prst="rect">
            <a:avLst/>
          </a:prstGeom>
          <a:noFill/>
          <a:ln>
            <a:noFill/>
          </a:ln>
        </p:spPr>
        <p:txBody>
          <a:bodyPr anchorCtr="0" anchor="t" bIns="0" lIns="0" spcFirstLastPara="1" rIns="0" wrap="square" tIns="46975">
            <a:spAutoFit/>
          </a:bodyPr>
          <a:lstStyle/>
          <a:p>
            <a:pPr indent="-374015" lvl="0" marL="386715" rtl="0" algn="l">
              <a:lnSpc>
                <a:spcPct val="100000"/>
              </a:lnSpc>
              <a:spcBef>
                <a:spcPts val="0"/>
              </a:spcBef>
              <a:spcAft>
                <a:spcPts val="0"/>
              </a:spcAft>
              <a:buClr>
                <a:srgbClr val="595959"/>
              </a:buClr>
              <a:buSzPts val="1900"/>
              <a:buFont typeface="Arial"/>
              <a:buChar char="●"/>
            </a:pPr>
            <a:r>
              <a:rPr lang="en-US" sz="1800">
                <a:latin typeface="Arial"/>
                <a:ea typeface="Arial"/>
                <a:cs typeface="Arial"/>
                <a:sym typeface="Arial"/>
              </a:rPr>
              <a:t>Model Validation</a:t>
            </a:r>
            <a:endParaRPr sz="1800">
              <a:latin typeface="Arial"/>
              <a:ea typeface="Arial"/>
              <a:cs typeface="Arial"/>
              <a:sym typeface="Arial"/>
            </a:endParaRPr>
          </a:p>
          <a:p>
            <a:pPr indent="-405130" lvl="1" marL="843915" marR="173990" rtl="0" algn="l">
              <a:lnSpc>
                <a:spcPct val="121200"/>
              </a:lnSpc>
              <a:spcBef>
                <a:spcPts val="515"/>
              </a:spcBef>
              <a:spcAft>
                <a:spcPts val="0"/>
              </a:spcAft>
              <a:buSzPts val="2300"/>
              <a:buFont typeface="Arial"/>
              <a:buChar char="○"/>
            </a:pPr>
            <a:r>
              <a:rPr lang="en-US" sz="1700">
                <a:latin typeface="Arial"/>
                <a:ea typeface="Arial"/>
                <a:cs typeface="Arial"/>
                <a:sym typeface="Arial"/>
              </a:rPr>
              <a:t>The error of an overfitted model is low when computed for the training data. We need to test performance of our model on a separate data set (i.e., validation data set) before using real-time application data.</a:t>
            </a:r>
            <a:endParaRPr sz="1700">
              <a:latin typeface="Arial"/>
              <a:ea typeface="Arial"/>
              <a:cs typeface="Arial"/>
              <a:sym typeface="Arial"/>
            </a:endParaRPr>
          </a:p>
          <a:p>
            <a:pPr indent="-366395" lvl="0" marL="386715" rtl="0" algn="l">
              <a:lnSpc>
                <a:spcPct val="100000"/>
              </a:lnSpc>
              <a:spcBef>
                <a:spcPts val="300"/>
              </a:spcBef>
              <a:spcAft>
                <a:spcPts val="0"/>
              </a:spcAft>
              <a:buSzPts val="1800"/>
              <a:buFont typeface="Arial"/>
              <a:buChar char="●"/>
            </a:pPr>
            <a:r>
              <a:rPr lang="en-US" sz="1800">
                <a:latin typeface="Arial"/>
                <a:ea typeface="Arial"/>
                <a:cs typeface="Arial"/>
                <a:sym typeface="Arial"/>
              </a:rPr>
              <a:t>Regularization</a:t>
            </a:r>
            <a:endParaRPr sz="1800">
              <a:latin typeface="Arial"/>
              <a:ea typeface="Arial"/>
              <a:cs typeface="Arial"/>
              <a:sym typeface="Arial"/>
            </a:endParaRPr>
          </a:p>
          <a:p>
            <a:pPr indent="-359410" lvl="1" marL="843915" marR="5080" rtl="0" algn="l">
              <a:lnSpc>
                <a:spcPct val="114999"/>
              </a:lnSpc>
              <a:spcBef>
                <a:spcPts val="20"/>
              </a:spcBef>
              <a:spcAft>
                <a:spcPts val="0"/>
              </a:spcAft>
              <a:buSzPts val="1700"/>
              <a:buFont typeface="Arial"/>
              <a:buChar char="○"/>
            </a:pPr>
            <a:r>
              <a:rPr lang="en-US" sz="1700">
                <a:latin typeface="Arial"/>
                <a:ea typeface="Arial"/>
                <a:cs typeface="Arial"/>
                <a:sym typeface="Arial"/>
              </a:rPr>
              <a:t>Regularization applies either a penalty for complexity or roughness to the model. By introducing additional information into the model, regularization algorithms can deal with multicollinearity and redundant predictors by making the model more parsimonious and accurate.</a:t>
            </a:r>
            <a:endParaRPr sz="1700">
              <a:latin typeface="Arial"/>
              <a:ea typeface="Arial"/>
              <a:cs typeface="Arial"/>
              <a:sym typeface="Arial"/>
            </a:endParaRPr>
          </a:p>
          <a:p>
            <a:pPr indent="-358775" lvl="1" marL="843915" rtl="0" algn="l">
              <a:lnSpc>
                <a:spcPct val="100000"/>
              </a:lnSpc>
              <a:spcBef>
                <a:spcPts val="309"/>
              </a:spcBef>
              <a:spcAft>
                <a:spcPts val="0"/>
              </a:spcAft>
              <a:buSzPts val="1700"/>
              <a:buFont typeface="Arial"/>
              <a:buChar char="○"/>
            </a:pPr>
            <a:r>
              <a:rPr lang="en-US" sz="1700" u="sng">
                <a:solidFill>
                  <a:schemeClr val="hlink"/>
                </a:solidFill>
                <a:latin typeface="Arial"/>
                <a:ea typeface="Arial"/>
                <a:cs typeface="Arial"/>
                <a:sym typeface="Arial"/>
                <a:hlinkClick r:id="rId3"/>
              </a:rPr>
              <a:t>https://www.youtube.com/watch?v=wNdYpD2YhSk&amp;t=331s</a:t>
            </a:r>
            <a:endParaRPr sz="1700">
              <a:latin typeface="Arial"/>
              <a:ea typeface="Arial"/>
              <a:cs typeface="Arial"/>
              <a:sym typeface="Arial"/>
            </a:endParaRPr>
          </a:p>
        </p:txBody>
      </p:sp>
      <p:sp>
        <p:nvSpPr>
          <p:cNvPr id="450" name="Google Shape;450;p48"/>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4" name="Shape 454"/>
        <p:cNvGrpSpPr/>
        <p:nvPr/>
      </p:nvGrpSpPr>
      <p:grpSpPr>
        <a:xfrm>
          <a:off x="0" y="0"/>
          <a:ext cx="0" cy="0"/>
          <a:chOff x="0" y="0"/>
          <a:chExt cx="0" cy="0"/>
        </a:xfrm>
      </p:grpSpPr>
      <p:sp>
        <p:nvSpPr>
          <p:cNvPr descr="$PPTXTitle" id="455" name="Google Shape;455;p49"/>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How to Avoid Overfitting</a:t>
            </a:r>
            <a:endParaRPr/>
          </a:p>
        </p:txBody>
      </p:sp>
      <p:sp>
        <p:nvSpPr>
          <p:cNvPr id="456" name="Google Shape;456;p49"/>
          <p:cNvSpPr txBox="1"/>
          <p:nvPr/>
        </p:nvSpPr>
        <p:spPr>
          <a:xfrm>
            <a:off x="475248" y="1212292"/>
            <a:ext cx="8274684" cy="3041650"/>
          </a:xfrm>
          <a:prstGeom prst="rect">
            <a:avLst/>
          </a:prstGeom>
          <a:noFill/>
          <a:ln>
            <a:noFill/>
          </a:ln>
        </p:spPr>
        <p:txBody>
          <a:bodyPr anchorCtr="0" anchor="t" bIns="0" lIns="0" spcFirstLastPara="1" rIns="0" wrap="square" tIns="29200">
            <a:spAutoFit/>
          </a:bodyPr>
          <a:lstStyle/>
          <a:p>
            <a:pPr indent="-366395" lvl="0" marL="379095" rtl="0" algn="l">
              <a:lnSpc>
                <a:spcPct val="100000"/>
              </a:lnSpc>
              <a:spcBef>
                <a:spcPts val="0"/>
              </a:spcBef>
              <a:spcAft>
                <a:spcPts val="0"/>
              </a:spcAft>
              <a:buClr>
                <a:srgbClr val="595959"/>
              </a:buClr>
              <a:buSzPts val="1800"/>
              <a:buFont typeface="Arial"/>
              <a:buChar char="●"/>
            </a:pPr>
            <a:r>
              <a:rPr lang="en-US" sz="1700">
                <a:latin typeface="Arial"/>
                <a:ea typeface="Arial"/>
                <a:cs typeface="Arial"/>
                <a:sym typeface="Arial"/>
              </a:rPr>
              <a:t>Data Augmentation</a:t>
            </a:r>
            <a:endParaRPr sz="1700">
              <a:latin typeface="Arial"/>
              <a:ea typeface="Arial"/>
              <a:cs typeface="Arial"/>
              <a:sym typeface="Arial"/>
            </a:endParaRPr>
          </a:p>
          <a:p>
            <a:pPr indent="-359410" lvl="1" marL="836294" marR="5080" rtl="0" algn="l">
              <a:lnSpc>
                <a:spcPct val="105000"/>
              </a:lnSpc>
              <a:spcBef>
                <a:spcPts val="30"/>
              </a:spcBef>
              <a:spcAft>
                <a:spcPts val="0"/>
              </a:spcAft>
              <a:buSzPts val="1700"/>
              <a:buFont typeface="Arial"/>
              <a:buChar char="○"/>
            </a:pPr>
            <a:r>
              <a:rPr lang="en-US" sz="1700">
                <a:latin typeface="Arial"/>
                <a:ea typeface="Arial"/>
                <a:cs typeface="Arial"/>
                <a:sym typeface="Arial"/>
              </a:rPr>
              <a:t>When data availability is limited, data augmentation is a method to artificially expand the data points of the training data set by adding randomized versions of the existing data to the data set.</a:t>
            </a:r>
            <a:endParaRPr sz="1700">
              <a:latin typeface="Arial"/>
              <a:ea typeface="Arial"/>
              <a:cs typeface="Arial"/>
              <a:sym typeface="Arial"/>
            </a:endParaRPr>
          </a:p>
          <a:p>
            <a:pPr indent="-366395" lvl="0" marL="379095" rtl="0" algn="l">
              <a:lnSpc>
                <a:spcPct val="100000"/>
              </a:lnSpc>
              <a:spcBef>
                <a:spcPts val="100"/>
              </a:spcBef>
              <a:spcAft>
                <a:spcPts val="0"/>
              </a:spcAft>
              <a:buSzPts val="1800"/>
              <a:buFont typeface="Arial"/>
              <a:buChar char="●"/>
            </a:pPr>
            <a:r>
              <a:rPr lang="en-US" sz="1800">
                <a:latin typeface="Arial"/>
                <a:ea typeface="Arial"/>
                <a:cs typeface="Arial"/>
                <a:sym typeface="Arial"/>
              </a:rPr>
              <a:t>Synthetic Data</a:t>
            </a:r>
            <a:endParaRPr sz="1800">
              <a:latin typeface="Arial"/>
              <a:ea typeface="Arial"/>
              <a:cs typeface="Arial"/>
              <a:sym typeface="Arial"/>
            </a:endParaRPr>
          </a:p>
          <a:p>
            <a:pPr indent="-359410" lvl="1" marL="836294" marR="6985" rtl="0" algn="l">
              <a:lnSpc>
                <a:spcPct val="105000"/>
              </a:lnSpc>
              <a:spcBef>
                <a:spcPts val="10"/>
              </a:spcBef>
              <a:spcAft>
                <a:spcPts val="0"/>
              </a:spcAft>
              <a:buSzPts val="1700"/>
              <a:buFont typeface="Arial"/>
              <a:buChar char="○"/>
            </a:pPr>
            <a:r>
              <a:rPr lang="en-US" sz="1700">
                <a:latin typeface="Arial"/>
                <a:ea typeface="Arial"/>
                <a:cs typeface="Arial"/>
                <a:sym typeface="Arial"/>
              </a:rPr>
              <a:t>Synthetic data generated by generative model can bring variability in available data, increase size of training dataset and reduce overfitting issue to some extent.</a:t>
            </a:r>
            <a:endParaRPr sz="1700">
              <a:latin typeface="Arial"/>
              <a:ea typeface="Arial"/>
              <a:cs typeface="Arial"/>
              <a:sym typeface="Arial"/>
            </a:endParaRPr>
          </a:p>
          <a:p>
            <a:pPr indent="-358775" lvl="0" marL="379095" rtl="0" algn="l">
              <a:lnSpc>
                <a:spcPct val="100000"/>
              </a:lnSpc>
              <a:spcBef>
                <a:spcPts val="100"/>
              </a:spcBef>
              <a:spcAft>
                <a:spcPts val="0"/>
              </a:spcAft>
              <a:buSzPts val="1700"/>
              <a:buFont typeface="Arial"/>
              <a:buChar char="●"/>
            </a:pPr>
            <a:r>
              <a:rPr lang="en-US" sz="1700">
                <a:latin typeface="Arial"/>
                <a:ea typeface="Arial"/>
                <a:cs typeface="Arial"/>
                <a:sym typeface="Arial"/>
              </a:rPr>
              <a:t>Data Clean Up</a:t>
            </a:r>
            <a:endParaRPr sz="1700">
              <a:latin typeface="Arial"/>
              <a:ea typeface="Arial"/>
              <a:cs typeface="Arial"/>
              <a:sym typeface="Arial"/>
            </a:endParaRPr>
          </a:p>
          <a:p>
            <a:pPr indent="-359410" lvl="1" marL="836294" marR="330200" rtl="0" algn="l">
              <a:lnSpc>
                <a:spcPct val="105000"/>
              </a:lnSpc>
              <a:spcBef>
                <a:spcPts val="0"/>
              </a:spcBef>
              <a:spcAft>
                <a:spcPts val="0"/>
              </a:spcAft>
              <a:buSzPts val="1700"/>
              <a:buFont typeface="Arial"/>
              <a:buChar char="○"/>
            </a:pPr>
            <a:r>
              <a:rPr lang="en-US" sz="1700">
                <a:latin typeface="Arial"/>
                <a:ea typeface="Arial"/>
                <a:cs typeface="Arial"/>
                <a:sym typeface="Arial"/>
              </a:rPr>
              <a:t>Data noisiness contributes to overfitting. One common approach to reduce undesired data points is to remove outliers from the data.</a:t>
            </a:r>
            <a:endParaRPr sz="1700">
              <a:latin typeface="Arial"/>
              <a:ea typeface="Arial"/>
              <a:cs typeface="Arial"/>
              <a:sym typeface="Arial"/>
            </a:endParaRPr>
          </a:p>
        </p:txBody>
      </p:sp>
      <p:sp>
        <p:nvSpPr>
          <p:cNvPr id="457" name="Google Shape;457;p49"/>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1" name="Shape 461"/>
        <p:cNvGrpSpPr/>
        <p:nvPr/>
      </p:nvGrpSpPr>
      <p:grpSpPr>
        <a:xfrm>
          <a:off x="0" y="0"/>
          <a:ext cx="0" cy="0"/>
          <a:chOff x="0" y="0"/>
          <a:chExt cx="0" cy="0"/>
        </a:xfrm>
      </p:grpSpPr>
      <p:sp>
        <p:nvSpPr>
          <p:cNvPr descr="$PPTXTitle" id="462" name="Google Shape;462;p50"/>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Dropout Layer</a:t>
            </a:r>
            <a:endParaRPr/>
          </a:p>
        </p:txBody>
      </p:sp>
      <p:sp>
        <p:nvSpPr>
          <p:cNvPr id="463" name="Google Shape;463;p50"/>
          <p:cNvSpPr txBox="1"/>
          <p:nvPr/>
        </p:nvSpPr>
        <p:spPr>
          <a:xfrm>
            <a:off x="384724" y="1216356"/>
            <a:ext cx="2413635" cy="20294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In dropout layer:</a:t>
            </a:r>
            <a:endParaRPr sz="1800">
              <a:latin typeface="Arial"/>
              <a:ea typeface="Arial"/>
              <a:cs typeface="Arial"/>
              <a:sym typeface="Arial"/>
            </a:endParaRPr>
          </a:p>
          <a:p>
            <a:pPr indent="-367030" lvl="0" marL="469265" marR="296545" rtl="0" algn="l">
              <a:lnSpc>
                <a:spcPct val="114999"/>
              </a:lnSpc>
              <a:spcBef>
                <a:spcPts val="1200"/>
              </a:spcBef>
              <a:spcAft>
                <a:spcPts val="0"/>
              </a:spcAft>
              <a:buSzPts val="1800"/>
              <a:buFont typeface="Arial"/>
              <a:buChar char="●"/>
            </a:pPr>
            <a:r>
              <a:rPr lang="en-US" sz="1800">
                <a:latin typeface="Arial"/>
                <a:ea typeface="Arial"/>
                <a:cs typeface="Arial"/>
                <a:sym typeface="Arial"/>
              </a:rPr>
              <a:t>individual nodes are excluded in various training runs</a:t>
            </a:r>
            <a:endParaRPr sz="1800">
              <a:latin typeface="Arial"/>
              <a:ea typeface="Arial"/>
              <a:cs typeface="Arial"/>
              <a:sym typeface="Arial"/>
            </a:endParaRPr>
          </a:p>
          <a:p>
            <a:pPr indent="-366395" lvl="0" marL="469265" rtl="0" algn="l">
              <a:lnSpc>
                <a:spcPct val="100000"/>
              </a:lnSpc>
              <a:spcBef>
                <a:spcPts val="320"/>
              </a:spcBef>
              <a:spcAft>
                <a:spcPts val="0"/>
              </a:spcAft>
              <a:buSzPts val="1800"/>
              <a:buFont typeface="Arial"/>
              <a:buChar char="●"/>
            </a:pPr>
            <a:r>
              <a:rPr lang="en-US" sz="1800">
                <a:latin typeface="Arial"/>
                <a:ea typeface="Arial"/>
                <a:cs typeface="Arial"/>
                <a:sym typeface="Arial"/>
              </a:rPr>
              <a:t>prevents overfitting</a:t>
            </a:r>
            <a:endParaRPr sz="1800">
              <a:latin typeface="Arial"/>
              <a:ea typeface="Arial"/>
              <a:cs typeface="Arial"/>
              <a:sym typeface="Arial"/>
            </a:endParaRPr>
          </a:p>
        </p:txBody>
      </p:sp>
      <p:sp>
        <p:nvSpPr>
          <p:cNvPr id="464" name="Google Shape;464;p50"/>
          <p:cNvSpPr txBox="1"/>
          <p:nvPr/>
        </p:nvSpPr>
        <p:spPr>
          <a:xfrm>
            <a:off x="8781508" y="4766031"/>
            <a:ext cx="167005" cy="177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solidFill>
                  <a:srgbClr val="595959"/>
                </a:solidFill>
                <a:latin typeface="Arial"/>
                <a:ea typeface="Arial"/>
                <a:cs typeface="Arial"/>
                <a:sym typeface="Arial"/>
              </a:rPr>
              <a:t>20</a:t>
            </a:r>
            <a:endParaRPr sz="1000">
              <a:latin typeface="Arial"/>
              <a:ea typeface="Arial"/>
              <a:cs typeface="Arial"/>
              <a:sym typeface="Arial"/>
            </a:endParaRPr>
          </a:p>
        </p:txBody>
      </p:sp>
      <p:pic>
        <p:nvPicPr>
          <p:cNvPr id="465" name="Google Shape;465;p50"/>
          <p:cNvPicPr preferRelativeResize="0"/>
          <p:nvPr/>
        </p:nvPicPr>
        <p:blipFill rotWithShape="1">
          <a:blip r:embed="rId3">
            <a:alphaModFix/>
          </a:blip>
          <a:srcRect b="0" l="0" r="0" t="0"/>
          <a:stretch/>
        </p:blipFill>
        <p:spPr>
          <a:xfrm>
            <a:off x="2925949" y="915016"/>
            <a:ext cx="6015205" cy="3546988"/>
          </a:xfrm>
          <a:prstGeom prst="rect">
            <a:avLst/>
          </a:prstGeom>
          <a:noFill/>
          <a:ln>
            <a:noFill/>
          </a:ln>
        </p:spPr>
      </p:pic>
      <p:sp>
        <p:nvSpPr>
          <p:cNvPr id="466" name="Google Shape;466;p50"/>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0" name="Shape 470"/>
        <p:cNvGrpSpPr/>
        <p:nvPr/>
      </p:nvGrpSpPr>
      <p:grpSpPr>
        <a:xfrm>
          <a:off x="0" y="0"/>
          <a:ext cx="0" cy="0"/>
          <a:chOff x="0" y="0"/>
          <a:chExt cx="0" cy="0"/>
        </a:xfrm>
      </p:grpSpPr>
      <p:sp>
        <p:nvSpPr>
          <p:cNvPr descr="$PPTXTitle" id="471" name="Google Shape;471;p51"/>
          <p:cNvSpPr txBox="1"/>
          <p:nvPr>
            <p:ph type="title"/>
          </p:nvPr>
        </p:nvSpPr>
        <p:spPr>
          <a:xfrm>
            <a:off x="384724" y="505247"/>
            <a:ext cx="8287384" cy="409575"/>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Dropout Layer</a:t>
            </a:r>
            <a:endParaRPr/>
          </a:p>
        </p:txBody>
      </p:sp>
      <p:sp>
        <p:nvSpPr>
          <p:cNvPr id="472" name="Google Shape;472;p51"/>
          <p:cNvSpPr txBox="1"/>
          <p:nvPr/>
        </p:nvSpPr>
        <p:spPr>
          <a:xfrm>
            <a:off x="475248" y="1175208"/>
            <a:ext cx="8247380" cy="2946400"/>
          </a:xfrm>
          <a:prstGeom prst="rect">
            <a:avLst/>
          </a:prstGeom>
          <a:noFill/>
          <a:ln>
            <a:noFill/>
          </a:ln>
        </p:spPr>
        <p:txBody>
          <a:bodyPr anchorCtr="0" anchor="t" bIns="0" lIns="0" spcFirstLastPara="1" rIns="0" wrap="square" tIns="53325">
            <a:spAutoFit/>
          </a:bodyPr>
          <a:lstStyle/>
          <a:p>
            <a:pPr indent="-366395" lvl="0" marL="379095" rtl="0" algn="l">
              <a:lnSpc>
                <a:spcPct val="100000"/>
              </a:lnSpc>
              <a:spcBef>
                <a:spcPts val="0"/>
              </a:spcBef>
              <a:spcAft>
                <a:spcPts val="0"/>
              </a:spcAft>
              <a:buSzPts val="1800"/>
              <a:buFont typeface="Arial"/>
              <a:buChar char="●"/>
            </a:pPr>
            <a:r>
              <a:rPr lang="en-US" sz="1800">
                <a:latin typeface="Arial"/>
                <a:ea typeface="Arial"/>
                <a:cs typeface="Arial"/>
                <a:sym typeface="Arial"/>
              </a:rPr>
              <a:t>It activates during training phase only, not in validation and testing phase</a:t>
            </a:r>
            <a:endParaRPr sz="1800">
              <a:latin typeface="Arial"/>
              <a:ea typeface="Arial"/>
              <a:cs typeface="Arial"/>
              <a:sym typeface="Arial"/>
            </a:endParaRPr>
          </a:p>
          <a:p>
            <a:pPr indent="-366395" lvl="0" marL="379095" rtl="0" algn="l">
              <a:lnSpc>
                <a:spcPct val="100000"/>
              </a:lnSpc>
              <a:spcBef>
                <a:spcPts val="325"/>
              </a:spcBef>
              <a:spcAft>
                <a:spcPts val="0"/>
              </a:spcAft>
              <a:buSzPts val="1800"/>
              <a:buFont typeface="Arial"/>
              <a:buChar char="●"/>
            </a:pPr>
            <a:r>
              <a:rPr lang="en-US" sz="1800">
                <a:latin typeface="Arial"/>
                <a:ea typeface="Arial"/>
                <a:cs typeface="Arial"/>
                <a:sym typeface="Arial"/>
              </a:rPr>
              <a:t>Forward Pass:</a:t>
            </a:r>
            <a:endParaRPr sz="1800">
              <a:latin typeface="Arial"/>
              <a:ea typeface="Arial"/>
              <a:cs typeface="Arial"/>
              <a:sym typeface="Arial"/>
            </a:endParaRPr>
          </a:p>
          <a:p>
            <a:pPr indent="-336550" lvl="1" marL="836294" marR="393065" rtl="0" algn="l">
              <a:lnSpc>
                <a:spcPct val="114999"/>
              </a:lnSpc>
              <a:spcBef>
                <a:spcPts val="90"/>
              </a:spcBef>
              <a:spcAft>
                <a:spcPts val="0"/>
              </a:spcAft>
              <a:buSzPts val="1400"/>
              <a:buFont typeface="Arial"/>
              <a:buChar char="○"/>
            </a:pPr>
            <a:r>
              <a:rPr lang="en-US" sz="1400">
                <a:latin typeface="Arial"/>
                <a:ea typeface="Arial"/>
                <a:cs typeface="Arial"/>
                <a:sym typeface="Arial"/>
              </a:rPr>
              <a:t>A certain percentage of neurons in the dropout layer are randomly picked to be "dropped" (deactivated).</a:t>
            </a:r>
            <a:endParaRPr sz="1400">
              <a:latin typeface="Arial"/>
              <a:ea typeface="Arial"/>
              <a:cs typeface="Arial"/>
              <a:sym typeface="Arial"/>
            </a:endParaRPr>
          </a:p>
          <a:p>
            <a:pPr indent="-336550" lvl="1" marL="836294" marR="5080" rtl="0" algn="l">
              <a:lnSpc>
                <a:spcPct val="114999"/>
              </a:lnSpc>
              <a:spcBef>
                <a:spcPts val="0"/>
              </a:spcBef>
              <a:spcAft>
                <a:spcPts val="0"/>
              </a:spcAft>
              <a:buSzPts val="1400"/>
              <a:buFont typeface="Arial"/>
              <a:buChar char="○"/>
            </a:pPr>
            <a:r>
              <a:rPr lang="en-US" sz="1400">
                <a:latin typeface="Arial"/>
                <a:ea typeface="Arial"/>
                <a:cs typeface="Arial"/>
                <a:sym typeface="Arial"/>
              </a:rPr>
              <a:t>The output of the dropped neurons is set to zero, effectively removing them from the network's calculations for that specific iteration.</a:t>
            </a:r>
            <a:endParaRPr sz="1400">
              <a:latin typeface="Arial"/>
              <a:ea typeface="Arial"/>
              <a:cs typeface="Arial"/>
              <a:sym typeface="Arial"/>
            </a:endParaRPr>
          </a:p>
          <a:p>
            <a:pPr indent="-366395" lvl="0" marL="379095" rtl="0" algn="l">
              <a:lnSpc>
                <a:spcPct val="100000"/>
              </a:lnSpc>
              <a:spcBef>
                <a:spcPts val="235"/>
              </a:spcBef>
              <a:spcAft>
                <a:spcPts val="0"/>
              </a:spcAft>
              <a:buSzPts val="1800"/>
              <a:buFont typeface="Arial"/>
              <a:buChar char="●"/>
            </a:pPr>
            <a:r>
              <a:rPr lang="en-US" sz="1800">
                <a:latin typeface="Arial"/>
                <a:ea typeface="Arial"/>
                <a:cs typeface="Arial"/>
                <a:sym typeface="Arial"/>
              </a:rPr>
              <a:t>Backward Pass:</a:t>
            </a:r>
            <a:endParaRPr sz="1800">
              <a:latin typeface="Arial"/>
              <a:ea typeface="Arial"/>
              <a:cs typeface="Arial"/>
              <a:sym typeface="Arial"/>
            </a:endParaRPr>
          </a:p>
          <a:p>
            <a:pPr indent="-336550" lvl="1" marL="836294" marR="342900" rtl="0" algn="l">
              <a:lnSpc>
                <a:spcPct val="114999"/>
              </a:lnSpc>
              <a:spcBef>
                <a:spcPts val="90"/>
              </a:spcBef>
              <a:spcAft>
                <a:spcPts val="0"/>
              </a:spcAft>
              <a:buSzPts val="1400"/>
              <a:buFont typeface="Arial"/>
              <a:buChar char="○"/>
            </a:pPr>
            <a:r>
              <a:rPr lang="en-US" sz="1400">
                <a:latin typeface="Arial"/>
                <a:ea typeface="Arial"/>
                <a:cs typeface="Arial"/>
                <a:sym typeface="Arial"/>
              </a:rPr>
              <a:t>The gradients for the dropped neurons are effectively ignored. They don't contribute to the weight updates.</a:t>
            </a:r>
            <a:endParaRPr sz="1400">
              <a:latin typeface="Arial"/>
              <a:ea typeface="Arial"/>
              <a:cs typeface="Arial"/>
              <a:sym typeface="Arial"/>
            </a:endParaRPr>
          </a:p>
          <a:p>
            <a:pPr indent="-336550" lvl="1" marL="836294" marR="498475" rtl="0" algn="l">
              <a:lnSpc>
                <a:spcPct val="114999"/>
              </a:lnSpc>
              <a:spcBef>
                <a:spcPts val="0"/>
              </a:spcBef>
              <a:spcAft>
                <a:spcPts val="0"/>
              </a:spcAft>
              <a:buSzPts val="1400"/>
              <a:buFont typeface="Arial"/>
              <a:buChar char="○"/>
            </a:pPr>
            <a:r>
              <a:rPr lang="en-US" sz="1400">
                <a:latin typeface="Arial"/>
                <a:ea typeface="Arial"/>
                <a:cs typeface="Arial"/>
                <a:sym typeface="Arial"/>
              </a:rPr>
              <a:t>The gradients for the active neurons are scaled by a factor that accounts for the dropout probability</a:t>
            </a:r>
            <a:endParaRPr sz="1400">
              <a:latin typeface="Arial"/>
              <a:ea typeface="Arial"/>
              <a:cs typeface="Arial"/>
              <a:sym typeface="Arial"/>
            </a:endParaRPr>
          </a:p>
        </p:txBody>
      </p:sp>
      <p:sp>
        <p:nvSpPr>
          <p:cNvPr id="473" name="Google Shape;473;p51"/>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7" name="Shape 477"/>
        <p:cNvGrpSpPr/>
        <p:nvPr/>
      </p:nvGrpSpPr>
      <p:grpSpPr>
        <a:xfrm>
          <a:off x="0" y="0"/>
          <a:ext cx="0" cy="0"/>
          <a:chOff x="0" y="0"/>
          <a:chExt cx="0" cy="0"/>
        </a:xfrm>
      </p:grpSpPr>
      <p:sp>
        <p:nvSpPr>
          <p:cNvPr descr="$PPTXTitle" id="478" name="Google Shape;478;p52"/>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Derivative</a:t>
            </a:r>
            <a:endParaRPr/>
          </a:p>
        </p:txBody>
      </p:sp>
      <p:sp>
        <p:nvSpPr>
          <p:cNvPr id="479" name="Google Shape;479;p52"/>
          <p:cNvSpPr txBox="1"/>
          <p:nvPr/>
        </p:nvSpPr>
        <p:spPr>
          <a:xfrm>
            <a:off x="475250" y="1175200"/>
            <a:ext cx="7365000" cy="1800000"/>
          </a:xfrm>
          <a:prstGeom prst="rect">
            <a:avLst/>
          </a:prstGeom>
          <a:noFill/>
          <a:ln>
            <a:noFill/>
          </a:ln>
        </p:spPr>
        <p:txBody>
          <a:bodyPr anchorCtr="0" anchor="t" bIns="0" lIns="0" spcFirstLastPara="1" rIns="0" wrap="square" tIns="12700">
            <a:spAutoFit/>
          </a:bodyPr>
          <a:lstStyle/>
          <a:p>
            <a:pPr indent="-367030" lvl="0" marL="379095" marR="144780" rtl="0" algn="l">
              <a:lnSpc>
                <a:spcPct val="114999"/>
              </a:lnSpc>
              <a:spcBef>
                <a:spcPts val="0"/>
              </a:spcBef>
              <a:spcAft>
                <a:spcPts val="0"/>
              </a:spcAft>
              <a:buSzPts val="1800"/>
              <a:buFont typeface="Arial"/>
              <a:buChar char="●"/>
            </a:pPr>
            <a:r>
              <a:rPr lang="en-US" sz="1800">
                <a:latin typeface="Arial"/>
                <a:ea typeface="Arial"/>
                <a:cs typeface="Arial"/>
                <a:sym typeface="Arial"/>
              </a:rPr>
              <a:t>It is a way to measure the rate of change of a function with respect to an independent variable.</a:t>
            </a:r>
            <a:endParaRPr sz="1800">
              <a:latin typeface="Arial"/>
              <a:ea typeface="Arial"/>
              <a:cs typeface="Arial"/>
              <a:sym typeface="Arial"/>
            </a:endParaRPr>
          </a:p>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It tells us how quickly a function is changing at a specific point.</a:t>
            </a:r>
            <a:endParaRPr sz="1800">
              <a:latin typeface="Arial"/>
              <a:ea typeface="Arial"/>
              <a:cs typeface="Arial"/>
              <a:sym typeface="Arial"/>
            </a:endParaRPr>
          </a:p>
          <a:p>
            <a:pPr indent="0" lvl="0" marL="384810" rtl="0" algn="l">
              <a:lnSpc>
                <a:spcPct val="100000"/>
              </a:lnSpc>
              <a:spcBef>
                <a:spcPts val="0"/>
              </a:spcBef>
              <a:spcAft>
                <a:spcPts val="0"/>
              </a:spcAft>
              <a:buNone/>
            </a:pPr>
            <a:r>
              <a:rPr i="1" lang="en-US" sz="1800">
                <a:solidFill>
                  <a:srgbClr val="595959"/>
                </a:solidFill>
                <a:latin typeface="Trebuchet MS"/>
                <a:ea typeface="Trebuchet MS"/>
                <a:cs typeface="Trebuchet MS"/>
                <a:sym typeface="Trebuchet MS"/>
              </a:rPr>
              <a:t>y = f(x)</a:t>
            </a:r>
            <a:endParaRPr sz="1800">
              <a:latin typeface="Trebuchet MS"/>
              <a:ea typeface="Trebuchet MS"/>
              <a:cs typeface="Trebuchet MS"/>
              <a:sym typeface="Trebuchet MS"/>
            </a:endParaRPr>
          </a:p>
          <a:p>
            <a:pPr indent="0" lvl="0" marL="384810" rtl="0" algn="l">
              <a:lnSpc>
                <a:spcPct val="100000"/>
              </a:lnSpc>
              <a:spcBef>
                <a:spcPts val="0"/>
              </a:spcBef>
              <a:spcAft>
                <a:spcPts val="0"/>
              </a:spcAft>
              <a:buNone/>
            </a:pPr>
            <a:r>
              <a:rPr i="1" lang="en-US" sz="1800">
                <a:solidFill>
                  <a:srgbClr val="595959"/>
                </a:solidFill>
                <a:latin typeface="Trebuchet MS"/>
                <a:ea typeface="Trebuchet MS"/>
                <a:cs typeface="Trebuchet MS"/>
                <a:sym typeface="Trebuchet MS"/>
              </a:rPr>
              <a:t>x: </a:t>
            </a:r>
            <a:r>
              <a:rPr lang="en-US" sz="1800">
                <a:solidFill>
                  <a:srgbClr val="595959"/>
                </a:solidFill>
                <a:latin typeface="Arial"/>
                <a:ea typeface="Arial"/>
                <a:cs typeface="Arial"/>
                <a:sym typeface="Arial"/>
              </a:rPr>
              <a:t>independent variable</a:t>
            </a:r>
            <a:endParaRPr sz="1800">
              <a:latin typeface="Arial"/>
              <a:ea typeface="Arial"/>
              <a:cs typeface="Arial"/>
              <a:sym typeface="Arial"/>
            </a:endParaRPr>
          </a:p>
          <a:p>
            <a:pPr indent="0" lvl="0" marL="384810" rtl="0" algn="l">
              <a:lnSpc>
                <a:spcPct val="100000"/>
              </a:lnSpc>
              <a:spcBef>
                <a:spcPts val="0"/>
              </a:spcBef>
              <a:spcAft>
                <a:spcPts val="0"/>
              </a:spcAft>
              <a:buNone/>
            </a:pPr>
            <a:r>
              <a:rPr i="1" lang="en-US" sz="1800">
                <a:solidFill>
                  <a:srgbClr val="595959"/>
                </a:solidFill>
                <a:latin typeface="Trebuchet MS"/>
                <a:ea typeface="Trebuchet MS"/>
                <a:cs typeface="Trebuchet MS"/>
                <a:sym typeface="Trebuchet MS"/>
              </a:rPr>
              <a:t>y: </a:t>
            </a:r>
            <a:r>
              <a:rPr lang="en-US" sz="1800">
                <a:solidFill>
                  <a:srgbClr val="595959"/>
                </a:solidFill>
                <a:latin typeface="Arial"/>
                <a:ea typeface="Arial"/>
                <a:cs typeface="Arial"/>
                <a:sym typeface="Arial"/>
              </a:rPr>
              <a:t>dependent variable</a:t>
            </a:r>
            <a:endParaRPr sz="1800">
              <a:latin typeface="Arial"/>
              <a:ea typeface="Arial"/>
              <a:cs typeface="Arial"/>
              <a:sym typeface="Arial"/>
            </a:endParaRPr>
          </a:p>
        </p:txBody>
      </p:sp>
      <p:sp>
        <p:nvSpPr>
          <p:cNvPr id="480" name="Google Shape;480;p52"/>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4" name="Shape 484"/>
        <p:cNvGrpSpPr/>
        <p:nvPr/>
      </p:nvGrpSpPr>
      <p:grpSpPr>
        <a:xfrm>
          <a:off x="0" y="0"/>
          <a:ext cx="0" cy="0"/>
          <a:chOff x="0" y="0"/>
          <a:chExt cx="0" cy="0"/>
        </a:xfrm>
      </p:grpSpPr>
      <p:sp>
        <p:nvSpPr>
          <p:cNvPr descr="$PPTXTitle" id="485" name="Google Shape;485;p53"/>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Partial Derivative</a:t>
            </a:r>
            <a:endParaRPr/>
          </a:p>
        </p:txBody>
      </p:sp>
      <p:sp>
        <p:nvSpPr>
          <p:cNvPr id="486" name="Google Shape;486;p53"/>
          <p:cNvSpPr txBox="1"/>
          <p:nvPr/>
        </p:nvSpPr>
        <p:spPr>
          <a:xfrm>
            <a:off x="475248" y="1175208"/>
            <a:ext cx="3935100" cy="1602600"/>
          </a:xfrm>
          <a:prstGeom prst="rect">
            <a:avLst/>
          </a:prstGeom>
          <a:noFill/>
          <a:ln>
            <a:noFill/>
          </a:ln>
        </p:spPr>
        <p:txBody>
          <a:bodyPr anchorCtr="0" anchor="t" bIns="0" lIns="0" spcFirstLastPara="1" rIns="0" wrap="square" tIns="12700">
            <a:spAutoFit/>
          </a:bodyPr>
          <a:lstStyle/>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It measures the rate of change of a multivariable function</a:t>
            </a:r>
            <a:endParaRPr sz="1800">
              <a:latin typeface="Arial"/>
              <a:ea typeface="Arial"/>
              <a:cs typeface="Arial"/>
              <a:sym typeface="Arial"/>
            </a:endParaRPr>
          </a:p>
          <a:p>
            <a:pPr indent="-367030" lvl="0" marL="379095" marR="95250" rtl="0" algn="l">
              <a:lnSpc>
                <a:spcPct val="114999"/>
              </a:lnSpc>
              <a:spcBef>
                <a:spcPts val="0"/>
              </a:spcBef>
              <a:spcAft>
                <a:spcPts val="0"/>
              </a:spcAft>
              <a:buSzPts val="1800"/>
              <a:buFont typeface="Arial"/>
              <a:buChar char="●"/>
            </a:pPr>
            <a:r>
              <a:rPr lang="en-US" sz="1800">
                <a:latin typeface="Arial"/>
                <a:ea typeface="Arial"/>
                <a:cs typeface="Arial"/>
                <a:sym typeface="Arial"/>
              </a:rPr>
              <a:t>It is done with respect to one of its variables, while holding all other variables constant.</a:t>
            </a:r>
            <a:endParaRPr sz="1800">
              <a:latin typeface="Arial"/>
              <a:ea typeface="Arial"/>
              <a:cs typeface="Arial"/>
              <a:sym typeface="Arial"/>
            </a:endParaRPr>
          </a:p>
        </p:txBody>
      </p:sp>
      <p:pic>
        <p:nvPicPr>
          <p:cNvPr id="487" name="Google Shape;487;p53"/>
          <p:cNvPicPr preferRelativeResize="0"/>
          <p:nvPr/>
        </p:nvPicPr>
        <p:blipFill rotWithShape="1">
          <a:blip r:embed="rId3">
            <a:alphaModFix/>
          </a:blip>
          <a:srcRect b="0" l="0" r="0" t="0"/>
          <a:stretch/>
        </p:blipFill>
        <p:spPr>
          <a:xfrm>
            <a:off x="4920890" y="1322522"/>
            <a:ext cx="2743194" cy="2514594"/>
          </a:xfrm>
          <a:prstGeom prst="rect">
            <a:avLst/>
          </a:prstGeom>
          <a:noFill/>
          <a:ln>
            <a:noFill/>
          </a:ln>
        </p:spPr>
      </p:pic>
      <p:sp>
        <p:nvSpPr>
          <p:cNvPr id="488" name="Google Shape;488;p53"/>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2" name="Shape 492"/>
        <p:cNvGrpSpPr/>
        <p:nvPr/>
      </p:nvGrpSpPr>
      <p:grpSpPr>
        <a:xfrm>
          <a:off x="0" y="0"/>
          <a:ext cx="0" cy="0"/>
          <a:chOff x="0" y="0"/>
          <a:chExt cx="0" cy="0"/>
        </a:xfrm>
      </p:grpSpPr>
      <p:sp>
        <p:nvSpPr>
          <p:cNvPr descr="$PPTXTitle" id="493" name="Google Shape;493;p54"/>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Gradient</a:t>
            </a:r>
            <a:endParaRPr/>
          </a:p>
        </p:txBody>
      </p:sp>
      <p:sp>
        <p:nvSpPr>
          <p:cNvPr id="494" name="Google Shape;494;p54"/>
          <p:cNvSpPr txBox="1"/>
          <p:nvPr/>
        </p:nvSpPr>
        <p:spPr>
          <a:xfrm>
            <a:off x="475248" y="1216356"/>
            <a:ext cx="6536700" cy="299700"/>
          </a:xfrm>
          <a:prstGeom prst="rect">
            <a:avLst/>
          </a:prstGeom>
          <a:noFill/>
          <a:ln>
            <a:noFill/>
          </a:ln>
        </p:spPr>
        <p:txBody>
          <a:bodyPr anchorCtr="0" anchor="t" bIns="0" lIns="0" spcFirstLastPara="1" rIns="0" wrap="square" tIns="12700">
            <a:spAutoFit/>
          </a:bodyPr>
          <a:lstStyle/>
          <a:p>
            <a:pPr indent="-366395" lvl="0" marL="379095" rtl="0" algn="l">
              <a:lnSpc>
                <a:spcPct val="100000"/>
              </a:lnSpc>
              <a:spcBef>
                <a:spcPts val="0"/>
              </a:spcBef>
              <a:spcAft>
                <a:spcPts val="0"/>
              </a:spcAft>
              <a:buSzPts val="1800"/>
              <a:buFont typeface="Arial"/>
              <a:buChar char="●"/>
            </a:pPr>
            <a:r>
              <a:rPr lang="en-US" sz="1800">
                <a:latin typeface="Arial"/>
                <a:ea typeface="Arial"/>
                <a:cs typeface="Arial"/>
                <a:sym typeface="Arial"/>
              </a:rPr>
              <a:t>It is a vector with partial derivatives of a multivariate function.</a:t>
            </a:r>
            <a:endParaRPr sz="1800">
              <a:latin typeface="Arial"/>
              <a:ea typeface="Arial"/>
              <a:cs typeface="Arial"/>
              <a:sym typeface="Arial"/>
            </a:endParaRPr>
          </a:p>
        </p:txBody>
      </p:sp>
      <p:pic>
        <p:nvPicPr>
          <p:cNvPr id="495" name="Google Shape;495;p54"/>
          <p:cNvPicPr preferRelativeResize="0"/>
          <p:nvPr/>
        </p:nvPicPr>
        <p:blipFill rotWithShape="1">
          <a:blip r:embed="rId3">
            <a:alphaModFix/>
          </a:blip>
          <a:srcRect b="0" l="0" r="0" t="0"/>
          <a:stretch/>
        </p:blipFill>
        <p:spPr>
          <a:xfrm>
            <a:off x="3821967" y="2873044"/>
            <a:ext cx="2009746" cy="619123"/>
          </a:xfrm>
          <a:prstGeom prst="rect">
            <a:avLst/>
          </a:prstGeom>
          <a:noFill/>
          <a:ln>
            <a:noFill/>
          </a:ln>
        </p:spPr>
      </p:pic>
      <p:pic>
        <p:nvPicPr>
          <p:cNvPr id="496" name="Google Shape;496;p54"/>
          <p:cNvPicPr preferRelativeResize="0"/>
          <p:nvPr/>
        </p:nvPicPr>
        <p:blipFill rotWithShape="1">
          <a:blip r:embed="rId4">
            <a:alphaModFix/>
          </a:blip>
          <a:srcRect b="0" l="0" r="0" t="0"/>
          <a:stretch/>
        </p:blipFill>
        <p:spPr>
          <a:xfrm>
            <a:off x="4814165" y="2142320"/>
            <a:ext cx="1036622" cy="470224"/>
          </a:xfrm>
          <a:prstGeom prst="rect">
            <a:avLst/>
          </a:prstGeom>
          <a:noFill/>
          <a:ln>
            <a:noFill/>
          </a:ln>
        </p:spPr>
      </p:pic>
      <p:sp>
        <p:nvSpPr>
          <p:cNvPr id="497" name="Google Shape;497;p54"/>
          <p:cNvSpPr txBox="1"/>
          <p:nvPr/>
        </p:nvSpPr>
        <p:spPr>
          <a:xfrm>
            <a:off x="1081796" y="2206201"/>
            <a:ext cx="3566100" cy="1213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Arial"/>
                <a:ea typeface="Arial"/>
                <a:cs typeface="Arial"/>
                <a:sym typeface="Arial"/>
              </a:rPr>
              <a:t>For a function of two variables, i.e.,</a:t>
            </a:r>
            <a:endParaRPr sz="1800">
              <a:latin typeface="Arial"/>
              <a:ea typeface="Arial"/>
              <a:cs typeface="Arial"/>
              <a:sym typeface="Arial"/>
            </a:endParaRPr>
          </a:p>
          <a:p>
            <a:pPr indent="0" lvl="0" marL="0" rtl="0" algn="l">
              <a:lnSpc>
                <a:spcPct val="100000"/>
              </a:lnSpc>
              <a:spcBef>
                <a:spcPts val="0"/>
              </a:spcBef>
              <a:spcAft>
                <a:spcPts val="0"/>
              </a:spcAft>
              <a:buNone/>
            </a:pPr>
            <a:r>
              <a:t/>
            </a:r>
            <a:endParaRPr sz="1800">
              <a:latin typeface="Arial"/>
              <a:ea typeface="Arial"/>
              <a:cs typeface="Arial"/>
              <a:sym typeface="Arial"/>
            </a:endParaRPr>
          </a:p>
          <a:p>
            <a:pPr indent="0" lvl="0" marL="0" rtl="0" algn="l">
              <a:lnSpc>
                <a:spcPct val="100000"/>
              </a:lnSpc>
              <a:spcBef>
                <a:spcPts val="890"/>
              </a:spcBef>
              <a:spcAft>
                <a:spcPts val="0"/>
              </a:spcAft>
              <a:buNone/>
            </a:pPr>
            <a:r>
              <a:t/>
            </a:r>
            <a:endParaRPr sz="1800">
              <a:latin typeface="Arial"/>
              <a:ea typeface="Arial"/>
              <a:cs typeface="Arial"/>
              <a:sym typeface="Arial"/>
            </a:endParaRPr>
          </a:p>
          <a:p>
            <a:pPr indent="0" lvl="0" marL="462280" rtl="0" algn="ctr">
              <a:lnSpc>
                <a:spcPct val="100000"/>
              </a:lnSpc>
              <a:spcBef>
                <a:spcPts val="0"/>
              </a:spcBef>
              <a:spcAft>
                <a:spcPts val="0"/>
              </a:spcAft>
              <a:buNone/>
            </a:pPr>
            <a:r>
              <a:rPr lang="en-US" sz="1800">
                <a:solidFill>
                  <a:srgbClr val="595959"/>
                </a:solidFill>
                <a:latin typeface="Arial"/>
                <a:ea typeface="Arial"/>
                <a:cs typeface="Arial"/>
                <a:sym typeface="Arial"/>
              </a:rPr>
              <a:t>Gradient:</a:t>
            </a:r>
            <a:endParaRPr sz="1800">
              <a:latin typeface="Arial"/>
              <a:ea typeface="Arial"/>
              <a:cs typeface="Arial"/>
              <a:sym typeface="Arial"/>
            </a:endParaRPr>
          </a:p>
        </p:txBody>
      </p:sp>
      <p:sp>
        <p:nvSpPr>
          <p:cNvPr id="498" name="Google Shape;498;p54"/>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2" name="Shape 502"/>
        <p:cNvGrpSpPr/>
        <p:nvPr/>
      </p:nvGrpSpPr>
      <p:grpSpPr>
        <a:xfrm>
          <a:off x="0" y="0"/>
          <a:ext cx="0" cy="0"/>
          <a:chOff x="0" y="0"/>
          <a:chExt cx="0" cy="0"/>
        </a:xfrm>
      </p:grpSpPr>
      <p:sp>
        <p:nvSpPr>
          <p:cNvPr descr="$PPTXTitle" id="503" name="Google Shape;503;p55"/>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Chain Rule</a:t>
            </a:r>
            <a:endParaRPr/>
          </a:p>
        </p:txBody>
      </p:sp>
      <p:sp>
        <p:nvSpPr>
          <p:cNvPr id="504" name="Google Shape;504;p55"/>
          <p:cNvSpPr txBox="1"/>
          <p:nvPr/>
        </p:nvSpPr>
        <p:spPr>
          <a:xfrm>
            <a:off x="475248" y="1175208"/>
            <a:ext cx="4696500" cy="656700"/>
          </a:xfrm>
          <a:prstGeom prst="rect">
            <a:avLst/>
          </a:prstGeom>
          <a:noFill/>
          <a:ln>
            <a:noFill/>
          </a:ln>
        </p:spPr>
        <p:txBody>
          <a:bodyPr anchorCtr="0" anchor="t" bIns="0" lIns="0" spcFirstLastPara="1" rIns="0" wrap="square" tIns="12700">
            <a:spAutoFit/>
          </a:bodyPr>
          <a:lstStyle/>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It is a formula for finding the derivative of a composite function.</a:t>
            </a:r>
            <a:endParaRPr sz="1800">
              <a:latin typeface="Arial"/>
              <a:ea typeface="Arial"/>
              <a:cs typeface="Arial"/>
              <a:sym typeface="Arial"/>
            </a:endParaRPr>
          </a:p>
        </p:txBody>
      </p:sp>
      <p:pic>
        <p:nvPicPr>
          <p:cNvPr id="505" name="Google Shape;505;p55"/>
          <p:cNvPicPr preferRelativeResize="0"/>
          <p:nvPr/>
        </p:nvPicPr>
        <p:blipFill rotWithShape="1">
          <a:blip r:embed="rId3">
            <a:alphaModFix/>
          </a:blip>
          <a:srcRect b="0" l="0" r="0" t="0"/>
          <a:stretch/>
        </p:blipFill>
        <p:spPr>
          <a:xfrm>
            <a:off x="5545363" y="1152472"/>
            <a:ext cx="3255268" cy="3446218"/>
          </a:xfrm>
          <a:prstGeom prst="rect">
            <a:avLst/>
          </a:prstGeom>
          <a:noFill/>
          <a:ln>
            <a:noFill/>
          </a:ln>
        </p:spPr>
      </p:pic>
      <p:sp>
        <p:nvSpPr>
          <p:cNvPr id="506" name="Google Shape;506;p55"/>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0" name="Shape 510"/>
        <p:cNvGrpSpPr/>
        <p:nvPr/>
      </p:nvGrpSpPr>
      <p:grpSpPr>
        <a:xfrm>
          <a:off x="0" y="0"/>
          <a:ext cx="0" cy="0"/>
          <a:chOff x="0" y="0"/>
          <a:chExt cx="0" cy="0"/>
        </a:xfrm>
      </p:grpSpPr>
      <p:sp>
        <p:nvSpPr>
          <p:cNvPr descr="$PPTXTitle" id="511" name="Google Shape;511;p56"/>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Backpropagation Algorithm</a:t>
            </a:r>
            <a:endParaRPr/>
          </a:p>
        </p:txBody>
      </p:sp>
      <p:sp>
        <p:nvSpPr>
          <p:cNvPr id="512" name="Google Shape;512;p56"/>
          <p:cNvSpPr txBox="1"/>
          <p:nvPr/>
        </p:nvSpPr>
        <p:spPr>
          <a:xfrm>
            <a:off x="475248" y="1175208"/>
            <a:ext cx="8104500" cy="1918200"/>
          </a:xfrm>
          <a:prstGeom prst="rect">
            <a:avLst/>
          </a:prstGeom>
          <a:noFill/>
          <a:ln>
            <a:noFill/>
          </a:ln>
        </p:spPr>
        <p:txBody>
          <a:bodyPr anchorCtr="0" anchor="t" bIns="0" lIns="0" spcFirstLastPara="1" rIns="0" wrap="square" tIns="12700">
            <a:spAutoFit/>
          </a:bodyPr>
          <a:lstStyle/>
          <a:p>
            <a:pPr indent="-367030" lvl="0" marL="379095" marR="535305" rtl="0" algn="l">
              <a:lnSpc>
                <a:spcPct val="114999"/>
              </a:lnSpc>
              <a:spcBef>
                <a:spcPts val="0"/>
              </a:spcBef>
              <a:spcAft>
                <a:spcPts val="0"/>
              </a:spcAft>
              <a:buClr>
                <a:srgbClr val="595959"/>
              </a:buClr>
              <a:buSzPts val="1800"/>
              <a:buFont typeface="Arial"/>
              <a:buChar char="●"/>
            </a:pPr>
            <a:r>
              <a:rPr lang="en-US" sz="1800">
                <a:solidFill>
                  <a:srgbClr val="595959"/>
                </a:solidFill>
                <a:latin typeface="Arial"/>
                <a:ea typeface="Arial"/>
                <a:cs typeface="Arial"/>
                <a:sym typeface="Arial"/>
              </a:rPr>
              <a:t>It is used for efficient weight adjustments to minimize the error between predicted and actual outputs.</a:t>
            </a:r>
            <a:endParaRPr sz="1800">
              <a:latin typeface="Arial"/>
              <a:ea typeface="Arial"/>
              <a:cs typeface="Arial"/>
              <a:sym typeface="Arial"/>
            </a:endParaRPr>
          </a:p>
          <a:p>
            <a:pPr indent="-366395" lvl="0" marL="379095" rtl="0" algn="l">
              <a:lnSpc>
                <a:spcPct val="100000"/>
              </a:lnSpc>
              <a:spcBef>
                <a:spcPts val="320"/>
              </a:spcBef>
              <a:spcAft>
                <a:spcPts val="0"/>
              </a:spcAft>
              <a:buClr>
                <a:srgbClr val="595959"/>
              </a:buClr>
              <a:buSzPts val="1800"/>
              <a:buFont typeface="Arial"/>
              <a:buChar char="●"/>
            </a:pPr>
            <a:r>
              <a:rPr lang="en-US" sz="1800">
                <a:solidFill>
                  <a:srgbClr val="595959"/>
                </a:solidFill>
                <a:latin typeface="Arial"/>
                <a:ea typeface="Arial"/>
                <a:cs typeface="Arial"/>
                <a:sym typeface="Arial"/>
              </a:rPr>
              <a:t>It works by:</a:t>
            </a:r>
            <a:endParaRPr sz="1800">
              <a:latin typeface="Arial"/>
              <a:ea typeface="Arial"/>
              <a:cs typeface="Arial"/>
              <a:sym typeface="Arial"/>
            </a:endParaRPr>
          </a:p>
          <a:p>
            <a:pPr indent="-367030" lvl="1" marL="836294" marR="5080" rtl="0" algn="l">
              <a:lnSpc>
                <a:spcPct val="114999"/>
              </a:lnSpc>
              <a:spcBef>
                <a:spcPts val="0"/>
              </a:spcBef>
              <a:spcAft>
                <a:spcPts val="0"/>
              </a:spcAft>
              <a:buClr>
                <a:srgbClr val="595959"/>
              </a:buClr>
              <a:buSzPts val="1800"/>
              <a:buFont typeface="Arial"/>
              <a:buChar char="○"/>
            </a:pPr>
            <a:r>
              <a:rPr lang="en-US" sz="1800">
                <a:solidFill>
                  <a:srgbClr val="595959"/>
                </a:solidFill>
                <a:latin typeface="Arial"/>
                <a:ea typeface="Arial"/>
                <a:cs typeface="Arial"/>
                <a:sym typeface="Arial"/>
              </a:rPr>
              <a:t>calculating the gradient of the loss function with respect to the network's weights.</a:t>
            </a:r>
            <a:endParaRPr sz="1800">
              <a:latin typeface="Arial"/>
              <a:ea typeface="Arial"/>
              <a:cs typeface="Arial"/>
              <a:sym typeface="Arial"/>
            </a:endParaRPr>
          </a:p>
          <a:p>
            <a:pPr indent="-367030" lvl="1" marL="836294" rtl="0" algn="l">
              <a:lnSpc>
                <a:spcPct val="100000"/>
              </a:lnSpc>
              <a:spcBef>
                <a:spcPts val="325"/>
              </a:spcBef>
              <a:spcAft>
                <a:spcPts val="0"/>
              </a:spcAft>
              <a:buClr>
                <a:srgbClr val="595959"/>
              </a:buClr>
              <a:buSzPts val="1800"/>
              <a:buFont typeface="Arial"/>
              <a:buChar char="○"/>
            </a:pPr>
            <a:r>
              <a:rPr lang="en-US" sz="1800">
                <a:solidFill>
                  <a:srgbClr val="595959"/>
                </a:solidFill>
                <a:latin typeface="Arial"/>
                <a:ea typeface="Arial"/>
                <a:cs typeface="Arial"/>
                <a:sym typeface="Arial"/>
              </a:rPr>
              <a:t>Propagating error information backward through the network layers</a:t>
            </a:r>
            <a:endParaRPr sz="1800">
              <a:latin typeface="Arial"/>
              <a:ea typeface="Arial"/>
              <a:cs typeface="Arial"/>
              <a:sym typeface="Arial"/>
            </a:endParaRPr>
          </a:p>
        </p:txBody>
      </p:sp>
      <p:sp>
        <p:nvSpPr>
          <p:cNvPr id="513" name="Google Shape;513;p56"/>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7" name="Shape 517"/>
        <p:cNvGrpSpPr/>
        <p:nvPr/>
      </p:nvGrpSpPr>
      <p:grpSpPr>
        <a:xfrm>
          <a:off x="0" y="0"/>
          <a:ext cx="0" cy="0"/>
          <a:chOff x="0" y="0"/>
          <a:chExt cx="0" cy="0"/>
        </a:xfrm>
      </p:grpSpPr>
      <p:sp>
        <p:nvSpPr>
          <p:cNvPr descr="$PPTXTitle" id="518" name="Google Shape;518;p57"/>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A Simple Reference Neural Network</a:t>
            </a:r>
            <a:endParaRPr/>
          </a:p>
        </p:txBody>
      </p:sp>
      <p:sp>
        <p:nvSpPr>
          <p:cNvPr id="519" name="Google Shape;519;p57"/>
          <p:cNvSpPr txBox="1"/>
          <p:nvPr/>
        </p:nvSpPr>
        <p:spPr>
          <a:xfrm>
            <a:off x="475248" y="1166825"/>
            <a:ext cx="3410100" cy="1497900"/>
          </a:xfrm>
          <a:prstGeom prst="rect">
            <a:avLst/>
          </a:prstGeom>
          <a:noFill/>
          <a:ln>
            <a:noFill/>
          </a:ln>
        </p:spPr>
        <p:txBody>
          <a:bodyPr anchorCtr="0" anchor="t" bIns="0" lIns="0" spcFirstLastPara="1" rIns="0" wrap="square" tIns="60325">
            <a:spAutoFit/>
          </a:bodyPr>
          <a:lstStyle/>
          <a:p>
            <a:pPr indent="-366394" lvl="0" marL="379095" rtl="0" algn="l">
              <a:lnSpc>
                <a:spcPct val="100000"/>
              </a:lnSpc>
              <a:spcBef>
                <a:spcPts val="0"/>
              </a:spcBef>
              <a:spcAft>
                <a:spcPts val="0"/>
              </a:spcAft>
              <a:buClr>
                <a:srgbClr val="595959"/>
              </a:buClr>
              <a:buSzPts val="1800"/>
              <a:buFont typeface="Arial"/>
              <a:buChar char="●"/>
            </a:pPr>
            <a:r>
              <a:rPr i="1" lang="en-US" sz="2100">
                <a:solidFill>
                  <a:srgbClr val="595959"/>
                </a:solidFill>
                <a:latin typeface="Trebuchet MS"/>
                <a:ea typeface="Trebuchet MS"/>
                <a:cs typeface="Trebuchet MS"/>
                <a:sym typeface="Trebuchet MS"/>
              </a:rPr>
              <a:t>n</a:t>
            </a:r>
            <a:r>
              <a:rPr lang="en-US" sz="1800">
                <a:solidFill>
                  <a:srgbClr val="595959"/>
                </a:solidFill>
                <a:latin typeface="Arial"/>
                <a:ea typeface="Arial"/>
                <a:cs typeface="Arial"/>
                <a:sym typeface="Arial"/>
              </a:rPr>
              <a:t>: number of neurons</a:t>
            </a:r>
            <a:endParaRPr sz="1800">
              <a:latin typeface="Arial"/>
              <a:ea typeface="Arial"/>
              <a:cs typeface="Arial"/>
              <a:sym typeface="Arial"/>
            </a:endParaRPr>
          </a:p>
          <a:p>
            <a:pPr indent="-366394" lvl="0" marL="379095" rtl="0" algn="l">
              <a:lnSpc>
                <a:spcPct val="100000"/>
              </a:lnSpc>
              <a:spcBef>
                <a:spcPts val="380"/>
              </a:spcBef>
              <a:spcAft>
                <a:spcPts val="0"/>
              </a:spcAft>
              <a:buClr>
                <a:srgbClr val="595959"/>
              </a:buClr>
              <a:buSzPts val="1800"/>
              <a:buFont typeface="Arial"/>
              <a:buChar char="●"/>
            </a:pPr>
            <a:r>
              <a:rPr i="1" lang="en-US" sz="2100">
                <a:solidFill>
                  <a:srgbClr val="595959"/>
                </a:solidFill>
                <a:latin typeface="Trebuchet MS"/>
                <a:ea typeface="Trebuchet MS"/>
                <a:cs typeface="Trebuchet MS"/>
                <a:sym typeface="Trebuchet MS"/>
              </a:rPr>
              <a:t>a</a:t>
            </a:r>
            <a:r>
              <a:rPr lang="en-US" sz="1800">
                <a:solidFill>
                  <a:srgbClr val="595959"/>
                </a:solidFill>
                <a:latin typeface="Arial"/>
                <a:ea typeface="Arial"/>
                <a:cs typeface="Arial"/>
                <a:sym typeface="Arial"/>
              </a:rPr>
              <a:t>: vector of activation function</a:t>
            </a:r>
            <a:endParaRPr sz="1800">
              <a:latin typeface="Arial"/>
              <a:ea typeface="Arial"/>
              <a:cs typeface="Arial"/>
              <a:sym typeface="Arial"/>
            </a:endParaRPr>
          </a:p>
          <a:p>
            <a:pPr indent="-366394" lvl="0" marL="379095" rtl="0" algn="l">
              <a:lnSpc>
                <a:spcPct val="100000"/>
              </a:lnSpc>
              <a:spcBef>
                <a:spcPts val="375"/>
              </a:spcBef>
              <a:spcAft>
                <a:spcPts val="0"/>
              </a:spcAft>
              <a:buClr>
                <a:srgbClr val="595959"/>
              </a:buClr>
              <a:buSzPts val="1800"/>
              <a:buFont typeface="Arial"/>
              <a:buChar char="●"/>
            </a:pPr>
            <a:r>
              <a:rPr i="1" lang="en-US" sz="2100">
                <a:solidFill>
                  <a:srgbClr val="595959"/>
                </a:solidFill>
                <a:latin typeface="Trebuchet MS"/>
                <a:ea typeface="Trebuchet MS"/>
                <a:cs typeface="Trebuchet MS"/>
                <a:sym typeface="Trebuchet MS"/>
              </a:rPr>
              <a:t>w</a:t>
            </a:r>
            <a:r>
              <a:rPr lang="en-US" sz="1800">
                <a:solidFill>
                  <a:srgbClr val="595959"/>
                </a:solidFill>
                <a:latin typeface="Arial"/>
                <a:ea typeface="Arial"/>
                <a:cs typeface="Arial"/>
                <a:sym typeface="Arial"/>
              </a:rPr>
              <a:t>: matrix of weights</a:t>
            </a:r>
            <a:endParaRPr sz="1800">
              <a:latin typeface="Arial"/>
              <a:ea typeface="Arial"/>
              <a:cs typeface="Arial"/>
              <a:sym typeface="Arial"/>
            </a:endParaRPr>
          </a:p>
          <a:p>
            <a:pPr indent="-366394" lvl="0" marL="379095" rtl="0" algn="l">
              <a:lnSpc>
                <a:spcPct val="100000"/>
              </a:lnSpc>
              <a:spcBef>
                <a:spcPts val="380"/>
              </a:spcBef>
              <a:spcAft>
                <a:spcPts val="0"/>
              </a:spcAft>
              <a:buClr>
                <a:srgbClr val="595959"/>
              </a:buClr>
              <a:buSzPts val="1800"/>
              <a:buFont typeface="Arial"/>
              <a:buChar char="●"/>
            </a:pPr>
            <a:r>
              <a:rPr i="1" lang="en-US" sz="2100">
                <a:solidFill>
                  <a:srgbClr val="595959"/>
                </a:solidFill>
                <a:latin typeface="Trebuchet MS"/>
                <a:ea typeface="Trebuchet MS"/>
                <a:cs typeface="Trebuchet MS"/>
                <a:sym typeface="Trebuchet MS"/>
              </a:rPr>
              <a:t>b</a:t>
            </a:r>
            <a:r>
              <a:rPr lang="en-US" sz="1800">
                <a:solidFill>
                  <a:srgbClr val="595959"/>
                </a:solidFill>
                <a:latin typeface="Arial"/>
                <a:ea typeface="Arial"/>
                <a:cs typeface="Arial"/>
                <a:sym typeface="Arial"/>
              </a:rPr>
              <a:t>: vector of biases</a:t>
            </a:r>
            <a:endParaRPr sz="1800">
              <a:latin typeface="Arial"/>
              <a:ea typeface="Arial"/>
              <a:cs typeface="Arial"/>
              <a:sym typeface="Arial"/>
            </a:endParaRPr>
          </a:p>
        </p:txBody>
      </p:sp>
      <p:pic>
        <p:nvPicPr>
          <p:cNvPr id="520" name="Google Shape;520;p57"/>
          <p:cNvPicPr preferRelativeResize="0"/>
          <p:nvPr/>
        </p:nvPicPr>
        <p:blipFill rotWithShape="1">
          <a:blip r:embed="rId3">
            <a:alphaModFix/>
          </a:blip>
          <a:srcRect b="0" l="0" r="0" t="0"/>
          <a:stretch/>
        </p:blipFill>
        <p:spPr>
          <a:xfrm>
            <a:off x="5424449" y="1225739"/>
            <a:ext cx="2875688" cy="2756654"/>
          </a:xfrm>
          <a:prstGeom prst="rect">
            <a:avLst/>
          </a:prstGeom>
          <a:noFill/>
          <a:ln>
            <a:noFill/>
          </a:ln>
        </p:spPr>
      </p:pic>
      <p:sp>
        <p:nvSpPr>
          <p:cNvPr id="521" name="Google Shape;521;p57"/>
          <p:cNvSpPr txBox="1"/>
          <p:nvPr/>
        </p:nvSpPr>
        <p:spPr>
          <a:xfrm>
            <a:off x="5438141" y="3763993"/>
            <a:ext cx="502200" cy="4827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500">
                <a:solidFill>
                  <a:srgbClr val="595959"/>
                </a:solidFill>
                <a:latin typeface="Arial"/>
                <a:ea typeface="Arial"/>
                <a:cs typeface="Arial"/>
                <a:sym typeface="Arial"/>
              </a:rPr>
              <a:t>Input Layer</a:t>
            </a:r>
            <a:endParaRPr sz="1500">
              <a:latin typeface="Arial"/>
              <a:ea typeface="Arial"/>
              <a:cs typeface="Arial"/>
              <a:sym typeface="Arial"/>
            </a:endParaRPr>
          </a:p>
        </p:txBody>
      </p:sp>
      <p:sp>
        <p:nvSpPr>
          <p:cNvPr id="522" name="Google Shape;522;p57"/>
          <p:cNvSpPr txBox="1"/>
          <p:nvPr/>
        </p:nvSpPr>
        <p:spPr>
          <a:xfrm>
            <a:off x="6419738" y="4096672"/>
            <a:ext cx="1253400" cy="254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500">
                <a:solidFill>
                  <a:srgbClr val="595959"/>
                </a:solidFill>
                <a:latin typeface="Arial"/>
                <a:ea typeface="Arial"/>
                <a:cs typeface="Arial"/>
                <a:sym typeface="Arial"/>
              </a:rPr>
              <a:t>Hidden Layers</a:t>
            </a:r>
            <a:endParaRPr sz="1500">
              <a:latin typeface="Arial"/>
              <a:ea typeface="Arial"/>
              <a:cs typeface="Arial"/>
              <a:sym typeface="Arial"/>
            </a:endParaRPr>
          </a:p>
        </p:txBody>
      </p:sp>
      <p:sp>
        <p:nvSpPr>
          <p:cNvPr id="523" name="Google Shape;523;p57"/>
          <p:cNvSpPr txBox="1"/>
          <p:nvPr/>
        </p:nvSpPr>
        <p:spPr>
          <a:xfrm>
            <a:off x="7933963" y="3387594"/>
            <a:ext cx="597000" cy="4827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500">
                <a:solidFill>
                  <a:srgbClr val="595959"/>
                </a:solidFill>
                <a:latin typeface="Arial"/>
                <a:ea typeface="Arial"/>
                <a:cs typeface="Arial"/>
                <a:sym typeface="Arial"/>
              </a:rPr>
              <a:t>Output Layer</a:t>
            </a:r>
            <a:endParaRPr sz="1500">
              <a:latin typeface="Arial"/>
              <a:ea typeface="Arial"/>
              <a:cs typeface="Arial"/>
              <a:sym typeface="Arial"/>
            </a:endParaRPr>
          </a:p>
        </p:txBody>
      </p:sp>
      <p:sp>
        <p:nvSpPr>
          <p:cNvPr id="524" name="Google Shape;524;p57"/>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28" name="Shape 528"/>
        <p:cNvGrpSpPr/>
        <p:nvPr/>
      </p:nvGrpSpPr>
      <p:grpSpPr>
        <a:xfrm>
          <a:off x="0" y="0"/>
          <a:ext cx="0" cy="0"/>
          <a:chOff x="0" y="0"/>
          <a:chExt cx="0" cy="0"/>
        </a:xfrm>
      </p:grpSpPr>
      <p:sp>
        <p:nvSpPr>
          <p:cNvPr descr="$PPTXTitle" id="529" name="Google Shape;529;p58"/>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Formulas</a:t>
            </a:r>
            <a:endParaRPr/>
          </a:p>
        </p:txBody>
      </p:sp>
      <p:sp>
        <p:nvSpPr>
          <p:cNvPr id="530" name="Google Shape;530;p58"/>
          <p:cNvSpPr txBox="1"/>
          <p:nvPr/>
        </p:nvSpPr>
        <p:spPr>
          <a:xfrm>
            <a:off x="415150" y="1204350"/>
            <a:ext cx="4700700" cy="2558100"/>
          </a:xfrm>
          <a:prstGeom prst="rect">
            <a:avLst/>
          </a:prstGeom>
          <a:noFill/>
          <a:ln>
            <a:noFill/>
          </a:ln>
        </p:spPr>
        <p:txBody>
          <a:bodyPr anchorCtr="0" anchor="t" bIns="0" lIns="0" spcFirstLastPara="1" rIns="0" wrap="square" tIns="12700">
            <a:spAutoFit/>
          </a:bodyPr>
          <a:lstStyle/>
          <a:p>
            <a:pPr indent="-366395" lvl="0" marL="379095" rtl="0" algn="l">
              <a:lnSpc>
                <a:spcPct val="100000"/>
              </a:lnSpc>
              <a:spcBef>
                <a:spcPts val="0"/>
              </a:spcBef>
              <a:spcAft>
                <a:spcPts val="0"/>
              </a:spcAft>
              <a:buSzPts val="1800"/>
              <a:buFont typeface="Arial"/>
              <a:buChar char="●"/>
            </a:pPr>
            <a:r>
              <a:rPr lang="en-US" sz="1800">
                <a:latin typeface="Arial"/>
                <a:ea typeface="Arial"/>
                <a:cs typeface="Arial"/>
                <a:sym typeface="Arial"/>
              </a:rPr>
              <a:t>Weighted input to the neurons in layer </a:t>
            </a:r>
            <a:r>
              <a:rPr i="1" lang="en-US" sz="1800">
                <a:latin typeface="Trebuchet MS"/>
                <a:ea typeface="Trebuchet MS"/>
                <a:cs typeface="Trebuchet MS"/>
                <a:sym typeface="Trebuchet MS"/>
              </a:rPr>
              <a:t>l,</a:t>
            </a:r>
            <a:endParaRPr sz="1800">
              <a:latin typeface="Trebuchet MS"/>
              <a:ea typeface="Trebuchet MS"/>
              <a:cs typeface="Trebuchet MS"/>
              <a:sym typeface="Trebuchet MS"/>
            </a:endParaRPr>
          </a:p>
          <a:p>
            <a:pPr indent="0" lvl="0" marL="0" rtl="0" algn="l">
              <a:lnSpc>
                <a:spcPct val="100000"/>
              </a:lnSpc>
              <a:spcBef>
                <a:spcPts val="0"/>
              </a:spcBef>
              <a:spcAft>
                <a:spcPts val="0"/>
              </a:spcAft>
              <a:buSzPts val="1800"/>
              <a:buFont typeface="Arial"/>
              <a:buNone/>
            </a:pPr>
            <a:r>
              <a:t/>
            </a:r>
            <a:endParaRPr sz="1800">
              <a:latin typeface="Trebuchet MS"/>
              <a:ea typeface="Trebuchet MS"/>
              <a:cs typeface="Trebuchet MS"/>
              <a:sym typeface="Trebuchet MS"/>
            </a:endParaRPr>
          </a:p>
          <a:p>
            <a:pPr indent="0" lvl="0" marL="0" rtl="0" algn="l">
              <a:lnSpc>
                <a:spcPct val="100000"/>
              </a:lnSpc>
              <a:spcBef>
                <a:spcPts val="1025"/>
              </a:spcBef>
              <a:spcAft>
                <a:spcPts val="0"/>
              </a:spcAft>
              <a:buSzPts val="1800"/>
              <a:buFont typeface="Arial"/>
              <a:buNone/>
            </a:pPr>
            <a:r>
              <a:t/>
            </a:r>
            <a:endParaRPr sz="1800">
              <a:latin typeface="Trebuchet MS"/>
              <a:ea typeface="Trebuchet MS"/>
              <a:cs typeface="Trebuchet MS"/>
              <a:sym typeface="Trebuchet MS"/>
            </a:endParaRPr>
          </a:p>
          <a:p>
            <a:pPr indent="-366395" lvl="0" marL="379095" rtl="0" algn="l">
              <a:lnSpc>
                <a:spcPct val="100000"/>
              </a:lnSpc>
              <a:spcBef>
                <a:spcPts val="0"/>
              </a:spcBef>
              <a:spcAft>
                <a:spcPts val="0"/>
              </a:spcAft>
              <a:buClr>
                <a:srgbClr val="595959"/>
              </a:buClr>
              <a:buSzPts val="1800"/>
              <a:buFont typeface="Arial"/>
              <a:buChar char="●"/>
            </a:pPr>
            <a:r>
              <a:rPr lang="en-US" sz="1800">
                <a:solidFill>
                  <a:srgbClr val="595959"/>
                </a:solidFill>
                <a:latin typeface="Arial"/>
                <a:ea typeface="Arial"/>
                <a:cs typeface="Arial"/>
                <a:sym typeface="Arial"/>
              </a:rPr>
              <a:t>Activation of layer </a:t>
            </a:r>
            <a:r>
              <a:rPr i="1" lang="en-US" sz="1800">
                <a:latin typeface="Trebuchet MS"/>
                <a:ea typeface="Trebuchet MS"/>
                <a:cs typeface="Trebuchet MS"/>
                <a:sym typeface="Trebuchet MS"/>
              </a:rPr>
              <a:t>l,</a:t>
            </a:r>
            <a:endParaRPr sz="1800">
              <a:latin typeface="Trebuchet MS"/>
              <a:ea typeface="Trebuchet MS"/>
              <a:cs typeface="Trebuchet MS"/>
              <a:sym typeface="Trebuchet MS"/>
            </a:endParaRPr>
          </a:p>
          <a:p>
            <a:pPr indent="0" lvl="0" marL="0" rtl="0" algn="l">
              <a:lnSpc>
                <a:spcPct val="100000"/>
              </a:lnSpc>
              <a:spcBef>
                <a:spcPts val="1465"/>
              </a:spcBef>
              <a:spcAft>
                <a:spcPts val="0"/>
              </a:spcAft>
              <a:buSzPts val="1800"/>
              <a:buFont typeface="Arial"/>
              <a:buNone/>
            </a:pPr>
            <a:r>
              <a:t/>
            </a:r>
            <a:endParaRPr sz="1800">
              <a:latin typeface="Trebuchet MS"/>
              <a:ea typeface="Trebuchet MS"/>
              <a:cs typeface="Trebuchet MS"/>
              <a:sym typeface="Trebuchet MS"/>
            </a:endParaRPr>
          </a:p>
          <a:p>
            <a:pPr indent="-367030" lvl="0" marL="379095" marR="5080" rtl="0" algn="l">
              <a:lnSpc>
                <a:spcPct val="159200"/>
              </a:lnSpc>
              <a:spcBef>
                <a:spcPts val="0"/>
              </a:spcBef>
              <a:spcAft>
                <a:spcPts val="0"/>
              </a:spcAft>
              <a:buClr>
                <a:srgbClr val="595959"/>
              </a:buClr>
              <a:buSzPts val="1800"/>
              <a:buFont typeface="Arial"/>
              <a:buChar char="●"/>
            </a:pPr>
            <a:r>
              <a:rPr lang="en-US" sz="1800">
                <a:solidFill>
                  <a:srgbClr val="595959"/>
                </a:solidFill>
                <a:latin typeface="Arial"/>
                <a:ea typeface="Arial"/>
                <a:cs typeface="Arial"/>
                <a:sym typeface="Arial"/>
              </a:rPr>
              <a:t>Say, one neuron’s output </a:t>
            </a:r>
            <a:r>
              <a:rPr i="1" lang="en-US" sz="2300">
                <a:solidFill>
                  <a:srgbClr val="595959"/>
                </a:solidFill>
                <a:latin typeface="Trebuchet MS"/>
                <a:ea typeface="Trebuchet MS"/>
                <a:cs typeface="Trebuchet MS"/>
                <a:sym typeface="Trebuchet MS"/>
              </a:rPr>
              <a:t>y </a:t>
            </a:r>
            <a:r>
              <a:rPr lang="en-US" sz="1800">
                <a:solidFill>
                  <a:srgbClr val="595959"/>
                </a:solidFill>
                <a:latin typeface="Arial"/>
                <a:ea typeface="Arial"/>
                <a:cs typeface="Arial"/>
                <a:sym typeface="Arial"/>
              </a:rPr>
              <a:t>can be 0 or 1. Then cross-entropy cost function is:</a:t>
            </a:r>
            <a:endParaRPr sz="1800">
              <a:latin typeface="Arial"/>
              <a:ea typeface="Arial"/>
              <a:cs typeface="Arial"/>
              <a:sym typeface="Arial"/>
            </a:endParaRPr>
          </a:p>
        </p:txBody>
      </p:sp>
      <p:pic>
        <p:nvPicPr>
          <p:cNvPr id="531" name="Google Shape;531;p58"/>
          <p:cNvPicPr preferRelativeResize="0"/>
          <p:nvPr/>
        </p:nvPicPr>
        <p:blipFill rotWithShape="1">
          <a:blip r:embed="rId3">
            <a:alphaModFix/>
          </a:blip>
          <a:srcRect b="0" l="0" r="0" t="0"/>
          <a:stretch/>
        </p:blipFill>
        <p:spPr>
          <a:xfrm>
            <a:off x="4584446" y="4220642"/>
            <a:ext cx="3949780" cy="269824"/>
          </a:xfrm>
          <a:prstGeom prst="rect">
            <a:avLst/>
          </a:prstGeom>
          <a:noFill/>
          <a:ln>
            <a:noFill/>
          </a:ln>
        </p:spPr>
      </p:pic>
      <p:pic>
        <p:nvPicPr>
          <p:cNvPr id="532" name="Google Shape;532;p58"/>
          <p:cNvPicPr preferRelativeResize="0"/>
          <p:nvPr/>
        </p:nvPicPr>
        <p:blipFill rotWithShape="1">
          <a:blip r:embed="rId4">
            <a:alphaModFix/>
          </a:blip>
          <a:srcRect b="0" l="0" r="0" t="0"/>
          <a:stretch/>
        </p:blipFill>
        <p:spPr>
          <a:xfrm>
            <a:off x="5020773" y="1138297"/>
            <a:ext cx="2671827" cy="301399"/>
          </a:xfrm>
          <a:prstGeom prst="rect">
            <a:avLst/>
          </a:prstGeom>
          <a:noFill/>
          <a:ln>
            <a:noFill/>
          </a:ln>
        </p:spPr>
      </p:pic>
      <p:pic>
        <p:nvPicPr>
          <p:cNvPr id="533" name="Google Shape;533;p58"/>
          <p:cNvPicPr preferRelativeResize="0"/>
          <p:nvPr/>
        </p:nvPicPr>
        <p:blipFill rotWithShape="1">
          <a:blip r:embed="rId5">
            <a:alphaModFix/>
          </a:blip>
          <a:srcRect b="0" l="0" r="0" t="0"/>
          <a:stretch/>
        </p:blipFill>
        <p:spPr>
          <a:xfrm>
            <a:off x="2973916" y="2136620"/>
            <a:ext cx="1780631" cy="342999"/>
          </a:xfrm>
          <a:prstGeom prst="rect">
            <a:avLst/>
          </a:prstGeom>
          <a:noFill/>
          <a:ln>
            <a:noFill/>
          </a:ln>
        </p:spPr>
      </p:pic>
      <p:sp>
        <p:nvSpPr>
          <p:cNvPr id="534" name="Google Shape;534;p58"/>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8" name="Shape 538"/>
        <p:cNvGrpSpPr/>
        <p:nvPr/>
      </p:nvGrpSpPr>
      <p:grpSpPr>
        <a:xfrm>
          <a:off x="0" y="0"/>
          <a:ext cx="0" cy="0"/>
          <a:chOff x="0" y="0"/>
          <a:chExt cx="0" cy="0"/>
        </a:xfrm>
      </p:grpSpPr>
      <p:sp>
        <p:nvSpPr>
          <p:cNvPr descr="$PPTXTitle" id="539" name="Google Shape;539;p59"/>
          <p:cNvSpPr txBox="1"/>
          <p:nvPr>
            <p:ph type="ctrTitle"/>
          </p:nvPr>
        </p:nvSpPr>
        <p:spPr>
          <a:xfrm>
            <a:off x="384724" y="505247"/>
            <a:ext cx="73488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Update Rule</a:t>
            </a:r>
            <a:endParaRPr/>
          </a:p>
        </p:txBody>
      </p:sp>
      <p:sp>
        <p:nvSpPr>
          <p:cNvPr id="540" name="Google Shape;540;p59"/>
          <p:cNvSpPr txBox="1"/>
          <p:nvPr/>
        </p:nvSpPr>
        <p:spPr>
          <a:xfrm>
            <a:off x="384724" y="1175208"/>
            <a:ext cx="3302700" cy="972300"/>
          </a:xfrm>
          <a:prstGeom prst="rect">
            <a:avLst/>
          </a:prstGeom>
          <a:noFill/>
          <a:ln>
            <a:noFill/>
          </a:ln>
        </p:spPr>
        <p:txBody>
          <a:bodyPr anchorCtr="0" anchor="t" bIns="0" lIns="0" spcFirstLastPara="1" rIns="0" wrap="square" tIns="12700">
            <a:spAutoFit/>
          </a:bodyPr>
          <a:lstStyle/>
          <a:p>
            <a:pPr indent="0" lvl="0" marL="12700" marR="5080" rtl="0" algn="just">
              <a:lnSpc>
                <a:spcPct val="114999"/>
              </a:lnSpc>
              <a:spcBef>
                <a:spcPts val="0"/>
              </a:spcBef>
              <a:spcAft>
                <a:spcPts val="0"/>
              </a:spcAft>
              <a:buNone/>
            </a:pPr>
            <a:r>
              <a:rPr lang="en-US" sz="1800">
                <a:latin typeface="Arial"/>
                <a:ea typeface="Arial"/>
                <a:cs typeface="Arial"/>
                <a:sym typeface="Arial"/>
              </a:rPr>
              <a:t>Alpha is the learning rate, which decides how big the updates will happen.</a:t>
            </a:r>
            <a:endParaRPr sz="1800">
              <a:latin typeface="Arial"/>
              <a:ea typeface="Arial"/>
              <a:cs typeface="Arial"/>
              <a:sym typeface="Arial"/>
            </a:endParaRPr>
          </a:p>
        </p:txBody>
      </p:sp>
      <p:pic>
        <p:nvPicPr>
          <p:cNvPr id="541" name="Google Shape;541;p59"/>
          <p:cNvPicPr preferRelativeResize="0"/>
          <p:nvPr/>
        </p:nvPicPr>
        <p:blipFill rotWithShape="1">
          <a:blip r:embed="rId3">
            <a:alphaModFix/>
          </a:blip>
          <a:srcRect b="0" l="0" r="0" t="0"/>
          <a:stretch/>
        </p:blipFill>
        <p:spPr>
          <a:xfrm>
            <a:off x="4230816" y="1339547"/>
            <a:ext cx="3783267" cy="2156920"/>
          </a:xfrm>
          <a:prstGeom prst="rect">
            <a:avLst/>
          </a:prstGeom>
          <a:noFill/>
          <a:ln>
            <a:noFill/>
          </a:ln>
        </p:spPr>
      </p:pic>
      <p:sp>
        <p:nvSpPr>
          <p:cNvPr id="542" name="Google Shape;542;p59"/>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46" name="Shape 546"/>
        <p:cNvGrpSpPr/>
        <p:nvPr/>
      </p:nvGrpSpPr>
      <p:grpSpPr>
        <a:xfrm>
          <a:off x="0" y="0"/>
          <a:ext cx="0" cy="0"/>
          <a:chOff x="0" y="0"/>
          <a:chExt cx="0" cy="0"/>
        </a:xfrm>
      </p:grpSpPr>
      <p:sp>
        <p:nvSpPr>
          <p:cNvPr descr="$PPTXTitle" id="547" name="Google Shape;547;p60"/>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2400"/>
              <a:t>Forward Propagation Computation Graph</a:t>
            </a:r>
            <a:endParaRPr sz="2400"/>
          </a:p>
        </p:txBody>
      </p:sp>
      <p:pic>
        <p:nvPicPr>
          <p:cNvPr id="548" name="Google Shape;548;p60"/>
          <p:cNvPicPr preferRelativeResize="0"/>
          <p:nvPr/>
        </p:nvPicPr>
        <p:blipFill rotWithShape="1">
          <a:blip r:embed="rId3">
            <a:alphaModFix/>
          </a:blip>
          <a:srcRect b="0" l="0" r="0" t="0"/>
          <a:stretch/>
        </p:blipFill>
        <p:spPr>
          <a:xfrm>
            <a:off x="6023212" y="445024"/>
            <a:ext cx="2809069" cy="4088741"/>
          </a:xfrm>
          <a:prstGeom prst="rect">
            <a:avLst/>
          </a:prstGeom>
          <a:noFill/>
          <a:ln>
            <a:noFill/>
          </a:ln>
        </p:spPr>
      </p:pic>
      <p:sp>
        <p:nvSpPr>
          <p:cNvPr id="549" name="Google Shape;549;p60"/>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53" name="Shape 553"/>
        <p:cNvGrpSpPr/>
        <p:nvPr/>
      </p:nvGrpSpPr>
      <p:grpSpPr>
        <a:xfrm>
          <a:off x="0" y="0"/>
          <a:ext cx="0" cy="0"/>
          <a:chOff x="0" y="0"/>
          <a:chExt cx="0" cy="0"/>
        </a:xfrm>
      </p:grpSpPr>
      <p:sp>
        <p:nvSpPr>
          <p:cNvPr descr="$PPTXTitle" id="554" name="Google Shape;554;p61"/>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Partial Derivative of C</a:t>
            </a:r>
            <a:endParaRPr/>
          </a:p>
        </p:txBody>
      </p:sp>
      <p:sp>
        <p:nvSpPr>
          <p:cNvPr id="555" name="Google Shape;555;p61"/>
          <p:cNvSpPr txBox="1"/>
          <p:nvPr/>
        </p:nvSpPr>
        <p:spPr>
          <a:xfrm>
            <a:off x="475248" y="1216356"/>
            <a:ext cx="6867600" cy="299700"/>
          </a:xfrm>
          <a:prstGeom prst="rect">
            <a:avLst/>
          </a:prstGeom>
          <a:noFill/>
          <a:ln>
            <a:noFill/>
          </a:ln>
        </p:spPr>
        <p:txBody>
          <a:bodyPr anchorCtr="0" anchor="t" bIns="0" lIns="0" spcFirstLastPara="1" rIns="0" wrap="square" tIns="12700">
            <a:spAutoFit/>
          </a:bodyPr>
          <a:lstStyle/>
          <a:p>
            <a:pPr indent="-366395" lvl="0" marL="379095" rtl="0" algn="l">
              <a:lnSpc>
                <a:spcPct val="100000"/>
              </a:lnSpc>
              <a:spcBef>
                <a:spcPts val="0"/>
              </a:spcBef>
              <a:spcAft>
                <a:spcPts val="0"/>
              </a:spcAft>
              <a:buSzPts val="1800"/>
              <a:buFont typeface="Arial"/>
              <a:buChar char="●"/>
            </a:pPr>
            <a:r>
              <a:rPr lang="en-US" sz="1800">
                <a:latin typeface="Arial"/>
                <a:ea typeface="Arial"/>
                <a:cs typeface="Arial"/>
                <a:sym typeface="Arial"/>
              </a:rPr>
              <a:t>Partial Derivative of C with respect to parameters of any layer, </a:t>
            </a:r>
            <a:r>
              <a:rPr i="1" lang="en-US" sz="1800">
                <a:latin typeface="Trebuchet MS"/>
                <a:ea typeface="Trebuchet MS"/>
                <a:cs typeface="Trebuchet MS"/>
                <a:sym typeface="Trebuchet MS"/>
              </a:rPr>
              <a:t>l</a:t>
            </a:r>
            <a:endParaRPr sz="1800">
              <a:latin typeface="Trebuchet MS"/>
              <a:ea typeface="Trebuchet MS"/>
              <a:cs typeface="Trebuchet MS"/>
              <a:sym typeface="Trebuchet MS"/>
            </a:endParaRPr>
          </a:p>
        </p:txBody>
      </p:sp>
      <p:pic>
        <p:nvPicPr>
          <p:cNvPr id="556" name="Google Shape;556;p61"/>
          <p:cNvPicPr preferRelativeResize="0"/>
          <p:nvPr/>
        </p:nvPicPr>
        <p:blipFill rotWithShape="1">
          <a:blip r:embed="rId3">
            <a:alphaModFix/>
          </a:blip>
          <a:srcRect b="0" l="0" r="0" t="0"/>
          <a:stretch/>
        </p:blipFill>
        <p:spPr>
          <a:xfrm>
            <a:off x="2696137" y="2105445"/>
            <a:ext cx="3226764" cy="1980070"/>
          </a:xfrm>
          <a:prstGeom prst="rect">
            <a:avLst/>
          </a:prstGeom>
          <a:noFill/>
          <a:ln>
            <a:noFill/>
          </a:ln>
        </p:spPr>
      </p:pic>
      <p:sp>
        <p:nvSpPr>
          <p:cNvPr id="557" name="Google Shape;557;p61"/>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1" name="Shape 561"/>
        <p:cNvGrpSpPr/>
        <p:nvPr/>
      </p:nvGrpSpPr>
      <p:grpSpPr>
        <a:xfrm>
          <a:off x="0" y="0"/>
          <a:ext cx="0" cy="0"/>
          <a:chOff x="0" y="0"/>
          <a:chExt cx="0" cy="0"/>
        </a:xfrm>
      </p:grpSpPr>
      <p:sp>
        <p:nvSpPr>
          <p:cNvPr descr="$PPTXTitle" id="562" name="Google Shape;562;p62"/>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Partial Derivative of C</a:t>
            </a:r>
            <a:endParaRPr/>
          </a:p>
        </p:txBody>
      </p:sp>
      <p:sp>
        <p:nvSpPr>
          <p:cNvPr id="563" name="Google Shape;563;p62"/>
          <p:cNvSpPr txBox="1"/>
          <p:nvPr/>
        </p:nvSpPr>
        <p:spPr>
          <a:xfrm>
            <a:off x="475248" y="1216356"/>
            <a:ext cx="6511200" cy="299700"/>
          </a:xfrm>
          <a:prstGeom prst="rect">
            <a:avLst/>
          </a:prstGeom>
          <a:noFill/>
          <a:ln>
            <a:noFill/>
          </a:ln>
        </p:spPr>
        <p:txBody>
          <a:bodyPr anchorCtr="0" anchor="t" bIns="0" lIns="0" spcFirstLastPara="1" rIns="0" wrap="square" tIns="12700">
            <a:spAutoFit/>
          </a:bodyPr>
          <a:lstStyle/>
          <a:p>
            <a:pPr indent="-366395" lvl="0" marL="379095" rtl="0" algn="l">
              <a:lnSpc>
                <a:spcPct val="100000"/>
              </a:lnSpc>
              <a:spcBef>
                <a:spcPts val="0"/>
              </a:spcBef>
              <a:spcAft>
                <a:spcPts val="0"/>
              </a:spcAft>
              <a:buSzPts val="1800"/>
              <a:buFont typeface="Arial"/>
              <a:buChar char="●"/>
            </a:pPr>
            <a:r>
              <a:rPr lang="en-US" sz="1800">
                <a:latin typeface="Arial"/>
                <a:ea typeface="Arial"/>
                <a:cs typeface="Arial"/>
                <a:sym typeface="Arial"/>
              </a:rPr>
              <a:t>Partial Derivative of C with respect to parameters of Layer-3</a:t>
            </a:r>
            <a:endParaRPr sz="1800">
              <a:latin typeface="Arial"/>
              <a:ea typeface="Arial"/>
              <a:cs typeface="Arial"/>
              <a:sym typeface="Arial"/>
            </a:endParaRPr>
          </a:p>
        </p:txBody>
      </p:sp>
      <p:pic>
        <p:nvPicPr>
          <p:cNvPr id="564" name="Google Shape;564;p62"/>
          <p:cNvPicPr preferRelativeResize="0"/>
          <p:nvPr/>
        </p:nvPicPr>
        <p:blipFill rotWithShape="1">
          <a:blip r:embed="rId3">
            <a:alphaModFix/>
          </a:blip>
          <a:srcRect b="0" l="0" r="0" t="0"/>
          <a:stretch/>
        </p:blipFill>
        <p:spPr>
          <a:xfrm>
            <a:off x="2870519" y="1901171"/>
            <a:ext cx="3620312" cy="1617146"/>
          </a:xfrm>
          <a:prstGeom prst="rect">
            <a:avLst/>
          </a:prstGeom>
          <a:noFill/>
          <a:ln>
            <a:noFill/>
          </a:ln>
        </p:spPr>
      </p:pic>
      <p:sp>
        <p:nvSpPr>
          <p:cNvPr id="565" name="Google Shape;565;p62"/>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9" name="Shape 569"/>
        <p:cNvGrpSpPr/>
        <p:nvPr/>
      </p:nvGrpSpPr>
      <p:grpSpPr>
        <a:xfrm>
          <a:off x="0" y="0"/>
          <a:ext cx="0" cy="0"/>
          <a:chOff x="0" y="0"/>
          <a:chExt cx="0" cy="0"/>
        </a:xfrm>
      </p:grpSpPr>
      <p:sp>
        <p:nvSpPr>
          <p:cNvPr descr="$PPTXTitle" id="570" name="Google Shape;570;p63"/>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Partial Derivative of C</a:t>
            </a:r>
            <a:endParaRPr/>
          </a:p>
        </p:txBody>
      </p:sp>
      <p:sp>
        <p:nvSpPr>
          <p:cNvPr id="571" name="Google Shape;571;p63"/>
          <p:cNvSpPr txBox="1"/>
          <p:nvPr/>
        </p:nvSpPr>
        <p:spPr>
          <a:xfrm>
            <a:off x="475248" y="1216356"/>
            <a:ext cx="6511200" cy="299700"/>
          </a:xfrm>
          <a:prstGeom prst="rect">
            <a:avLst/>
          </a:prstGeom>
          <a:noFill/>
          <a:ln>
            <a:noFill/>
          </a:ln>
        </p:spPr>
        <p:txBody>
          <a:bodyPr anchorCtr="0" anchor="t" bIns="0" lIns="0" spcFirstLastPara="1" rIns="0" wrap="square" tIns="12700">
            <a:spAutoFit/>
          </a:bodyPr>
          <a:lstStyle/>
          <a:p>
            <a:pPr indent="-366395" lvl="0" marL="379095" rtl="0" algn="l">
              <a:lnSpc>
                <a:spcPct val="100000"/>
              </a:lnSpc>
              <a:spcBef>
                <a:spcPts val="0"/>
              </a:spcBef>
              <a:spcAft>
                <a:spcPts val="0"/>
              </a:spcAft>
              <a:buSzPts val="1800"/>
              <a:buFont typeface="Arial"/>
              <a:buChar char="●"/>
            </a:pPr>
            <a:r>
              <a:rPr lang="en-US" sz="1800">
                <a:latin typeface="Arial"/>
                <a:ea typeface="Arial"/>
                <a:cs typeface="Arial"/>
                <a:sym typeface="Arial"/>
              </a:rPr>
              <a:t>Partial Derivative of C with respect to parameters of Layer-2</a:t>
            </a:r>
            <a:endParaRPr sz="1800">
              <a:latin typeface="Arial"/>
              <a:ea typeface="Arial"/>
              <a:cs typeface="Arial"/>
              <a:sym typeface="Arial"/>
            </a:endParaRPr>
          </a:p>
        </p:txBody>
      </p:sp>
      <p:pic>
        <p:nvPicPr>
          <p:cNvPr id="572" name="Google Shape;572;p63"/>
          <p:cNvPicPr preferRelativeResize="0"/>
          <p:nvPr/>
        </p:nvPicPr>
        <p:blipFill rotWithShape="1">
          <a:blip r:embed="rId3">
            <a:alphaModFix/>
          </a:blip>
          <a:srcRect b="0" l="0" r="0" t="0"/>
          <a:stretch/>
        </p:blipFill>
        <p:spPr>
          <a:xfrm>
            <a:off x="1611748" y="2089295"/>
            <a:ext cx="5489881" cy="1705446"/>
          </a:xfrm>
          <a:prstGeom prst="rect">
            <a:avLst/>
          </a:prstGeom>
          <a:noFill/>
          <a:ln>
            <a:noFill/>
          </a:ln>
        </p:spPr>
      </p:pic>
      <p:sp>
        <p:nvSpPr>
          <p:cNvPr id="573" name="Google Shape;573;p63"/>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7" name="Shape 577"/>
        <p:cNvGrpSpPr/>
        <p:nvPr/>
      </p:nvGrpSpPr>
      <p:grpSpPr>
        <a:xfrm>
          <a:off x="0" y="0"/>
          <a:ext cx="0" cy="0"/>
          <a:chOff x="0" y="0"/>
          <a:chExt cx="0" cy="0"/>
        </a:xfrm>
      </p:grpSpPr>
      <p:sp>
        <p:nvSpPr>
          <p:cNvPr descr="$PPTXTitle" id="578" name="Google Shape;578;p64"/>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Partial Derivative of C</a:t>
            </a:r>
            <a:endParaRPr/>
          </a:p>
        </p:txBody>
      </p:sp>
      <p:sp>
        <p:nvSpPr>
          <p:cNvPr id="579" name="Google Shape;579;p64"/>
          <p:cNvSpPr txBox="1"/>
          <p:nvPr/>
        </p:nvSpPr>
        <p:spPr>
          <a:xfrm>
            <a:off x="475248" y="1216356"/>
            <a:ext cx="6511200" cy="299700"/>
          </a:xfrm>
          <a:prstGeom prst="rect">
            <a:avLst/>
          </a:prstGeom>
          <a:noFill/>
          <a:ln>
            <a:noFill/>
          </a:ln>
        </p:spPr>
        <p:txBody>
          <a:bodyPr anchorCtr="0" anchor="t" bIns="0" lIns="0" spcFirstLastPara="1" rIns="0" wrap="square" tIns="12700">
            <a:spAutoFit/>
          </a:bodyPr>
          <a:lstStyle/>
          <a:p>
            <a:pPr indent="-366395" lvl="0" marL="379095" rtl="0" algn="l">
              <a:lnSpc>
                <a:spcPct val="100000"/>
              </a:lnSpc>
              <a:spcBef>
                <a:spcPts val="0"/>
              </a:spcBef>
              <a:spcAft>
                <a:spcPts val="0"/>
              </a:spcAft>
              <a:buSzPts val="1800"/>
              <a:buFont typeface="Arial"/>
              <a:buChar char="●"/>
            </a:pPr>
            <a:r>
              <a:rPr lang="en-US" sz="1800">
                <a:latin typeface="Arial"/>
                <a:ea typeface="Arial"/>
                <a:cs typeface="Arial"/>
                <a:sym typeface="Arial"/>
              </a:rPr>
              <a:t>Partial Derivative of C with respect to parameters of Layer-1</a:t>
            </a:r>
            <a:endParaRPr sz="1800">
              <a:latin typeface="Arial"/>
              <a:ea typeface="Arial"/>
              <a:cs typeface="Arial"/>
              <a:sym typeface="Arial"/>
            </a:endParaRPr>
          </a:p>
        </p:txBody>
      </p:sp>
      <p:pic>
        <p:nvPicPr>
          <p:cNvPr id="580" name="Google Shape;580;p64"/>
          <p:cNvPicPr preferRelativeResize="0"/>
          <p:nvPr/>
        </p:nvPicPr>
        <p:blipFill rotWithShape="1">
          <a:blip r:embed="rId3">
            <a:alphaModFix/>
          </a:blip>
          <a:srcRect b="0" l="0" r="0" t="0"/>
          <a:stretch/>
        </p:blipFill>
        <p:spPr>
          <a:xfrm>
            <a:off x="1223591" y="2111445"/>
            <a:ext cx="6653973" cy="1557096"/>
          </a:xfrm>
          <a:prstGeom prst="rect">
            <a:avLst/>
          </a:prstGeom>
          <a:noFill/>
          <a:ln>
            <a:noFill/>
          </a:ln>
        </p:spPr>
      </p:pic>
      <p:sp>
        <p:nvSpPr>
          <p:cNvPr id="581" name="Google Shape;581;p64"/>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5" name="Shape 585"/>
        <p:cNvGrpSpPr/>
        <p:nvPr/>
      </p:nvGrpSpPr>
      <p:grpSpPr>
        <a:xfrm>
          <a:off x="0" y="0"/>
          <a:ext cx="0" cy="0"/>
          <a:chOff x="0" y="0"/>
          <a:chExt cx="0" cy="0"/>
        </a:xfrm>
      </p:grpSpPr>
      <p:sp>
        <p:nvSpPr>
          <p:cNvPr descr="$PPTXTitle" id="586" name="Google Shape;586;p65"/>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Backpropagation Computation Graph</a:t>
            </a:r>
            <a:endParaRPr/>
          </a:p>
        </p:txBody>
      </p:sp>
      <p:sp>
        <p:nvSpPr>
          <p:cNvPr id="587" name="Google Shape;587;p65"/>
          <p:cNvSpPr txBox="1"/>
          <p:nvPr/>
        </p:nvSpPr>
        <p:spPr>
          <a:xfrm>
            <a:off x="421582" y="1229177"/>
            <a:ext cx="4967700" cy="726300"/>
          </a:xfrm>
          <a:prstGeom prst="rect">
            <a:avLst/>
          </a:prstGeom>
          <a:noFill/>
          <a:ln>
            <a:noFill/>
          </a:ln>
        </p:spPr>
        <p:txBody>
          <a:bodyPr anchorCtr="0" anchor="t" bIns="0" lIns="0" spcFirstLastPara="1" rIns="0" wrap="square" tIns="6350">
            <a:spAutoFit/>
          </a:bodyPr>
          <a:lstStyle/>
          <a:p>
            <a:pPr indent="-420370" lvl="0" marL="432434" marR="5080" rtl="0" algn="l">
              <a:lnSpc>
                <a:spcPct val="128600"/>
              </a:lnSpc>
              <a:spcBef>
                <a:spcPts val="0"/>
              </a:spcBef>
              <a:spcAft>
                <a:spcPts val="0"/>
              </a:spcAft>
              <a:buClr>
                <a:srgbClr val="595959"/>
              </a:buClr>
              <a:buSzPts val="2500"/>
              <a:buFont typeface="Arial"/>
              <a:buChar char="●"/>
            </a:pPr>
            <a:r>
              <a:rPr lang="en-US" sz="1800">
                <a:latin typeface="Arial"/>
                <a:ea typeface="Arial"/>
                <a:cs typeface="Arial"/>
                <a:sym typeface="Arial"/>
              </a:rPr>
              <a:t>for calculating the partial derivatives of </a:t>
            </a:r>
            <a:r>
              <a:rPr lang="en-US" sz="1800">
                <a:latin typeface="Trebuchet MS"/>
                <a:ea typeface="Trebuchet MS"/>
                <a:cs typeface="Trebuchet MS"/>
                <a:sym typeface="Trebuchet MS"/>
              </a:rPr>
              <a:t>C </a:t>
            </a:r>
            <a:r>
              <a:rPr lang="en-US" sz="1800">
                <a:latin typeface="Arial"/>
                <a:ea typeface="Arial"/>
                <a:cs typeface="Arial"/>
                <a:sym typeface="Arial"/>
              </a:rPr>
              <a:t>with respect to </a:t>
            </a:r>
            <a:r>
              <a:rPr lang="en-US" sz="1800">
                <a:latin typeface="Trebuchet MS"/>
                <a:ea typeface="Trebuchet MS"/>
                <a:cs typeface="Trebuchet MS"/>
                <a:sym typeface="Trebuchet MS"/>
              </a:rPr>
              <a:t>w[</a:t>
            </a:r>
            <a:r>
              <a:rPr i="1" lang="en-US" sz="1800">
                <a:latin typeface="Trebuchet MS"/>
                <a:ea typeface="Trebuchet MS"/>
                <a:cs typeface="Trebuchet MS"/>
                <a:sym typeface="Trebuchet MS"/>
              </a:rPr>
              <a:t>l</a:t>
            </a:r>
            <a:r>
              <a:rPr lang="en-US" sz="1800">
                <a:latin typeface="Trebuchet MS"/>
                <a:ea typeface="Trebuchet MS"/>
                <a:cs typeface="Trebuchet MS"/>
                <a:sym typeface="Trebuchet MS"/>
              </a:rPr>
              <a:t>], b[</a:t>
            </a:r>
            <a:r>
              <a:rPr i="1" lang="en-US" sz="1800">
                <a:latin typeface="Trebuchet MS"/>
                <a:ea typeface="Trebuchet MS"/>
                <a:cs typeface="Trebuchet MS"/>
                <a:sym typeface="Trebuchet MS"/>
              </a:rPr>
              <a:t>l</a:t>
            </a:r>
            <a:r>
              <a:rPr lang="en-US" sz="1800">
                <a:latin typeface="Trebuchet MS"/>
                <a:ea typeface="Trebuchet MS"/>
                <a:cs typeface="Trebuchet MS"/>
                <a:sym typeface="Trebuchet MS"/>
              </a:rPr>
              <a:t>]</a:t>
            </a:r>
            <a:r>
              <a:rPr lang="en-US" sz="1800">
                <a:latin typeface="Arial"/>
                <a:ea typeface="Arial"/>
                <a:cs typeface="Arial"/>
                <a:sym typeface="Arial"/>
              </a:rPr>
              <a:t>, we need to calculate:</a:t>
            </a:r>
            <a:endParaRPr sz="1800">
              <a:latin typeface="Arial"/>
              <a:ea typeface="Arial"/>
              <a:cs typeface="Arial"/>
              <a:sym typeface="Arial"/>
            </a:endParaRPr>
          </a:p>
        </p:txBody>
      </p:sp>
      <p:sp>
        <p:nvSpPr>
          <p:cNvPr id="588" name="Google Shape;588;p65"/>
          <p:cNvSpPr txBox="1"/>
          <p:nvPr/>
        </p:nvSpPr>
        <p:spPr>
          <a:xfrm>
            <a:off x="475248" y="3016958"/>
            <a:ext cx="5397000" cy="656700"/>
          </a:xfrm>
          <a:prstGeom prst="rect">
            <a:avLst/>
          </a:prstGeom>
          <a:noFill/>
          <a:ln>
            <a:noFill/>
          </a:ln>
        </p:spPr>
        <p:txBody>
          <a:bodyPr anchorCtr="0" anchor="t" bIns="0" lIns="0" spcFirstLastPara="1" rIns="0" wrap="square" tIns="12700">
            <a:spAutoFit/>
          </a:bodyPr>
          <a:lstStyle/>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error information is propagated backward through the network layers for updating the weights</a:t>
            </a:r>
            <a:endParaRPr sz="1800">
              <a:latin typeface="Arial"/>
              <a:ea typeface="Arial"/>
              <a:cs typeface="Arial"/>
              <a:sym typeface="Arial"/>
            </a:endParaRPr>
          </a:p>
        </p:txBody>
      </p:sp>
      <p:pic>
        <p:nvPicPr>
          <p:cNvPr id="589" name="Google Shape;589;p65"/>
          <p:cNvPicPr preferRelativeResize="0"/>
          <p:nvPr/>
        </p:nvPicPr>
        <p:blipFill rotWithShape="1">
          <a:blip r:embed="rId3">
            <a:alphaModFix/>
          </a:blip>
          <a:srcRect b="0" l="0" r="0" t="0"/>
          <a:stretch/>
        </p:blipFill>
        <p:spPr>
          <a:xfrm>
            <a:off x="6545984" y="383260"/>
            <a:ext cx="1981405" cy="4623208"/>
          </a:xfrm>
          <a:prstGeom prst="rect">
            <a:avLst/>
          </a:prstGeom>
          <a:noFill/>
          <a:ln>
            <a:noFill/>
          </a:ln>
        </p:spPr>
      </p:pic>
      <p:pic>
        <p:nvPicPr>
          <p:cNvPr id="590" name="Google Shape;590;p65"/>
          <p:cNvPicPr preferRelativeResize="0"/>
          <p:nvPr/>
        </p:nvPicPr>
        <p:blipFill rotWithShape="1">
          <a:blip r:embed="rId4">
            <a:alphaModFix/>
          </a:blip>
          <a:srcRect b="0" l="0" r="0" t="0"/>
          <a:stretch/>
        </p:blipFill>
        <p:spPr>
          <a:xfrm>
            <a:off x="1767607" y="2054970"/>
            <a:ext cx="2908797" cy="657948"/>
          </a:xfrm>
          <a:prstGeom prst="rect">
            <a:avLst/>
          </a:prstGeom>
          <a:noFill/>
          <a:ln>
            <a:noFill/>
          </a:ln>
        </p:spPr>
      </p:pic>
      <p:sp>
        <p:nvSpPr>
          <p:cNvPr id="591" name="Google Shape;591;p65"/>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5" name="Shape 595"/>
        <p:cNvGrpSpPr/>
        <p:nvPr/>
      </p:nvGrpSpPr>
      <p:grpSpPr>
        <a:xfrm>
          <a:off x="0" y="0"/>
          <a:ext cx="0" cy="0"/>
          <a:chOff x="0" y="0"/>
          <a:chExt cx="0" cy="0"/>
        </a:xfrm>
      </p:grpSpPr>
      <p:sp>
        <p:nvSpPr>
          <p:cNvPr descr="$PPTXTitle" id="596" name="Google Shape;596;p66"/>
          <p:cNvSpPr txBox="1"/>
          <p:nvPr>
            <p:ph type="title"/>
          </p:nvPr>
        </p:nvSpPr>
        <p:spPr>
          <a:xfrm>
            <a:off x="384724" y="505247"/>
            <a:ext cx="8287500" cy="4095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a:t>Backpropagation Computation Graph</a:t>
            </a:r>
            <a:endParaRPr/>
          </a:p>
        </p:txBody>
      </p:sp>
      <p:sp>
        <p:nvSpPr>
          <p:cNvPr id="597" name="Google Shape;597;p66"/>
          <p:cNvSpPr txBox="1"/>
          <p:nvPr/>
        </p:nvSpPr>
        <p:spPr>
          <a:xfrm>
            <a:off x="421582" y="1229177"/>
            <a:ext cx="4967700" cy="726300"/>
          </a:xfrm>
          <a:prstGeom prst="rect">
            <a:avLst/>
          </a:prstGeom>
          <a:noFill/>
          <a:ln>
            <a:noFill/>
          </a:ln>
        </p:spPr>
        <p:txBody>
          <a:bodyPr anchorCtr="0" anchor="t" bIns="0" lIns="0" spcFirstLastPara="1" rIns="0" wrap="square" tIns="6350">
            <a:spAutoFit/>
          </a:bodyPr>
          <a:lstStyle/>
          <a:p>
            <a:pPr indent="-420370" lvl="0" marL="432434" marR="5080" rtl="0" algn="l">
              <a:lnSpc>
                <a:spcPct val="128600"/>
              </a:lnSpc>
              <a:spcBef>
                <a:spcPts val="0"/>
              </a:spcBef>
              <a:spcAft>
                <a:spcPts val="0"/>
              </a:spcAft>
              <a:buClr>
                <a:srgbClr val="595959"/>
              </a:buClr>
              <a:buSzPts val="2500"/>
              <a:buFont typeface="Arial"/>
              <a:buChar char="●"/>
            </a:pPr>
            <a:r>
              <a:rPr lang="en-US" sz="1800">
                <a:latin typeface="Arial"/>
                <a:ea typeface="Arial"/>
                <a:cs typeface="Arial"/>
                <a:sym typeface="Arial"/>
              </a:rPr>
              <a:t>for calculating the partial derivatives of </a:t>
            </a:r>
            <a:r>
              <a:rPr lang="en-US" sz="1800">
                <a:latin typeface="Trebuchet MS"/>
                <a:ea typeface="Trebuchet MS"/>
                <a:cs typeface="Trebuchet MS"/>
                <a:sym typeface="Trebuchet MS"/>
              </a:rPr>
              <a:t>C </a:t>
            </a:r>
            <a:r>
              <a:rPr lang="en-US" sz="1800">
                <a:latin typeface="Arial"/>
                <a:ea typeface="Arial"/>
                <a:cs typeface="Arial"/>
                <a:sym typeface="Arial"/>
              </a:rPr>
              <a:t>with respect to </a:t>
            </a:r>
            <a:r>
              <a:rPr lang="en-US" sz="1800">
                <a:latin typeface="Trebuchet MS"/>
                <a:ea typeface="Trebuchet MS"/>
                <a:cs typeface="Trebuchet MS"/>
                <a:sym typeface="Trebuchet MS"/>
              </a:rPr>
              <a:t>w[</a:t>
            </a:r>
            <a:r>
              <a:rPr i="1" lang="en-US" sz="1800">
                <a:latin typeface="Trebuchet MS"/>
                <a:ea typeface="Trebuchet MS"/>
                <a:cs typeface="Trebuchet MS"/>
                <a:sym typeface="Trebuchet MS"/>
              </a:rPr>
              <a:t>l</a:t>
            </a:r>
            <a:r>
              <a:rPr lang="en-US" sz="1800">
                <a:latin typeface="Trebuchet MS"/>
                <a:ea typeface="Trebuchet MS"/>
                <a:cs typeface="Trebuchet MS"/>
                <a:sym typeface="Trebuchet MS"/>
              </a:rPr>
              <a:t>], b[</a:t>
            </a:r>
            <a:r>
              <a:rPr i="1" lang="en-US" sz="1800">
                <a:latin typeface="Trebuchet MS"/>
                <a:ea typeface="Trebuchet MS"/>
                <a:cs typeface="Trebuchet MS"/>
                <a:sym typeface="Trebuchet MS"/>
              </a:rPr>
              <a:t>l</a:t>
            </a:r>
            <a:r>
              <a:rPr lang="en-US" sz="1800">
                <a:latin typeface="Trebuchet MS"/>
                <a:ea typeface="Trebuchet MS"/>
                <a:cs typeface="Trebuchet MS"/>
                <a:sym typeface="Trebuchet MS"/>
              </a:rPr>
              <a:t>]</a:t>
            </a:r>
            <a:r>
              <a:rPr lang="en-US" sz="1800">
                <a:latin typeface="Arial"/>
                <a:ea typeface="Arial"/>
                <a:cs typeface="Arial"/>
                <a:sym typeface="Arial"/>
              </a:rPr>
              <a:t>, we need to calculate:</a:t>
            </a:r>
            <a:endParaRPr sz="1800">
              <a:latin typeface="Arial"/>
              <a:ea typeface="Arial"/>
              <a:cs typeface="Arial"/>
              <a:sym typeface="Arial"/>
            </a:endParaRPr>
          </a:p>
        </p:txBody>
      </p:sp>
      <p:sp>
        <p:nvSpPr>
          <p:cNvPr id="598" name="Google Shape;598;p66"/>
          <p:cNvSpPr txBox="1"/>
          <p:nvPr/>
        </p:nvSpPr>
        <p:spPr>
          <a:xfrm>
            <a:off x="475248" y="3016958"/>
            <a:ext cx="5397000" cy="656700"/>
          </a:xfrm>
          <a:prstGeom prst="rect">
            <a:avLst/>
          </a:prstGeom>
          <a:noFill/>
          <a:ln>
            <a:noFill/>
          </a:ln>
        </p:spPr>
        <p:txBody>
          <a:bodyPr anchorCtr="0" anchor="t" bIns="0" lIns="0" spcFirstLastPara="1" rIns="0" wrap="square" tIns="12700">
            <a:spAutoFit/>
          </a:bodyPr>
          <a:lstStyle/>
          <a:p>
            <a:pPr indent="-367030" lvl="0" marL="379095" marR="5080" rtl="0" algn="l">
              <a:lnSpc>
                <a:spcPct val="114999"/>
              </a:lnSpc>
              <a:spcBef>
                <a:spcPts val="0"/>
              </a:spcBef>
              <a:spcAft>
                <a:spcPts val="0"/>
              </a:spcAft>
              <a:buSzPts val="1800"/>
              <a:buFont typeface="Arial"/>
              <a:buChar char="●"/>
            </a:pPr>
            <a:r>
              <a:rPr lang="en-US" sz="1800">
                <a:latin typeface="Arial"/>
                <a:ea typeface="Arial"/>
                <a:cs typeface="Arial"/>
                <a:sym typeface="Arial"/>
              </a:rPr>
              <a:t>error information is propagated backward through the network layers for updating the weights</a:t>
            </a:r>
            <a:endParaRPr sz="1800">
              <a:latin typeface="Arial"/>
              <a:ea typeface="Arial"/>
              <a:cs typeface="Arial"/>
              <a:sym typeface="Arial"/>
            </a:endParaRPr>
          </a:p>
        </p:txBody>
      </p:sp>
      <p:pic>
        <p:nvPicPr>
          <p:cNvPr id="599" name="Google Shape;599;p66"/>
          <p:cNvPicPr preferRelativeResize="0"/>
          <p:nvPr/>
        </p:nvPicPr>
        <p:blipFill rotWithShape="1">
          <a:blip r:embed="rId3">
            <a:alphaModFix/>
          </a:blip>
          <a:srcRect b="0" l="0" r="0" t="0"/>
          <a:stretch/>
        </p:blipFill>
        <p:spPr>
          <a:xfrm>
            <a:off x="6545984" y="383260"/>
            <a:ext cx="1981405" cy="4623208"/>
          </a:xfrm>
          <a:prstGeom prst="rect">
            <a:avLst/>
          </a:prstGeom>
          <a:noFill/>
          <a:ln>
            <a:noFill/>
          </a:ln>
        </p:spPr>
      </p:pic>
      <p:pic>
        <p:nvPicPr>
          <p:cNvPr id="600" name="Google Shape;600;p66"/>
          <p:cNvPicPr preferRelativeResize="0"/>
          <p:nvPr/>
        </p:nvPicPr>
        <p:blipFill rotWithShape="1">
          <a:blip r:embed="rId4">
            <a:alphaModFix/>
          </a:blip>
          <a:srcRect b="0" l="0" r="0" t="0"/>
          <a:stretch/>
        </p:blipFill>
        <p:spPr>
          <a:xfrm>
            <a:off x="1767607" y="2054970"/>
            <a:ext cx="2908797" cy="657948"/>
          </a:xfrm>
          <a:prstGeom prst="rect">
            <a:avLst/>
          </a:prstGeom>
          <a:noFill/>
          <a:ln>
            <a:noFill/>
          </a:ln>
        </p:spPr>
      </p:pic>
      <p:sp>
        <p:nvSpPr>
          <p:cNvPr id="601" name="Google Shape;601;p66"/>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67"/>
          <p:cNvSpPr txBox="1"/>
          <p:nvPr>
            <p:ph type="title"/>
          </p:nvPr>
        </p:nvSpPr>
        <p:spPr>
          <a:xfrm>
            <a:off x="384724" y="505247"/>
            <a:ext cx="8287500" cy="38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07" name="Google Shape;607;p67"/>
          <p:cNvSpPr txBox="1"/>
          <p:nvPr>
            <p:ph idx="1" type="body"/>
          </p:nvPr>
        </p:nvSpPr>
        <p:spPr>
          <a:xfrm>
            <a:off x="384724" y="1216356"/>
            <a:ext cx="78714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608" name="Google Shape;608;p67" title="Screenshot 2026-08-03 at 7.03.30 AM.png"/>
          <p:cNvPicPr preferRelativeResize="0"/>
          <p:nvPr/>
        </p:nvPicPr>
        <p:blipFill>
          <a:blip r:embed="rId3">
            <a:alphaModFix/>
          </a:blip>
          <a:stretch>
            <a:fillRect/>
          </a:stretch>
        </p:blipFill>
        <p:spPr>
          <a:xfrm>
            <a:off x="498738" y="641974"/>
            <a:ext cx="7643377" cy="4038151"/>
          </a:xfrm>
          <a:prstGeom prst="rect">
            <a:avLst/>
          </a:prstGeom>
          <a:noFill/>
          <a:ln>
            <a:noFill/>
          </a:ln>
        </p:spPr>
      </p:pic>
      <p:sp>
        <p:nvSpPr>
          <p:cNvPr id="609" name="Google Shape;609;p67"/>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68"/>
          <p:cNvSpPr txBox="1"/>
          <p:nvPr>
            <p:ph type="title"/>
          </p:nvPr>
        </p:nvSpPr>
        <p:spPr>
          <a:xfrm>
            <a:off x="384724" y="505247"/>
            <a:ext cx="8287500" cy="38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15" name="Google Shape;615;p68"/>
          <p:cNvSpPr txBox="1"/>
          <p:nvPr>
            <p:ph idx="1" type="body"/>
          </p:nvPr>
        </p:nvSpPr>
        <p:spPr>
          <a:xfrm>
            <a:off x="384724" y="1216356"/>
            <a:ext cx="78714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616" name="Google Shape;616;p68" title="Screenshot 2026-08-03 at 7.05.30 AM.png"/>
          <p:cNvPicPr preferRelativeResize="0"/>
          <p:nvPr/>
        </p:nvPicPr>
        <p:blipFill>
          <a:blip r:embed="rId3">
            <a:alphaModFix/>
          </a:blip>
          <a:stretch>
            <a:fillRect/>
          </a:stretch>
        </p:blipFill>
        <p:spPr>
          <a:xfrm>
            <a:off x="603225" y="564725"/>
            <a:ext cx="7937551" cy="3569573"/>
          </a:xfrm>
          <a:prstGeom prst="rect">
            <a:avLst/>
          </a:prstGeom>
          <a:noFill/>
          <a:ln>
            <a:noFill/>
          </a:ln>
        </p:spPr>
      </p:pic>
      <p:sp>
        <p:nvSpPr>
          <p:cNvPr id="617" name="Google Shape;617;p68"/>
          <p:cNvSpPr txBox="1"/>
          <p:nvPr/>
        </p:nvSpPr>
        <p:spPr>
          <a:xfrm>
            <a:off x="518975" y="4374300"/>
            <a:ext cx="5801400" cy="5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rPr>
              <a:t>Error=</a:t>
            </a:r>
            <a:r>
              <a:rPr lang="en-US" sz="1600">
                <a:solidFill>
                  <a:schemeClr val="dk1"/>
                </a:solidFill>
              </a:rPr>
              <a:t>Y</a:t>
            </a:r>
            <a:r>
              <a:rPr baseline="-25000" lang="en-US" sz="1600">
                <a:solidFill>
                  <a:schemeClr val="dk1"/>
                </a:solidFill>
              </a:rPr>
              <a:t>target</a:t>
            </a:r>
            <a:r>
              <a:rPr lang="en-US" sz="1600">
                <a:solidFill>
                  <a:schemeClr val="dk1"/>
                </a:solidFill>
              </a:rPr>
              <a:t> - y5= -019</a:t>
            </a:r>
            <a:endParaRPr sz="1600">
              <a:solidFill>
                <a:schemeClr val="dk1"/>
              </a:solidFill>
            </a:endParaRPr>
          </a:p>
        </p:txBody>
      </p:sp>
      <p:sp>
        <p:nvSpPr>
          <p:cNvPr id="618" name="Google Shape;618;p68"/>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69"/>
          <p:cNvSpPr txBox="1"/>
          <p:nvPr>
            <p:ph type="title"/>
          </p:nvPr>
        </p:nvSpPr>
        <p:spPr>
          <a:xfrm>
            <a:off x="384724" y="505247"/>
            <a:ext cx="8287500" cy="38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24" name="Google Shape;624;p69"/>
          <p:cNvSpPr txBox="1"/>
          <p:nvPr>
            <p:ph idx="1" type="body"/>
          </p:nvPr>
        </p:nvSpPr>
        <p:spPr>
          <a:xfrm>
            <a:off x="384724" y="1216356"/>
            <a:ext cx="78714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625" name="Google Shape;625;p69" title="Screenshot 2026-08-03 at 7.08.22 AM.png"/>
          <p:cNvPicPr preferRelativeResize="0"/>
          <p:nvPr/>
        </p:nvPicPr>
        <p:blipFill>
          <a:blip r:embed="rId3">
            <a:alphaModFix/>
          </a:blip>
          <a:stretch>
            <a:fillRect/>
          </a:stretch>
        </p:blipFill>
        <p:spPr>
          <a:xfrm>
            <a:off x="384725" y="890149"/>
            <a:ext cx="8524375" cy="3833476"/>
          </a:xfrm>
          <a:prstGeom prst="rect">
            <a:avLst/>
          </a:prstGeom>
          <a:noFill/>
          <a:ln>
            <a:noFill/>
          </a:ln>
        </p:spPr>
      </p:pic>
      <p:sp>
        <p:nvSpPr>
          <p:cNvPr id="626" name="Google Shape;626;p69"/>
          <p:cNvSpPr txBox="1"/>
          <p:nvPr/>
        </p:nvSpPr>
        <p:spPr>
          <a:xfrm>
            <a:off x="826025" y="1462650"/>
            <a:ext cx="1992600" cy="3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970000"/>
                </a:solidFill>
              </a:rPr>
              <a:t>*w</a:t>
            </a:r>
            <a:r>
              <a:rPr baseline="-25000" lang="en-US" sz="1900">
                <a:solidFill>
                  <a:srgbClr val="970000"/>
                </a:solidFill>
              </a:rPr>
              <a:t>ij</a:t>
            </a:r>
            <a:endParaRPr baseline="-25000" sz="1900">
              <a:solidFill>
                <a:srgbClr val="970000"/>
              </a:solidFill>
            </a:endParaRPr>
          </a:p>
        </p:txBody>
      </p:sp>
      <p:sp>
        <p:nvSpPr>
          <p:cNvPr id="627" name="Google Shape;627;p69"/>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70"/>
          <p:cNvSpPr txBox="1"/>
          <p:nvPr>
            <p:ph type="title"/>
          </p:nvPr>
        </p:nvSpPr>
        <p:spPr>
          <a:xfrm>
            <a:off x="384724" y="505247"/>
            <a:ext cx="8287500" cy="38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33" name="Google Shape;633;p70"/>
          <p:cNvSpPr txBox="1"/>
          <p:nvPr>
            <p:ph idx="1" type="body"/>
          </p:nvPr>
        </p:nvSpPr>
        <p:spPr>
          <a:xfrm>
            <a:off x="384724" y="1216356"/>
            <a:ext cx="78714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634" name="Google Shape;634;p70" title="Screenshot 2026-08-03 at 7.10.25 AM.png"/>
          <p:cNvPicPr preferRelativeResize="0"/>
          <p:nvPr/>
        </p:nvPicPr>
        <p:blipFill>
          <a:blip r:embed="rId3">
            <a:alphaModFix/>
          </a:blip>
          <a:stretch>
            <a:fillRect/>
          </a:stretch>
        </p:blipFill>
        <p:spPr>
          <a:xfrm>
            <a:off x="723063" y="753181"/>
            <a:ext cx="7194737" cy="3376046"/>
          </a:xfrm>
          <a:prstGeom prst="rect">
            <a:avLst/>
          </a:prstGeom>
          <a:noFill/>
          <a:ln>
            <a:noFill/>
          </a:ln>
        </p:spPr>
      </p:pic>
      <p:sp>
        <p:nvSpPr>
          <p:cNvPr id="635" name="Google Shape;635;p70"/>
          <p:cNvSpPr txBox="1"/>
          <p:nvPr>
            <p:ph idx="12" type="sldNum"/>
          </p:nvPr>
        </p:nvSpPr>
        <p:spPr>
          <a:xfrm>
            <a:off x="8542223" y="4810125"/>
            <a:ext cx="2808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71"/>
          <p:cNvSpPr txBox="1"/>
          <p:nvPr>
            <p:ph type="title"/>
          </p:nvPr>
        </p:nvSpPr>
        <p:spPr>
          <a:xfrm>
            <a:off x="384724" y="505247"/>
            <a:ext cx="8287500" cy="38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41" name="Google Shape;641;p71"/>
          <p:cNvSpPr txBox="1"/>
          <p:nvPr>
            <p:ph idx="1" type="body"/>
          </p:nvPr>
        </p:nvSpPr>
        <p:spPr>
          <a:xfrm>
            <a:off x="384724" y="1216356"/>
            <a:ext cx="78714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642" name="Google Shape;642;p71" title="Screenshot 2026-08-03 at 7.13.46 AM.png"/>
          <p:cNvPicPr preferRelativeResize="0"/>
          <p:nvPr/>
        </p:nvPicPr>
        <p:blipFill>
          <a:blip r:embed="rId3">
            <a:alphaModFix/>
          </a:blip>
          <a:stretch>
            <a:fillRect/>
          </a:stretch>
        </p:blipFill>
        <p:spPr>
          <a:xfrm>
            <a:off x="551475" y="705587"/>
            <a:ext cx="7954002" cy="3732325"/>
          </a:xfrm>
          <a:prstGeom prst="rect">
            <a:avLst/>
          </a:prstGeom>
          <a:noFill/>
          <a:ln>
            <a:noFill/>
          </a:ln>
        </p:spPr>
      </p:pic>
      <p:sp>
        <p:nvSpPr>
          <p:cNvPr id="643" name="Google Shape;643;p71"/>
          <p:cNvSpPr txBox="1"/>
          <p:nvPr>
            <p:ph idx="12" type="sldNum"/>
          </p:nvPr>
        </p:nvSpPr>
        <p:spPr>
          <a:xfrm>
            <a:off x="8756108" y="4778061"/>
            <a:ext cx="230700" cy="153900"/>
          </a:xfrm>
          <a:prstGeom prst="rect">
            <a:avLst/>
          </a:prstGeom>
        </p:spPr>
        <p:txBody>
          <a:bodyPr anchorCtr="0" anchor="t" bIns="0" lIns="0" spcFirstLastPara="1" rIns="0" wrap="square" tIns="0">
            <a:spAutoFit/>
          </a:bodyPr>
          <a:lstStyle/>
          <a:p>
            <a:pPr indent="0" lvl="0" marL="108585"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72"/>
          <p:cNvSpPr txBox="1"/>
          <p:nvPr>
            <p:ph type="title"/>
          </p:nvPr>
        </p:nvSpPr>
        <p:spPr>
          <a:xfrm>
            <a:off x="384724" y="505247"/>
            <a:ext cx="8287500" cy="38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49" name="Google Shape;649;p72"/>
          <p:cNvSpPr txBox="1"/>
          <p:nvPr>
            <p:ph idx="1" type="body"/>
          </p:nvPr>
        </p:nvSpPr>
        <p:spPr>
          <a:xfrm>
            <a:off x="384724" y="1216356"/>
            <a:ext cx="7871400" cy="24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650" name="Google Shape;650;p72" title="Screenshot 2026-08-19 at 7.08.50 AM.png"/>
          <p:cNvPicPr preferRelativeResize="0"/>
          <p:nvPr/>
        </p:nvPicPr>
        <p:blipFill>
          <a:blip r:embed="rId3">
            <a:alphaModFix/>
          </a:blip>
          <a:stretch>
            <a:fillRect/>
          </a:stretch>
        </p:blipFill>
        <p:spPr>
          <a:xfrm>
            <a:off x="428250" y="890150"/>
            <a:ext cx="7004600" cy="3498900"/>
          </a:xfrm>
          <a:prstGeom prst="rect">
            <a:avLst/>
          </a:prstGeom>
          <a:noFill/>
          <a:ln>
            <a:noFill/>
          </a:ln>
        </p:spPr>
      </p:pic>
      <p:sp>
        <p:nvSpPr>
          <p:cNvPr id="651" name="Google Shape;651;p72"/>
          <p:cNvSpPr txBox="1"/>
          <p:nvPr>
            <p:ph idx="12" type="sldNum"/>
          </p:nvPr>
        </p:nvSpPr>
        <p:spPr>
          <a:xfrm>
            <a:off x="8349769" y="4842200"/>
            <a:ext cx="409200" cy="153900"/>
          </a:xfrm>
          <a:prstGeom prst="rect">
            <a:avLst/>
          </a:prstGeom>
        </p:spPr>
        <p:txBody>
          <a:bodyPr anchorCtr="0" anchor="t" bIns="0" lIns="0" spcFirstLastPara="1" rIns="0" wrap="square" tIns="0">
            <a:spAutoFit/>
          </a:bodyPr>
          <a:lstStyle/>
          <a:p>
            <a:pPr indent="0" lvl="0" marL="108585"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